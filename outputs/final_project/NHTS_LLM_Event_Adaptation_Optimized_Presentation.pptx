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6070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Pandemic-Aware Household Travel Behavior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76272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CBD5E1"/>
                </a:solidFill>
                <a:latin typeface="Microsoft YaHei"/>
              </a:defRPr>
            </a:pPr>
            <a:r>
              <a:t>LLM event priors for label-free adaptation under post-pandemic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Trip-count MAE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primary gated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8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correction absolute bias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LLM calls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-83.2%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cohort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this project predicts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household-level travel behavior prediction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2157984"/>
                <a:gridCol w="2157984"/>
                <a:gridCol w="2157984"/>
                <a:gridCol w="2157984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Output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Target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Granularity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 family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Role in system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generation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CNTTDHH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/ RMSE / Bias / R2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shares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TV / share MAE / dominant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trips are distributed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Mode-specific trips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Trips by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Derived count error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How many trips by each mode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8862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project predicts household travel behavior as trip volume plus mode structure.</a:t>
            </a:r>
          </a:p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LLM contribution is label-free event adaptation under a 2022 pandemic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Experimental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labels are evaluation-only in the main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3</a:t>
            </a:r>
          </a:p>
        </p:txBody>
      </p:sp>
      <p:pic>
        <p:nvPicPr>
          <p:cNvPr id="5" name="Picture 4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4388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55321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LLM sees cohort attributes and pandemic-response context, not 2022 trip-count labels.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each row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88720"/>
          <a:ext cx="110642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85775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Uses 2022 labels?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Purpose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Routine mobility baseline</a:t>
                      </a:r>
                    </a:p>
                  </a:txBody>
                  <a:tcPr marL="36576" marR="36576"/>
                </a:tc>
              </a:tr>
              <a:tr h="485775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Mean-trend control</a:t>
                      </a:r>
                    </a:p>
                  </a:txBody>
                  <a:tcPr marL="36576" marR="36576"/>
                </a:tc>
              </a:tr>
              <a:tr h="485775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only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 household predictor</a:t>
                      </a:r>
                    </a:p>
                  </a:txBody>
                  <a:tcPr marL="36576" marR="36576"/>
                </a:tc>
              </a:tr>
              <a:tr h="485775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Only global mean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Event-level downscaling control</a:t>
                      </a:r>
                    </a:p>
                  </a:txBody>
                  <a:tcPr marL="36576" marR="36576"/>
                </a:tc>
              </a:tr>
              <a:tr h="485775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Shuffled scores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Negative control</a:t>
                      </a:r>
                    </a:p>
                  </a:txBody>
                  <a:tcPr marL="36576" marR="36576"/>
                </a:tc>
              </a:tr>
              <a:tr h="485775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trip suppression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Cohort-specific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Best-MAE sensitivity</a:t>
                      </a:r>
                    </a:p>
                  </a:txBody>
                  <a:tcPr marL="36576" marR="36576"/>
                </a:tc>
              </a:tr>
              <a:tr h="485775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Cohort-specific when confident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Primary no-label rule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Weighted metrics on 2022 households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7026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RMSE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Bias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R2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gain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4.338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5.317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0.0%</a:t>
                      </a:r>
                    </a:p>
                  </a:txBody>
                  <a:tcPr marL="36576" marR="36576"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2.522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3.743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-0.748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0.189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41.9%</a:t>
                      </a:r>
                    </a:p>
                  </a:txBody>
                  <a:tcPr marL="36576" marR="36576"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LLM-only pressure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2.718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3.988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-0.373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0.079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37.4%</a:t>
                      </a:r>
                    </a:p>
                  </a:txBody>
                  <a:tcPr marL="36576" marR="36576"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2.647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3.881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0.128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39.0%</a:t>
                      </a:r>
                    </a:p>
                  </a:txBody>
                  <a:tcPr marL="36576" marR="36576"/>
                </a:tc>
              </a:tr>
              <a:tr h="47026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trip suppression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2.482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3.660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-0.540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0.224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42.8%</a:t>
                      </a:r>
                    </a:p>
                  </a:txBody>
                  <a:tcPr marL="36576" marR="36576"/>
                </a:tc>
              </a:tr>
              <a:tr h="47026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2.502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-0.023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0.248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42.3%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920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Primary no-label gated rule: MAE 2.502, bias -0.023.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LLM-only pressure: MAE 2.718; hybrid keeps household-level baseline.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Best-MAE sensitivity row: MAE 2.482, a 42.8% reduction.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error drops sharply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event priors repair the 2022 overprediction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6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881360" cy="53814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Bias and household-level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Accuracy bands make the regression result tangible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7</a:t>
            </a:r>
          </a:p>
        </p:txBody>
      </p:sp>
      <p:pic>
        <p:nvPicPr>
          <p:cNvPr id="5" name="Picture 4" descr="bias_r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486400" cy="2226029"/>
          </a:xfrm>
          <a:prstGeom prst="rect">
            <a:avLst/>
          </a:prstGeom>
        </p:spPr>
      </p:pic>
      <p:pic>
        <p:nvPicPr>
          <p:cNvPr id="6" name="Picture 5" descr="household_tolerance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349240" cy="2618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56692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Gated MAE: 2.47 trips per household.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Within 2 trips: 54.5%; within 3 trips: 71.2%.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changed besides trip counts?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188720"/>
          <a:ext cx="1078992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5257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Component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Definition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Private vehicle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Car / van / SUV / pickup / motorcycle / rental vehicle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Walk / bike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Non-motorized travel modes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 bus / rail / ferry / paratransit categories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 / ridehail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Taxi, limo, Uber/Lyft-style services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Other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School bus, airplane, other specified modes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937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2017 and 2022 TRPTRANS codes are mapped with year-specific official codebooks.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 distribution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has fewer trips and lower transit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9</a:t>
            </a:r>
          </a:p>
        </p:txBody>
      </p:sp>
      <p:pic>
        <p:nvPicPr>
          <p:cNvPr id="5" name="Picture 4" descr="mode_distributio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469880" cy="51892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method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helps the transit component of household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10</a:t>
            </a:r>
          </a:p>
        </p:txBody>
      </p:sp>
      <p:pic>
        <p:nvPicPr>
          <p:cNvPr id="5" name="Picture 4" descr="mode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10607040" cy="4385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Transit-share weighted MAE: 0.0325 -&gt; 0.0269.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Overall mode-composition gain is small, while the transit component shows a clearer pandemic-related signal.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Pure LLM-style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direction alone helps, but it does not replace household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11</a:t>
            </a:r>
          </a:p>
        </p:txBody>
      </p:sp>
      <p:pic>
        <p:nvPicPr>
          <p:cNvPr id="5" name="Picture 4" descr="mode_llm_onl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561320" cy="43461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LLM-only corrected transit MAE: 0.0451.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XGBoost + LLM transit MAE: 0.0269.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Metric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How to read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3444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181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Task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Meaning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Average absolute trip-count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Bias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Systematic over/under prediction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Within-k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Households within k trips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TV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Whole share-vector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Transit-share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Public-transit share error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846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Lower is better for errors; bias closer to zero is better; R2 and accuracy are higher-is-better.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the LLM contributes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Event semantics, not direct numerical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historical predictor learns routine household mobility from NHTS.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 supplies post-pandemic event priors: trip suppression, remote work, transit avoidance, delivery substitution, recovery sensitivity.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LLM-only pressure baseline improves over naive history but is weaker than the hybrid model.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Global controls show that broad event downscaling is strong.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Random controls and subgroup diagnostics show that cohort-specific LLM ranking adds smaller but measurable signal.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we should not overclaim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claim that LLM directly predicts household trip counts.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claim the best-MAE alpha was selected without looking at 2022 evaluation; treat it as sensitivity.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Present trip generation and mode composition as two household-level outputs, not as separate projects.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Mode composition is weaker overall than trip-count adaptation, but it adds the mode-structure dimension.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Future work should add external event context, stronger LLM priors, and prospective validation.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Final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defensible story for the course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Primary trip-count rule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weighted MAE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absolute bias reduction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Transit-share error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-17.4%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mode-structure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LLMs are most useful here as event-prior generators.</a:t>
            </a:r>
          </a:p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The best model is not pure LLM and not pure historical prediction; it is a label-free hybrid adapter.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