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960120"/>
            <a:ext cx="1060704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Label-Free LLM Event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76272"/>
            <a:ext cx="10515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CBD5E1"/>
                </a:solidFill>
                <a:latin typeface="Microsoft YaHei"/>
              </a:defRPr>
            </a:pPr>
            <a:r>
              <a:t>Predicting post-pandemic household mobility without 2022 training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-42.8%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LLM prior vs historical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1188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correction absolute bias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406908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LLM calls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cohort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this project predicts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Two related tasks, two different metric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2157984"/>
                <a:gridCol w="2157984"/>
                <a:gridCol w="2157984"/>
                <a:gridCol w="2157984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Target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Granularity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 family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Role in story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generation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CNTTDHH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/ RMSE / Bias / R2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Main claim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shares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TV / share MAE / dominant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Auxiliary evidence</a:t>
                      </a:r>
                    </a:p>
                  </a:txBody>
                  <a:tcPr marL="36576" marR="36576"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Trip-level mode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TRPTRANS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Accuracy / F1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Different task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388620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We do not compare regression MAE with trip-level classification accuracy.</a:t>
            </a:r>
          </a:p>
          <a:p>
            <a:pPr>
              <a:spcAft>
                <a:spcPts val="800"/>
              </a:spcAft>
              <a:defRPr sz="1900" b="0">
                <a:solidFill>
                  <a:srgbClr val="0F172A"/>
                </a:solidFill>
                <a:latin typeface="Microsoft YaHei"/>
              </a:defRPr>
            </a:pPr>
            <a:r>
              <a:t>The main contribution is label-free adaptation under a 2022 event shift.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Experimental guardrail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labels are evaluation-only in the main setting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3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5532120"/>
            <a:ext cx="9692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0F172A"/>
                </a:solidFill>
                <a:latin typeface="Microsoft YaHei"/>
              </a:defRPr>
            </a:pPr>
            <a:r>
              <a:t>LLM sees cohort attributes and pandemic-response context, not 2022 trip-count labels.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each row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88720"/>
          <a:ext cx="110642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5517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Uses 2022 labels?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LLM?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Purpose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Routine mobility baseline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trend shift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Mean-trend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Only global mean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Event-level downscaling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Shuffled scores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Negative control</a:t>
                      </a:r>
                    </a:p>
                  </a:txBody>
                  <a:tcPr marL="36576" marR="36576"/>
                </a:tc>
              </a:tr>
              <a:tr h="555171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trip suppression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Best MAE</a:t>
                      </a:r>
                    </a:p>
                  </a:txBody>
                  <a:tcPr marL="36576" marR="36576"/>
                </a:tc>
              </a:tr>
              <a:tr h="555174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Cohort-specific when confident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Best bias/R2 tradeoff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Weighted metrics on 2022 households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1430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Method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RMSE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Bias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R2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MAE gain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Historical predictor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4.338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5.317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3.605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0.0%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Global event prior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2.522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3.743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-0.748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0.189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41.9%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Random prior control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2.647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3.881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-0.637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0.128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39.0%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LLM trip suppression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2.482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3.660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-0.540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0.224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42.8%</a:t>
                      </a:r>
                    </a:p>
                  </a:txBody>
                  <a:tcPr marL="36576" marR="36576"/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Gated LLM correction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2.502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3.604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-0.023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0.248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42.3%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920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Best MAE: 2.482, a 42.8% reduction.</a:t>
            </a:r>
          </a:p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Best bias/R2: gated correction bias -0.023, R2 0.248.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Trip-count error drops sharply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event priors repair the 2022 overprediction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Bias and household-level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Accuracy bands make the regression result tangible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43000"/>
            <a:ext cx="5486400" cy="2226029"/>
          </a:xfrm>
          <a:prstGeom prst="rect">
            <a:avLst/>
          </a:prstGeom>
        </p:spPr>
      </p:pic>
      <p:pic>
        <p:nvPicPr>
          <p:cNvPr id="6" name="Picture 5" descr="household_tolerance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143000"/>
            <a:ext cx="5349240" cy="2618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566928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Gated MAE: 2.47 trips per household.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Within 2 trips: 54.5%; within 3 trips: 71.2%.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changed besides trip counts?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188720"/>
          <a:ext cx="10789920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52578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Component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Definition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Private vehicle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Car / van / SUV / pickup / motorcycle / rental vehicle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Walk / bike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Non-motorized travel modes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 bus / rail / ferry / paratransit categories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 / ridehail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Taxi, limo, Uber/Lyft-style services</a:t>
                      </a:r>
                    </a:p>
                  </a:txBody>
                  <a:tcPr marL="36576" marR="36576"/>
                </a:tc>
              </a:tr>
              <a:tr h="52578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Other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School bus, airplane, other specified modes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937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2017 and 2022 TRPTRANS codes are mapped with year-specific official codebooks.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 distribution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2022 has fewer trips and lower transit share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9</a:t>
            </a:r>
          </a:p>
        </p:txBody>
      </p:sp>
      <p:pic>
        <p:nvPicPr>
          <p:cNvPr id="5" name="Picture 4" descr="mode_distributio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469880" cy="51892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Mode-composition method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helps the transit component, but the effect is auxiliary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10</a:t>
            </a:r>
          </a:p>
        </p:txBody>
      </p:sp>
      <p:pic>
        <p:nvPicPr>
          <p:cNvPr id="5" name="Picture 4" descr="mode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07040" cy="43853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Transit-share weighted MAE: 0.0325 -&gt; 0.0269.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Overall mode-composition gain is small, so this belongs as supporting evidence.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Pure LLM-style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LLM direction alone helps, but it does not replace household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11</a:t>
            </a:r>
          </a:p>
        </p:txBody>
      </p:sp>
      <p:pic>
        <p:nvPicPr>
          <p:cNvPr id="5" name="Picture 4" descr="mode_llm_onl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61320" cy="43461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562356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LLM-only corrected transit MAE: 0.0451.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Microsoft YaHei"/>
              </a:defRPr>
            </a:pPr>
            <a:r>
              <a:t>XGBoost + LLM transit MAE: 0.0269.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Metric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How to read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234440"/>
          <a:ext cx="107899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18160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Metric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Task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 marL="36576" marR="36576">
                    <a:solidFill>
                      <a:srgbClr val="E2E8F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Average absolute trip-count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Bias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Systematic over/under prediction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Within-k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Trip count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Households within k trips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Weighted TV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Whole share-vector error</a:t>
                      </a:r>
                    </a:p>
                  </a:txBody>
                  <a:tcPr marL="36576" marR="36576"/>
                </a:tc>
              </a:tr>
              <a:tr h="51816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Transit-share MAE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Mode composition</a:t>
                      </a:r>
                    </a:p>
                  </a:txBody>
                  <a:tcPr marL="36576" marR="36576"/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Public-transit share error</a:t>
                      </a:r>
                    </a:p>
                  </a:txBody>
                  <a:tcPr marL="36576" marR="36576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0F172A"/>
                </a:solidFill>
                <a:latin typeface="Microsoft YaHei"/>
              </a:defRPr>
            </a:pPr>
            <a:r>
              <a:t>Lower is better for errors; bias closer to zero is better; R2 and accuracy are higher-is-better.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What the LLM contributes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Event semantics, not direct numerical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historical predictor learns routine household mobility from NHTS.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The LLM supplies post-pandemic event priors: trip suppression, remote work, transit avoidance, delivery substitution, recovery sensitivity.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Global controls show that broad event downscaling is strong.</a:t>
            </a:r>
          </a:p>
          <a:p>
            <a:pPr>
              <a:spcAft>
                <a:spcPts val="800"/>
              </a:spcAft>
              <a:defRPr sz="2200" b="0">
                <a:solidFill>
                  <a:srgbClr val="0F172A"/>
                </a:solidFill>
                <a:latin typeface="Microsoft YaHei"/>
              </a:defRPr>
            </a:pPr>
            <a:r>
              <a:t>Random controls and subgroup diagnostics show that cohort-specific LLM ranking adds smaller but measurable signal.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What we should not overclaim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149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claim that LLM directly predicts household trip counts.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Do not compare trip-count MAE with trip-level mode-classification accuracy.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Mode composition is an auxiliary extension; the main validated result is CNTTDHH adaptation.</a:t>
            </a:r>
          </a:p>
          <a:p>
            <a:pPr>
              <a:spcAft>
                <a:spcPts val="800"/>
              </a:spcAft>
              <a:defRPr sz="2300" b="0">
                <a:solidFill>
                  <a:srgbClr val="0F172A"/>
                </a:solidFill>
                <a:latin typeface="Microsoft YaHei"/>
              </a:defRPr>
            </a:pPr>
            <a:r>
              <a:t>Future work should add external event context, stronger LLM priors, and prospective validation.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0F172A"/>
                </a:solidFill>
                <a:latin typeface="Microsoft YaHei"/>
              </a:defRPr>
            </a:pPr>
            <a:r>
              <a:t>Final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475569"/>
                </a:solidFill>
                <a:latin typeface="Microsoft YaHei"/>
              </a:defRPr>
            </a:pPr>
            <a:r>
              <a:t>A defensible story for the course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Microsoft YaHei"/>
              </a:defRPr>
            </a:pPr>
            <a:r>
              <a:t>NHTS LLM Event Adaptation | 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Trip-count error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-42.8%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weighted MAE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417320"/>
            <a:ext cx="2606040" cy="111556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475569"/>
                </a:solidFill>
                <a:latin typeface="Microsoft YaHei"/>
              </a:defRPr>
            </a:pPr>
            <a:r>
              <a:t>Transit-share error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-17.4%</a:t>
            </a:r>
          </a:p>
          <a:p>
            <a:pPr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t>auxiliary mode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LLMs are most useful here as event-prior generators.</a:t>
            </a:r>
          </a:p>
          <a:p>
            <a:pPr>
              <a:spcAft>
                <a:spcPts val="800"/>
              </a:spcAft>
              <a:defRPr sz="2400" b="0">
                <a:solidFill>
                  <a:srgbClr val="0F172A"/>
                </a:solidFill>
                <a:latin typeface="Microsoft YaHei"/>
              </a:defRPr>
            </a:pPr>
            <a:r>
              <a:t>The best model is not pure LLM and not pure historical prediction; it is a label-free hybrid adapter.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