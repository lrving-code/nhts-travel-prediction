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960120"/>
            <a:ext cx="106070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Pandemic-Aware Household Travel Behavior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76272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0">
                <a:solidFill>
                  <a:srgbClr val="CBD5E1"/>
                </a:solidFill>
                <a:latin typeface="Microsoft YaHei"/>
              </a:defRPr>
            </a:pPr>
            <a:r>
              <a:t>LLM event priors for label-free adaptation under post-pandemic shift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Trip-count MAE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-42.3%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primary gated rule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8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correction absolute bias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LLM calls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-83.2%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cohort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What this project predicts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 household-level travel behavior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7984"/>
                <a:gridCol w="2157984"/>
                <a:gridCol w="2157984"/>
                <a:gridCol w="2157984"/>
                <a:gridCol w="2157984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Output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Target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Granularity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Metric family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Role in system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generation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CNTTDHH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 / RMSE / Bias / R2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many trips</a:t>
                      </a:r>
                    </a:p>
                  </a:txBody>
                  <a:tcPr marL="36576" marR="36576"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shares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TV / share MAE / dominant mode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trips are distributed</a:t>
                      </a:r>
                    </a:p>
                  </a:txBody>
                  <a:tcPr marL="36576" marR="36576"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Mode-specific trips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Trips by mode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Derived count error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many trips by each mode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388620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0F172A"/>
                </a:solidFill>
                <a:latin typeface="Microsoft YaHei"/>
              </a:defRPr>
            </a:pPr>
            <a:r>
              <a:t>The project predicts household travel behavior as trip volume plus mode structure.</a:t>
            </a:r>
          </a:p>
          <a:p>
            <a:pPr>
              <a:spcAft>
                <a:spcPts val="800"/>
              </a:spcAft>
              <a:defRPr sz="1900" b="0">
                <a:solidFill>
                  <a:srgbClr val="0F172A"/>
                </a:solidFill>
                <a:latin typeface="Microsoft YaHei"/>
              </a:defRPr>
            </a:pPr>
            <a:r>
              <a:t>The LLM contribution is label-free event adaptation under a 2022 pandemic shift.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Experimental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2022 labels are evaluation-only in the main setting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3</a:t>
            </a:r>
          </a:p>
        </p:txBody>
      </p:sp>
      <p:pic>
        <p:nvPicPr>
          <p:cNvPr id="5" name="Picture 4" descr="metho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698480" cy="4388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553212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0F172A"/>
                </a:solidFill>
                <a:latin typeface="Microsoft YaHei"/>
              </a:defRPr>
            </a:pPr>
            <a:r>
              <a:t>LLM sees cohort attributes and pandemic-response context, not 2022 trip-count labels.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each row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887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72440"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Method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Uses 2022 labels?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LLM?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Purpose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predictor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Routine mobility baseline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trend shift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Mean-trend control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LLM-only pressure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only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 household predictor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Zero-shot rule tree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LLM-authored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Cold-start ablation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Rule + 500 history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rules + data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Small-data bridge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Global event prior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Only global mean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Event-level downscaling control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Random prior control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Shuffled scores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Negative control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Gated LLM correction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Cohort-specific when confident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Primary no-label rule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Weighted metrics on 2022 households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430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Method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RMSE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Bias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R2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 gain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predictor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4.338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5.317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3.605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-0.637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0.0%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trend shift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4.150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5.146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3.348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-0.533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4.3%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LLM-only pressure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2.718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3.988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-0.373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0.079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37.4%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Zero-shot LLM rule tree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2.751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3.783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0.500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0.171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36.6%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Zero-shot pseudo-label tree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2.777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3.820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0.500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0.155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36.0%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rule + 500-history calibration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2.772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3.823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0.463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0.154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36.1%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Global event prior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2.522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3.743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-0.748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0.189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41.9%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Random prior control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2.647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3.881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-0.637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0.128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39.0%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Gated LLM correction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2.502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3.604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-0.023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0.248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42.3%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9204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Primary no-label gated rule: MAE 2.502, bias -0.023.</a:t>
            </a:r>
          </a:p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LLM-only pressure: MAE 2.718; hybrid keeps household-level baseline.</a:t>
            </a:r>
          </a:p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Parameter-sweep sensitivity rows are kept out of the public method comparison.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error drops sharply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event priors repair the 2022 overprediction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6</a:t>
            </a:r>
          </a:p>
        </p:txBody>
      </p:sp>
      <p:pic>
        <p:nvPicPr>
          <p:cNvPr id="5" name="Picture 4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881360" cy="53815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Bias and household-level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Accuracy bands make the regression result tangible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7</a:t>
            </a:r>
          </a:p>
        </p:txBody>
      </p:sp>
      <p:pic>
        <p:nvPicPr>
          <p:cNvPr id="5" name="Picture 4" descr="bias_r2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5486400" cy="2211554"/>
          </a:xfrm>
          <a:prstGeom prst="rect">
            <a:avLst/>
          </a:prstGeom>
        </p:spPr>
      </p:pic>
      <p:pic>
        <p:nvPicPr>
          <p:cNvPr id="6" name="Picture 5" descr="household_tolerance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43000"/>
            <a:ext cx="5349240" cy="26148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566928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Gated MAE: 2.48 trips per household.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Within 2 trips: 54.0%; within 3 trips: 71.1%.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Mode-composition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changed besides trip counts?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188720"/>
          <a:ext cx="1078992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394960"/>
              </a:tblGrid>
              <a:tr h="5257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Component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Definition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Private vehicle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Car / van / SUV / pickup / motorcycle / rental vehicle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Walk / bike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Non-motorized travel modes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Transit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Public bus / rail / ferry / paratransit categories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Taxi / ridehail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Taxi, limo, Uber/Lyft-style services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Other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School bus, airplane, other specified modes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937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2017 and 2022 TRPTRANS codes are mapped with year-specific official codebooks.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 distribution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2022 has fewer trips and lower transit 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9</a:t>
            </a:r>
          </a:p>
        </p:txBody>
      </p:sp>
      <p:pic>
        <p:nvPicPr>
          <p:cNvPr id="5" name="Picture 4" descr="mode_distribution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469880" cy="51892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Mode-composition method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helps the transit component of household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10</a:t>
            </a:r>
          </a:p>
        </p:txBody>
      </p:sp>
      <p:pic>
        <p:nvPicPr>
          <p:cNvPr id="5" name="Picture 4" descr="mode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10607040" cy="43853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562356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Transit-share weighted MAE: 0.0325 -&gt; 0.0269.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Overall mode-composition gain is small, while the transit component shows a clearer pandemic-related signal.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Pure LLM-style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direction alone helps, but it does not replace household predictors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11</a:t>
            </a:r>
          </a:p>
        </p:txBody>
      </p:sp>
      <p:pic>
        <p:nvPicPr>
          <p:cNvPr id="5" name="Picture 4" descr="mode_llm_onl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561320" cy="43495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562356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LLM-only corrected transit MAE: 0.0451.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XGBoost + LLM transit MAE: 0.0269.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Trip-level mode-choice transfer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Harmonized MODE_GROUP avoids raw TRPTRANS code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143000"/>
          <a:ext cx="521208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3020"/>
                <a:gridCol w="1303020"/>
                <a:gridCol w="1303020"/>
                <a:gridCol w="130302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Model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acc.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W-balanced acc.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W-macro F1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Survey-weighted XGB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0.9297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0.4343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0.4663</a:t>
                      </a:r>
                    </a:p>
                  </a:txBody>
                  <a:tcPr marL="36576" marR="36576"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Class-balanced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0.7852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0.5501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0.3722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2743200"/>
            <a:ext cx="5074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0F172A"/>
                </a:solidFill>
                <a:latin typeface="Microsoft YaHei"/>
              </a:defRPr>
            </a:pPr>
            <a:r>
              <a:t>Train on 2017 labels; use 2022 labels only for final evaluation.</a:t>
            </a:r>
          </a:p>
          <a:p>
            <a:pPr>
              <a:spcAft>
                <a:spcPts val="800"/>
              </a:spcAft>
              <a:defRPr sz="1600" b="0">
                <a:solidFill>
                  <a:srgbClr val="0F172A"/>
                </a:solidFill>
                <a:latin typeface="Microsoft YaHei"/>
              </a:defRPr>
            </a:pPr>
            <a:r>
              <a:t>Accuracy is high because private vehicle dominates.</a:t>
            </a:r>
          </a:p>
          <a:p>
            <a:pPr>
              <a:spcAft>
                <a:spcPts val="800"/>
              </a:spcAft>
              <a:defRPr sz="1600" b="0">
                <a:solidFill>
                  <a:srgbClr val="0F172A"/>
                </a:solidFill>
                <a:latin typeface="Microsoft YaHei"/>
              </a:defRPr>
            </a:pPr>
            <a:r>
              <a:t>Macro F1 and the confusion matrix expose rare-mode limitations.</a:t>
            </a:r>
          </a:p>
        </p:txBody>
      </p:sp>
      <p:pic>
        <p:nvPicPr>
          <p:cNvPr id="7" name="Picture 6" descr="xgboost_survey_weighted_test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097280"/>
            <a:ext cx="5257800" cy="44182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Metric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How to read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234440"/>
          <a:ext cx="10789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5181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Metric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Task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Meaning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MAE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Average absolute trip-count error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Bias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Systematic over/under prediction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Within-k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Households within k trips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TV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Whole share-vector error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Transit-share MAE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Public-transit share error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846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Lower is better for errors; bias closer to zero is better; R2 and accuracy are higher-is-better.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What the LLM contributes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Event semantics, not direct numerical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historical predictor learns routine household mobility from NHTS.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LLM supplies post-pandemic event priors: trip suppression, remote work, transit avoidance, delivery substitution, recovery sensitivity.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LLM-only pressure baseline improves over naive history but is weaker than the hybrid model.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Global controls show that broad event downscaling is strong.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Random controls and subgroup diagnostics show that cohort-specific LLM ranking adds smaller but measurable signal.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we should not overclaim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Do not claim that LLM directly predicts household trip counts.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Keep parameter-sweep sensitivity rows in appendix/internal analysis, not in the main comparison.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Present trip generation and mode composition as two household-level outputs, not as separate projects.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Mode composition and trip-level mode choice add behavior-system evidence, but rare modes remain harder.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Future work should add external event context, stronger LLM priors, and prospective validation.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Final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 defensible story for the course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Primary trip-count rule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-42.3%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weighted MAE reduction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absolute bias reduction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Transit-share error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-17.4%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mode-structure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0">
                <a:solidFill>
                  <a:srgbClr val="0F172A"/>
                </a:solidFill>
                <a:latin typeface="Microsoft YaHei"/>
              </a:defRPr>
            </a:pPr>
            <a:r>
              <a:t>LLMs are most useful here as event-prior generators.</a:t>
            </a:r>
          </a:p>
          <a:p>
            <a:pPr>
              <a:spcAft>
                <a:spcPts val="800"/>
              </a:spcAft>
              <a:defRPr sz="2400" b="0">
                <a:solidFill>
                  <a:srgbClr val="0F172A"/>
                </a:solidFill>
                <a:latin typeface="Microsoft YaHei"/>
              </a:defRPr>
            </a:pPr>
            <a:r>
              <a:t>The best model is not pure LLM and not pure historical prediction; it is a label-free hybrid adapter.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