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960120"/>
            <a:ext cx="106070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FFFF"/>
                </a:solidFill>
                <a:latin typeface="Microsoft YaHei"/>
              </a:defRPr>
            </a:pPr>
            <a:r>
              <a:t>Pandemic-Aware Household Travel Behavior Prediction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2176272"/>
            <a:ext cx="10515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0">
                <a:solidFill>
                  <a:srgbClr val="CBD5E1"/>
                </a:solidFill>
                <a:latin typeface="Microsoft YaHei"/>
              </a:defRPr>
            </a:pPr>
            <a:r>
              <a:t>LLM event priors for label-free adaptation under post-pandemic shift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4069080"/>
            <a:ext cx="2606040" cy="1115568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475569"/>
                </a:solidFill>
                <a:latin typeface="Microsoft YaHei"/>
              </a:defRPr>
            </a:pPr>
            <a:r>
              <a:t>Trip-count MAE</a:t>
            </a:r>
          </a:p>
          <a:p>
            <a:pPr>
              <a:defRPr sz="2300" b="1">
                <a:solidFill>
                  <a:srgbClr val="3B82F6"/>
                </a:solidFill>
                <a:latin typeface="Microsoft YaHei"/>
              </a:defRPr>
            </a:pPr>
            <a:r>
              <a:t>-42.3%</a:t>
            </a:r>
          </a:p>
          <a:p>
            <a:pPr>
              <a:defRPr sz="800" b="0">
                <a:solidFill>
                  <a:srgbClr val="64748B"/>
                </a:solidFill>
                <a:latin typeface="Microsoft YaHei"/>
              </a:defRPr>
            </a:pPr>
            <a:r>
              <a:t>primary gated rule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11880" y="4069080"/>
            <a:ext cx="2606040" cy="1115568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475569"/>
                </a:solidFill>
                <a:latin typeface="Microsoft YaHei"/>
              </a:defRPr>
            </a:pPr>
            <a:r>
              <a:t>Bias</a:t>
            </a:r>
          </a:p>
          <a:p>
            <a:pPr>
              <a:defRPr sz="2300" b="1">
                <a:solidFill>
                  <a:srgbClr val="16A34A"/>
                </a:solidFill>
                <a:latin typeface="Microsoft YaHei"/>
              </a:defRPr>
            </a:pPr>
            <a:r>
              <a:t>-99.4%</a:t>
            </a:r>
          </a:p>
          <a:p>
            <a:pPr>
              <a:defRPr sz="800" b="0">
                <a:solidFill>
                  <a:srgbClr val="64748B"/>
                </a:solidFill>
                <a:latin typeface="Microsoft YaHei"/>
              </a:defRPr>
            </a:pPr>
            <a:r>
              <a:t>gated correction absolute bias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46520" y="4069080"/>
            <a:ext cx="2606040" cy="1115568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475569"/>
                </a:solidFill>
                <a:latin typeface="Microsoft YaHei"/>
              </a:defRPr>
            </a:pPr>
            <a:r>
              <a:t>LLM calls</a:t>
            </a:r>
          </a:p>
          <a:p>
            <a:pPr>
              <a:defRPr sz="2300" b="1">
                <a:solidFill>
                  <a:srgbClr val="F97316"/>
                </a:solidFill>
                <a:latin typeface="Microsoft YaHei"/>
              </a:defRPr>
            </a:pPr>
            <a:r>
              <a:t>-83.2%</a:t>
            </a:r>
          </a:p>
          <a:p>
            <a:pPr>
              <a:defRPr sz="800" b="0">
                <a:solidFill>
                  <a:srgbClr val="64748B"/>
                </a:solidFill>
                <a:latin typeface="Microsoft YaHei"/>
              </a:defRPr>
            </a:pPr>
            <a:r>
              <a:t>cohort prompting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Microsoft YaHei"/>
              </a:defRPr>
            </a:pPr>
            <a:r>
              <a:t>NHTS LLM Event Adaptation |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  <a:latin typeface="Microsoft YaHei"/>
              </a:defRPr>
            </a:pPr>
            <a:r>
              <a:t>What this project predicts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A household-level travel behavior prediction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Microsoft YaHei"/>
              </a:defRPr>
            </a:pPr>
            <a:r>
              <a:t>NHTS LLM Event Adaptation | 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325880"/>
          <a:ext cx="107899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2157984"/>
                <a:gridCol w="2157984"/>
                <a:gridCol w="2157984"/>
                <a:gridCol w="2157984"/>
              </a:tblGrid>
              <a:tr h="50292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Output</a:t>
                      </a:r>
                    </a:p>
                  </a:txBody>
                  <a:tcPr marL="36576" marR="36576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Target</a:t>
                      </a:r>
                    </a:p>
                  </a:txBody>
                  <a:tcPr marL="36576" marR="36576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Granularity</a:t>
                      </a:r>
                    </a:p>
                  </a:txBody>
                  <a:tcPr marL="36576" marR="36576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Metric family</a:t>
                      </a:r>
                    </a:p>
                  </a:txBody>
                  <a:tcPr marL="36576" marR="36576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Role in system</a:t>
                      </a:r>
                    </a:p>
                  </a:txBody>
                  <a:tcPr marL="36576" marR="36576">
                    <a:solidFill>
                      <a:srgbClr val="E2E8F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Trip generation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CNTTDHH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Household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MAE / RMSE / Bias / R2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How many trips</a:t>
                      </a:r>
                    </a:p>
                  </a:txBody>
                  <a:tcPr marL="36576" marR="36576"/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Mode composition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Mode shares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Household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TV / share MAE / dominant mode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How trips are distributed</a:t>
                      </a:r>
                    </a:p>
                  </a:txBody>
                  <a:tcPr marL="36576" marR="36576"/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Mode-specific trips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Trips by mode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Household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Derived count error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How many trips by each mode</a:t>
                      </a:r>
                    </a:p>
                  </a:txBody>
                  <a:tcPr marL="36576" marR="36576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14400" y="3886200"/>
            <a:ext cx="9875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0F172A"/>
                </a:solidFill>
                <a:latin typeface="Microsoft YaHei"/>
              </a:defRPr>
            </a:pPr>
            <a:r>
              <a:t>The project predicts household travel behavior as trip volume plus mode structure.</a:t>
            </a:r>
          </a:p>
          <a:p>
            <a:pPr>
              <a:spcAft>
                <a:spcPts val="800"/>
              </a:spcAft>
              <a:defRPr sz="1900" b="0">
                <a:solidFill>
                  <a:srgbClr val="0F172A"/>
                </a:solidFill>
                <a:latin typeface="Microsoft YaHei"/>
              </a:defRPr>
            </a:pPr>
            <a:r>
              <a:t>The LLM contribution is label-free event adaptation under a 2022 pandemic shift.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  <a:latin typeface="Microsoft YaHei"/>
              </a:defRPr>
            </a:pPr>
            <a:r>
              <a:t>Experimental guardrail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2022 labels are evaluation-only in the main setting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Microsoft YaHei"/>
              </a:defRPr>
            </a:pPr>
            <a:r>
              <a:t>NHTS LLM Event Adaptation | 3</a:t>
            </a:r>
          </a:p>
        </p:txBody>
      </p:sp>
      <p:pic>
        <p:nvPicPr>
          <p:cNvPr id="5" name="Picture 4" descr="method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10698480" cy="43883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51560" y="5532120"/>
            <a:ext cx="9692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0F172A"/>
                </a:solidFill>
                <a:latin typeface="Microsoft YaHei"/>
              </a:defRPr>
            </a:pPr>
            <a:r>
              <a:t>LLM sees cohort attributes and pandemic-response context, not 2022 trip-count labels.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  <a:latin typeface="Microsoft YaHei"/>
              </a:defRPr>
            </a:pPr>
            <a:r>
              <a:t>Trip-count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What each row means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Microsoft YaHei"/>
              </a:defRPr>
            </a:pPr>
            <a:r>
              <a:t>NHTS LLM Event Adaptation | 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188720"/>
          <a:ext cx="11064240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47244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Method</a:t>
                      </a:r>
                    </a:p>
                  </a:txBody>
                  <a:tcPr marL="36576" marR="36576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Uses 2022 labels?</a:t>
                      </a:r>
                    </a:p>
                  </a:txBody>
                  <a:tcPr marL="36576" marR="36576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LLM?</a:t>
                      </a:r>
                    </a:p>
                  </a:txBody>
                  <a:tcPr marL="36576" marR="36576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Purpose</a:t>
                      </a:r>
                    </a:p>
                  </a:txBody>
                  <a:tcPr marL="36576" marR="36576">
                    <a:solidFill>
                      <a:srgbClr val="E2E8F0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Historical predictor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No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No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Routine mobility baseline</a:t>
                      </a:r>
                    </a:p>
                  </a:txBody>
                  <a:tcPr marL="36576" marR="36576"/>
                </a:tc>
              </a:tr>
              <a:tr h="47244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Historical trend shift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No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No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Mean-trend control</a:t>
                      </a:r>
                    </a:p>
                  </a:txBody>
                  <a:tcPr marL="36576" marR="36576"/>
                </a:tc>
              </a:tr>
              <a:tr h="47244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LLM-only pressure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No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LLM only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No household predictor</a:t>
                      </a:r>
                    </a:p>
                  </a:txBody>
                  <a:tcPr marL="36576" marR="36576"/>
                </a:tc>
              </a:tr>
              <a:tr h="47244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Zero-shot rule tree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No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LLM-authored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Cold-start ablation</a:t>
                      </a:r>
                    </a:p>
                  </a:txBody>
                  <a:tcPr marL="36576" marR="36576"/>
                </a:tc>
              </a:tr>
              <a:tr h="47244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Rule + 500 history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No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LLM rules + data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Small-data bridge</a:t>
                      </a:r>
                    </a:p>
                  </a:txBody>
                  <a:tcPr marL="36576" marR="36576"/>
                </a:tc>
              </a:tr>
              <a:tr h="47244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Global event prior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No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Only global mean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Event-level downscaling control</a:t>
                      </a:r>
                    </a:p>
                  </a:txBody>
                  <a:tcPr marL="36576" marR="36576"/>
                </a:tc>
              </a:tr>
              <a:tr h="47244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Random prior control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No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Shuffled scores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Negative control</a:t>
                      </a:r>
                    </a:p>
                  </a:txBody>
                  <a:tcPr marL="36576" marR="36576"/>
                </a:tc>
              </a:tr>
              <a:tr h="47244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Gated LLM correction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No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Cohort-specific when confident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Primary no-label rule</a:t>
                      </a:r>
                    </a:p>
                  </a:txBody>
                  <a:tcPr marL="36576" marR="36576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  <a:latin typeface="Microsoft YaHei"/>
              </a:defRPr>
            </a:pPr>
            <a:r>
              <a:t>Trip-count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Weighted metrics on 2022 households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Microsoft YaHei"/>
              </a:defRPr>
            </a:pPr>
            <a:r>
              <a:t>NHTS LLM Event Adaptation | 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143000"/>
          <a:ext cx="110642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4040"/>
                <a:gridCol w="1844040"/>
                <a:gridCol w="1844040"/>
                <a:gridCol w="1844040"/>
                <a:gridCol w="1844040"/>
                <a:gridCol w="1844040"/>
              </a:tblGrid>
              <a:tr h="329184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Method</a:t>
                      </a:r>
                    </a:p>
                  </a:txBody>
                  <a:tcPr marL="36576" marR="36576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MAE</a:t>
                      </a:r>
                    </a:p>
                  </a:txBody>
                  <a:tcPr marL="36576" marR="36576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RMSE</a:t>
                      </a:r>
                    </a:p>
                  </a:txBody>
                  <a:tcPr marL="36576" marR="36576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Bias</a:t>
                      </a:r>
                    </a:p>
                  </a:txBody>
                  <a:tcPr marL="36576" marR="36576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R2</a:t>
                      </a:r>
                    </a:p>
                  </a:txBody>
                  <a:tcPr marL="36576" marR="36576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MAE gain</a:t>
                      </a:r>
                    </a:p>
                  </a:txBody>
                  <a:tcPr marL="36576" marR="36576">
                    <a:solidFill>
                      <a:srgbClr val="E2E8F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Historical predictor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4.338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5.317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3.605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-0.637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0.0%</a:t>
                      </a:r>
                    </a:p>
                  </a:txBody>
                  <a:tcPr marL="36576" marR="36576"/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Historical trend shift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4.150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5.146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3.348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-0.533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4.3%</a:t>
                      </a:r>
                    </a:p>
                  </a:txBody>
                  <a:tcPr marL="36576" marR="36576"/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LLM-only pressure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2.718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3.988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-0.373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0.079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37.4%</a:t>
                      </a:r>
                    </a:p>
                  </a:txBody>
                  <a:tcPr marL="36576" marR="36576"/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Zero-shot LLM rule tree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2.751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3.783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0.500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0.171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36.6%</a:t>
                      </a:r>
                    </a:p>
                  </a:txBody>
                  <a:tcPr marL="36576" marR="36576"/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Zero-shot pseudo-label tree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2.777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3.820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0.500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0.155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36.0%</a:t>
                      </a:r>
                    </a:p>
                  </a:txBody>
                  <a:tcPr marL="36576" marR="36576"/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LLM rule + 500-history calibration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2.772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3.823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0.463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0.154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36.1%</a:t>
                      </a:r>
                    </a:p>
                  </a:txBody>
                  <a:tcPr marL="36576" marR="36576"/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Global event prior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2.522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3.743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-0.748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0.189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41.9%</a:t>
                      </a:r>
                    </a:p>
                  </a:txBody>
                  <a:tcPr marL="36576" marR="36576"/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Random prior control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2.647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3.881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-0.637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0.128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39.0%</a:t>
                      </a:r>
                    </a:p>
                  </a:txBody>
                  <a:tcPr marL="36576" marR="36576"/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Gated LLM correction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2.502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3.604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-0.023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0.248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42.3%</a:t>
                      </a:r>
                    </a:p>
                  </a:txBody>
                  <a:tcPr marL="36576" marR="36576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68680" y="4892040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0F172A"/>
                </a:solidFill>
                <a:latin typeface="Microsoft YaHei"/>
              </a:defRPr>
            </a:pPr>
            <a:r>
              <a:t>Primary no-label gated rule: MAE 2.502, bias -0.023.</a:t>
            </a:r>
          </a:p>
          <a:p>
            <a:pPr>
              <a:spcAft>
                <a:spcPts val="800"/>
              </a:spcAft>
              <a:defRPr sz="1800" b="0">
                <a:solidFill>
                  <a:srgbClr val="0F172A"/>
                </a:solidFill>
                <a:latin typeface="Microsoft YaHei"/>
              </a:defRPr>
            </a:pPr>
            <a:r>
              <a:t>LLM-only pressure: MAE 2.718; hybrid keeps household-level baseline.</a:t>
            </a:r>
          </a:p>
          <a:p>
            <a:pPr>
              <a:spcAft>
                <a:spcPts val="800"/>
              </a:spcAft>
              <a:defRPr sz="1800" b="0">
                <a:solidFill>
                  <a:srgbClr val="0F172A"/>
                </a:solidFill>
                <a:latin typeface="Microsoft YaHei"/>
              </a:defRPr>
            </a:pPr>
            <a:r>
              <a:t>Parameter-sweep sensitivity rows are kept out of the public method comparison.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  <a:latin typeface="Microsoft YaHei"/>
              </a:defRPr>
            </a:pPr>
            <a:r>
              <a:t>Trip-count error drops sharply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LLM event priors repair the 2022 overprediction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Microsoft YaHei"/>
              </a:defRPr>
            </a:pPr>
            <a:r>
              <a:t>NHTS LLM Event Adaptation | 6</a:t>
            </a:r>
          </a:p>
        </p:txBody>
      </p:sp>
      <p:pic>
        <p:nvPicPr>
          <p:cNvPr id="5" name="Picture 4" descr="metric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0"/>
            <a:ext cx="10881360" cy="538154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  <a:latin typeface="Microsoft YaHei"/>
              </a:defRPr>
            </a:pPr>
            <a:r>
              <a:t>Bias and household-level 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Accuracy bands make the regression result tangible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Microsoft YaHei"/>
              </a:defRPr>
            </a:pPr>
            <a:r>
              <a:t>NHTS LLM Event Adaptation | 7</a:t>
            </a:r>
          </a:p>
        </p:txBody>
      </p:sp>
      <p:pic>
        <p:nvPicPr>
          <p:cNvPr id="5" name="Picture 4" descr="bias_r2_tradeo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43000"/>
            <a:ext cx="5486400" cy="2211554"/>
          </a:xfrm>
          <a:prstGeom prst="rect">
            <a:avLst/>
          </a:prstGeom>
        </p:spPr>
      </p:pic>
      <p:pic>
        <p:nvPicPr>
          <p:cNvPr id="6" name="Picture 5" descr="household_tolerance_accurac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143000"/>
            <a:ext cx="5349240" cy="261487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05840" y="566928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Microsoft YaHei"/>
              </a:defRPr>
            </a:pPr>
            <a:r>
              <a:t>Gated MAE: 2.48 trips per household.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Microsoft YaHei"/>
              </a:defRPr>
            </a:pPr>
            <a:r>
              <a:t>Within 2 trips: 54.0%; within 3 trips: 71.1%.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  <a:latin typeface="Microsoft YaHei"/>
              </a:defRPr>
            </a:pPr>
            <a:r>
              <a:t>Mode-composition extension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What changed besides trip counts?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Microsoft YaHei"/>
              </a:defRPr>
            </a:pPr>
            <a:r>
              <a:t>NHTS LLM Event Adaptation | 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188720"/>
          <a:ext cx="10789920" cy="3154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94960"/>
                <a:gridCol w="5394960"/>
              </a:tblGrid>
              <a:tr h="52578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Component</a:t>
                      </a:r>
                    </a:p>
                  </a:txBody>
                  <a:tcPr marL="36576" marR="36576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Definition</a:t>
                      </a:r>
                    </a:p>
                  </a:txBody>
                  <a:tcPr marL="36576" marR="36576">
                    <a:solidFill>
                      <a:srgbClr val="E2E8F0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Private vehicle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Car / van / SUV / pickup / motorcycle / rental vehicle</a:t>
                      </a:r>
                    </a:p>
                  </a:txBody>
                  <a:tcPr marL="36576" marR="36576"/>
                </a:tc>
              </a:tr>
              <a:tr h="52578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Walk / bike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Non-motorized travel modes</a:t>
                      </a:r>
                    </a:p>
                  </a:txBody>
                  <a:tcPr marL="36576" marR="36576"/>
                </a:tc>
              </a:tr>
              <a:tr h="52578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Transit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Public bus / rail / ferry / paratransit categories</a:t>
                      </a:r>
                    </a:p>
                  </a:txBody>
                  <a:tcPr marL="36576" marR="36576"/>
                </a:tc>
              </a:tr>
              <a:tr h="52578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Taxi / ridehail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Taxi, limo, Uber/Lyft-style services</a:t>
                      </a:r>
                    </a:p>
                  </a:txBody>
                  <a:tcPr marL="36576" marR="36576"/>
                </a:tc>
              </a:tr>
              <a:tr h="52578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Other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School bus, airplane, other specified modes</a:t>
                      </a:r>
                    </a:p>
                  </a:txBody>
                  <a:tcPr marL="36576" marR="36576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14400" y="4937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0F172A"/>
                </a:solidFill>
                <a:latin typeface="Microsoft YaHei"/>
              </a:defRPr>
            </a:pPr>
            <a:r>
              <a:t>2017 and 2022 TRPTRANS codes are mapped with year-specific official codebooks.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  <a:latin typeface="Microsoft YaHei"/>
              </a:defRPr>
            </a:pPr>
            <a:r>
              <a:t>Mode distribution shift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2022 has fewer trips and lower transit share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Microsoft YaHei"/>
              </a:defRPr>
            </a:pPr>
            <a:r>
              <a:t>NHTS LLM Event Adaptation | 9</a:t>
            </a:r>
          </a:p>
        </p:txBody>
      </p:sp>
      <p:pic>
        <p:nvPicPr>
          <p:cNvPr id="5" name="Picture 4" descr="mode_distribution_shi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143000"/>
            <a:ext cx="10469880" cy="518925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  <a:latin typeface="Microsoft YaHei"/>
              </a:defRPr>
            </a:pPr>
            <a:r>
              <a:t>Mode-composition method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LLM helps the transit component of household behavior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Microsoft YaHei"/>
              </a:defRPr>
            </a:pPr>
            <a:r>
              <a:t>NHTS LLM Event Adaptation | 10</a:t>
            </a:r>
          </a:p>
        </p:txBody>
      </p:sp>
      <p:pic>
        <p:nvPicPr>
          <p:cNvPr id="5" name="Picture 4" descr="mode_metric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143000"/>
            <a:ext cx="10607040" cy="438530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60120" y="5623560"/>
            <a:ext cx="9784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Microsoft YaHei"/>
              </a:defRPr>
            </a:pPr>
            <a:r>
              <a:t>Transit-share weighted MAE: 0.0325 -&gt; 0.0269.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Microsoft YaHei"/>
              </a:defRPr>
            </a:pPr>
            <a:r>
              <a:t>Overall mode-composition gain is small, while the transit component shows a clearer pandemic-related signal.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  <a:latin typeface="Microsoft YaHei"/>
              </a:defRPr>
            </a:pPr>
            <a:r>
              <a:t>Pure LLM-style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LLM direction alone helps, but it does not replace household predictors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Microsoft YaHei"/>
              </a:defRPr>
            </a:pPr>
            <a:r>
              <a:t>NHTS LLM Event Adaptation | 11</a:t>
            </a:r>
          </a:p>
        </p:txBody>
      </p:sp>
      <p:pic>
        <p:nvPicPr>
          <p:cNvPr id="5" name="Picture 4" descr="mode_llm_only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143000"/>
            <a:ext cx="10561320" cy="434955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60120" y="5623560"/>
            <a:ext cx="9784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Microsoft YaHei"/>
              </a:defRPr>
            </a:pPr>
            <a:r>
              <a:t>LLM-only corrected transit MAE: 0.0451.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Microsoft YaHei"/>
              </a:defRPr>
            </a:pPr>
            <a:r>
              <a:t>XGBoost + LLM transit MAE: 0.0269.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  <a:latin typeface="Microsoft YaHei"/>
              </a:defRPr>
            </a:pPr>
            <a:r>
              <a:t>Metric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How to read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Microsoft YaHei"/>
              </a:defRPr>
            </a:pPr>
            <a:r>
              <a:t>NHTS LLM Event Adaptation | 12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234440"/>
          <a:ext cx="1078992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6640"/>
                <a:gridCol w="3596640"/>
                <a:gridCol w="3596640"/>
              </a:tblGrid>
              <a:tr h="51816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Metric</a:t>
                      </a:r>
                    </a:p>
                  </a:txBody>
                  <a:tcPr marL="36576" marR="36576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Task</a:t>
                      </a:r>
                    </a:p>
                  </a:txBody>
                  <a:tcPr marL="36576" marR="36576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Meaning</a:t>
                      </a:r>
                    </a:p>
                  </a:txBody>
                  <a:tcPr marL="36576" marR="36576">
                    <a:solidFill>
                      <a:srgbClr val="E2E8F0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Weighted MAE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Trip count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Average absolute trip-count error</a:t>
                      </a:r>
                    </a:p>
                  </a:txBody>
                  <a:tcPr marL="36576" marR="36576"/>
                </a:tc>
              </a:tr>
              <a:tr h="51816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Weighted Bias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Trip count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Systematic over/under prediction</a:t>
                      </a:r>
                    </a:p>
                  </a:txBody>
                  <a:tcPr marL="36576" marR="36576"/>
                </a:tc>
              </a:tr>
              <a:tr h="51816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Within-k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Trip count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Households within k trips</a:t>
                      </a:r>
                    </a:p>
                  </a:txBody>
                  <a:tcPr marL="36576" marR="36576"/>
                </a:tc>
              </a:tr>
              <a:tr h="51816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Weighted TV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Mode composition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Whole share-vector error</a:t>
                      </a:r>
                    </a:p>
                  </a:txBody>
                  <a:tcPr marL="36576" marR="36576"/>
                </a:tc>
              </a:tr>
              <a:tr h="51816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Transit-share MAE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Mode composition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Public-transit share error</a:t>
                      </a:r>
                    </a:p>
                  </a:txBody>
                  <a:tcPr marL="36576" marR="36576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14400" y="4846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0F172A"/>
                </a:solidFill>
                <a:latin typeface="Microsoft YaHei"/>
              </a:defRPr>
            </a:pPr>
            <a:r>
              <a:t>Lower is better for errors; bias closer to zero is better; R2 and accuracy are higher-is-better.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  <a:latin typeface="Microsoft YaHei"/>
              </a:defRPr>
            </a:pPr>
            <a:r>
              <a:t>What the LLM contributes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Event semantics, not direct numerical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Microsoft YaHei"/>
              </a:defRPr>
            </a:pPr>
            <a:r>
              <a:t>NHTS LLM Event Adaptation |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325880"/>
            <a:ext cx="10149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0F172A"/>
                </a:solidFill>
                <a:latin typeface="Microsoft YaHei"/>
              </a:defRPr>
            </a:pPr>
            <a:r>
              <a:t>The historical predictor learns routine household mobility from NHTS.</a:t>
            </a:r>
          </a:p>
          <a:p>
            <a:pPr>
              <a:spcAft>
                <a:spcPts val="800"/>
              </a:spcAft>
              <a:defRPr sz="2200" b="0">
                <a:solidFill>
                  <a:srgbClr val="0F172A"/>
                </a:solidFill>
                <a:latin typeface="Microsoft YaHei"/>
              </a:defRPr>
            </a:pPr>
            <a:r>
              <a:t>The LLM supplies post-pandemic event priors: trip suppression, remote work, transit avoidance, delivery substitution, recovery sensitivity.</a:t>
            </a:r>
          </a:p>
          <a:p>
            <a:pPr>
              <a:spcAft>
                <a:spcPts val="800"/>
              </a:spcAft>
              <a:defRPr sz="2200" b="0">
                <a:solidFill>
                  <a:srgbClr val="0F172A"/>
                </a:solidFill>
                <a:latin typeface="Microsoft YaHei"/>
              </a:defRPr>
            </a:pPr>
            <a:r>
              <a:t>The LLM-only pressure baseline improves over naive history but is weaker than the hybrid model.</a:t>
            </a:r>
          </a:p>
          <a:p>
            <a:pPr>
              <a:spcAft>
                <a:spcPts val="800"/>
              </a:spcAft>
              <a:defRPr sz="2200" b="0">
                <a:solidFill>
                  <a:srgbClr val="0F172A"/>
                </a:solidFill>
                <a:latin typeface="Microsoft YaHei"/>
              </a:defRPr>
            </a:pPr>
            <a:r>
              <a:t>Global controls show that broad event downscaling is strong.</a:t>
            </a:r>
          </a:p>
          <a:p>
            <a:pPr>
              <a:spcAft>
                <a:spcPts val="800"/>
              </a:spcAft>
              <a:defRPr sz="2200" b="0">
                <a:solidFill>
                  <a:srgbClr val="0F172A"/>
                </a:solidFill>
                <a:latin typeface="Microsoft YaHei"/>
              </a:defRPr>
            </a:pPr>
            <a:r>
              <a:t>Random controls and subgroup diagnostics show that cohort-specific LLM ranking adds smaller but measurable signal.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  <a:latin typeface="Microsoft YaHei"/>
              </a:defRPr>
            </a:pPr>
            <a:r>
              <a:t>Caveats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What we should not overclaim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Microsoft YaHei"/>
              </a:defRPr>
            </a:pPr>
            <a:r>
              <a:t>NHTS LLM Event Adaptation |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325880"/>
            <a:ext cx="10149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300" b="0">
                <a:solidFill>
                  <a:srgbClr val="0F172A"/>
                </a:solidFill>
                <a:latin typeface="Microsoft YaHei"/>
              </a:defRPr>
            </a:pPr>
            <a:r>
              <a:t>Do not claim that LLM directly predicts household trip counts.</a:t>
            </a:r>
          </a:p>
          <a:p>
            <a:pPr>
              <a:spcAft>
                <a:spcPts val="800"/>
              </a:spcAft>
              <a:defRPr sz="2300" b="0">
                <a:solidFill>
                  <a:srgbClr val="0F172A"/>
                </a:solidFill>
                <a:latin typeface="Microsoft YaHei"/>
              </a:defRPr>
            </a:pPr>
            <a:r>
              <a:t>Keep parameter-sweep sensitivity rows in appendix/internal analysis, not in the main comparison.</a:t>
            </a:r>
          </a:p>
          <a:p>
            <a:pPr>
              <a:spcAft>
                <a:spcPts val="800"/>
              </a:spcAft>
              <a:defRPr sz="2300" b="0">
                <a:solidFill>
                  <a:srgbClr val="0F172A"/>
                </a:solidFill>
                <a:latin typeface="Microsoft YaHei"/>
              </a:defRPr>
            </a:pPr>
            <a:r>
              <a:t>Present trip generation and mode composition as two household-level outputs, not as separate projects.</a:t>
            </a:r>
          </a:p>
          <a:p>
            <a:pPr>
              <a:spcAft>
                <a:spcPts val="800"/>
              </a:spcAft>
              <a:defRPr sz="2300" b="0">
                <a:solidFill>
                  <a:srgbClr val="0F172A"/>
                </a:solidFill>
                <a:latin typeface="Microsoft YaHei"/>
              </a:defRPr>
            </a:pPr>
            <a:r>
              <a:t>Mode composition is weaker overall than trip-count adaptation, but it adds the mode-structure dimension.</a:t>
            </a:r>
          </a:p>
          <a:p>
            <a:pPr>
              <a:spcAft>
                <a:spcPts val="800"/>
              </a:spcAft>
              <a:defRPr sz="2300" b="0">
                <a:solidFill>
                  <a:srgbClr val="0F172A"/>
                </a:solidFill>
                <a:latin typeface="Microsoft YaHei"/>
              </a:defRPr>
            </a:pPr>
            <a:r>
              <a:t>Future work should add external event context, stronger LLM priors, and prospective validation.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  <a:latin typeface="Microsoft YaHei"/>
              </a:defRPr>
            </a:pPr>
            <a:r>
              <a:t>Final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A defensible story for the course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Microsoft YaHei"/>
              </a:defRPr>
            </a:pPr>
            <a:r>
              <a:t>NHTS LLM Event Adaptation | 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417320"/>
            <a:ext cx="2606040" cy="1115568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475569"/>
                </a:solidFill>
                <a:latin typeface="Microsoft YaHei"/>
              </a:defRPr>
            </a:pPr>
            <a:r>
              <a:t>Primary trip-count rule</a:t>
            </a:r>
          </a:p>
          <a:p>
            <a:pPr>
              <a:defRPr sz="2300" b="1">
                <a:solidFill>
                  <a:srgbClr val="3B82F6"/>
                </a:solidFill>
                <a:latin typeface="Microsoft YaHei"/>
              </a:defRPr>
            </a:pPr>
            <a:r>
              <a:t>-42.3%</a:t>
            </a:r>
          </a:p>
          <a:p>
            <a:pPr>
              <a:defRPr sz="800" b="0">
                <a:solidFill>
                  <a:srgbClr val="64748B"/>
                </a:solidFill>
                <a:latin typeface="Microsoft YaHei"/>
              </a:defRPr>
            </a:pPr>
            <a:r>
              <a:t>gated weighted MAE reduction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0" y="1417320"/>
            <a:ext cx="2606040" cy="1115568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475569"/>
                </a:solidFill>
                <a:latin typeface="Microsoft YaHei"/>
              </a:defRPr>
            </a:pPr>
            <a:r>
              <a:t>Bias</a:t>
            </a:r>
          </a:p>
          <a:p>
            <a:pPr>
              <a:defRPr sz="2300" b="1">
                <a:solidFill>
                  <a:srgbClr val="16A34A"/>
                </a:solidFill>
                <a:latin typeface="Microsoft YaHei"/>
              </a:defRPr>
            </a:pPr>
            <a:r>
              <a:t>-99.4%</a:t>
            </a:r>
          </a:p>
          <a:p>
            <a:pPr>
              <a:defRPr sz="800" b="0">
                <a:solidFill>
                  <a:srgbClr val="64748B"/>
                </a:solidFill>
                <a:latin typeface="Microsoft YaHei"/>
              </a:defRPr>
            </a:pPr>
            <a:r>
              <a:t>gated absolute bias reduction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417320"/>
            <a:ext cx="2606040" cy="1115568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475569"/>
                </a:solidFill>
                <a:latin typeface="Microsoft YaHei"/>
              </a:defRPr>
            </a:pPr>
            <a:r>
              <a:t>Transit-share error</a:t>
            </a:r>
          </a:p>
          <a:p>
            <a:pPr>
              <a:defRPr sz="2300" b="1">
                <a:solidFill>
                  <a:srgbClr val="F97316"/>
                </a:solidFill>
                <a:latin typeface="Microsoft YaHei"/>
              </a:defRPr>
            </a:pPr>
            <a:r>
              <a:t>-17.4%</a:t>
            </a:r>
          </a:p>
          <a:p>
            <a:pPr>
              <a:defRPr sz="800" b="0">
                <a:solidFill>
                  <a:srgbClr val="64748B"/>
                </a:solidFill>
                <a:latin typeface="Microsoft YaHei"/>
              </a:defRPr>
            </a:pPr>
            <a:r>
              <a:t>mode-structure result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5760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 b="0">
                <a:solidFill>
                  <a:srgbClr val="0F172A"/>
                </a:solidFill>
                <a:latin typeface="Microsoft YaHei"/>
              </a:defRPr>
            </a:pPr>
            <a:r>
              <a:t>LLMs are most useful here as event-prior generators.</a:t>
            </a:r>
          </a:p>
          <a:p>
            <a:pPr>
              <a:spcAft>
                <a:spcPts val="800"/>
              </a:spcAft>
              <a:defRPr sz="2400" b="0">
                <a:solidFill>
                  <a:srgbClr val="0F172A"/>
                </a:solidFill>
                <a:latin typeface="Microsoft YaHei"/>
              </a:defRPr>
            </a:pPr>
            <a:r>
              <a:t>The best model is not pure LLM and not pure historical prediction; it is a label-free hybrid adapter.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