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6"/>
    <p:sldId id="287" r:id="rId5"/>
    <p:sldId id="28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3.xml"/><Relationship Id="rId5" Type="http://schemas.openxmlformats.org/officeDocument/2006/relationships/slide" Target="slides/slide32.xml"/><Relationship Id="rId6" Type="http://schemas.openxmlformats.org/officeDocument/2006/relationships/slide" Target="slides/slide3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面向时序迁移的家庭出行预测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模拟选择器与大模型修正框架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932688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150" b="1">
                <a:solidFill>
                  <a:srgbClr val="CBD5E1"/>
                </a:solidFill>
                <a:latin typeface="Microsoft YaHei"/>
              </a:defRPr>
            </a:pPr>
            <a:r>
              <a:rPr sz="1150" b="1">
                <a:solidFill>
                  <a:srgbClr val="CBD5E1"/>
                </a:solidFill>
                <a:latin typeface="Microsoft YaHei"/>
              </a:rPr>
              <a:t>LLM-Guided Temporal Adaptation for Household Mobility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8696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prediction selector + LLM-corrected XGBoost；不使用目标年出行标签校准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目标年情境变化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temporal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模拟预测选择器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prediction selector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修正 XGBoost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corrected predictor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为什么目标年需要时序适应，LLM 如何提供可泛化的情境先验。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时序迁移、移动不平等与相关研究缺口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 priors；蒸馏规则作为桥梁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target-year behavioral regime shift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远高于常规跨年验证；不使用 2022 标签调参时，能否用情境先验修正这种系统性高估。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context priors correct target-year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5727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636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5727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636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5727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636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把外部情境变化转成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029967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0939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029967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0939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029967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0939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4871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5511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Evidence-grounded agents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24871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25511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AgentMob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4871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25511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fast path + low-confidence LLM reasoning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29443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0083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29443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0083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29443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0083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prompting 和调用压缩是必要工程约束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4015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" y="34655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79" y="34015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34655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34015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1424" y="34655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8587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" y="3922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79" y="38587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80944" y="3922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38587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21424" y="3922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target-year label-free temporal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target-year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情境先验 / LLM Context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描述生成结构化目标年响应变量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统一趋势修正，不区分情境机制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所有家庭使用同一目标年折减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24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24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LLM supplies event mechanisms; the solver selects a planning operating point.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24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情境影响异质性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分层和先验相关性检验时序机制是否合理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24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与目标年机制相符：高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target-year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24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也很强，说明主贡献是目标年事件层面的修正，cohort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24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target-year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明显改善；这与目标年公共交通规避机制一致。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24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方法谱系 / Method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把 LLM 蒸馏路线并入同一条实验演化链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133856"/>
            <a:ext cx="1965960" cy="548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Data-only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历史数据拟合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4.338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+3.605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69464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6352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1133856"/>
            <a:ext cx="1965960" cy="5486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Pure LLM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事件方向可用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-0.373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818888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65776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5776" y="1133856"/>
            <a:ext cx="19659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LLM rule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零样本规则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2.602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75504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-0.407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068312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15200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133856"/>
            <a:ext cx="1965960" cy="548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4927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Rule +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少量历史校准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+0.463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317736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64624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4624" y="1133856"/>
            <a:ext cx="1965960" cy="5486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74351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Hybrid adapter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1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历史基线+事件修正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74351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2.502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74351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" y="2779776"/>
            <a:ext cx="141732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2852928"/>
            <a:ext cx="134416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阶段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3911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7568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核心假设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1947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5604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最适合回答的问题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99831" y="2779776"/>
            <a:ext cx="297180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36407" y="2852928"/>
            <a:ext cx="289864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本项目结论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" y="3200400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3264408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Data-only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3911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9397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历史样本足够表达未来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1947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常态年份迁移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99831" y="3200400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54696" y="3264408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出现系统性高估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" y="3621024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" y="3685032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Pure LLM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3911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9397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预训练知识可直接预测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1947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7433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零样本方向判断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99831" y="3621024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54696" y="3685032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方向有用，数值校准不足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" y="4041648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6656" y="4105656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rule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3911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9397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把常识蒸馏为规则树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91947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7433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老师追问的零样本 baseline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99831" y="4041648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54696" y="4105656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2.602，弱于 hybrid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" y="4462272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6656" y="4526280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history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3911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9397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用少量历史标签校准规则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1947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7433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data-sparse / cold-start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99831" y="4462272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54696" y="4526280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合理桥梁，但不是本任务最优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" y="4882896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6656" y="4946904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adapter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3911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9397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历史模型学 routine，LLM 学 target-year shift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1947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7433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目标年无标签模型修正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99831" y="4882896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854696" y="4946904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2.502，bias 接近 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9808" y="5650992"/>
            <a:ext cx="10012680" cy="6583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49808" y="5650992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" y="5742431"/>
            <a:ext cx="9720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整合口径：模拟预测选择器和 LLM 规则蒸馏不是独立路线，而是 data-sparse/cold-start 的中间模块；主任务是 target-year temporal shift，因此需要历史 household grounding。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6099048"/>
            <a:ext cx="9720072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rule-distillation route is a bridge for sparse-data settings; the main NHTS 2022 task still benefits from anchoring routine mobility in historical survey labels.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蒸馏与部署 / Distillation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从逐户调用转成 batch prior、规则适配和置信度回退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115568"/>
            <a:ext cx="1993392" cy="5029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Direct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逐户预测成本高；校准弱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60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16352" y="1115568"/>
            <a:ext cx="1993392" cy="502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Cohort batch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1,327 cohorts -&gt; 89 prompts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46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02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02352" y="1115568"/>
            <a:ext cx="1993392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Structured priors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JSON schema -&gt; event variables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32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88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1115568"/>
            <a:ext cx="1993392" cy="5029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79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Rule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fixed no-label correction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18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4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74352" y="1115568"/>
            <a:ext cx="1993392" cy="502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Confidence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global fallback; online LLM optional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8680" y="2697480"/>
            <a:ext cx="50292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Household requests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7893 -&gt; 89 prompts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7560" y="2697480"/>
            <a:ext cx="50292" cy="7680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6557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Batch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6557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6557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stable JSON parsing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06440" y="2697480"/>
            <a:ext cx="50292" cy="768096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3445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Main inference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3445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3445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adapter is deterministic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7532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75320" y="2697480"/>
            <a:ext cx="50292" cy="76809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333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Optional fallback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333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low-conf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deployment extension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8" y="381304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388620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部署层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98648" y="3813048"/>
            <a:ext cx="37947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35224" y="3886200"/>
            <a:ext cx="37216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在本研究中的角色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93408" y="3813048"/>
            <a:ext cx="4114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29984" y="3886200"/>
            <a:ext cx="4041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为什么这样设计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419709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426110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prior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98648" y="4197096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53512" y="4261104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离线生成 cohort 级情境先验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3408" y="4197096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48272" y="4261104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保留 LLM 泛化能力，避免逐户调用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9808" y="458114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4671" y="4645152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distillation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898648" y="4581144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53512" y="4645152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把自然语言判断压缩成 s_event 和 fixed adapter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93408" y="4581144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48272" y="4645152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比直接 LLM 输出 CNTTDHH 更可审计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9808" y="496519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4671" y="502920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 gate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98648" y="4965192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53512" y="5029200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低置信 cohort 退回 global pressure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93408" y="4965192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48272" y="5029200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主实验保持 no-label、可复现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9808" y="534924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1" y="54132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fallback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98648" y="5349240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953512" y="5413248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作为线上部署扩展，不进入主结果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93408" y="5349240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48272" y="5413248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有预算时处理边界样本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8680" y="5925312"/>
            <a:ext cx="10058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汇报口径：LLM 不是每户都报答案，而是把 pandemic context 蒸馏成结构化 event priors；主实验预测阶段是 deterministic adapter，低置信 LLM 回退属于可部署扩展。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是目标年情境变化，不是平滑跨年预测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负责“目标年哪些出行会被压低”，二者相乘得到无标签修正预测。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模拟预测选择 + LLM 修正 XGBoost 的时序适应框架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7150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LLM-Guided Temporal Adaptation for Household Mobility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24 / 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当目标年情境变化打破历史连续性时，能否用 LLM 的时序泛化能力，为传统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情境先验泛化目标年变化，并输出家庭层面的出行强度、方式结构和目的结构。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和泛化目标年事件语境，不含目标值、权重和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Same-alpha decomposition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0.0508 lower wMAE; 77.8% subgroup-cell wins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Gate usage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cohort-specific pressure used for 17.5% weighted households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独自贡献全部提升。更准确的说法是：global event correction 是主体，LLM cohort prior 在差异足够大的家庭上提供 selective refinement，改善 calibration 和 subgroup robustness。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agentic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AgentMob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mobility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target-year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2017+2019-&gt;2023 wMAE 3.4271-&gt;3.2498; wBias +1.0532-&gt;+0.2605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证明目标年通勤机制确实发生了远程办公和公共交通下降；用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规则蒸馏和低置信 LLM 回退怎么并入本方法？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do rule distillation and low-confidence LLM fallback fit into the method?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它们是同一条技术路线的部署层：LLM 先验被蒸馏成规则，低置信样本可选回退。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Distilled rule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priors -&gt; fixed event adapter, not per-household answers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prompting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1,327 cohorts -&gt; 89 prompts with batch size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Reported experiment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target-year labels; low-confidence uses global pressure fallback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Deployable extension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Online LLM fallback only for uncertain cohorts if cost allows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答法：可以把“LLM 规则蒸馏 + 置信度回退”理解为我们方法的工程化外壳。论文主结果为了避免 target-year leakage，使用离线 batch 先验和固定 adapter；如果未来做线上系统，可以在低置信 cohort 上再调用 LLM，而不是改变本文主实验口径。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prior 很强时，cohort 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Same-alpha decomposition of global event correction and selective cohort refinement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B9</a:t>
            </a:r>
          </a:p>
        </p:txBody>
      </p:sp>
      <p:pic>
        <p:nvPicPr>
          <p:cNvPr id="11" name="Picture 10" descr="cohort_prior_value_top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97280"/>
            <a:ext cx="5897880" cy="365106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0372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03720" y="1143000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3173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Same-alpha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173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0.0508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 lower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143000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477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Subgroup 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77.8%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cells vs global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29800" y="1143000"/>
            <a:ext cx="50292" cy="7498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5781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Gate 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5781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17.5%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HHs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148840"/>
            <a:ext cx="4160520" cy="12344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3720" y="2148840"/>
            <a:ext cx="50292" cy="12344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8312" y="2240280"/>
            <a:ext cx="386791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正确解释：global event correction 是主体，cohort-specific LLM pressure 只在差异足够大时启用，提供选择性校准增益。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8312" y="2724912"/>
            <a:ext cx="3867911" cy="5852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safe claim is global event adaptation plus selective cohort refinement, not that cohort ranking explains the full gain.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703320"/>
            <a:ext cx="19202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0296" y="3776472"/>
            <a:ext cx="1847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703320"/>
            <a:ext cx="22402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0536" y="3776472"/>
            <a:ext cx="21671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Implication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4087368"/>
            <a:ext cx="1920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58583" y="4151376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vs global-a1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087368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78824" y="4151376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0.0508 lower 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471416"/>
            <a:ext cx="1920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58583" y="4535424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vs global-a1.25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23960" y="4471416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78824" y="4535424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0.0201 lower wMAE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855464"/>
            <a:ext cx="1920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8583" y="4919472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where it helps most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23960" y="4855464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78824" y="4919472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lower-income / zero-vehicle / no-worker cells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03720" y="5239512"/>
            <a:ext cx="1920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58583" y="5303520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boundary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23960" y="5239512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78824" y="5303520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some high-vehicle/high-income cells prefer global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