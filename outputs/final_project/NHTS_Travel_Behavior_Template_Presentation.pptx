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877824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Microsoft YaHei"/>
              </a:defRPr>
            </a:pPr>
            <a:r>
              <a:rPr sz="2500" b="1">
                <a:solidFill>
                  <a:srgbClr val="FFFFFF"/>
                </a:solidFill>
                <a:latin typeface="Microsoft YaHei"/>
              </a:rPr>
              <a:t>基于 NHTS 与 LLM 事件先验的</a:t>
            </a:r>
            <a:br/>
            <a:r>
              <a:rPr sz="2500" b="1">
                <a:solidFill>
                  <a:srgbClr val="FFFFFF"/>
                </a:solidFill>
                <a:latin typeface="Microsoft YaHei"/>
              </a:rPr>
              <a:t>疫情感知家庭出行行为预测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76809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LLM event priors for label-free adaptation under post-pandemic shift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历史 NHTS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semantic adapter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Transit MAE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-17.4%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mode signal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206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汇报结构 /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834640"/>
            <a:ext cx="2176272" cy="7498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一条主线：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2022 不是普通预测年，而是疫情后事件冲击下的 label-free adaptation。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Research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为什么传统 cross-year transfer 会失效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Data and target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家庭层面预测：出行次数 + 方式结构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historical routine predictor + LLM event prior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不使用 2022 标签校准的对比体系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准确率提升来自哪里，LLM 的真实角色是什么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1170432"/>
            <a:ext cx="5074920" cy="34747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07008"/>
            <a:ext cx="500176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70432"/>
            <a:ext cx="5349240" cy="34747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33288" y="1207008"/>
            <a:ext cx="527608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1517904"/>
            <a:ext cx="507492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1549908"/>
            <a:ext cx="49834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96712" y="1517904"/>
            <a:ext cx="534924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1" y="1549908"/>
            <a:ext cx="52578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" y="1865376"/>
            <a:ext cx="50749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1897380"/>
            <a:ext cx="49834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6712" y="1865376"/>
            <a:ext cx="53492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42431" y="1897380"/>
            <a:ext cx="52578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" y="2212848"/>
            <a:ext cx="507492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2244852"/>
            <a:ext cx="49834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96712" y="2212848"/>
            <a:ext cx="534924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42431" y="2244852"/>
            <a:ext cx="52578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" y="2560320"/>
            <a:ext cx="50749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" y="2592324"/>
            <a:ext cx="49834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96712" y="2560320"/>
            <a:ext cx="53492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2431" y="2592324"/>
            <a:ext cx="52578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Target labels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used for calibration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9808" y="5394960"/>
            <a:ext cx="10012680" cy="71323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9808" y="5394960"/>
            <a:ext cx="50292" cy="71323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5486400"/>
            <a:ext cx="972007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核心问题：历史 household travel model 在 2022 会系统性高估出行，因此我们研究 label-free event adaptation，而不是单纯调参。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5788152"/>
            <a:ext cx="97200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structured LLM event priors repair post-pandemic shift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system，三个 linked outputs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2798064"/>
            <a:ext cx="20756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43784" y="2798064"/>
            <a:ext cx="31272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44183" y="2798064"/>
            <a:ext cx="271576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33104" y="2798064"/>
            <a:ext cx="20756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" y="3177540"/>
            <a:ext cx="2057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52928" y="3177540"/>
            <a:ext cx="31089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53327" y="3177540"/>
            <a:ext cx="2697479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42248" y="3177540"/>
            <a:ext cx="2057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088" y="3561588"/>
            <a:ext cx="2057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52928" y="3561588"/>
            <a:ext cx="31089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53327" y="3561588"/>
            <a:ext cx="2697479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42248" y="3561588"/>
            <a:ext cx="2057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TV distance / share MAE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" y="3945636"/>
            <a:ext cx="2057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852928" y="3945636"/>
            <a:ext cx="31089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predicted trips x predicted mode share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53327" y="3945636"/>
            <a:ext cx="2697479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42248" y="3945636"/>
            <a:ext cx="2057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49808" y="5138928"/>
            <a:ext cx="10012680" cy="71323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49808" y="5138928"/>
            <a:ext cx="50292" cy="7132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230368"/>
            <a:ext cx="972007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behavior：出行多少次、用什么方式、每种方式多少次。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5532120"/>
            <a:ext cx="9720072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prediction target is a household behavior system: trip generation, mode composition, and derived mode-specific trip counts.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Routine predictor + LLM event prior + fixed no-label adapter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99032"/>
            <a:ext cx="14173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Microsoft YaHei"/>
              </a:defRPr>
            </a:pPr>
            <a:r>
              <a:rPr sz="900" b="1">
                <a:solidFill>
                  <a:srgbClr val="2563EB"/>
                </a:solidFill>
                <a:latin typeface="Microsoft YaHei"/>
              </a:rPr>
              <a:t>Historical routine lane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1536192"/>
            <a:ext cx="909828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148840" y="123444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21992" y="1298448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2001/09/17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151790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pre-2022 labels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325112" y="1453896"/>
            <a:ext cx="411480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0" y="123444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352" y="1298448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151790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stable household covariates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205472" y="1453896"/>
            <a:ext cx="411480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09560" y="123444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82712" y="1298448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151790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f_hist(X)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2953512"/>
            <a:ext cx="14173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LLM event lane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0240" y="3090672"/>
            <a:ext cx="909828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148840" y="278892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21992" y="2852927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household profiles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307238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cohort aggregation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4325112" y="3008376"/>
            <a:ext cx="411480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0" y="278892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2" y="2852927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307238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structured event reasoning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205472" y="3008376"/>
            <a:ext cx="411480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909560" y="278892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82712" y="2852927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Event priors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307238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 suppression / transit avoidance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" y="4507992"/>
            <a:ext cx="14173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198754"/>
                </a:solidFill>
                <a:latin typeface="Microsoft YaHei"/>
              </a:defRPr>
            </a:pPr>
            <a:r>
              <a:rPr sz="900" b="1">
                <a:solidFill>
                  <a:srgbClr val="198754"/>
                </a:solidFill>
                <a:latin typeface="Microsoft YaHei"/>
              </a:rPr>
              <a:t>No-label adapter lane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4645152"/>
            <a:ext cx="909828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148840" y="434340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21992" y="4407408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Fixed correction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40280" y="462686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no 2022 label tuning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4325112" y="4562856"/>
            <a:ext cx="411480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29200" y="434340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02352" y="4407408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Predicted behavior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0640" y="462686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 count + mode shares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7205472" y="4562856"/>
            <a:ext cx="411480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909560" y="434340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82712" y="4407408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Final evaluation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462686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labels only here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3232" y="5559552"/>
            <a:ext cx="10378440" cy="4572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641848"/>
            <a:ext cx="10058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00796B"/>
                </a:solidFill>
                <a:latin typeface="Microsoft YaHei"/>
              </a:defRPr>
            </a:pPr>
            <a:r>
              <a:rPr sz="900" b="1">
                <a:solidFill>
                  <a:srgbClr val="00796B"/>
                </a:solidFill>
                <a:latin typeface="Microsoft YaHei"/>
              </a:rPr>
              <a:t>Core rule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74519" y="5614416"/>
            <a:ext cx="868680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rPr sz="1150" b="1">
                <a:solidFill>
                  <a:srgbClr val="0F172A"/>
                </a:solidFill>
                <a:latin typeface="Microsoft YaHei"/>
              </a:rPr>
              <a:t>prediction = historical routine prediction x clip(1 - alpha x event_pressure, min_factor, 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约束 LLM 解释 event response，而不是直接预测标签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1078992"/>
            <a:ext cx="2148840" cy="32918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115568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0" b="1">
                <a:solidFill>
                  <a:srgbClr val="FFFFFF"/>
                </a:solidFill>
                <a:latin typeface="Microsoft YaHei"/>
              </a:defRPr>
            </a:pPr>
            <a:r>
              <a:rPr sz="810" b="1">
                <a:solidFill>
                  <a:srgbClr val="FFFFFF"/>
                </a:solidFill>
                <a:latin typeface="Microsoft YaHei"/>
              </a:rPr>
              <a:t>Prior field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1078992"/>
            <a:ext cx="4069080" cy="32918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7208" y="1115568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0" b="1">
                <a:solidFill>
                  <a:srgbClr val="FFFFFF"/>
                </a:solidFill>
                <a:latin typeface="Microsoft YaHei"/>
              </a:defRPr>
            </a:pPr>
            <a:r>
              <a:rPr sz="81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39712" y="1078992"/>
            <a:ext cx="3931920" cy="32918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6288" y="1115568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0" b="1">
                <a:solidFill>
                  <a:srgbClr val="FFFFFF"/>
                </a:solidFill>
                <a:latin typeface="Microsoft YaHei"/>
              </a:defRPr>
            </a:pPr>
            <a:r>
              <a:rPr sz="810" b="1">
                <a:solidFill>
                  <a:srgbClr val="FFFFFF"/>
                </a:solidFill>
                <a:latin typeface="Microsoft YaHei"/>
              </a:rPr>
              <a:t>Expected 2022 effect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1408176"/>
            <a:ext cx="214884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1440180"/>
            <a:ext cx="205740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70632" y="1408176"/>
            <a:ext cx="406908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16352" y="1440180"/>
            <a:ext cx="397764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overall travel reduction pressure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39712" y="1408176"/>
            <a:ext cx="393192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85432" y="1440180"/>
            <a:ext cx="384048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lower total trip count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" y="1737360"/>
            <a:ext cx="214884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1769363"/>
            <a:ext cx="205740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1737360"/>
            <a:ext cx="406908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6352" y="1769363"/>
            <a:ext cx="397764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work-trip substitution probability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39712" y="1737360"/>
            <a:ext cx="393192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85432" y="1769363"/>
            <a:ext cx="384048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fewer commute-related trips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" y="2066543"/>
            <a:ext cx="214884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" y="2098548"/>
            <a:ext cx="205740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70632" y="2066543"/>
            <a:ext cx="406908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16352" y="2098548"/>
            <a:ext cx="397764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public-transit perceived risk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9712" y="2066543"/>
            <a:ext cx="393192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85432" y="2098548"/>
            <a:ext cx="384048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lower transit share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" y="2395728"/>
            <a:ext cx="214884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2427732"/>
            <a:ext cx="205740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70632" y="2395728"/>
            <a:ext cx="406908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16352" y="2427732"/>
            <a:ext cx="397764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online replacement of shopping trips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39712" y="2395728"/>
            <a:ext cx="393192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85432" y="2427732"/>
            <a:ext cx="384048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fewer discretionary trips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" y="2724911"/>
            <a:ext cx="214884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2756915"/>
            <a:ext cx="205740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70632" y="2724911"/>
            <a:ext cx="406908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16352" y="2756915"/>
            <a:ext cx="397764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ability to return to routine mobility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39712" y="2724911"/>
            <a:ext cx="393192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85432" y="2756915"/>
            <a:ext cx="384048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heterogeneous rebound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" y="3054096"/>
            <a:ext cx="214884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3086100"/>
            <a:ext cx="205740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054096"/>
            <a:ext cx="406908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16352" y="3086100"/>
            <a:ext cx="397764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LLM self-reported certainty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39712" y="3054096"/>
            <a:ext cx="393192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85432" y="3086100"/>
            <a:ext cx="384048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audit / filtering signal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9808" y="4434840"/>
            <a:ext cx="4709160" cy="310896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471416"/>
            <a:ext cx="4636008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9" b="1">
                <a:solidFill>
                  <a:srgbClr val="FFFFFF"/>
                </a:solidFill>
                <a:latin typeface="Microsoft YaHei"/>
              </a:defRPr>
            </a:pPr>
            <a:r>
              <a:rPr sz="819" b="1">
                <a:solidFill>
                  <a:srgbClr val="FFFFFF"/>
                </a:solidFill>
                <a:latin typeface="Microsoft YaHei"/>
              </a:rPr>
              <a:t>Allowed in prompt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58968" y="4434840"/>
            <a:ext cx="4709160" cy="310896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95544" y="4471416"/>
            <a:ext cx="4636008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9" b="1">
                <a:solidFill>
                  <a:srgbClr val="FFFFFF"/>
                </a:solidFill>
                <a:latin typeface="Microsoft YaHei"/>
              </a:defRPr>
            </a:pPr>
            <a:r>
              <a:rPr sz="819" b="1">
                <a:solidFill>
                  <a:srgbClr val="FFFFFF"/>
                </a:solidFill>
                <a:latin typeface="Microsoft YaHei"/>
              </a:rPr>
              <a:t>Excluded to avoid leakage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9808" y="4745736"/>
            <a:ext cx="470916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5528" y="4777740"/>
            <a:ext cx="46177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58968" y="4745736"/>
            <a:ext cx="470916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04688" y="4777740"/>
            <a:ext cx="46177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8" y="5056631"/>
            <a:ext cx="470916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5528" y="5088636"/>
            <a:ext cx="46177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58968" y="5056631"/>
            <a:ext cx="470916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504688" y="5088636"/>
            <a:ext cx="46177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sample weights and household IDs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49808" y="5367527"/>
            <a:ext cx="470916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5528" y="5399531"/>
            <a:ext cx="46177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58968" y="5367527"/>
            <a:ext cx="470916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504688" y="5399531"/>
            <a:ext cx="46177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aggregate target-year outcomes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577900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Design implication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40280" y="5742432"/>
            <a:ext cx="8046720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0F172A"/>
                </a:solidFill>
                <a:latin typeface="Microsoft YaHei"/>
              </a:defRPr>
            </a:pPr>
            <a:r>
              <a:rPr sz="950" b="1">
                <a:solidFill>
                  <a:srgbClr val="0F172A"/>
                </a:solidFill>
                <a:latin typeface="Microsoft YaHei"/>
              </a:rPr>
              <a:t>The LLM contributes event semantics; the historical model keeps household-level numerical grounding.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对比设计 / Evaluation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Every baseline answers a different design question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097280"/>
            <a:ext cx="1874519" cy="31089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133856"/>
            <a:ext cx="1801367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40" b="1">
                <a:solidFill>
                  <a:srgbClr val="FFFFFF"/>
                </a:solidFill>
                <a:latin typeface="Microsoft YaHei"/>
              </a:defRPr>
            </a:pPr>
            <a:r>
              <a:rPr sz="74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50008" y="1097280"/>
            <a:ext cx="1143000" cy="31089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6584" y="1133856"/>
            <a:ext cx="1069848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40" b="1">
                <a:solidFill>
                  <a:srgbClr val="FFFFFF"/>
                </a:solidFill>
                <a:latin typeface="Microsoft YaHei"/>
              </a:defRPr>
            </a:pPr>
            <a:r>
              <a:rPr sz="740" b="1">
                <a:solidFill>
                  <a:srgbClr val="FFFFFF"/>
                </a:solidFill>
                <a:latin typeface="Microsoft YaHei"/>
              </a:rPr>
              <a:t>pre-2022 labels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1097280"/>
            <a:ext cx="914400" cy="31089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1133856"/>
            <a:ext cx="841248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40" b="1">
                <a:solidFill>
                  <a:srgbClr val="FFFFFF"/>
                </a:solidFill>
                <a:latin typeface="Microsoft YaHei"/>
              </a:defRPr>
            </a:pPr>
            <a:r>
              <a:rPr sz="740" b="1">
                <a:solidFill>
                  <a:srgbClr val="FFFFFF"/>
                </a:solidFill>
                <a:latin typeface="Microsoft YaHei"/>
              </a:rPr>
              <a:t>LLM prior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07408" y="1097280"/>
            <a:ext cx="960120" cy="31089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3984" y="1133856"/>
            <a:ext cx="886968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40" b="1">
                <a:solidFill>
                  <a:srgbClr val="FFFFFF"/>
                </a:solidFill>
                <a:latin typeface="Microsoft YaHei"/>
              </a:defRPr>
            </a:pPr>
            <a:r>
              <a:rPr sz="740" b="1">
                <a:solidFill>
                  <a:srgbClr val="FFFFFF"/>
                </a:solidFill>
                <a:latin typeface="Microsoft YaHei"/>
              </a:rPr>
              <a:t>2022 labels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67527" y="1097280"/>
            <a:ext cx="3657600" cy="31089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4103" y="1133856"/>
            <a:ext cx="3584448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40" b="1">
                <a:solidFill>
                  <a:srgbClr val="FFFFFF"/>
                </a:solidFill>
                <a:latin typeface="Microsoft YaHei"/>
              </a:defRPr>
            </a:pPr>
            <a:r>
              <a:rPr sz="74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5128" y="1097280"/>
            <a:ext cx="822960" cy="31089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61703" y="1133856"/>
            <a:ext cx="749808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40" b="1">
                <a:solidFill>
                  <a:srgbClr val="FFFFFF"/>
                </a:solidFill>
                <a:latin typeface="Microsoft YaHei"/>
              </a:defRPr>
            </a:pPr>
            <a:r>
              <a:rPr sz="74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1408176"/>
            <a:ext cx="1874519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1440180"/>
            <a:ext cx="1783079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rPr sz="74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50008" y="1408176"/>
            <a:ext cx="114300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95727" y="1440180"/>
            <a:ext cx="10515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93008" y="1408176"/>
            <a:ext cx="91440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38727" y="144018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7408" y="1408176"/>
            <a:ext cx="96012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3128" y="1440180"/>
            <a:ext cx="86868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67527" y="1408176"/>
            <a:ext cx="365760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13247" y="1440180"/>
            <a:ext cx="35661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naive historical level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25128" y="1408176"/>
            <a:ext cx="82296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70848" y="144018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" y="1719072"/>
            <a:ext cx="1874519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751075"/>
            <a:ext cx="1783079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rPr sz="74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50008" y="1719072"/>
            <a:ext cx="114300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95727" y="1751075"/>
            <a:ext cx="10515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3008" y="1719072"/>
            <a:ext cx="91440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7" y="1751075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07408" y="1719072"/>
            <a:ext cx="96012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53128" y="1751075"/>
            <a:ext cx="86868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67527" y="1719072"/>
            <a:ext cx="365760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13247" y="1751075"/>
            <a:ext cx="35661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routine transfer baseline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5128" y="1719072"/>
            <a:ext cx="82296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70848" y="1751075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488" y="2029967"/>
            <a:ext cx="1874519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" y="2061972"/>
            <a:ext cx="1783079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rPr sz="74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50008" y="2029967"/>
            <a:ext cx="114300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95727" y="2061972"/>
            <a:ext cx="10515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Yes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93008" y="2029967"/>
            <a:ext cx="91440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38727" y="2061972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07408" y="2029967"/>
            <a:ext cx="96012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53128" y="2061972"/>
            <a:ext cx="86868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67527" y="2029967"/>
            <a:ext cx="365760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7" y="2061972"/>
            <a:ext cx="35661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simple non-semantic shift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25128" y="2029967"/>
            <a:ext cx="82296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70848" y="2061972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5488" y="2340864"/>
            <a:ext cx="1874519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8" y="2372868"/>
            <a:ext cx="1783079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rPr sz="74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350008" y="2340864"/>
            <a:ext cx="114300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395727" y="2372868"/>
            <a:ext cx="10515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493008" y="2340864"/>
            <a:ext cx="91440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38727" y="237286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Yes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407408" y="2340864"/>
            <a:ext cx="96012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53128" y="2372868"/>
            <a:ext cx="86868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67527" y="2340864"/>
            <a:ext cx="365760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13247" y="2372868"/>
            <a:ext cx="35661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event direction without baseline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025128" y="2340864"/>
            <a:ext cx="82296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70848" y="237286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5488" y="2651760"/>
            <a:ext cx="1874519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2683764"/>
            <a:ext cx="1783079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rPr sz="74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50008" y="2651760"/>
            <a:ext cx="114300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395727" y="2683764"/>
            <a:ext cx="10515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Yes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493008" y="2651760"/>
            <a:ext cx="91440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38727" y="268376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407408" y="2651760"/>
            <a:ext cx="96012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453128" y="2683764"/>
            <a:ext cx="86868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367527" y="2651760"/>
            <a:ext cx="365760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13247" y="2683764"/>
            <a:ext cx="35661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common pandemic downscaling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025128" y="2651760"/>
            <a:ext cx="82296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70848" y="268376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75488" y="2962656"/>
            <a:ext cx="1874519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21208" y="2994660"/>
            <a:ext cx="1783079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rPr sz="74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350008" y="2962656"/>
            <a:ext cx="114300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395727" y="2994660"/>
            <a:ext cx="10515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Yes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493008" y="2962656"/>
            <a:ext cx="91440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538727" y="299466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407408" y="2962656"/>
            <a:ext cx="96012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453128" y="2994660"/>
            <a:ext cx="86868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367527" y="2962656"/>
            <a:ext cx="365760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13247" y="2994660"/>
            <a:ext cx="35661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placebo heterogeneity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025128" y="2962656"/>
            <a:ext cx="82296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070848" y="299466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75488" y="3273552"/>
            <a:ext cx="1874519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21208" y="3305556"/>
            <a:ext cx="1783079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rPr sz="74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350008" y="3273552"/>
            <a:ext cx="114300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395727" y="3305556"/>
            <a:ext cx="10515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Yes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493008" y="3273552"/>
            <a:ext cx="91440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538727" y="330555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Yes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407408" y="3273552"/>
            <a:ext cx="96012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53128" y="3305556"/>
            <a:ext cx="86868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No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367527" y="3273552"/>
            <a:ext cx="365760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413247" y="3305556"/>
            <a:ext cx="35661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proposed semantic adapter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025128" y="3273552"/>
            <a:ext cx="82296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070848" y="330555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40" b="0">
                <a:solidFill>
                  <a:srgbClr val="0F172A"/>
                </a:solidFill>
                <a:latin typeface="Microsoft YaHei"/>
              </a:defRPr>
            </a:pPr>
            <a:r>
              <a:rPr sz="740" b="0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49808" y="5413248"/>
            <a:ext cx="10012680" cy="6583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49808" y="5413248"/>
            <a:ext cx="50292" cy="65836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14400" y="5504688"/>
            <a:ext cx="972007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公平性原则：2022 标签只用于最后 evaluation，主方法使用固定 no-label 参数，避免把测试年标签隐含用于调参。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14400" y="5806440"/>
            <a:ext cx="9720072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Fairness rule: 2022 labels are held out until final evaluation; the primary method uses fixed parameters rather than target-year calibration.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5671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20700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1207008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115214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656588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1706880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0" y="1706880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1652016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156459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206752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0" y="2206752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2151887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265633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270662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0" y="2706624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265176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156204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3206496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0" y="3206496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151632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365607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0" y="370636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0" y="3706368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365150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37960" y="1170432"/>
            <a:ext cx="1874519" cy="34747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74536" y="1207008"/>
            <a:ext cx="1801367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1">
                <a:solidFill>
                  <a:srgbClr val="FFFFFF"/>
                </a:solidFill>
                <a:latin typeface="Microsoft YaHei"/>
              </a:defRPr>
            </a:pPr>
            <a:r>
              <a:rPr sz="78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0" y="1170432"/>
            <a:ext cx="822960" cy="34747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49055" y="1207008"/>
            <a:ext cx="74980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1">
                <a:solidFill>
                  <a:srgbClr val="FFFFFF"/>
                </a:solidFill>
                <a:latin typeface="Microsoft YaHei"/>
              </a:defRPr>
            </a:pPr>
            <a:r>
              <a:rPr sz="78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1170432"/>
            <a:ext cx="822960" cy="34747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72015" y="1207008"/>
            <a:ext cx="74980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1">
                <a:solidFill>
                  <a:srgbClr val="FFFFFF"/>
                </a:solidFill>
                <a:latin typeface="Microsoft YaHei"/>
              </a:defRPr>
            </a:pPr>
            <a:r>
              <a:rPr sz="78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58400" y="1170432"/>
            <a:ext cx="731520" cy="34747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94976" y="1207008"/>
            <a:ext cx="65836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1">
                <a:solidFill>
                  <a:srgbClr val="FFFFFF"/>
                </a:solidFill>
                <a:latin typeface="Microsoft YaHei"/>
              </a:defRPr>
            </a:pPr>
            <a:r>
              <a:rPr sz="78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1517904"/>
            <a:ext cx="1874519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1549908"/>
            <a:ext cx="178307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rPr sz="78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0" y="1517904"/>
            <a:ext cx="82296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58200" y="1549908"/>
            <a:ext cx="73152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35440" y="1517904"/>
            <a:ext cx="82296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81160" y="1549908"/>
            <a:ext cx="73152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058400" y="1517904"/>
            <a:ext cx="73152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04120" y="1549908"/>
            <a:ext cx="6400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1865376"/>
            <a:ext cx="1874519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1897380"/>
            <a:ext cx="178307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rPr sz="78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12480" y="1865376"/>
            <a:ext cx="8229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58200" y="1897380"/>
            <a:ext cx="73152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35440" y="1865376"/>
            <a:ext cx="8229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81160" y="1897380"/>
            <a:ext cx="73152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058400" y="1865376"/>
            <a:ext cx="7315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04120" y="1897380"/>
            <a:ext cx="6400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37960" y="2212848"/>
            <a:ext cx="1874519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2244852"/>
            <a:ext cx="178307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rPr sz="78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2212848"/>
            <a:ext cx="82296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58200" y="2244852"/>
            <a:ext cx="73152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235440" y="2212848"/>
            <a:ext cx="82296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281160" y="2244852"/>
            <a:ext cx="73152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58400" y="2212848"/>
            <a:ext cx="73152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04120" y="2244852"/>
            <a:ext cx="6400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547104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47104" y="3035808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75120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75120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75120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641080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641080" y="3035808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69096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69096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69096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49808" y="4892040"/>
            <a:ext cx="1001268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9808" y="4892040"/>
            <a:ext cx="50292" cy="74980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0" y="4983479"/>
            <a:ext cx="972007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结果主线：普通 XGBoost 学到的是正常时期出行强度，所以 2022 明显高估；LLM prior 提供缺失的疫情方向。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" y="5285231"/>
            <a:ext cx="9720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Main insight: the historical model transfers routine mobility into a post-pandemic year, while the LLM prior supplies the missing event direction.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准确率-偏差权衡 / Accuracy-Bias Tradeoff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论文图1：主方法同时降低误差和系统性偏差 | Paper-style Figure 1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18</a:t>
            </a:r>
          </a:p>
        </p:txBody>
      </p:sp>
      <p:pic>
        <p:nvPicPr>
          <p:cNvPr id="12" name="Picture 11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086600" y="1298448"/>
            <a:ext cx="3749039" cy="117043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0" y="1298448"/>
            <a:ext cx="50292" cy="117043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51192" y="1389888"/>
            <a:ext cx="345643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这张图要讲的不是“哪个点最低”这么简单，而是说明我们的方法同时移动到低 MAE 和低 bias 的区域。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1192" y="1691639"/>
            <a:ext cx="3456432" cy="7315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proposed adapter improves the accuracy-bias Pareto position instead of only trading one metric for another.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6600" y="2852928"/>
            <a:ext cx="1325880" cy="34747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3176" y="2889504"/>
            <a:ext cx="125272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Reading guide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2852928"/>
            <a:ext cx="2834640" cy="34747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49055" y="2889504"/>
            <a:ext cx="276148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3200400"/>
            <a:ext cx="132588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0" y="3232404"/>
            <a:ext cx="12344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x-axis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3200400"/>
            <a:ext cx="283464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3232404"/>
            <a:ext cx="27432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closer to zero means lower systematic shift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3547872"/>
            <a:ext cx="13258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0" y="3579876"/>
            <a:ext cx="12344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y-axis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3547872"/>
            <a:ext cx="28346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3579876"/>
            <a:ext cx="27432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lower means smaller household trip-count error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86600" y="3895344"/>
            <a:ext cx="132588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0" y="3927348"/>
            <a:ext cx="12344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point size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0" y="3895344"/>
            <a:ext cx="283464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3927348"/>
            <a:ext cx="27432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weighted RMSE, reflecting large-error risk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6600" y="4242816"/>
            <a:ext cx="13258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0" y="4274820"/>
            <a:ext cx="12344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0" y="4242816"/>
            <a:ext cx="28346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4274820"/>
            <a:ext cx="27432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near the lower-left region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06B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论文图2：从平均误差走向 household-level 可解释准确率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18</a:t>
            </a:r>
          </a:p>
        </p:txBody>
      </p:sp>
      <p:pic>
        <p:nvPicPr>
          <p:cNvPr id="12" name="Picture 11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305411"/>
          </a:xfrm>
          <a:prstGeom prst="rect">
            <a:avLst/>
          </a:prstGeom>
        </p:spPr>
      </p:pic>
      <p:pic>
        <p:nvPicPr>
          <p:cNvPr id="13" name="Picture 12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3129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77240" y="5230368"/>
            <a:ext cx="1001268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230368"/>
            <a:ext cx="50292" cy="74980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321807"/>
            <a:ext cx="972007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左图说明历史模型的误差分布明显向正方向偏移；右图说明 hybrid 方法在不同容忍阈值下都有更高的家庭覆盖率。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5623559"/>
            <a:ext cx="9720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distributional view explains why weighted MAE improves, while the tolerance curve translates the result into household-level prediction usability.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事件异质性 / Event Heterogeneity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论文图3：LLM prior 是否真的在表达疫情机制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18</a:t>
            </a:r>
          </a:p>
        </p:txBody>
      </p:sp>
      <p:pic>
        <p:nvPicPr>
          <p:cNvPr id="12" name="Picture 11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3" name="Picture 12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3992775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77240" y="5376672"/>
            <a:ext cx="10012680" cy="6583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376672"/>
            <a:ext cx="50292" cy="65836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468112"/>
            <a:ext cx="972007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这页的故事是：LLM event pressure 不是装饰变量。它在不同 pressure strata 中都能带来修正，并且内部 prior 之间有可解释的相关结构。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5769864"/>
            <a:ext cx="9720072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event-prior structure is auditable: pressure-stratified gains and prior correlations show semantic consistency rather than arbitrary numerical fitting.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分组鲁棒性 / Subgroup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论文图4：哪些家庭群体从事件修正中获益更多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18</a:t>
            </a:r>
          </a:p>
        </p:txBody>
      </p:sp>
      <p:pic>
        <p:nvPicPr>
          <p:cNvPr id="12" name="Picture 11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995160" y="1261872"/>
            <a:ext cx="3886200" cy="12070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95160" y="1261872"/>
            <a:ext cx="50292" cy="120700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59752" y="1353312"/>
            <a:ext cx="359359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这张图用于回答老师可能会问的 fairness / heterogeneity 问题：提升不是只来自一个总体均值，而是在多个 household subgroup 中都能观察到。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1655063"/>
            <a:ext cx="3593592" cy="7680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subgroup view reframes the result as heterogeneous adaptation, which is more convincing than only reporting one aggregate test-set metric.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31736" y="2916936"/>
            <a:ext cx="15270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rPr sz="850" b="1">
                <a:solidFill>
                  <a:srgbClr val="FFFFFF"/>
                </a:solidFill>
                <a:latin typeface="Microsoft YaHei"/>
              </a:rPr>
              <a:t>How to present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31936" y="2916936"/>
            <a:ext cx="235000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rPr sz="850" b="1">
                <a:solidFill>
                  <a:srgbClr val="FFFFFF"/>
                </a:solidFill>
                <a:latin typeface="Microsoft YaHei"/>
              </a:rPr>
              <a:t>Caveat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3296412"/>
            <a:ext cx="15087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1">
                <a:solidFill>
                  <a:srgbClr val="0F172A"/>
                </a:solidFill>
                <a:latin typeface="Microsoft YaHei"/>
              </a:defRPr>
            </a:pPr>
            <a:r>
              <a:rPr sz="850" b="1">
                <a:solidFill>
                  <a:srgbClr val="0F172A"/>
                </a:solidFill>
                <a:latin typeface="Microsoft YaHei"/>
              </a:rPr>
              <a:t>Use it as diagnostic evidence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1080" y="3296412"/>
            <a:ext cx="233172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0F172A"/>
                </a:solidFill>
                <a:latin typeface="Microsoft YaHei"/>
              </a:defRPr>
            </a:pPr>
            <a:r>
              <a:rPr sz="850" b="0">
                <a:solidFill>
                  <a:srgbClr val="0F172A"/>
                </a:solidFill>
                <a:latin typeface="Microsoft YaHei"/>
              </a:rPr>
              <a:t>not a causal subgroup claim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3680459"/>
            <a:ext cx="15087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1">
                <a:solidFill>
                  <a:srgbClr val="0F172A"/>
                </a:solidFill>
                <a:latin typeface="Microsoft YaHei"/>
              </a:defRPr>
            </a:pPr>
            <a:r>
              <a:rPr sz="850" b="1">
                <a:solidFill>
                  <a:srgbClr val="0F172A"/>
                </a:solidFill>
                <a:latin typeface="Microsoft YaHei"/>
              </a:rPr>
              <a:t>Focus on broad gain pattern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1080" y="3680459"/>
            <a:ext cx="233172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0F172A"/>
                </a:solidFill>
                <a:latin typeface="Microsoft YaHei"/>
              </a:defRPr>
            </a:pPr>
            <a:r>
              <a:rPr sz="850" b="0">
                <a:solidFill>
                  <a:srgbClr val="0F172A"/>
                </a:solidFill>
                <a:latin typeface="Microsoft YaHei"/>
              </a:rPr>
              <a:t>codes need explanation in appendix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0" y="4064508"/>
            <a:ext cx="15087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1">
                <a:solidFill>
                  <a:srgbClr val="0F172A"/>
                </a:solidFill>
                <a:latin typeface="Microsoft YaHei"/>
              </a:defRPr>
            </a:pPr>
            <a:r>
              <a:rPr sz="850" b="1">
                <a:solidFill>
                  <a:srgbClr val="0F172A"/>
                </a:solidFill>
                <a:latin typeface="Microsoft YaHei"/>
              </a:rPr>
              <a:t>Connect to planning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4064508"/>
            <a:ext cx="233172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0F172A"/>
                </a:solidFill>
                <a:latin typeface="Microsoft YaHei"/>
              </a:defRPr>
            </a:pPr>
            <a:r>
              <a:rPr sz="850" b="0">
                <a:solidFill>
                  <a:srgbClr val="0F172A"/>
                </a:solidFill>
                <a:latin typeface="Microsoft YaHei"/>
              </a:rPr>
              <a:t>which household segments are harder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Best sensitivity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2.482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wMAE, not main claim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89320" y="2761488"/>
            <a:ext cx="22402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5896" y="2798064"/>
            <a:ext cx="216712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 sz="8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0" y="2761488"/>
            <a:ext cx="28346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66175" y="2798064"/>
            <a:ext cx="27614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 sz="800" b="1">
                <a:solidFill>
                  <a:srgbClr val="FFFFFF"/>
                </a:solidFill>
                <a:latin typeface="Microsoft YaHei"/>
              </a:rPr>
              <a:t>Interpretation for paper story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3145536"/>
            <a:ext cx="22402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35040" y="3177540"/>
            <a:ext cx="214884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0F172A"/>
                </a:solidFill>
                <a:latin typeface="Microsoft YaHei"/>
              </a:defRPr>
            </a:pPr>
            <a:r>
              <a:rPr sz="800" b="1">
                <a:solidFill>
                  <a:srgbClr val="0F172A"/>
                </a:solidFill>
                <a:latin typeface="Microsoft YaHei"/>
              </a:rPr>
              <a:t>XGBoost has strong household signal but positive bias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314553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75320" y="3177540"/>
            <a:ext cx="27432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routine mobility from history is too high for 2022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89320" y="3529584"/>
            <a:ext cx="22402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35040" y="3561588"/>
            <a:ext cx="214884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0F172A"/>
                </a:solidFill>
                <a:latin typeface="Microsoft YaHei"/>
              </a:defRPr>
            </a:pPr>
            <a:r>
              <a:rPr sz="800" b="1">
                <a:solidFill>
                  <a:srgbClr val="0F172A"/>
                </a:solidFill>
                <a:latin typeface="Microsoft YaHei"/>
              </a:rPr>
              <a:t>LLM-only improves direction but lacks calibration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29600" y="352958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75320" y="3561588"/>
            <a:ext cx="27432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event semantics alone cannot replace household baseline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89320" y="3913632"/>
            <a:ext cx="22402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35040" y="3945636"/>
            <a:ext cx="214884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0F172A"/>
                </a:solidFill>
                <a:latin typeface="Microsoft YaHei"/>
              </a:defRPr>
            </a:pPr>
            <a:r>
              <a:rPr sz="800" b="1">
                <a:solidFill>
                  <a:srgbClr val="0F172A"/>
                </a:solidFill>
                <a:latin typeface="Microsoft YaHei"/>
              </a:rPr>
              <a:t>Hybrid gated is nearly unbiased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0" y="391363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75320" y="3945636"/>
            <a:ext cx="27432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separating routine demand and event response is the key design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事件方向有用，但需要和 household baseline 结合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low event semantics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high event semantics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weak household grounding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strong household grounding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12344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Paper sentence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23560"/>
            <a:ext cx="7726679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0F172A"/>
                </a:solidFill>
                <a:latin typeface="Microsoft YaHei"/>
              </a:defRPr>
            </a:pPr>
            <a:r>
              <a:rPr sz="919" b="1">
                <a:solidFill>
                  <a:srgbClr val="0F172A"/>
                </a:solidFill>
                <a:latin typeface="Microsoft YaHei"/>
              </a:rPr>
              <a:t>LLM is not a black-box travel model; it is a semantic event adapter for rare temporal shocks.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方式结构扩展 / Mode Composition Extension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同一个事件先验也能解释 transit-specific shift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2523744"/>
            <a:ext cx="19842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 sz="8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07208" y="2523744"/>
            <a:ext cx="9326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 sz="8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2523744"/>
            <a:ext cx="9326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 sz="8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18888" y="2523744"/>
            <a:ext cx="1892807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 sz="8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" y="2903220"/>
            <a:ext cx="19659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0F172A"/>
                </a:solidFill>
                <a:latin typeface="Microsoft YaHei"/>
              </a:defRPr>
            </a:pPr>
            <a:r>
              <a:rPr sz="8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16352" y="2903220"/>
            <a:ext cx="914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22191" y="2903220"/>
            <a:ext cx="914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28032" y="2903220"/>
            <a:ext cx="1874519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8952" y="3287268"/>
            <a:ext cx="19659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0F172A"/>
                </a:solidFill>
                <a:latin typeface="Microsoft YaHei"/>
              </a:defRPr>
            </a:pPr>
            <a:r>
              <a:rPr sz="800" b="1">
                <a:solidFill>
                  <a:srgbClr val="0F172A"/>
                </a:solidFill>
                <a:latin typeface="Microsoft YaHei"/>
              </a:rPr>
              <a:t>XGBoost + LLM transit prior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16352" y="3287268"/>
            <a:ext cx="914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22191" y="3287268"/>
            <a:ext cx="914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28032" y="3287268"/>
            <a:ext cx="1874519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event-aware transit correction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952" y="3671316"/>
            <a:ext cx="19659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0F172A"/>
                </a:solidFill>
                <a:latin typeface="Microsoft YaHei"/>
              </a:defRPr>
            </a:pPr>
            <a:r>
              <a:rPr sz="8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16352" y="3671316"/>
            <a:ext cx="914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22191" y="3671316"/>
            <a:ext cx="914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28032" y="3671316"/>
            <a:ext cx="1874519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pic>
        <p:nvPicPr>
          <p:cNvPr id="57" name="Picture 56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225296"/>
            <a:ext cx="4389120" cy="2722296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749808" y="5138928"/>
            <a:ext cx="1001268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9808" y="5138928"/>
            <a:ext cx="50292" cy="74980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230368"/>
            <a:ext cx="9720072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方式结构的总体提升不如出行次数大，但 transit component 明显改善，正好对应疫情期间公共交通规避这个机制。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32120"/>
            <a:ext cx="9720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is a weaker but useful extension: transit-share improvement supports the semantic validity of the COVID event prior.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可扩展性与审计 / Scalability and Auditability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Cohort prompting makes LLM use measurable and reviewable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1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7,893 households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rows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32257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6148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3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1,327 cohorts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292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profiles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42569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86460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5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15 concurrency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full generation setting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52881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6772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7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normalized priors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3193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7084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fixed adapter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reproducible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2816352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Request reduction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83.2%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5.95x fewer prompts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2044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20440" y="2816352"/>
            <a:ext cx="50292" cy="78638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4845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Invalid records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845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4845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after validation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2816352"/>
            <a:ext cx="50292" cy="78638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449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Re-runnable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Yes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5449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fixed adapter rule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4160520"/>
            <a:ext cx="2926080" cy="32004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" y="4197096"/>
            <a:ext cx="2852928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0" b="1">
                <a:solidFill>
                  <a:srgbClr val="FFFFFF"/>
                </a:solidFill>
                <a:latin typeface="Microsoft YaHei"/>
              </a:defRPr>
            </a:pPr>
            <a:r>
              <a:rPr sz="810" b="1">
                <a:solidFill>
                  <a:srgbClr val="FFFFFF"/>
                </a:solidFill>
                <a:latin typeface="Microsoft YaHei"/>
              </a:rPr>
              <a:t>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0" y="4160520"/>
            <a:ext cx="6035040" cy="32004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77056" y="4197096"/>
            <a:ext cx="5961888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0" b="1">
                <a:solidFill>
                  <a:srgbClr val="FFFFFF"/>
                </a:solidFill>
                <a:latin typeface="Microsoft YaHei"/>
              </a:defRPr>
            </a:pPr>
            <a:r>
              <a:rPr sz="810" b="1">
                <a:solidFill>
                  <a:srgbClr val="FFFFFF"/>
                </a:solidFill>
                <a:latin typeface="Microsoft YaHei"/>
              </a:rPr>
              <a:t>Control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4480559"/>
            <a:ext cx="292608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4512564"/>
            <a:ext cx="283464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LLM hallucination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0" y="4480559"/>
            <a:ext cx="603504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86200" y="4512564"/>
            <a:ext cx="594360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structured schema + numeric range validation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4800600"/>
            <a:ext cx="292608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0120" y="4832604"/>
            <a:ext cx="283464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target leakage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0" y="4800600"/>
            <a:ext cx="603504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86200" y="4832604"/>
            <a:ext cx="594360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no target labels / weights / household IDs in prompt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5120640"/>
            <a:ext cx="292608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0120" y="5152644"/>
            <a:ext cx="283464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cost explosion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0480" y="5120640"/>
            <a:ext cx="603504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86200" y="5152644"/>
            <a:ext cx="594360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cohort-level prompting instead of per-household prompting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5440679"/>
            <a:ext cx="292608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0120" y="5472683"/>
            <a:ext cx="283464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unreproducible tuning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40480" y="5440679"/>
            <a:ext cx="603504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86200" y="5472683"/>
            <a:ext cx="594360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main rule uses fixed no-label parameters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学术故事 / Academic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From a course project to a defensible paper narrative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1078992"/>
            <a:ext cx="3017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1115568"/>
            <a:ext cx="2944368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9" b="1">
                <a:solidFill>
                  <a:srgbClr val="FFFFFF"/>
                </a:solidFill>
                <a:latin typeface="Microsoft YaHei"/>
              </a:defRPr>
            </a:pPr>
            <a:r>
              <a:rPr sz="819" b="1">
                <a:solidFill>
                  <a:srgbClr val="FFFFFF"/>
                </a:solidFill>
                <a:latin typeface="Microsoft YaHei"/>
              </a:rPr>
              <a:t>Contribution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5887" y="1078992"/>
            <a:ext cx="685800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2463" y="1115568"/>
            <a:ext cx="6784848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9" b="1">
                <a:solidFill>
                  <a:srgbClr val="FFFFFF"/>
                </a:solidFill>
                <a:latin typeface="Microsoft YaHei"/>
              </a:defRPr>
            </a:pPr>
            <a:r>
              <a:rPr sz="819" b="1">
                <a:solidFill>
                  <a:srgbClr val="FFFFFF"/>
                </a:solidFill>
                <a:latin typeface="Microsoft YaHei"/>
              </a:rPr>
              <a:t>Why it matters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472184"/>
            <a:ext cx="3017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1504187"/>
            <a:ext cx="2926079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Event-driven temporal adaptation framing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5887" y="1472184"/>
            <a:ext cx="685800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1607" y="1504187"/>
            <a:ext cx="67665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turns 2022 prediction into a distribution-shift research problem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865376"/>
            <a:ext cx="3017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1897380"/>
            <a:ext cx="2926079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LLM as event-prior generator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75887" y="1865376"/>
            <a:ext cx="685800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21607" y="1897380"/>
            <a:ext cx="67665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uses LLM generalization without asking it to hallucinate exact labels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2258568"/>
            <a:ext cx="3017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2290572"/>
            <a:ext cx="2926079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Label-free hybrid adapter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75887" y="2258568"/>
            <a:ext cx="685800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7" y="2290572"/>
            <a:ext cx="67665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separates routine travel demand from pandemic response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2651760"/>
            <a:ext cx="3017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2683764"/>
            <a:ext cx="2926079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Behavior-system output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75887" y="2651760"/>
            <a:ext cx="685800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21607" y="2683764"/>
            <a:ext cx="67665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covers both trip generation and mode composition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4005072"/>
            <a:ext cx="3017520" cy="3931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4041648"/>
            <a:ext cx="2944368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0" b="1">
                <a:solidFill>
                  <a:srgbClr val="FFFFFF"/>
                </a:solidFill>
                <a:latin typeface="Microsoft YaHei"/>
              </a:defRPr>
            </a:pPr>
            <a:r>
              <a:rPr sz="810" b="1">
                <a:solidFill>
                  <a:srgbClr val="FFFFFF"/>
                </a:solidFill>
                <a:latin typeface="Microsoft YaHei"/>
              </a:rPr>
              <a:t>Current limitation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75887" y="4005072"/>
            <a:ext cx="6858000" cy="3931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12463" y="4041648"/>
            <a:ext cx="6784848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0" b="1">
                <a:solidFill>
                  <a:srgbClr val="FFFFFF"/>
                </a:solidFill>
                <a:latin typeface="Microsoft YaHei"/>
              </a:defRPr>
            </a:pPr>
            <a:r>
              <a:rPr sz="810" b="1">
                <a:solidFill>
                  <a:srgbClr val="FFFFFF"/>
                </a:solidFill>
                <a:latin typeface="Microsoft YaHei"/>
              </a:rPr>
              <a:t>How to discuss it honestly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398264"/>
            <a:ext cx="3017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4430268"/>
            <a:ext cx="2926079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Cohort heterogeneity gain is smaller than global event downscaling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75887" y="4398264"/>
            <a:ext cx="685800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21607" y="4430268"/>
            <a:ext cx="67665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the strongest signal is event-level trip suppression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4791456"/>
            <a:ext cx="3017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" y="4823460"/>
            <a:ext cx="2926079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Mode-composition gain is concentrated in transit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75887" y="4791456"/>
            <a:ext cx="685800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21607" y="4823460"/>
            <a:ext cx="67665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this is expected because transit avoidance is the clearest COVID channel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5184648"/>
            <a:ext cx="3017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" y="5216652"/>
            <a:ext cx="2926079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No prospective external event feed yet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75887" y="5184648"/>
            <a:ext cx="685800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21607" y="5216652"/>
            <a:ext cx="67665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future work can use news/mobility indices available before survey release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Final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A clean story: routine mobility + event semantics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18 / 18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2 tasks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 count + modes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5559552"/>
            <a:ext cx="20574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CBD5E1"/>
                </a:solidFill>
                <a:latin typeface="Microsoft YaHei"/>
              </a:defRPr>
            </a:pPr>
            <a:r>
              <a:rPr sz="950" b="1">
                <a:solidFill>
                  <a:srgbClr val="CBD5E1"/>
                </a:solidFill>
                <a:latin typeface="Microsoft YaHei"/>
              </a:rPr>
              <a:t>Suggested one-sentence claim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88920" y="5504688"/>
            <a:ext cx="78638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rPr sz="1000" b="1">
                <a:solidFill>
                  <a:srgbClr val="FFFFFF"/>
                </a:solidFill>
                <a:latin typeface="Microsoft YaHei"/>
              </a:rPr>
              <a:t>LLM event priors enable label-free adaptation of household travel behavior prediction under rare post-pandemic temporal shift.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