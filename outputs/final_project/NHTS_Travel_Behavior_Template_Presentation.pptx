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7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6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62D71"/>
    <a:srgbClr val="822370"/>
    <a:srgbClr val="59156B"/>
    <a:srgbClr val="812153"/>
    <a:srgbClr val="00336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主题样式 1 - 强调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主题样式 1 - 强调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9D7B26C5-4107-4FEC-AEDC-1716B250A1EF}" styleName="浅色样式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无样式，网格型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306799F8-075E-4A3A-A7F6-7FBC6576F1A4}" styleName="主题样式 2 - 强调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25E5076-3810-47DD-B79F-674D7AD40C01}" styleName="深色样式 1 - 强调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wholeTbl>
    <a:band1H>
      <a:tcStyle>
        <a:tcBdr/>
        <a:fill>
          <a:solidFill>
            <a:schemeClr val="accent1">
              <a:shade val="60000"/>
            </a:schemeClr>
          </a:solidFill>
        </a:fill>
      </a:tcStyle>
    </a:band1H>
    <a:band1V>
      <a:tcStyle>
        <a:tcBdr/>
        <a:fill>
          <a:solidFill>
            <a:schemeClr val="accent1">
              <a:shade val="6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accent1">
              <a:shade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accent1">
              <a:shade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accent1">
              <a:shade val="4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216"/>
    <p:restoredTop sz="87611"/>
  </p:normalViewPr>
  <p:slideViewPr>
    <p:cSldViewPr snapToGrid="0">
      <p:cViewPr varScale="1">
        <p:scale>
          <a:sx n="69" d="100"/>
          <a:sy n="69" d="100"/>
        </p:scale>
        <p:origin x="816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6" Type="http://schemas.openxmlformats.org/officeDocument/2006/relationships/slide" Target="slides/slide3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notesMaster" Target="notesMasters/notesMaster1.xml"/><Relationship Id="rId38" Type="http://schemas.openxmlformats.org/officeDocument/2006/relationships/presProps" Target="presProps.xml"/><Relationship Id="rId39" Type="http://schemas.openxmlformats.org/officeDocument/2006/relationships/viewProps" Target="viewProps.xml"/><Relationship Id="rId40" Type="http://schemas.openxmlformats.org/officeDocument/2006/relationships/theme" Target="theme/theme1.xml"/><Relationship Id="rId4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B7C9EA5-FFC8-914E-8FCA-A7534D56BDB4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D7C717-45A6-3141-B281-E423F6A4A12E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402782063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23498C3-D54F-2DF0-7F6C-1B9AF4E4127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43AA32A8-846D-B4D2-587A-5AF89E8879D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ADF113A-3AF1-A60E-0C1E-5D94E58DE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45AFD9-4E22-F4DD-0E0A-B568FE201D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E01A49AA-BD73-1626-CF55-95797BC97A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4394746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9923C81-B4F4-AE67-A990-8D68CC1C0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B56CAD-1703-340B-AA2A-D6FE89B722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CE8D7E-3D4A-5E1E-C664-8DAE368D12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6DF0354-DAD3-1ED2-A3EA-829EA2A28B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5770C08E-E57D-5621-512B-98CB8A6C4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9630752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8AFCAEF-33E4-C4BA-47CA-D86D636D05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C4DE1394-35DE-30A7-C3F0-D42EF6327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8CD0C23B-8B3D-39CF-2F7F-B7661D806A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1C6254B-D5DA-E555-1E3D-D0572D78B3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3CFAF2F-4286-8494-8BA1-3953EBB916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33415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4697836-44FE-148D-B4E6-69AAA72C7D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8029AB3-8B12-B414-CB0B-E0DC4050A7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20BCD0A2-02B2-C5BB-A27A-647C7F31A2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9B2010-FF3A-2EC4-6BF5-A4263AA1D3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9537D9D-C7C0-051E-9789-69823169EB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84AF71E1-6419-34DB-16D7-37627522EE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820603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428247B-C24A-C0D1-4474-91AF8B3BED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446941-472D-F7AF-33E6-69A5AE2FC6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CE7BB1A-5AFE-5616-5CB0-CC0E870F349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1FAB0A6-A480-1DF9-6229-2C5AE53152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80CF117F-3F02-A468-4523-9541C3F8419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D50863CB-1B22-C361-F330-BF437FA7BC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71631CB1-DCDD-BAF7-533A-438EF520258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B61FAEA-67A0-07BF-0AE0-F2E9D12FD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00595542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CCF3D23-12E5-4FE1-2410-F9B4E586E8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1649DFA-CEE1-4EE9-E631-8EA8695D01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A9638806-E19A-1D0C-3BBD-61CC2FF75D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BF7FC78C-AA00-43F7-42B0-A3A71DC216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4961236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1B3B159-E48A-C230-5F68-D4C9E6E7A4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8674C26E-FE58-8847-BCAA-826ED841A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5FB92021-DD8F-1E2F-FC7D-A926ADCEF1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865051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BFB012C-D2D8-A8B2-979D-DDEB5E3286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22278AF-E913-D049-09D5-ED27D8C2B3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7ECE38B4-FDD8-FB1F-F478-F9585CFB6B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852B11F-DE93-C6ED-AE88-6A2934A875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F3C3D0ED-E64B-E4EC-CA1C-FDC291B225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F547D80-7489-4C54-228A-CC5D544785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75076092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93B61D0-68D4-774B-DDFC-371EC2FAEE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70A16EC5-2B61-A2F9-8C22-E9C0728BEFA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B3897952-8CEB-D716-E25F-92ABBE2F30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B4628F6-DC0D-1F1C-10C8-CC022BDD11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304BA56B-6D65-1C1D-1814-C4956BD68D0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F9F3A70-1A12-46D3-8741-7C6EB9B14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7857398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2CA8388-E75C-91D0-3494-45A24A8969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2382C16C-CAD8-5E55-36BB-39DDC05A6D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7DB5697-30DA-1FAB-7CDA-B8CAFEE4E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7C0735D-6289-D301-6E7C-F9DB9FEB56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BD317E-DBD7-B38E-069E-BC2B2B6C26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9202423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1DE36967-6EFD-2898-86C8-B768B0340A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77EFE42D-5F60-C7C1-EAF6-446586C3DF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10EEEF-2B2A-90EA-003D-61BD0D760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256FC1C-7D18-D347-F7BE-AEBC88002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7018F0DE-F492-1F7A-367E-4676913D74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91098979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93298137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研究问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矩形 6"/>
          <p:cNvSpPr/>
          <p:nvPr userDrawn="1"/>
        </p:nvSpPr>
        <p:spPr>
          <a:xfrm>
            <a:off x="146379" y="-2"/>
            <a:ext cx="1365649" cy="6858002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endParaRPr kumimoji="0" lang="en-US" altLang="zh-CN" sz="3600" b="1" i="0" u="none" strike="noStrike" kern="1200" cap="none" spc="0" normalizeH="0" baseline="0" noProof="0" dirty="0">
              <a:ln>
                <a:noFill/>
              </a:ln>
              <a:solidFill>
                <a:srgbClr val="A5A5A5">
                  <a:lumMod val="75000"/>
                </a:srgbClr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  <a:uLnTx/>
              <a:uFillTx/>
              <a:latin typeface="Arial" panose="020B0604020202020204"/>
              <a:ea typeface="微软雅黑" panose="020B0503020204020204" charset="-122"/>
              <a:cs typeface="+mn-cs"/>
              <a:sym typeface="Arial" panose="020B0604020202020204"/>
            </a:endParaRPr>
          </a:p>
        </p:txBody>
      </p:sp>
      <p:sp>
        <p:nvSpPr>
          <p:cNvPr id="9" name="TextBox 18"/>
          <p:cNvSpPr>
            <a:spLocks noChangeArrowheads="1"/>
          </p:cNvSpPr>
          <p:nvPr userDrawn="1"/>
        </p:nvSpPr>
        <p:spPr bwMode="auto">
          <a:xfrm>
            <a:off x="278834" y="421090"/>
            <a:ext cx="1100737" cy="1200262"/>
          </a:xfrm>
          <a:prstGeom prst="rect">
            <a:avLst/>
          </a:prstGeom>
          <a:noFill/>
          <a:ln>
            <a:noFill/>
          </a:ln>
        </p:spPr>
        <p:txBody>
          <a:bodyPr wrap="square" lIns="91374" tIns="45687" rIns="91374" bIns="45687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36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模型算法</a:t>
            </a:r>
          </a:p>
        </p:txBody>
      </p:sp>
      <p:sp>
        <p:nvSpPr>
          <p:cNvPr id="11" name="矩形 10"/>
          <p:cNvSpPr/>
          <p:nvPr userDrawn="1"/>
        </p:nvSpPr>
        <p:spPr>
          <a:xfrm>
            <a:off x="328060" y="5735781"/>
            <a:ext cx="1002283" cy="923617"/>
          </a:xfrm>
          <a:prstGeom prst="rect">
            <a:avLst/>
          </a:prstGeom>
          <a:noFill/>
          <a:ln w="53975">
            <a:solidFill>
              <a:schemeClr val="bg1"/>
            </a:solidFill>
            <a:miter lim="800000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en-US" altLang="zh-CN" sz="32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</a:rPr>
              <a:t>04</a:t>
            </a:r>
            <a:endParaRPr kumimoji="0" lang="zh-CN" altLang="en-US" sz="3200" b="1" i="0" u="none" strike="noStrike" kern="1200" cap="none" spc="0" normalizeH="0" baseline="0" noProof="0" dirty="0">
              <a:ln>
                <a:noFill/>
              </a:ln>
              <a:solidFill>
                <a:schemeClr val="tx1"/>
              </a:solidFill>
              <a:effectLst/>
              <a:uLnTx/>
              <a:uFillTx/>
              <a:latin typeface="微软雅黑" panose="020B0503020204020204" charset="-122"/>
              <a:ea typeface="微软雅黑" panose="020B0503020204020204" charset="-122"/>
              <a:cs typeface="+mn-cs"/>
            </a:endParaRPr>
          </a:p>
        </p:txBody>
      </p:sp>
      <p:sp>
        <p:nvSpPr>
          <p:cNvPr id="14" name="TextBox 18"/>
          <p:cNvSpPr>
            <a:spLocks noChangeArrowheads="1"/>
          </p:cNvSpPr>
          <p:nvPr userDrawn="1"/>
        </p:nvSpPr>
        <p:spPr bwMode="auto">
          <a:xfrm>
            <a:off x="367603" y="1621353"/>
            <a:ext cx="923196" cy="3986376"/>
          </a:xfrm>
          <a:prstGeom prst="rect">
            <a:avLst/>
          </a:prstGeom>
          <a:noFill/>
          <a:ln>
            <a:noFill/>
          </a:ln>
        </p:spPr>
        <p:txBody>
          <a:bodyPr vert="vert270" wrap="square" lIns="91374" tIns="45687" rIns="91374" bIns="45687">
            <a:spAutoFit/>
          </a:bodyPr>
          <a:lstStyle/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MODEL </a:t>
            </a:r>
          </a:p>
          <a:p>
            <a:pPr marL="0" marR="0" lvl="0" indent="0" algn="just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fr-FR" altLang="zh-CN" sz="2400" b="1" i="0" u="none" strike="noStrike" kern="1200" cap="none" spc="0" normalizeH="0" baseline="0" noProof="0" dirty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微软雅黑" panose="020B0503020204020204" charset="-122"/>
                <a:ea typeface="微软雅黑" panose="020B0503020204020204" charset="-122"/>
                <a:cs typeface="+mn-cs"/>
                <a:sym typeface="方正大黑简体" pitchFamily="65" charset="-122"/>
              </a:rPr>
              <a:t>ALGORITHM</a:t>
            </a:r>
          </a:p>
        </p:txBody>
      </p:sp>
      <p:cxnSp>
        <p:nvCxnSpPr>
          <p:cNvPr id="3" name="直线连接符 7"/>
          <p:cNvCxnSpPr/>
          <p:nvPr userDrawn="1"/>
        </p:nvCxnSpPr>
        <p:spPr>
          <a:xfrm>
            <a:off x="1505543" y="586296"/>
            <a:ext cx="10686457" cy="0"/>
          </a:xfrm>
          <a:prstGeom prst="line">
            <a:avLst/>
          </a:prstGeom>
          <a:ln w="47625">
            <a:gradFill flip="none" rotWithShape="1">
              <a:gsLst>
                <a:gs pos="0">
                  <a:schemeClr val="bg1">
                    <a:lumMod val="50000"/>
                  </a:schemeClr>
                </a:gs>
                <a:gs pos="100000">
                  <a:schemeClr val="bg1"/>
                </a:gs>
              </a:gsLst>
              <a:lin ang="0" scaled="1"/>
              <a:tileRect/>
            </a:gradFill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4" name="TextBox 12"/>
          <p:cNvSpPr txBox="1">
            <a:spLocks noChangeArrowheads="1"/>
          </p:cNvSpPr>
          <p:nvPr userDrawn="1"/>
        </p:nvSpPr>
        <p:spPr bwMode="auto">
          <a:xfrm>
            <a:off x="8710489" y="143606"/>
            <a:ext cx="4364233" cy="436880"/>
          </a:xfrm>
          <a:prstGeom prst="rect">
            <a:avLst/>
          </a:prstGeom>
          <a:noFill/>
          <a:ln w="9525">
            <a:noFill/>
            <a:miter lim="800000"/>
          </a:ln>
        </p:spPr>
        <p:txBody>
          <a:bodyPr wrap="square" lIns="108841" tIns="108000" rIns="432000" bIns="10800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defRPr/>
            </a:pPr>
            <a:r>
              <a:rPr kumimoji="0" lang="zh-CN" altLang="en-US" sz="1200" b="1" i="0" u="none" strike="noStrike" kern="0" cap="none" spc="0" normalizeH="0" baseline="0" noProof="0" dirty="0">
                <a:ln w="12700">
                  <a:noFill/>
                  <a:prstDash val="solid"/>
                </a:ln>
                <a:solidFill>
                  <a:prstClr val="black"/>
                </a:solidFill>
                <a:effectLst>
                  <a:outerShdw blurRad="41275" dist="20320" dir="1800000" algn="tl" rotWithShape="0">
                    <a:srgbClr val="000000">
                      <a:alpha val="40000"/>
                    </a:srgbClr>
                  </a:outerShdw>
                </a:effectLst>
                <a:uLnTx/>
                <a:uFillTx/>
                <a:latin typeface="Weibei SC Bold"/>
                <a:ea typeface="微软雅黑" panose="020B0503020204020204" charset="-122"/>
                <a:cs typeface="Weibei SC Bold"/>
              </a:rPr>
              <a:t>网红绿地影响因素及其与环境绅士化关系探究</a:t>
            </a:r>
          </a:p>
        </p:txBody>
      </p:sp>
    </p:spTree>
    <p:extLst>
      <p:ext uri="{BB962C8B-B14F-4D97-AF65-F5344CB8AC3E}">
        <p14:creationId xmlns:p14="http://schemas.microsoft.com/office/powerpoint/2010/main" val="211522865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1F087FCD-4307-F0F2-D3BD-38D65778AD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1FF7AFB-CFCD-86FF-5E24-287E86B008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F8EEC7E-945E-A690-7898-B1308AD699A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A38DAC0-CE62-D141-B832-686CBE4253BA}" type="datetimeFigureOut">
              <a:rPr kumimoji="1" lang="zh-CN" altLang="en-US" smtClean="0"/>
              <a:t>2026/6/9</a:t>
            </a:fld>
            <a:endParaRPr kumimoji="1"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65B91929-D260-3310-FA98-F4DCA18BF33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A959924-338A-6333-1869-40B137FFAA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245BADA-1024-0545-A29F-910C83BB960C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5662189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10771632" y="283464"/>
            <a:ext cx="914400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08" y="310896"/>
            <a:ext cx="841248" cy="5929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21792" y="713232"/>
            <a:ext cx="9052560" cy="8686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2400" b="1">
                <a:solidFill>
                  <a:srgbClr val="FFFFFF"/>
                </a:solidFill>
                <a:latin typeface="Microsoft YaHei"/>
              </a:defRPr>
            </a:pPr>
            <a:r>
              <a:rPr sz="2400" b="1">
                <a:solidFill>
                  <a:srgbClr val="FFFFFF"/>
                </a:solidFill>
                <a:latin typeface="Microsoft YaHei"/>
              </a:rPr>
              <a:t>疫情冲击下的家庭出行行为预测</a:t>
            </a:r>
            <a:br/>
            <a:r>
              <a:rPr sz="2400" b="1">
                <a:solidFill>
                  <a:srgbClr val="FFFFFF"/>
                </a:solidFill>
                <a:latin typeface="Microsoft YaHei"/>
              </a:rPr>
              <a:t>面向移动不平等与可持续出行评估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700784"/>
            <a:ext cx="859536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50" b="1">
                <a:solidFill>
                  <a:srgbClr val="CBD5E1"/>
                </a:solidFill>
                <a:latin typeface="Microsoft YaHei"/>
              </a:defRPr>
            </a:pPr>
            <a:r>
              <a:rPr sz="1250" b="1">
                <a:solidFill>
                  <a:srgbClr val="CBD5E1"/>
                </a:solidFill>
                <a:latin typeface="Microsoft YaHei"/>
              </a:rPr>
              <a:t>Pandemic-Aware Household Travel Behavior Prediction for Mobility Inequality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804672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传统监督模型 + LLM 事件先验；不使用 2022 目标标签校准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743200"/>
            <a:ext cx="10881360" cy="9144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NHTS 历史数据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routine mobility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834640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493008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66160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2022 疫情冲击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448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event-driven shift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596128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54496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27648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LLM 事件先验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45936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correction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357616" y="3264408"/>
            <a:ext cx="438912" cy="164592"/>
          </a:xfrm>
          <a:prstGeom prst="rightArrow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9015984" y="3063240"/>
            <a:ext cx="2057400" cy="6400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0079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89136" y="3127248"/>
            <a:ext cx="1911095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00796B"/>
                </a:solidFill>
                <a:latin typeface="Microsoft YaHei"/>
              </a:defRPr>
            </a:pPr>
            <a:r>
              <a:rPr sz="919" b="1">
                <a:solidFill>
                  <a:srgbClr val="00796B"/>
                </a:solidFill>
                <a:latin typeface="Microsoft YaHei"/>
              </a:rPr>
              <a:t>家庭出行行为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07424" y="3346704"/>
            <a:ext cx="1874519" cy="30175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trips + modes + purposes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61772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77824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Trip-count MAE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77824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7824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ordinary XGBoost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364992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364992" y="461772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493008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93008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93008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nearly unbiased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980176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980176" y="461772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08192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108192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54.5%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08192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tolerance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595360" y="4617720"/>
            <a:ext cx="233172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595360" y="461772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23376" y="4690872"/>
            <a:ext cx="21122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Behavior scope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23376" y="4864608"/>
            <a:ext cx="21122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3+ outputs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23376" y="5175504"/>
            <a:ext cx="21122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8368" y="6245352"/>
            <a:ext cx="448056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716768" y="6245352"/>
            <a:ext cx="7772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CBD5E1"/>
                </a:solidFill>
                <a:latin typeface="Microsoft YaHei"/>
              </a:defRPr>
            </a:pPr>
            <a:r>
              <a:rPr sz="800" b="1">
                <a:solidFill>
                  <a:srgbClr val="CBD5E1"/>
                </a:solidFill>
                <a:latin typeface="Microsoft YaHei"/>
              </a:rPr>
              <a:t>01 / 23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目录 / Content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从研究问题到技术路线，再到结果解释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325880"/>
            <a:ext cx="2834640" cy="4297680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" y="2240280"/>
            <a:ext cx="1920240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icrosoft YaHei"/>
              </a:defRPr>
            </a:pPr>
            <a:r>
              <a:rPr sz="2000" b="1">
                <a:solidFill>
                  <a:srgbClr val="FFFFFF"/>
                </a:solidFill>
                <a:latin typeface="Microsoft YaHei"/>
              </a:rPr>
              <a:t>CONTENT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8" y="2834640"/>
            <a:ext cx="2176272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00" b="0">
                <a:solidFill>
                  <a:srgbClr val="CBD5E1"/>
                </a:solidFill>
                <a:latin typeface="Microsoft YaHei"/>
              </a:defRPr>
            </a:pPr>
            <a:r>
              <a:rPr sz="1000" b="0">
                <a:solidFill>
                  <a:srgbClr val="CBD5E1"/>
                </a:solidFill>
                <a:latin typeface="Microsoft YaHei"/>
              </a:rPr>
              <a:t>10 分钟主线：</a:t>
            </a:r>
            <a:br/>
            <a:r>
              <a:rPr sz="1000" b="0">
                <a:solidFill>
                  <a:srgbClr val="CBD5E1"/>
                </a:solidFill>
                <a:latin typeface="Microsoft YaHei"/>
              </a:rPr>
              <a:t>为什么 2022 需要事件适应，LLM 如何提供可泛化的事件先验。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1207008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813048" y="1280160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07408" y="1225296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Background &amp;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07408" y="1463040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疫情冲击、移动不平等与相关研究缺口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160520" y="1737360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767328" y="2066543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813048" y="2139696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7408" y="2084831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Problem &amp; data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07408" y="2322576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家庭层面多输出 travel behavior system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60520" y="2596896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67328" y="2926080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13048" y="2999232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07408" y="2944368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Method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07408" y="3182112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 × LLM event-generalizable priors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60520" y="3456432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3767328" y="3785615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813048" y="3858768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07408" y="3803903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07408" y="4041648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性能比较、Pareto 选择、置信区间、稳健性检验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60520" y="4315968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3767328" y="4645152"/>
            <a:ext cx="457200" cy="45720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813048" y="4718304"/>
            <a:ext cx="3657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icrosoft YaHei"/>
              </a:defRPr>
            </a:pPr>
            <a:r>
              <a:rPr sz="1100" b="1">
                <a:solidFill>
                  <a:srgbClr val="FFFFFF"/>
                </a:solidFill>
                <a:latin typeface="Microsoft YaHei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07408" y="4663440"/>
            <a:ext cx="28346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Insights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407408" y="4901184"/>
            <a:ext cx="621792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出行强度、方式、目的与未来工作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60520" y="5175504"/>
            <a:ext cx="6766560" cy="7315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研究问题 / Research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2022 不是普通跨年预测 | 2022 is not an ordinary transfer year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03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170432"/>
            <a:ext cx="507492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243584"/>
            <a:ext cx="5001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Traditional framing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96712" y="1170432"/>
            <a:ext cx="5349240" cy="384048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33288" y="1243584"/>
            <a:ext cx="52760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Event-driven framing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1792" y="1554480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76656" y="1618488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2017 -&gt; 2022 as smooth temporal transfer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96712" y="1554480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51575" y="1618488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as post-pandemic behavioral regime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" y="1938528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2002536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Covariates explain most household differences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96712" y="1938528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51575" y="2002536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covariates miss remote work / transit avoidance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2322576"/>
            <a:ext cx="5074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2386584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Model failure means weak tabular learner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96712" y="2322576"/>
            <a:ext cx="53492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51575" y="2386584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Model failure reveals unobserved event mechanisms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1792" y="2706624"/>
            <a:ext cx="5074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76656" y="2770632"/>
            <a:ext cx="49651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Tune on target labels if available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96712" y="2706624"/>
            <a:ext cx="53492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51575" y="2770632"/>
            <a:ext cx="52395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Use no 2022 labels for training/calibration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58368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58368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86384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86384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273552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273552" y="4343400"/>
            <a:ext cx="50292" cy="786384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401568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Systematic bias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01568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BE123C"/>
                </a:solidFill>
                <a:latin typeface="Microsoft YaHei"/>
              </a:defRPr>
            </a:pPr>
            <a:r>
              <a:rPr sz="160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401568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over-predicts trips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5888736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88736" y="4343400"/>
            <a:ext cx="50292" cy="78638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16752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Pre-COVID bias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16752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0.90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016752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mean abs. wBias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4343400"/>
            <a:ext cx="2377440" cy="786384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503920" y="4343400"/>
            <a:ext cx="50292" cy="786384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31936" y="4416552"/>
            <a:ext cx="21579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Research target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631936" y="4590288"/>
            <a:ext cx="21579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adapt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31936" y="4901184"/>
            <a:ext cx="21579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just fit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5230368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5230368"/>
            <a:ext cx="50292" cy="10789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5321807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核心问题：2022 的 weighted bias 远高于疫情前跨年验证；不使用 2022 标签调参时，能否用事件先验修正这种系统性高估。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774253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Core question: can event priors correct the post-pandemic overprediction without using 2022 target labels for calibration?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相关研究与缺口 / Related Work and Gap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2025-2026: LLM mobility, causal events, and foundation models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04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1115568"/>
            <a:ext cx="233172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" y="1188720"/>
            <a:ext cx="225856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最新方向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79" y="1115568"/>
            <a:ext cx="38404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62656" y="1188720"/>
            <a:ext cx="37673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2025-2026 代表线索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766560" y="1115568"/>
            <a:ext cx="4297680" cy="457200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03136" y="1188720"/>
            <a:ext cx="4224528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本项目的位置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15727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4" y="1636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mobility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26079" y="15727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980944" y="1636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15727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21424" y="1636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把 COVID shock 转成 label-free event priors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94360" y="2029967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" y="20939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mobility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79" y="2029967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80944" y="20939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2029967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21424" y="20939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直接 LLM 可做 baseline，但数值校准弱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94360" y="24871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4" y="25511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Evidence-grounded agents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24871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80944" y="25511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AgentMob 2026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766560" y="24871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21424" y="25511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fast path + low-confidence LLM reasoning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94360" y="29443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9224" y="30083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pipeline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79" y="29443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980944" y="30083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766560" y="29443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21424" y="30083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batch prompting 和调用压缩是必要工程约束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94360" y="3401568"/>
            <a:ext cx="233172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" y="3465575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Mobility foundation models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26079" y="3401568"/>
            <a:ext cx="38404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980944" y="3465575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766560" y="3401568"/>
            <a:ext cx="4297680" cy="457200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21424" y="3465575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不训练大 FM；用轻量 adapter 处理 survey shift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" y="3858768"/>
            <a:ext cx="233172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9224" y="3922776"/>
            <a:ext cx="2221991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Planning evaluation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926079" y="3858768"/>
            <a:ext cx="38404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980944" y="3922776"/>
            <a:ext cx="37307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causal guardrails + multi-objective metrics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766560" y="3858768"/>
            <a:ext cx="4297680" cy="457200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21424" y="3922776"/>
            <a:ext cx="418795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同时报告 accuracy、bias、equity、mode/purpose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822960" y="4800600"/>
            <a:ext cx="9875520" cy="7772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4128" y="5047488"/>
            <a:ext cx="1005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研究缺口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57400" y="4910328"/>
            <a:ext cx="8183879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缺口：已有工作多关注 trajectory / flow / sensor forecasting；NHTS household survey 的 post-pandemic label-free event adaptation 仍需要一个可解释、可审计框架。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数据与目标 / Data and Target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一个 household behavior system，多种 linked outputs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05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95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173736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10896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8211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2009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8036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4160520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532120" y="1389888"/>
            <a:ext cx="914400" cy="502920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05272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2017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0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history + mode base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583679" y="1572768"/>
            <a:ext cx="658368" cy="146304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55279" y="1389888"/>
            <a:ext cx="914400" cy="502920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28431" y="1481328"/>
            <a:ext cx="768096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2022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26679" y="1947672"/>
            <a:ext cx="13716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0">
                <a:solidFill>
                  <a:srgbClr val="64748B"/>
                </a:solidFill>
                <a:latin typeface="Microsoft YaHei"/>
              </a:defRPr>
            </a:pPr>
            <a:r>
              <a:rPr sz="800" b="0">
                <a:solidFill>
                  <a:srgbClr val="64748B"/>
                </a:solidFill>
                <a:latin typeface="Microsoft YaHei"/>
              </a:rPr>
              <a:t>post-pandemic eval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5836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9494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Output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807208" y="2761488"/>
            <a:ext cx="32004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43784" y="2834640"/>
            <a:ext cx="3127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Construction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007607" y="2761488"/>
            <a:ext cx="2788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44183" y="2834640"/>
            <a:ext cx="2715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Planning meaning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796528" y="276148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833104" y="283464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Main metric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5836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 generation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807208" y="3145536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862072" y="3209544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at household level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07607" y="3145536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062471" y="3209544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much travel demand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796528" y="31455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851392" y="32095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weighted MAE / bias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5836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1323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 composition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807208" y="3529584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862072" y="3593591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TRPTRANS -&gt; household share vector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007607" y="3529584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62471" y="3593591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How demand is distributed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796528" y="35295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851392" y="35935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share MAE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5836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1323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07208" y="3913632"/>
            <a:ext cx="3200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862072" y="3977640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TRIPPURP -&gt; household purpose vector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007607" y="3913632"/>
            <a:ext cx="2788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062471" y="3977640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Why households travel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796528" y="39136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851392" y="39776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TV / purpose MAE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5836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1323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Mode-specific trips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807208" y="4297680"/>
            <a:ext cx="3200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862072" y="4361688"/>
            <a:ext cx="3090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predicted trips × mode share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007607" y="4297680"/>
            <a:ext cx="2788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062471" y="4361688"/>
            <a:ext cx="2679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Trips by mode for planning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796528" y="42976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851392" y="43616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derived output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749808" y="5074920"/>
            <a:ext cx="10012680" cy="102412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749808" y="5074920"/>
            <a:ext cx="50292" cy="102412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14400" y="5166359"/>
            <a:ext cx="9720072" cy="36868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目标不是只预测 CNTTDHH，而是构造 household travel behavior：出行多少次、用什么方式、为什么出行、每种方式多少次。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14400" y="5599054"/>
            <a:ext cx="9720072" cy="42684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target is a household behavior system: trip generation, mode composition, purpose composition, and derived mode-specific trip counts.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技术路线 / Technical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传统监督模型给基线，LLM 只给事件折减因子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06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107899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2563EB"/>
                </a:solidFill>
                <a:latin typeface="Microsoft YaHei"/>
              </a:defRPr>
            </a:pPr>
            <a:r>
              <a:rPr sz="950" b="1">
                <a:solidFill>
                  <a:srgbClr val="2563EB"/>
                </a:solidFill>
                <a:latin typeface="Microsoft YaHei"/>
              </a:rPr>
              <a:t>Historical routine branch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1440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NHTS history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2001 / 2009 / 2017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2862072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33756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1071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Feature harmonization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29000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same household schema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5285231" y="159105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760720" y="135331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833872" y="1417320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2563EB"/>
                </a:solidFill>
                <a:latin typeface="Microsoft YaHei"/>
              </a:defRPr>
            </a:pPr>
            <a:r>
              <a:rPr sz="919" b="1">
                <a:solidFill>
                  <a:srgbClr val="2563EB"/>
                </a:solidFill>
                <a:latin typeface="Microsoft YaHei"/>
              </a:rPr>
              <a:t>XGBoost CUDA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59" y="163677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learn f_hist(X)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2359152"/>
            <a:ext cx="21488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LLM event-prior branch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8755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2022 cohort profile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0584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aggregated households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2862072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333756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41071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GPT-5.5 prompt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29000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pandemic mechanisms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5285231" y="2871216"/>
            <a:ext cx="34747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5760720" y="2633472"/>
            <a:ext cx="1874519" cy="621792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EA580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2697479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EA580C"/>
                </a:solidFill>
                <a:latin typeface="Microsoft YaHei"/>
              </a:defRPr>
            </a:pPr>
            <a:r>
              <a:rPr sz="919" b="1">
                <a:solidFill>
                  <a:srgbClr val="EA580C"/>
                </a:solidFill>
                <a:latin typeface="Microsoft YaHei"/>
              </a:rPr>
              <a:t>Validated event prior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52159" y="2916936"/>
            <a:ext cx="1691639" cy="28346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s_event in [0, 1]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58368" y="3730752"/>
            <a:ext cx="699516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3895344"/>
            <a:ext cx="192024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Fixed no-label adapter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514600" y="3803904"/>
            <a:ext cx="4800600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ŷ_2022 = f_hist(X) × clip(1 − α × s_event, min_factor, 1)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514600" y="4279392"/>
            <a:ext cx="480060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0">
                <a:solidFill>
                  <a:srgbClr val="64748B"/>
                </a:solidFill>
                <a:latin typeface="Microsoft YaHei"/>
              </a:defRPr>
            </a:pPr>
            <a:r>
              <a:rPr sz="919" b="0">
                <a:solidFill>
                  <a:srgbClr val="64748B"/>
                </a:solidFill>
                <a:latin typeface="Microsoft YaHei"/>
              </a:rPr>
              <a:t>low-confidence cohort -&gt; global pressure fallback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514600" y="4553712"/>
            <a:ext cx="4800600" cy="25603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2022 labels enter only here: final evaluation</a:t>
            </a:r>
          </a:p>
        </p:txBody>
      </p:sp>
      <p:sp>
        <p:nvSpPr>
          <p:cNvPr id="40" name="Right Arrow 39"/>
          <p:cNvSpPr/>
          <p:nvPr/>
        </p:nvSpPr>
        <p:spPr>
          <a:xfrm>
            <a:off x="6126480" y="1965960"/>
            <a:ext cx="146304" cy="566928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ight Arrow 40"/>
          <p:cNvSpPr/>
          <p:nvPr/>
        </p:nvSpPr>
        <p:spPr>
          <a:xfrm>
            <a:off x="6126480" y="3255264"/>
            <a:ext cx="146304" cy="40233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29600" y="3749039"/>
            <a:ext cx="22860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198754"/>
                </a:solidFill>
                <a:latin typeface="Microsoft YaHei"/>
              </a:defRPr>
            </a:pPr>
            <a:r>
              <a:rPr sz="1000" b="1">
                <a:solidFill>
                  <a:srgbClr val="198754"/>
                </a:solidFill>
                <a:latin typeface="Microsoft YaHei"/>
              </a:rPr>
              <a:t>Output behavior system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229600" y="4069080"/>
            <a:ext cx="1874519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302752" y="4133088"/>
            <a:ext cx="172821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Trip generation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21040" y="4352544"/>
            <a:ext cx="1691639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CNTTDHH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058400" y="4069080"/>
            <a:ext cx="1463040" cy="566928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31552" y="4133088"/>
            <a:ext cx="131673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Mode shares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49840" y="4352544"/>
            <a:ext cx="128016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transit signal</a:t>
            </a:r>
          </a:p>
        </p:txBody>
      </p:sp>
      <p:sp>
        <p:nvSpPr>
          <p:cNvPr id="49" name="Right Arrow 48"/>
          <p:cNvSpPr/>
          <p:nvPr/>
        </p:nvSpPr>
        <p:spPr>
          <a:xfrm>
            <a:off x="7699248" y="4187952"/>
            <a:ext cx="384048" cy="146304"/>
          </a:xfrm>
          <a:prstGeom prst="rightArrow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8229600" y="1234440"/>
            <a:ext cx="2788920" cy="237744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58200" y="1417320"/>
            <a:ext cx="23317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BE123C"/>
                </a:solidFill>
                <a:latin typeface="Microsoft YaHei"/>
              </a:defRPr>
            </a:pPr>
            <a:r>
              <a:rPr sz="1050" b="1">
                <a:solidFill>
                  <a:srgbClr val="BE123C"/>
                </a:solidFill>
                <a:latin typeface="Microsoft YaHei"/>
              </a:rPr>
              <a:t>Leakage guardrails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412480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44905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禁止进入 LLM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646919" y="1755648"/>
            <a:ext cx="1234440" cy="3840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683495" y="1828800"/>
            <a:ext cx="11612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原因</a:t>
            </a:r>
          </a:p>
        </p:txBody>
      </p:sp>
      <p:sp>
        <p:nvSpPr>
          <p:cNvPr id="56" name="Rectangle 55"/>
          <p:cNvSpPr/>
          <p:nvPr/>
        </p:nvSpPr>
        <p:spPr>
          <a:xfrm>
            <a:off x="8412480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46734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CNTTDHH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646919" y="2139696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01784" y="2203703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目标标签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412480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46734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WTHHFIN</a:t>
            </a:r>
          </a:p>
        </p:txBody>
      </p:sp>
      <p:sp>
        <p:nvSpPr>
          <p:cNvPr id="62" name="Rectangle 61"/>
          <p:cNvSpPr/>
          <p:nvPr/>
        </p:nvSpPr>
        <p:spPr>
          <a:xfrm>
            <a:off x="9646919" y="2523744"/>
            <a:ext cx="12344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01784" y="2587751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样本权重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412480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46734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HOUSEID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646919" y="2907791"/>
            <a:ext cx="12344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701784" y="2971799"/>
            <a:ext cx="11247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个体标识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事件先验 / LLM Event Prior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 cohort 描述生成结构化疫情响应变量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07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" y="1078992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1152144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output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70632" y="1078992"/>
            <a:ext cx="406908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07208" y="1152144"/>
            <a:ext cx="39959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变量含义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39712" y="1078992"/>
            <a:ext cx="393192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76288" y="1152144"/>
            <a:ext cx="38587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进入模型的位置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792" y="1463039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76656" y="15270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trip_suppression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70632" y="1463039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25496" y="152704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总体出行折减压力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39712" y="1463039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94576" y="152704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total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" y="1847088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6656" y="1911095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remote_work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70632" y="1847088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25496" y="1911095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通勤被远程办公替代的可能性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839712" y="1847088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94576" y="1911095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解释出行下降来源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" y="223113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76656" y="229514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transit_avoidance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70632" y="2231136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25496" y="2295144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公共交通规避倾向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39712" y="2231136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894576" y="2295144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修正 transit share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" y="261518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76656" y="2679191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delivery_substitution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70632" y="2615184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825496" y="2679191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购物/服务被线上替代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9712" y="2615184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894576" y="2679191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解释非通勤出行下降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21792" y="299923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6656" y="306324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recovery_sensitivity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70632" y="2999232"/>
            <a:ext cx="40690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25496" y="3063240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恢复到常态出行的能力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839712" y="2999232"/>
            <a:ext cx="39319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894576" y="3063240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刻画 rebound 差异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" y="338328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76656" y="344728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70632" y="3383280"/>
            <a:ext cx="40690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825496" y="3447288"/>
            <a:ext cx="39593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对判断的自评置信度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839712" y="3383280"/>
            <a:ext cx="39319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894576" y="3447288"/>
            <a:ext cx="38221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质量检查信号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4980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8638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输入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58968" y="4434840"/>
            <a:ext cx="47091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95544" y="4507992"/>
            <a:ext cx="4636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明确排除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4980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04671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cohort-level household profile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458968" y="4818888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513832" y="4882896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CNTTDHH / trip count label</a:t>
            </a:r>
          </a:p>
        </p:txBody>
      </p:sp>
      <p:sp>
        <p:nvSpPr>
          <p:cNvPr id="61" name="Rectangle 60"/>
          <p:cNvSpPr/>
          <p:nvPr/>
        </p:nvSpPr>
        <p:spPr>
          <a:xfrm>
            <a:off x="74980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04671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urban context, vehicles, workers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458968" y="5202936"/>
            <a:ext cx="4709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5513832" y="5266944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sample weights / household IDs</a:t>
            </a:r>
          </a:p>
        </p:txBody>
      </p:sp>
      <p:sp>
        <p:nvSpPr>
          <p:cNvPr id="65" name="Rectangle 64"/>
          <p:cNvSpPr/>
          <p:nvPr/>
        </p:nvSpPr>
        <p:spPr>
          <a:xfrm>
            <a:off x="74980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804671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generic 2022 pandemic context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458968" y="5586983"/>
            <a:ext cx="4709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513832" y="5650992"/>
            <a:ext cx="4599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aggregate 2022 outcomes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对比体系 / Evaluation Design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传统模型、简单事件修正、纯 LLM 与 hybrid 方法逐层比较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75488" y="1024128"/>
            <a:ext cx="1965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088136"/>
            <a:ext cx="1892807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441448" y="1024128"/>
            <a:ext cx="9144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78024" y="1088136"/>
            <a:ext cx="8412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传统基线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55848" y="1024128"/>
            <a:ext cx="82296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92424" y="1088136"/>
            <a:ext cx="74980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LLM先验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78808" y="1024128"/>
            <a:ext cx="86868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15384" y="1088136"/>
            <a:ext cx="79552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2022标签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47488" y="1024128"/>
            <a:ext cx="438912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84064" y="1088136"/>
            <a:ext cx="431596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对比作用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436607" y="1024128"/>
            <a:ext cx="685800" cy="356616"/>
          </a:xfrm>
          <a:prstGeom prst="rect">
            <a:avLst/>
          </a:prstGeom>
          <a:solidFill>
            <a:srgbClr val="112A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73183" y="1088136"/>
            <a:ext cx="612648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Microsoft YaHei"/>
              </a:defRPr>
            </a:pPr>
            <a:r>
              <a:rPr sz="105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75488" y="1380744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0352" y="143560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441448" y="1380744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487168" y="143560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55848" y="1380744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01568" y="143560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78808" y="1380744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224528" y="143560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47488" y="1380744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02351" y="143560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只保留历史平均水平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436607" y="1380744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91472" y="143560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5.51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75488" y="1737360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0352" y="179222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441448" y="1737360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487168" y="179222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1737360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401568" y="179222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178808" y="1737360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224528" y="179222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047488" y="1737360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102351" y="179222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传统方法：家庭属性 -&gt; 出行次数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436607" y="1737360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91472" y="179222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4.34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75488" y="2093976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30352" y="214884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441448" y="2093976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2487168" y="214884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55848" y="2093976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401568" y="214884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178808" y="2093976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224528" y="214884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047488" y="2093976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102351" y="214884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统一趋势修正，不区分疫情机制</a:t>
            </a:r>
          </a:p>
        </p:txBody>
      </p:sp>
      <p:sp>
        <p:nvSpPr>
          <p:cNvPr id="57" name="Rectangle 56"/>
          <p:cNvSpPr/>
          <p:nvPr/>
        </p:nvSpPr>
        <p:spPr>
          <a:xfrm>
            <a:off x="9436607" y="2093976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491472" y="214884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4.15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75488" y="2450592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30352" y="250545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2441448" y="2450592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487168" y="250545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55848" y="2450592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401568" y="250545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178808" y="2450592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224528" y="250545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047488" y="2450592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102351" y="250545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只有事件方向，缺少 household baseline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9436607" y="2450592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491472" y="250545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2.72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75488" y="2807208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30352" y="2862072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441448" y="2807208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87168" y="2862072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355848" y="2807208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01568" y="2862072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178808" y="2807208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4224528" y="2862072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047488" y="2807208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102351" y="2862072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直接构建规则树，无数值校准</a:t>
            </a:r>
          </a:p>
        </p:txBody>
      </p:sp>
      <p:sp>
        <p:nvSpPr>
          <p:cNvPr id="81" name="Rectangle 80"/>
          <p:cNvSpPr/>
          <p:nvPr/>
        </p:nvSpPr>
        <p:spPr>
          <a:xfrm>
            <a:off x="9436607" y="2807208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491472" y="2862072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2.60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75488" y="3163824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530352" y="3218688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85" name="Rectangle 84"/>
          <p:cNvSpPr/>
          <p:nvPr/>
        </p:nvSpPr>
        <p:spPr>
          <a:xfrm>
            <a:off x="2441448" y="3163824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2487168" y="3218688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7" name="Rectangle 86"/>
          <p:cNvSpPr/>
          <p:nvPr/>
        </p:nvSpPr>
        <p:spPr>
          <a:xfrm>
            <a:off x="3355848" y="3163824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3401568" y="3218688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89" name="Rectangle 88"/>
          <p:cNvSpPr/>
          <p:nvPr/>
        </p:nvSpPr>
        <p:spPr>
          <a:xfrm>
            <a:off x="4178808" y="3163824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4224528" y="3218688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91" name="Rectangle 90"/>
          <p:cNvSpPr/>
          <p:nvPr/>
        </p:nvSpPr>
        <p:spPr>
          <a:xfrm>
            <a:off x="5047488" y="3163824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102351" y="3218688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LLM 规则 + 少量历史标签校准</a:t>
            </a:r>
          </a:p>
        </p:txBody>
      </p:sp>
      <p:sp>
        <p:nvSpPr>
          <p:cNvPr id="93" name="Rectangle 92"/>
          <p:cNvSpPr/>
          <p:nvPr/>
        </p:nvSpPr>
        <p:spPr>
          <a:xfrm>
            <a:off x="9436607" y="3163824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491472" y="3218688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2.77</a:t>
            </a:r>
          </a:p>
        </p:txBody>
      </p:sp>
      <p:sp>
        <p:nvSpPr>
          <p:cNvPr id="95" name="Rectangle 94"/>
          <p:cNvSpPr/>
          <p:nvPr/>
        </p:nvSpPr>
        <p:spPr>
          <a:xfrm>
            <a:off x="475488" y="3520440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530352" y="3575304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97" name="Rectangle 96"/>
          <p:cNvSpPr/>
          <p:nvPr/>
        </p:nvSpPr>
        <p:spPr>
          <a:xfrm>
            <a:off x="2441448" y="3520440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2487168" y="3575304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99" name="Rectangle 98"/>
          <p:cNvSpPr/>
          <p:nvPr/>
        </p:nvSpPr>
        <p:spPr>
          <a:xfrm>
            <a:off x="3355848" y="3520440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TextBox 99"/>
          <p:cNvSpPr txBox="1"/>
          <p:nvPr/>
        </p:nvSpPr>
        <p:spPr>
          <a:xfrm>
            <a:off x="3401568" y="3575304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4178808" y="3520440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4224528" y="3575304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5047488" y="3520440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5102351" y="3575304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所有家庭使用同一疫情折减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9436607" y="3520440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9491472" y="3575304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2.52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75488" y="3877056"/>
            <a:ext cx="1965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30352" y="3931920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Random pressure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2441448" y="3877056"/>
            <a:ext cx="9144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2487168" y="3931920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3355848" y="3877056"/>
            <a:ext cx="82296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3401568" y="3931920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4178808" y="3877056"/>
            <a:ext cx="86868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4224528" y="3931920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5047488" y="3877056"/>
            <a:ext cx="438912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5102351" y="3931920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随机 pressure 对照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9436607" y="3877056"/>
            <a:ext cx="685800" cy="356616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9491472" y="3931920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0">
                <a:solidFill>
                  <a:srgbClr val="0F172A"/>
                </a:solidFill>
                <a:latin typeface="Microsoft YaHei"/>
              </a:defRPr>
            </a:pPr>
            <a:r>
              <a:rPr sz="1050" b="0">
                <a:solidFill>
                  <a:srgbClr val="0F172A"/>
                </a:solidFill>
                <a:latin typeface="Microsoft YaHei"/>
              </a:rPr>
              <a:t>2.65</a:t>
            </a:r>
          </a:p>
        </p:txBody>
      </p:sp>
      <p:sp>
        <p:nvSpPr>
          <p:cNvPr id="119" name="Rectangle 118"/>
          <p:cNvSpPr/>
          <p:nvPr/>
        </p:nvSpPr>
        <p:spPr>
          <a:xfrm>
            <a:off x="475488" y="4233672"/>
            <a:ext cx="1965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530352" y="4288536"/>
            <a:ext cx="1856231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2441448" y="4233672"/>
            <a:ext cx="9144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2487168" y="4288536"/>
            <a:ext cx="82296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3355848" y="4233672"/>
            <a:ext cx="82296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3401568" y="4288536"/>
            <a:ext cx="73152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●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4178808" y="4233672"/>
            <a:ext cx="86868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4224528" y="4288536"/>
            <a:ext cx="777240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×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5047488" y="4233672"/>
            <a:ext cx="438912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5102351" y="4288536"/>
            <a:ext cx="427939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历史基线 × LLM 事件折减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9436607" y="4233672"/>
            <a:ext cx="685800" cy="356616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9491472" y="4288536"/>
            <a:ext cx="576072" cy="24688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2.50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94360" y="4736592"/>
            <a:ext cx="338328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64748B"/>
                </a:solidFill>
                <a:latin typeface="Microsoft YaHei"/>
              </a:defRPr>
            </a:pPr>
            <a:r>
              <a:rPr sz="1200" b="1">
                <a:solidFill>
                  <a:srgbClr val="64748B"/>
                </a:solidFill>
                <a:latin typeface="Microsoft YaHei"/>
              </a:rPr>
              <a:t>● 使用 / used    × 不使用 / not used</a:t>
            </a:r>
          </a:p>
        </p:txBody>
      </p:sp>
      <p:sp>
        <p:nvSpPr>
          <p:cNvPr id="132" name="Rounded Rectangle 131"/>
          <p:cNvSpPr/>
          <p:nvPr/>
        </p:nvSpPr>
        <p:spPr>
          <a:xfrm>
            <a:off x="749808" y="4983480"/>
            <a:ext cx="10012680" cy="1042415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749808" y="4983480"/>
            <a:ext cx="50292" cy="1042415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914400" y="5074920"/>
            <a:ext cx="9720072" cy="37526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对比逻辑：LLM 直接构树能给出事件方向，但缺少历史行为的数值锚点；小样本规则校准仍偏高估。主方法保留 household baseline，再用 LLM 事件先验做无标签修正。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914400" y="5514197"/>
            <a:ext cx="9720072" cy="43854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comparison isolates household grounding, zero-shot rule priors, small historical calibration, and the final gated event adapter.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主结果 / Main Trip-Count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Hybrid adapters reduce error while controlling bias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09 / 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110185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43200" y="115214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2743200" y="1152144"/>
            <a:ext cx="2729917" cy="155448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06440" y="109728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5.51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149618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0" y="154647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743200" y="1546479"/>
            <a:ext cx="2148456" cy="155448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06440" y="149161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BE123C"/>
                </a:solidFill>
                <a:latin typeface="Microsoft YaHei"/>
              </a:defRPr>
            </a:pPr>
            <a:r>
              <a:rPr sz="800" b="1">
                <a:solidFill>
                  <a:srgbClr val="BE123C"/>
                </a:solidFill>
                <a:latin typeface="Microsoft YaHei"/>
              </a:rPr>
              <a:t>4.34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189052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0" y="194081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43200" y="1940814"/>
            <a:ext cx="2055717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806440" y="188595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4.15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" y="228485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743200" y="233514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743200" y="2335149"/>
            <a:ext cx="1345984" cy="155448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06440" y="228028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5B21B6"/>
                </a:solidFill>
                <a:latin typeface="Microsoft YaHei"/>
              </a:defRPr>
            </a:pPr>
            <a:r>
              <a:rPr sz="800" b="1">
                <a:solidFill>
                  <a:srgbClr val="5B21B6"/>
                </a:solidFill>
                <a:latin typeface="Microsoft YaHei"/>
              </a:rPr>
              <a:t>2.72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4360" y="267919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Zero-shot rule tree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0" y="272948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43200" y="2729484"/>
            <a:ext cx="1288744" cy="1554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806440" y="267462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2563EB"/>
                </a:solidFill>
                <a:latin typeface="Microsoft YaHei"/>
              </a:defRPr>
            </a:pPr>
            <a:r>
              <a:rPr sz="800" b="1">
                <a:solidFill>
                  <a:srgbClr val="2563EB"/>
                </a:solidFill>
                <a:latin typeface="Microsoft YaHei"/>
              </a:rPr>
              <a:t>2.60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4360" y="3073526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Rule + 500 history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0" y="312381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743200" y="3123819"/>
            <a:ext cx="1373131" cy="15544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06440" y="3068954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EA580C"/>
                </a:solidFill>
                <a:latin typeface="Microsoft YaHei"/>
              </a:defRPr>
            </a:pPr>
            <a:r>
              <a:rPr sz="800" b="1">
                <a:solidFill>
                  <a:srgbClr val="EA580C"/>
                </a:solidFill>
                <a:latin typeface="Microsoft YaHei"/>
              </a:rPr>
              <a:t>2.77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94360" y="3467862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Global event rule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0" y="3518154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2743200" y="3518154"/>
            <a:ext cx="1249310" cy="1554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806440" y="3463290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00796B"/>
                </a:solidFill>
                <a:latin typeface="Microsoft YaHei"/>
              </a:defRPr>
            </a:pPr>
            <a:r>
              <a:rPr sz="800" b="1">
                <a:solidFill>
                  <a:srgbClr val="00796B"/>
                </a:solidFill>
                <a:latin typeface="Microsoft YaHei"/>
              </a:rPr>
              <a:t>2.52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94360" y="3862197"/>
            <a:ext cx="20574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0">
                <a:solidFill>
                  <a:srgbClr val="0F172A"/>
                </a:solidFill>
                <a:latin typeface="Microsoft YaHei"/>
              </a:defRPr>
            </a:pPr>
            <a:r>
              <a:rPr sz="78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0" y="3912489"/>
            <a:ext cx="2971800" cy="1554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743200" y="3912489"/>
            <a:ext cx="1239379" cy="1554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806440" y="3857625"/>
            <a:ext cx="5029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800" b="1">
                <a:solidFill>
                  <a:srgbClr val="198754"/>
                </a:solidFill>
                <a:latin typeface="Microsoft YaHei"/>
              </a:defRPr>
            </a:pPr>
            <a:r>
              <a:rPr sz="800" b="1">
                <a:solidFill>
                  <a:srgbClr val="198754"/>
                </a:solidFill>
                <a:latin typeface="Microsoft YaHei"/>
              </a:rPr>
              <a:t>2.50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537960" y="1078992"/>
            <a:ext cx="1874519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74536" y="1152144"/>
            <a:ext cx="180136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41248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44905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235440" y="1078992"/>
            <a:ext cx="822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272015" y="1152144"/>
            <a:ext cx="7498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wBias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058400" y="1078992"/>
            <a:ext cx="73152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094976" y="1152144"/>
            <a:ext cx="65836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wR2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537960" y="1463039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592824" y="152704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841248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46734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235440" y="1463039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9290304" y="152704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+3.605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0058400" y="1463039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0113264" y="152704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-0.637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537960" y="1847088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592824" y="1911095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</a:t>
            </a:r>
          </a:p>
        </p:txBody>
      </p:sp>
      <p:sp>
        <p:nvSpPr>
          <p:cNvPr id="61" name="Rectangle 60"/>
          <p:cNvSpPr/>
          <p:nvPr/>
        </p:nvSpPr>
        <p:spPr>
          <a:xfrm>
            <a:off x="841248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46734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4.220</a:t>
            </a:r>
          </a:p>
        </p:txBody>
      </p:sp>
      <p:sp>
        <p:nvSpPr>
          <p:cNvPr id="63" name="Rectangle 62"/>
          <p:cNvSpPr/>
          <p:nvPr/>
        </p:nvSpPr>
        <p:spPr>
          <a:xfrm>
            <a:off x="9235440" y="1847088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290304" y="1911095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+3.487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0058400" y="1847088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0113264" y="1911095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-0.571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537960" y="2231136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592824" y="2295144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41248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846734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2.718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9235440" y="2231136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9290304" y="2295144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-0.373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0058400" y="2231136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113264" y="2295144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0.079</a:t>
            </a:r>
          </a:p>
        </p:txBody>
      </p:sp>
      <p:sp>
        <p:nvSpPr>
          <p:cNvPr id="75" name="Rectangle 74"/>
          <p:cNvSpPr/>
          <p:nvPr/>
        </p:nvSpPr>
        <p:spPr>
          <a:xfrm>
            <a:off x="6537960" y="2615184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6592824" y="2679191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tree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41248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46734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2.602</a:t>
            </a:r>
          </a:p>
        </p:txBody>
      </p:sp>
      <p:sp>
        <p:nvSpPr>
          <p:cNvPr id="79" name="Rectangle 78"/>
          <p:cNvSpPr/>
          <p:nvPr/>
        </p:nvSpPr>
        <p:spPr>
          <a:xfrm>
            <a:off x="9235440" y="2615184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9290304" y="2679191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-0.407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0058400" y="2615184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113264" y="2679191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0.151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537960" y="2999232"/>
            <a:ext cx="1874519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592824" y="3063240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Rule + 500 hist.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41248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46734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2.772</a:t>
            </a:r>
          </a:p>
        </p:txBody>
      </p:sp>
      <p:sp>
        <p:nvSpPr>
          <p:cNvPr id="87" name="Rectangle 86"/>
          <p:cNvSpPr/>
          <p:nvPr/>
        </p:nvSpPr>
        <p:spPr>
          <a:xfrm>
            <a:off x="9235440" y="2999232"/>
            <a:ext cx="822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9290304" y="3063240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+0.463</a:t>
            </a:r>
          </a:p>
        </p:txBody>
      </p:sp>
      <p:sp>
        <p:nvSpPr>
          <p:cNvPr id="89" name="Rectangle 88"/>
          <p:cNvSpPr/>
          <p:nvPr/>
        </p:nvSpPr>
        <p:spPr>
          <a:xfrm>
            <a:off x="10058400" y="2999232"/>
            <a:ext cx="73152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113264" y="3063240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0.154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537960" y="3383280"/>
            <a:ext cx="1874519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592824" y="3447288"/>
            <a:ext cx="176479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93" name="Rectangle 92"/>
          <p:cNvSpPr/>
          <p:nvPr/>
        </p:nvSpPr>
        <p:spPr>
          <a:xfrm>
            <a:off x="841248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46734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95" name="Rectangle 94"/>
          <p:cNvSpPr/>
          <p:nvPr/>
        </p:nvSpPr>
        <p:spPr>
          <a:xfrm>
            <a:off x="9235440" y="3383280"/>
            <a:ext cx="822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9290304" y="3447288"/>
            <a:ext cx="7132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97" name="Rectangle 96"/>
          <p:cNvSpPr/>
          <p:nvPr/>
        </p:nvSpPr>
        <p:spPr>
          <a:xfrm>
            <a:off x="10058400" y="3383280"/>
            <a:ext cx="73152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10113264" y="3447288"/>
            <a:ext cx="62179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0.248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6547104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6547104" y="3950208"/>
            <a:ext cx="50292" cy="65836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675120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reduction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675120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-42.3%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675120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vs XGBoost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8641080" y="3950208"/>
            <a:ext cx="1874519" cy="65836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641080" y="3950208"/>
            <a:ext cx="50292" cy="65836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8769096" y="4023360"/>
            <a:ext cx="1655063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reduction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8769096" y="4197096"/>
            <a:ext cx="1655063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-99.4%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8769096" y="4507992"/>
            <a:ext cx="1655063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absolute weighted bias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749808" y="4892040"/>
            <a:ext cx="10012680" cy="111556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749808" y="4892040"/>
            <a:ext cx="50292" cy="1115568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914400" y="4983479"/>
            <a:ext cx="9720072" cy="40160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CatBoost GPU、zero-shot LLM rule tree 和少量历史校准规则都没有超过主方法；加入 gated event adapter 后，wMAE 降到 2.50，bias 接近 0。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14400" y="5449092"/>
            <a:ext cx="9720072" cy="485363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main adapter outperforms stronger tabular, zero-shot rule-tree, and small-data calibration baselines while removing most systematic bias.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统计验证 / Statistical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用 household bootstrap 给主结果加不确定性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10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1143000"/>
            <a:ext cx="246888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216152"/>
            <a:ext cx="239572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Metric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82112" y="1143000"/>
            <a:ext cx="160020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18688" y="1216152"/>
            <a:ext cx="152704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Point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82312" y="1143000"/>
            <a:ext cx="2834640" cy="53035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18888" y="1216152"/>
            <a:ext cx="2761488" cy="402335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95% CI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" y="1673352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8096" y="1737360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Baseline 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82112" y="1673352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36976" y="1737360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4.338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82312" y="1673352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837176" y="1737360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[4.242, 4.431]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3232" y="2203704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2267712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wMAE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182112" y="2203704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36976" y="2267712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782312" y="2203704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837176" y="2267712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[2.429, 2.581]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13232" y="2734056"/>
            <a:ext cx="246888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68096" y="2798063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bias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182112" y="2734056"/>
            <a:ext cx="160020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36976" y="2798063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-0.023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782312" y="2734056"/>
            <a:ext cx="2834640" cy="53035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837176" y="2798063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[-0.130, +0.088]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13232" y="3264408"/>
            <a:ext cx="246888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68096" y="3328415"/>
            <a:ext cx="235915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182112" y="3264408"/>
            <a:ext cx="160020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36976" y="3328415"/>
            <a:ext cx="149047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54.0%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782312" y="3264408"/>
            <a:ext cx="2834640" cy="53035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837176" y="3328415"/>
            <a:ext cx="2724912" cy="402335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[52.6%, 55.3%]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35240" y="123444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7635240" y="1234440"/>
            <a:ext cx="50292" cy="84124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63256" y="130759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MAE gain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148132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1.84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763256" y="1792224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[1.74, 1.93]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635240" y="2331720"/>
            <a:ext cx="2514600" cy="84124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7635240" y="2331720"/>
            <a:ext cx="50292" cy="84124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763256" y="2404872"/>
            <a:ext cx="229514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 gain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763256" y="2578608"/>
            <a:ext cx="229514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3.56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63256" y="2889503"/>
            <a:ext cx="229514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CI [3.36, 3.67]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49808" y="475488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49808" y="4754880"/>
            <a:ext cx="50292" cy="10515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14400" y="4846320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Bootstrap 结果说明：主方法的 MAE 改善和 bias 改善不是单个点估计的偶然波动，paired CI 保持为正。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914400" y="528888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paired confidence intervals remain positive, supporting the robustness of the event-adaptation gain.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误差与偏差权衡 / Error-Bias Tradeoff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横轴是 |bias|，纵轴是 wMAE，越靠左下越好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11 / 23</a:t>
            </a:r>
          </a:p>
        </p:txBody>
      </p:sp>
      <p:pic>
        <p:nvPicPr>
          <p:cNvPr id="11" name="Picture 10" descr="mae_bias_tradeoff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70432"/>
            <a:ext cx="6172200" cy="362812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7086600" y="1298448"/>
            <a:ext cx="3749039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086600" y="1298448"/>
            <a:ext cx="50292" cy="144475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51192" y="1389888"/>
            <a:ext cx="345643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 位于低误差、低偏差区域；普通 XGBoost 的偏差较大，说明 2022 的整体高估不能只靠家庭表格变量解决。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51192" y="1874519"/>
            <a:ext cx="345643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hybrid method moves toward lower error and near-zero bias; the ordinary supervised baseline keeps a clear positive shift.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086600" y="2852928"/>
            <a:ext cx="132588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23176" y="2926080"/>
            <a:ext cx="125272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读图方式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852928"/>
            <a:ext cx="28346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49055" y="2926080"/>
            <a:ext cx="27614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含义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086600" y="3236976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41464" y="3300984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横轴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236976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67344" y="3300984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越接近 0，系统性偏差越小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086600" y="3621024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141464" y="3685032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纵轴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621024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67344" y="3685032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越低，家庭出行次数误差越小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086600" y="4005072"/>
            <a:ext cx="132588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141464" y="4069080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点大小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005072"/>
            <a:ext cx="28346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467344" y="4069080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代表 weighted RMSE，反映大误差风险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086600" y="4389120"/>
            <a:ext cx="132588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141464" y="4453128"/>
            <a:ext cx="121615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412480" y="4389120"/>
            <a:ext cx="28346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467344" y="4453128"/>
            <a:ext cx="27249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位于低误差、低偏差区域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多目标选择 / Multi-Objective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从单一排行榜转向规划目标下的 operating point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12 / 23</a:t>
            </a:r>
          </a:p>
        </p:txBody>
      </p:sp>
      <p:pic>
        <p:nvPicPr>
          <p:cNvPr id="11" name="Picture 10" descr="trip_pareto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928" y="1078992"/>
            <a:ext cx="5394960" cy="3300446"/>
          </a:xfrm>
          <a:prstGeom prst="rect">
            <a:avLst/>
          </a:prstGeom>
        </p:spPr>
      </p:pic>
      <p:pic>
        <p:nvPicPr>
          <p:cNvPr id="12" name="Picture 11" descr="behavior_system_improvem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1097280"/>
            <a:ext cx="5074920" cy="2865837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749808" y="4572000"/>
            <a:ext cx="15087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6384" y="4645152"/>
            <a:ext cx="14356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Preference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58568" y="4572000"/>
            <a:ext cx="1965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295144" y="4645152"/>
            <a:ext cx="1892807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Selected method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22452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26110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wMAE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4572000"/>
            <a:ext cx="73152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92624" y="4645152"/>
            <a:ext cx="65836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|bias|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87568" y="4572000"/>
            <a:ext cx="822960" cy="3931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24144" y="4645152"/>
            <a:ext cx="749808" cy="26517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LLM req.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965192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5029200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Calibration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58568" y="4965192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313432" y="5029200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2452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27939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4965192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10912" y="5029200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87568" y="4965192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742432" y="5029200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5358384"/>
            <a:ext cx="15087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4671" y="5422392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Balanced / main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58568" y="5358384"/>
            <a:ext cx="1965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13432" y="5422392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 LLM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22452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27939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2.502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358384"/>
            <a:ext cx="73152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10912" y="5422392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87568" y="5358384"/>
            <a:ext cx="822960" cy="393192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742432" y="5422392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89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49808" y="5751576"/>
            <a:ext cx="15087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04671" y="5815584"/>
            <a:ext cx="13990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Low-cost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258568" y="5751576"/>
            <a:ext cx="1965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313432" y="5815584"/>
            <a:ext cx="1856231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Global prior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2452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2.553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5751576"/>
            <a:ext cx="73152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010912" y="5815584"/>
            <a:ext cx="62179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0.123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87568" y="5751576"/>
            <a:ext cx="822960" cy="39319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742432" y="5815584"/>
            <a:ext cx="713232" cy="26517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360920" y="4736592"/>
            <a:ext cx="3749039" cy="9144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360920" y="4736592"/>
            <a:ext cx="50292" cy="91440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525512" y="4828031"/>
            <a:ext cx="3456432" cy="32918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关键讲法：LLM 不是直接报一个答案，而是把事件机制转成候选修正；最终由规划目标选择 Pareto operating point。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25512" y="5221224"/>
            <a:ext cx="3456432" cy="3566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Key message: the LLM supplies event mechanisms; a deterministic grid/solver selects the operating point under planning objectives.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08D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误差分布与容忍度 / Error Distribution and Tolerance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误差分布看系统性高估，容忍曲线看 household-level 可用性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13 / 23</a:t>
            </a:r>
          </a:p>
        </p:txBody>
      </p:sp>
      <p:pic>
        <p:nvPicPr>
          <p:cNvPr id="11" name="Picture 10" descr="error_distribu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420345"/>
          </a:xfrm>
          <a:prstGeom prst="rect">
            <a:avLst/>
          </a:prstGeom>
        </p:spPr>
      </p:pic>
      <p:pic>
        <p:nvPicPr>
          <p:cNvPr id="12" name="Picture 11" descr="tolerance_curv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3640" y="1097280"/>
            <a:ext cx="5166360" cy="336627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074920"/>
            <a:ext cx="10012680" cy="109728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074920"/>
            <a:ext cx="50292" cy="109728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166359"/>
            <a:ext cx="9720072" cy="395020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传统监督模型误差分布整体偏正，说明它系统性高估 2022 出行；事件修正后误差更集中，容忍阈值内覆盖率更高。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25388"/>
            <a:ext cx="9720072" cy="473659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traditional supervised baseline overpredicts many households; event correction shifts errors closer to zero and improves tolerance-level coverage.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疫情影响异质性 / Event Heterogeneity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pressure 分层和先验相关性检验事件机制是否合理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14 / 23</a:t>
            </a:r>
          </a:p>
        </p:txBody>
      </p:sp>
      <p:pic>
        <p:nvPicPr>
          <p:cNvPr id="11" name="Picture 10" descr="pressure_quintile_g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097280"/>
            <a:ext cx="5349240" cy="3550665"/>
          </a:xfrm>
          <a:prstGeom prst="rect">
            <a:avLst/>
          </a:prstGeom>
        </p:spPr>
      </p:pic>
      <p:pic>
        <p:nvPicPr>
          <p:cNvPr id="12" name="Picture 11" descr="event_prior_heat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1033271"/>
            <a:ext cx="4526280" cy="4012902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777240" y="5138928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77240" y="5138928"/>
            <a:ext cx="50292" cy="1005840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1832" y="5230368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pressure 与疫情机制相符：高 pressure 组需要更强出行折减，remote work、transit avoidance 等先验之间也呈现可解释相关。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5656478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The LLM priors behave like event variables, with pressure strata and prior correlations matching COVID-era mobility mechanisms.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稳健性检验 / Robustness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随机置换检验 LLM pressure 是否包含真实排序信息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15 / 23</a:t>
            </a:r>
          </a:p>
        </p:txBody>
      </p:sp>
      <p:pic>
        <p:nvPicPr>
          <p:cNvPr id="11" name="Picture 10" descr="permutation_null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15568"/>
            <a:ext cx="5669280" cy="3636689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812280" y="1234440"/>
            <a:ext cx="4069080" cy="14630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12280" y="1234440"/>
            <a:ext cx="50292" cy="146304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76872" y="1325880"/>
            <a:ext cx="377647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真实 LLM pressure 的误差低于 500 次随机分配；同时 global pressure 也很强，说明主贡献是疫情事件层面的修正，cohort 排序是增量信息。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76872" y="1810512"/>
            <a:ext cx="3776472" cy="813816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Real LLM pressure beats random assignment, while the strong global baseline shows that the main signal is event-level correction.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812280" y="2971800"/>
            <a:ext cx="1828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48856" y="3044952"/>
            <a:ext cx="1755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可能被问到的问题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641080" y="2971800"/>
            <a:ext cx="25146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77655" y="3044952"/>
            <a:ext cx="24414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我们的回答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12280" y="3355848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67144" y="3419856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rule 是否已经足够？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41080" y="3355848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95944" y="3419856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它很强；LLM 排序提供增量价值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12280" y="3739896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67144" y="3803904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是否用了 2022 标签？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3739896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95944" y="3803904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输入排除目标值、权重和 ID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812280" y="4123944"/>
            <a:ext cx="1828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67144" y="4187952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能否替代传统模型？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641080" y="4123944"/>
            <a:ext cx="25146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95944" y="4187952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不能；hybrid 明显更稳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812280" y="4507992"/>
            <a:ext cx="1828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67144" y="4572000"/>
            <a:ext cx="1719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是否只是通用下调？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41080" y="4507992"/>
            <a:ext cx="25146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695944" y="4572000"/>
            <a:ext cx="24048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pre-COVID placebo 中 full suppression 会过度修正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09B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分组稳健性 / Equity-Aware Subgroup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比较不同家庭群体中的 MAE 改善与 worst-subgroup error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16 / 23</a:t>
            </a:r>
          </a:p>
        </p:txBody>
      </p:sp>
      <p:pic>
        <p:nvPicPr>
          <p:cNvPr id="11" name="Picture 10" descr="subgroup_gain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143000"/>
            <a:ext cx="6035040" cy="3636405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995160" y="1261872"/>
            <a:ext cx="3886200" cy="144475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995160" y="1261872"/>
            <a:ext cx="50292" cy="1444752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59752" y="1353312"/>
            <a:ext cx="3593592" cy="42062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分组结果显示，改进不只来自总体均值；worst-subgroup wMAE 从 8.38 降到 4.71，所有纳入分组均优于历史 XGBoost。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59752" y="1837943"/>
            <a:ext cx="3593592" cy="79552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Worst-subgroup wMAE drops from 8.38 to 4.71, and all evaluated subgroups improve over historical XGBoost.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95160" y="2880360"/>
            <a:ext cx="16002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31736" y="2953512"/>
            <a:ext cx="15270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汇报时怎么讲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95360" y="2880360"/>
            <a:ext cx="24231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31936" y="2953512"/>
            <a:ext cx="23500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注意边界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95160" y="3264408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050024" y="3328415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预测层面 equity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95360" y="3264408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50224" y="3328415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worst-subgroup error 下降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3648456"/>
            <a:ext cx="16002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50024" y="3712463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注意表述边界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595360" y="3648456"/>
            <a:ext cx="24231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50224" y="3712463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不是因果公平性结论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95160" y="4032504"/>
            <a:ext cx="16002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050024" y="4096512"/>
            <a:ext cx="14904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联系规划含义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595360" y="4032504"/>
            <a:ext cx="24231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650224" y="4096512"/>
            <a:ext cx="23134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识别更难预测的家庭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误差洞察 / Error Insight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主收益来自消除 post-pandemic over-prediction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17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" y="1170432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3816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Exact rounded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17.7%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3816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household accuracy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182112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82112" y="1170432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10128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2 trips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310128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54.5%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310128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practical tolerance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78424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78424" y="1170432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806440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Within 3 trips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06440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71.2%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06440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broad tolerance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174736" y="1170432"/>
            <a:ext cx="2240280" cy="822960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74736" y="1170432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02752" y="1243584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Weighted R2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1417320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0.248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02752" y="1728216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primary gated rule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49808" y="2514600"/>
            <a:ext cx="210312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0796B"/>
                </a:solidFill>
                <a:latin typeface="Microsoft YaHei"/>
              </a:defRPr>
            </a:pPr>
            <a:r>
              <a:rPr sz="1050" b="1">
                <a:solidFill>
                  <a:srgbClr val="00796B"/>
                </a:solidFill>
                <a:latin typeface="Microsoft YaHei"/>
              </a:rPr>
              <a:t>Weighted bias comparison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174796" y="2852928"/>
            <a:ext cx="13716" cy="214884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65068" y="5020056"/>
            <a:ext cx="219456" cy="1371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00" b="1">
                <a:solidFill>
                  <a:srgbClr val="64748B"/>
                </a:solidFill>
                <a:latin typeface="Microsoft YaHei"/>
              </a:defRPr>
            </a:pPr>
            <a:r>
              <a:rPr sz="700" b="1">
                <a:solidFill>
                  <a:srgbClr val="64748B"/>
                </a:solidFill>
                <a:latin typeface="Microsoft YaHei"/>
              </a:rPr>
              <a:t>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9808" y="2990088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Historical mean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174796" y="3017520"/>
            <a:ext cx="1967165" cy="137160"/>
          </a:xfrm>
          <a:prstGeom prst="rect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41962" y="2980944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+4.50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49808" y="3429000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Ordinary XGBoost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174796" y="3456432"/>
            <a:ext cx="1576177" cy="137160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750974" y="3419856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BE123C"/>
                </a:solidFill>
                <a:latin typeface="Microsoft YaHei"/>
              </a:defRPr>
            </a:pPr>
            <a:r>
              <a:rPr sz="750" b="1">
                <a:solidFill>
                  <a:srgbClr val="BE123C"/>
                </a:solidFill>
                <a:latin typeface="Microsoft YaHei"/>
              </a:rPr>
              <a:t>+3.61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3867911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Trend / indicator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74796" y="3895344"/>
            <a:ext cx="1463936" cy="1371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638733" y="3858768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EA580C"/>
                </a:solidFill>
                <a:latin typeface="Microsoft YaHei"/>
              </a:defRPr>
            </a:pPr>
            <a:r>
              <a:rPr sz="750" b="1">
                <a:solidFill>
                  <a:srgbClr val="EA580C"/>
                </a:solidFill>
                <a:latin typeface="Microsoft YaHei"/>
              </a:rPr>
              <a:t>+3.35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49808" y="4306824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011613" y="4334256"/>
            <a:ext cx="163183" cy="1371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554413" y="4297680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5B21B6"/>
                </a:solidFill>
                <a:latin typeface="Microsoft YaHei"/>
              </a:defRPr>
            </a:pPr>
            <a:r>
              <a:rPr sz="750" b="1">
                <a:solidFill>
                  <a:srgbClr val="5B21B6"/>
                </a:solidFill>
                <a:latin typeface="Microsoft YaHei"/>
              </a:rPr>
              <a:t>-0.37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49808" y="4745736"/>
            <a:ext cx="141732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0F172A"/>
                </a:solidFill>
                <a:latin typeface="Microsoft YaHei"/>
              </a:defRPr>
            </a:pPr>
            <a:r>
              <a:rPr sz="750" b="0">
                <a:solidFill>
                  <a:srgbClr val="0F172A"/>
                </a:solidFill>
                <a:latin typeface="Microsoft YaHei"/>
              </a:rPr>
              <a:t>Hybrid gated</a:t>
            </a:r>
          </a:p>
        </p:txBody>
      </p:sp>
      <p:sp>
        <p:nvSpPr>
          <p:cNvPr id="47" name="Rectangle 46"/>
          <p:cNvSpPr/>
          <p:nvPr/>
        </p:nvSpPr>
        <p:spPr>
          <a:xfrm>
            <a:off x="3164724" y="4773168"/>
            <a:ext cx="10072" cy="1371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2707524" y="4736592"/>
            <a:ext cx="4572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198754"/>
                </a:solidFill>
                <a:latin typeface="Microsoft YaHei"/>
              </a:defRPr>
            </a:pPr>
            <a:r>
              <a:rPr sz="750" b="1">
                <a:solidFill>
                  <a:srgbClr val="198754"/>
                </a:solidFill>
                <a:latin typeface="Microsoft YaHei"/>
              </a:rPr>
              <a:t>-0.02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06440" y="2761488"/>
            <a:ext cx="25146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43016" y="2834640"/>
            <a:ext cx="2441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Observation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321040" y="2761488"/>
            <a:ext cx="2743200" cy="56692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357615" y="2834640"/>
            <a:ext cx="26700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806440" y="3328416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861303" y="3392424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XGBoost: household signal + positive bias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21040" y="3328416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75904" y="3392424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history routine is too high for 2022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806440" y="3895344"/>
            <a:ext cx="2514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861303" y="3959352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LLM-only: direction useful, calibration weak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321040" y="3895344"/>
            <a:ext cx="27432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8375904" y="3959352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event semantics cannot replace household baseline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4462272"/>
            <a:ext cx="2514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61303" y="4526280"/>
            <a:ext cx="2404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Hybrid: bias close to zero</a:t>
            </a:r>
          </a:p>
        </p:txBody>
      </p:sp>
      <p:sp>
        <p:nvSpPr>
          <p:cNvPr id="63" name="Rectangle 62"/>
          <p:cNvSpPr/>
          <p:nvPr/>
        </p:nvSpPr>
        <p:spPr>
          <a:xfrm>
            <a:off x="8321040" y="4462272"/>
            <a:ext cx="27432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375904" y="4526280"/>
            <a:ext cx="26334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demand and event response are separated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的角色 / What the LLM Adds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LLM 提供事件压力，XGBoost 提供家庭基线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18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51560" y="1170432"/>
            <a:ext cx="9464040" cy="4096512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60720" y="1170432"/>
            <a:ext cx="10972" cy="409651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51560" y="3218688"/>
            <a:ext cx="946404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2588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932688"/>
            <a:ext cx="219456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事件信息强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" y="1828800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家庭基线弱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4592" y="3977639"/>
            <a:ext cx="685800" cy="42062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800" b="1">
                <a:solidFill>
                  <a:srgbClr val="64748B"/>
                </a:solidFill>
                <a:latin typeface="Microsoft YaHei"/>
              </a:defRPr>
            </a:pPr>
            <a:r>
              <a:rPr sz="800" b="1">
                <a:solidFill>
                  <a:srgbClr val="64748B"/>
                </a:solidFill>
                <a:latin typeface="Microsoft YaHei"/>
              </a:rPr>
              <a:t>家庭基线强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60020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6474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7335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64748B"/>
                </a:solidFill>
                <a:latin typeface="Microsoft YaHei"/>
              </a:defRPr>
            </a:pPr>
            <a:r>
              <a:rPr sz="919" b="1">
                <a:solidFill>
                  <a:srgbClr val="64748B"/>
                </a:solidFill>
                <a:latin typeface="Microsoft YaHei"/>
              </a:rPr>
              <a:t>Historical mean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4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neither household heterogeneity nor event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5.51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537960" y="1664208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5B21B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11112" y="1728216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5B21B6"/>
                </a:solidFill>
                <a:latin typeface="Microsoft YaHei"/>
              </a:defRPr>
            </a:pPr>
            <a:r>
              <a:rPr sz="919" b="1">
                <a:solidFill>
                  <a:srgbClr val="5B21B6"/>
                </a:solidFill>
                <a:latin typeface="Microsoft YaHei"/>
              </a:rPr>
              <a:t>LLM-only pressure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1947672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event direction without household baseline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2.72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60020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E1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BE123C"/>
                </a:solidFill>
                <a:latin typeface="Microsoft YaHei"/>
              </a:defRPr>
            </a:pPr>
            <a:r>
              <a:rPr sz="919" b="1">
                <a:solidFill>
                  <a:srgbClr val="BE123C"/>
                </a:solidFill>
                <a:latin typeface="Microsoft YaHei"/>
              </a:rPr>
              <a:t>Ordinary XGBoost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grounding without pandemic semantics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4.34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537960" y="3749039"/>
            <a:ext cx="3108960" cy="7315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1987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11112" y="3813048"/>
            <a:ext cx="2962656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19" b="1">
                <a:solidFill>
                  <a:srgbClr val="198754"/>
                </a:solidFill>
                <a:latin typeface="Microsoft YaHei"/>
              </a:defRPr>
            </a:pPr>
            <a:r>
              <a:rPr sz="919" b="1">
                <a:solidFill>
                  <a:srgbClr val="198754"/>
                </a:solidFill>
                <a:latin typeface="Microsoft YaHei"/>
              </a:rPr>
              <a:t>Hybrid gated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4032503"/>
            <a:ext cx="2926079" cy="3931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80" b="0">
                <a:solidFill>
                  <a:srgbClr val="64748B"/>
                </a:solidFill>
                <a:latin typeface="Microsoft YaHei"/>
              </a:defRPr>
            </a:pPr>
            <a:r>
              <a:rPr sz="780" b="0">
                <a:solidFill>
                  <a:srgbClr val="64748B"/>
                </a:solidFill>
                <a:latin typeface="Microsoft YaHei"/>
              </a:rPr>
              <a:t>household baseline + event prior</a:t>
            </a:r>
            <a:br/>
            <a:r>
              <a:rPr sz="780" b="0">
                <a:solidFill>
                  <a:srgbClr val="64748B"/>
                </a:solidFill>
                <a:latin typeface="Microsoft YaHei"/>
              </a:rPr>
              <a:t>wMAE 2.50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5577840"/>
            <a:ext cx="9555480" cy="43891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88720" y="5669280"/>
            <a:ext cx="91440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00" b="1">
                <a:solidFill>
                  <a:srgbClr val="EA580C"/>
                </a:solidFill>
                <a:latin typeface="Microsoft YaHei"/>
              </a:defRPr>
            </a:pPr>
            <a:r>
              <a:rPr sz="900" b="1">
                <a:solidFill>
                  <a:srgbClr val="EA580C"/>
                </a:solidFill>
                <a:latin typeface="Microsoft YaHei"/>
              </a:rPr>
              <a:t>汇报讲法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48840" y="5605272"/>
            <a:ext cx="80467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50" b="1">
                <a:solidFill>
                  <a:srgbClr val="0F172A"/>
                </a:solidFill>
                <a:latin typeface="Microsoft YaHei"/>
              </a:defRPr>
            </a:pPr>
            <a:r>
              <a:rPr sz="1050" b="1">
                <a:solidFill>
                  <a:srgbClr val="0F172A"/>
                </a:solidFill>
                <a:latin typeface="Microsoft YaHei"/>
              </a:rPr>
              <a:t>LLM-only has direction but weaker calibration: wMAE 2.72 -&gt; 2.50; wBias -0.37 -&gt; -0.02.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综合行为输出 / Behavior Outputs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从出行次数扩展到方式结构和方式出行量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19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132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private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1051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4708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walk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07791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4436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bike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005072" y="1298448"/>
            <a:ext cx="749808" cy="384048"/>
          </a:xfrm>
          <a:prstGeom prst="round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04164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transit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235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3892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taxi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99632" y="1298448"/>
            <a:ext cx="749808" cy="384048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36208" y="1399032"/>
            <a:ext cx="676656" cy="14630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720" b="1">
                <a:solidFill>
                  <a:srgbClr val="FFFFFF"/>
                </a:solidFill>
                <a:latin typeface="Microsoft YaHei"/>
              </a:defRPr>
            </a:pPr>
            <a:r>
              <a:rPr sz="720" b="1">
                <a:solidFill>
                  <a:srgbClr val="FFFFFF"/>
                </a:solidFill>
                <a:latin typeface="Microsoft YaHei"/>
              </a:rPr>
              <a:t>other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57400" y="1856231"/>
            <a:ext cx="2971800" cy="20116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900" b="1">
                <a:solidFill>
                  <a:srgbClr val="64748B"/>
                </a:solidFill>
                <a:latin typeface="Microsoft YaHei"/>
              </a:defRPr>
            </a:pPr>
            <a:r>
              <a:rPr sz="900" b="1">
                <a:solidFill>
                  <a:srgbClr val="64748B"/>
                </a:solidFill>
                <a:latin typeface="Microsoft YaHei"/>
              </a:rPr>
              <a:t>household mode-share vector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3232" y="2487168"/>
            <a:ext cx="205740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9808" y="2560320"/>
            <a:ext cx="19842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7063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80720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weighted TV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76472" y="2487168"/>
            <a:ext cx="100584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13048" y="2560320"/>
            <a:ext cx="932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transit MAE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782312" y="2487168"/>
            <a:ext cx="1965960" cy="38404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18888" y="2560320"/>
            <a:ext cx="1892807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Interpretation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13232" y="2871216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8096" y="2935224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7063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825496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0.2008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76472" y="2871216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31335" y="2935224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782312" y="2871216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837176" y="2935224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routine mode pattern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3232" y="3255264"/>
            <a:ext cx="20574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8096" y="3319272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XGB + LLM prior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77063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825496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0.1985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776472" y="3255264"/>
            <a:ext cx="1005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831335" y="3319272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0.0269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782312" y="3255264"/>
            <a:ext cx="19659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7176" y="3319272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transit correction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13232" y="3639312"/>
            <a:ext cx="20574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3703320"/>
            <a:ext cx="19476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Improvement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7063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825496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1.1%</a:t>
            </a:r>
          </a:p>
        </p:txBody>
      </p:sp>
      <p:sp>
        <p:nvSpPr>
          <p:cNvPr id="52" name="Rectangle 51"/>
          <p:cNvSpPr/>
          <p:nvPr/>
        </p:nvSpPr>
        <p:spPr>
          <a:xfrm>
            <a:off x="3776472" y="3639312"/>
            <a:ext cx="1005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831335" y="3703320"/>
            <a:ext cx="896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17.4%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782312" y="3639312"/>
            <a:ext cx="19659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837176" y="3703320"/>
            <a:ext cx="1856231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clearer on transit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720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720840" y="1261872"/>
            <a:ext cx="50292" cy="749808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848855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Mode-trip MAE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848855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3.28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848855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gated count × LLM mode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9006840" y="1261872"/>
            <a:ext cx="2011680" cy="749808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9006840" y="1261872"/>
            <a:ext cx="50292" cy="749808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134856" y="1335024"/>
            <a:ext cx="17922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Reduction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9134856" y="1508760"/>
            <a:ext cx="17922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32.3%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134856" y="1819655"/>
            <a:ext cx="17922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vs traditional combo</a:t>
            </a:r>
          </a:p>
        </p:txBody>
      </p:sp>
      <p:pic>
        <p:nvPicPr>
          <p:cNvPr id="66" name="Picture 65" descr="mode_component_ma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9400" y="2331720"/>
            <a:ext cx="4389120" cy="2792054"/>
          </a:xfrm>
          <a:prstGeom prst="rect">
            <a:avLst/>
          </a:prstGeom>
        </p:spPr>
      </p:pic>
      <p:sp>
        <p:nvSpPr>
          <p:cNvPr id="67" name="Rounded Rectangle 66"/>
          <p:cNvSpPr/>
          <p:nvPr/>
        </p:nvSpPr>
        <p:spPr>
          <a:xfrm>
            <a:off x="749808" y="5029200"/>
            <a:ext cx="10012680" cy="1078992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749808" y="5029200"/>
            <a:ext cx="50292" cy="10789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14400" y="5120640"/>
            <a:ext cx="9720072" cy="3884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方式结构不是主要增益来源，但 transit share 明显改善；这与疫情期间公共交通规避机制一致。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14400" y="5573085"/>
            <a:ext cx="9720072" cy="461954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Mode composition gains are modest overall, but transit-share error improves in the direction suggested by pandemic transit avoidance.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出行目的扩展 / Purpose Composition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第三个行为维度：为什么出行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20 / 23</a:t>
            </a:r>
          </a:p>
        </p:txBody>
      </p:sp>
      <p:pic>
        <p:nvPicPr>
          <p:cNvPr id="11" name="Picture 10" descr="purpose_distribution_sh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078992"/>
            <a:ext cx="5257800" cy="2632716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144768" y="1170432"/>
            <a:ext cx="205740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81344" y="1243584"/>
            <a:ext cx="198424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Method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02167" y="1170432"/>
            <a:ext cx="7772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3" y="1243584"/>
            <a:ext cx="7040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TV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79408" y="1170432"/>
            <a:ext cx="123444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15984" y="1243584"/>
            <a:ext cx="116128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Component MAE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213848" y="1170432"/>
            <a:ext cx="1325880" cy="51206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50424" y="1243584"/>
            <a:ext cx="1252728" cy="38404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Role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44768" y="1682496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99631" y="1746504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Traditional XGBoost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02167" y="1682496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57031" y="1746504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0.566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79408" y="1682496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34272" y="1746504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213848" y="1682496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268712" y="1746504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strongest overall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44768" y="2194560"/>
            <a:ext cx="205740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99631" y="2258568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purpose prior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02167" y="2194560"/>
            <a:ext cx="7772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57031" y="2258568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979408" y="2194560"/>
            <a:ext cx="123444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34272" y="2258568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0.201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213848" y="2194560"/>
            <a:ext cx="1325880" cy="51206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268712" y="2258568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directional components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144768" y="2706624"/>
            <a:ext cx="205740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99631" y="2770632"/>
            <a:ext cx="194767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purpose prior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02167" y="2706624"/>
            <a:ext cx="7772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57031" y="2770632"/>
            <a:ext cx="6675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0.580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979408" y="2706624"/>
            <a:ext cx="123444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034272" y="2770632"/>
            <a:ext cx="112471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0.249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213848" y="2706624"/>
            <a:ext cx="1325880" cy="51206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268712" y="2770632"/>
            <a:ext cx="1216152" cy="38404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shopping improves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77240" y="5074920"/>
            <a:ext cx="10012680" cy="105156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77240" y="5074920"/>
            <a:ext cx="50292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1832" y="5166359"/>
            <a:ext cx="9720072" cy="37856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结果说明综合目标已经扩展到“为什么出行”；但 LLM prior 目前不是整体最优，适合作为边界和未来工作，而不是主贡献。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41832" y="5608929"/>
            <a:ext cx="9720072" cy="44439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Purpose composition broadens the behavior system, while also showing a clear limitation: event priors need stronger task-specific calibration.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LLM 蒸馏与扩展 / Distillation &amp; Scaling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把大模型泛化能力转成可审计、低调用量的事件适配器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21 / 23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52144"/>
            <a:ext cx="2331720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1152144"/>
            <a:ext cx="2331720" cy="50292"/>
          </a:xfrm>
          <a:prstGeom prst="rect">
            <a:avLst/>
          </a:prstGeom>
          <a:solidFill>
            <a:srgbClr val="BE12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86384" y="1335024"/>
            <a:ext cx="2075688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BE123C"/>
                </a:solidFill>
                <a:latin typeface="Microsoft YaHei"/>
              </a:defRPr>
            </a:pPr>
            <a:r>
              <a:rPr sz="1200" b="1">
                <a:solidFill>
                  <a:srgbClr val="BE123C"/>
                </a:solidFill>
                <a:latin typeface="Microsoft YaHei"/>
              </a:rPr>
              <a:t>Direct LLM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1627632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逐户预测成本高，且数值校准弱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3054096" y="1572768"/>
            <a:ext cx="25603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3447287" y="1152144"/>
            <a:ext cx="2331720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47287" y="1152144"/>
            <a:ext cx="2331720" cy="50292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75303" y="1335024"/>
            <a:ext cx="2075688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00796B"/>
                </a:solidFill>
                <a:latin typeface="Microsoft YaHei"/>
              </a:defRPr>
            </a:pPr>
            <a:r>
              <a:rPr sz="1200" b="1">
                <a:solidFill>
                  <a:srgbClr val="00796B"/>
                </a:solidFill>
                <a:latin typeface="Microsoft YaHei"/>
              </a:rPr>
              <a:t>Cohort batching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93591" y="1627632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1,327 cohorts -&gt; 89 prompts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5843016" y="1572768"/>
            <a:ext cx="25603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236207" y="1152144"/>
            <a:ext cx="2331720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36207" y="1152144"/>
            <a:ext cx="2331720" cy="50292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3" y="1335024"/>
            <a:ext cx="2075688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EA580C"/>
                </a:solidFill>
                <a:latin typeface="Microsoft YaHei"/>
              </a:defRPr>
            </a:pPr>
            <a:r>
              <a:rPr sz="1200" b="1">
                <a:solidFill>
                  <a:srgbClr val="EA580C"/>
                </a:solidFill>
                <a:latin typeface="Microsoft YaHei"/>
              </a:rPr>
              <a:t>Event-prior distillation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82512" y="1627632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validated JSON -&gt; s_event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8631936" y="1572768"/>
            <a:ext cx="256032" cy="128016"/>
          </a:xfrm>
          <a:prstGeom prst="rightArrow">
            <a:avLst/>
          </a:prstGeom>
          <a:solidFill>
            <a:srgbClr val="6474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9025128" y="1152144"/>
            <a:ext cx="2331720" cy="987552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9025128" y="1152144"/>
            <a:ext cx="2331720" cy="50292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53144" y="1335024"/>
            <a:ext cx="2075688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198754"/>
                </a:solidFill>
                <a:latin typeface="Microsoft YaHei"/>
              </a:defRPr>
            </a:pPr>
            <a:r>
              <a:rPr sz="1200" b="1">
                <a:solidFill>
                  <a:srgbClr val="198754"/>
                </a:solidFill>
                <a:latin typeface="Microsoft YaHei"/>
              </a:rPr>
              <a:t>Fixed adapter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71432" y="1627632"/>
            <a:ext cx="2039112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0">
                <a:solidFill>
                  <a:srgbClr val="64748B"/>
                </a:solidFill>
                <a:latin typeface="Microsoft YaHei"/>
              </a:defRPr>
            </a:pPr>
            <a:r>
              <a:rPr sz="1200" b="0">
                <a:solidFill>
                  <a:srgbClr val="64748B"/>
                </a:solidFill>
                <a:latin typeface="Microsoft YaHei"/>
              </a:rPr>
              <a:t>no-label rule; no per-household LLM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6868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68680" y="2697480"/>
            <a:ext cx="50292" cy="768096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9669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Household requests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9669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-98.9%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9669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7893 -&gt; 89 prompts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333756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37560" y="2697480"/>
            <a:ext cx="50292" cy="768096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6557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Batch size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6557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00796B"/>
                </a:solidFill>
                <a:latin typeface="Microsoft YaHei"/>
              </a:defRPr>
            </a:pPr>
            <a:r>
              <a:rPr sz="16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46557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stable JSON parsing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80644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806440" y="2697480"/>
            <a:ext cx="50292" cy="768096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934455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Main inference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934455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0 LLM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934455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adapter is deterministic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75320" y="2697480"/>
            <a:ext cx="2148840" cy="768096"/>
          </a:xfrm>
          <a:prstGeom prst="round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275320" y="2697480"/>
            <a:ext cx="50292" cy="76809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403336" y="2770632"/>
            <a:ext cx="192938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Optional fallback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403336" y="2944368"/>
            <a:ext cx="192938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low-conf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403336" y="3255264"/>
            <a:ext cx="192938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deployment extension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49808" y="3813048"/>
            <a:ext cx="214884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86384" y="3886200"/>
            <a:ext cx="207568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部署层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898648" y="3813048"/>
            <a:ext cx="379476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935224" y="3886200"/>
            <a:ext cx="372160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在本研究中的角色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93408" y="3813048"/>
            <a:ext cx="4114800" cy="384048"/>
          </a:xfrm>
          <a:prstGeom prst="rect">
            <a:avLst/>
          </a:prstGeom>
          <a:solidFill>
            <a:srgbClr val="1836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729984" y="3886200"/>
            <a:ext cx="4041648" cy="256031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为什么这样设计</a:t>
            </a:r>
          </a:p>
        </p:txBody>
      </p:sp>
      <p:sp>
        <p:nvSpPr>
          <p:cNvPr id="56" name="Rectangle 55"/>
          <p:cNvSpPr/>
          <p:nvPr/>
        </p:nvSpPr>
        <p:spPr>
          <a:xfrm>
            <a:off x="749808" y="4197096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04671" y="4261104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prior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898648" y="4197096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953512" y="4261104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离线生成 cohort 级疫情先验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93408" y="4197096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748272" y="4261104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保留 LLM 泛化能力，避免逐户调用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49808" y="4581144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04671" y="4645152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Schema validation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898648" y="4581144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953512" y="4645152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检查数值范围、字段完整性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693408" y="4581144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748272" y="4645152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降低 hallucination 和格式错误</a:t>
            </a:r>
          </a:p>
        </p:txBody>
      </p:sp>
      <p:sp>
        <p:nvSpPr>
          <p:cNvPr id="68" name="Rectangle 67"/>
          <p:cNvSpPr/>
          <p:nvPr/>
        </p:nvSpPr>
        <p:spPr>
          <a:xfrm>
            <a:off x="749808" y="4965192"/>
            <a:ext cx="214884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804671" y="5029200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Confidence gate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2898648" y="4965192"/>
            <a:ext cx="379476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2953512" y="5029200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低置信 cohort 退回 global pressure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693408" y="4965192"/>
            <a:ext cx="4114800" cy="38404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748272" y="5029200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主实验保持 no-label、可复现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749808" y="5349240"/>
            <a:ext cx="214884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04671" y="5413248"/>
            <a:ext cx="203911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fallback</a:t>
            </a:r>
          </a:p>
        </p:txBody>
      </p:sp>
      <p:sp>
        <p:nvSpPr>
          <p:cNvPr id="76" name="Rectangle 75"/>
          <p:cNvSpPr/>
          <p:nvPr/>
        </p:nvSpPr>
        <p:spPr>
          <a:xfrm>
            <a:off x="2898648" y="5349240"/>
            <a:ext cx="379476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953512" y="5413248"/>
            <a:ext cx="368503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作为线上扩展，不进入主结果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693408" y="5349240"/>
            <a:ext cx="4114800" cy="38404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748272" y="5413248"/>
            <a:ext cx="4005072" cy="256031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有预算时处理边界样本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868680" y="5925312"/>
            <a:ext cx="1005840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汇报口径：LLM 不是每户都报答案，而是把 pandemic context 蒸馏成结构化 event priors；主方法在预测阶段是 deterministic adapter，低置信 LLM 回退属于可部署扩展。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15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0F172A"/>
                </a:solidFill>
                <a:latin typeface="Microsoft YaHei"/>
              </a:defRPr>
            </a:pPr>
            <a:r>
              <a:rPr sz="1750" b="1">
                <a:solidFill>
                  <a:srgbClr val="0F172A"/>
                </a:solidFill>
                <a:latin typeface="Microsoft YaHei"/>
              </a:rPr>
              <a:t>研究逻辑链 / Research Logic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从问题定义到方法优势的完整闭环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22 / 23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1078992"/>
            <a:ext cx="150876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44" y="1152144"/>
            <a:ext cx="1435607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环节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67128" y="1078992"/>
            <a:ext cx="4800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03704" y="1152144"/>
            <a:ext cx="4727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怎么做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67728" y="1078992"/>
            <a:ext cx="3657600" cy="566928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04304" y="1152144"/>
            <a:ext cx="3584448" cy="43891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证据 / 结果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1645919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13232" y="1709928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问题定义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645919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21992" y="1709928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2022 是疫情后恢复期，不是平滑跨年预测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67728" y="1645919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22592" y="1709928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普通 XGBoost bias +3.61 trips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58368" y="2212848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13232" y="2276856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传统基线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167128" y="2212848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21992" y="2276856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用历史 NHTS 学 f_hist(X)，保留家庭属性差异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67728" y="2212848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22592" y="2276856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4.34，说明 household signal 有用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58368" y="2779776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2843784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进入点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167128" y="2779776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221992" y="2843784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cohort profile -&gt; s_event，表达 remote work / transit avoidance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67728" y="2779776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22592" y="2843784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不输入 CNTTDHH、权重和 household ID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58368" y="3346704"/>
            <a:ext cx="150876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13232" y="3410712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融合规则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167128" y="3346704"/>
            <a:ext cx="4800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221992" y="3410712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ŷ = f_hist(X) × correction(s_event)，参数固定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67728" y="3346704"/>
            <a:ext cx="3657600" cy="566928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22592" y="3410712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2.50，bias -0.023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8368" y="3913632"/>
            <a:ext cx="150876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13232" y="3977640"/>
            <a:ext cx="1399031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结果边界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167128" y="3913632"/>
            <a:ext cx="4800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221992" y="3977640"/>
            <a:ext cx="4690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主增益来自事件层面修正，mode 改善集中在 transit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967728" y="3913632"/>
            <a:ext cx="3657600" cy="566928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022592" y="3977640"/>
            <a:ext cx="3547872" cy="43891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不夸大成纯 LLM 或完整 mode-choice model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22960" y="4754880"/>
            <a:ext cx="9784080" cy="68580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4965192"/>
            <a:ext cx="114300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950" b="1">
                <a:solidFill>
                  <a:srgbClr val="EA580C"/>
                </a:solidFill>
                <a:latin typeface="Microsoft YaHei"/>
              </a:defRPr>
            </a:pPr>
            <a:r>
              <a:rPr sz="950" b="1">
                <a:solidFill>
                  <a:srgbClr val="EA580C"/>
                </a:solidFill>
                <a:latin typeface="Microsoft YaHei"/>
              </a:rPr>
              <a:t>一句话故事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212848" y="4882896"/>
            <a:ext cx="8046720" cy="31089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传统模型负责“正常情况下谁会出行更多”，LLM 负责“疫情后哪些出行会被压低”，二者相乘得到 2022 的无标签修正预测。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2A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50292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400" b="1">
                <a:solidFill>
                  <a:srgbClr val="00796B"/>
                </a:solidFill>
                <a:latin typeface="Microsoft YaHei"/>
              </a:defRPr>
            </a:pPr>
            <a:r>
              <a:rPr sz="1400" b="1">
                <a:solidFill>
                  <a:srgbClr val="00796B"/>
                </a:solidFill>
                <a:latin typeface="Microsoft YaHei"/>
              </a:rPr>
              <a:t>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Microsoft YaHei"/>
              </a:defRPr>
            </a:pPr>
            <a:r>
              <a:rPr sz="1750" b="1">
                <a:solidFill>
                  <a:srgbClr val="FFFFFF"/>
                </a:solidFill>
                <a:latin typeface="Microsoft YaHei"/>
              </a:rPr>
              <a:t>总结 / Conclusion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6128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CBD5E1"/>
                </a:solidFill>
                <a:latin typeface="Microsoft YaHei"/>
              </a:defRPr>
            </a:pPr>
            <a:r>
              <a:rPr sz="850" b="0">
                <a:solidFill>
                  <a:srgbClr val="CBD5E1"/>
                </a:solidFill>
                <a:latin typeface="Microsoft YaHei"/>
              </a:rPr>
              <a:t>传统出行基线 + 疫情事件修正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81944" y="173736"/>
            <a:ext cx="786384" cy="56692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CBD5E1"/>
                </a:solidFill>
                <a:latin typeface="Microsoft YaHei"/>
              </a:defRPr>
            </a:pPr>
            <a:r>
              <a:rPr sz="750" b="0">
                <a:solidFill>
                  <a:srgbClr val="CBD5E1"/>
                </a:solidFill>
                <a:latin typeface="Microsoft YaHei"/>
              </a:rPr>
              <a:t>Pandemic-Aware Household Travel Behavior Prediction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652760" y="6473952"/>
            <a:ext cx="91440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CBD5E1"/>
                </a:solidFill>
                <a:latin typeface="Microsoft YaHei"/>
              </a:defRPr>
            </a:pPr>
            <a:r>
              <a:rPr sz="750" b="1">
                <a:solidFill>
                  <a:srgbClr val="CBD5E1"/>
                </a:solidFill>
                <a:latin typeface="Microsoft YaHei"/>
              </a:rPr>
              <a:t>23 / 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325880"/>
            <a:ext cx="10195560" cy="2011680"/>
          </a:xfrm>
          <a:prstGeom prst="roundRect">
            <a:avLst/>
          </a:prstGeom>
          <a:solidFill>
            <a:srgbClr val="1E405B"/>
          </a:solidFill>
          <a:ln w="9525">
            <a:solidFill>
              <a:srgbClr val="4755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4128" y="1581912"/>
            <a:ext cx="9601200" cy="82296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500" b="1">
                <a:solidFill>
                  <a:srgbClr val="FFFFFF"/>
                </a:solidFill>
                <a:latin typeface="Microsoft YaHei"/>
              </a:defRPr>
            </a:pPr>
            <a:r>
              <a:rPr sz="1500" b="1">
                <a:solidFill>
                  <a:srgbClr val="FFFFFF"/>
                </a:solidFill>
                <a:latin typeface="Microsoft YaHei"/>
              </a:rPr>
              <a:t>我们研究的不是“LLM 直接预测出行次数”，而是：</a:t>
            </a:r>
            <a:br/>
            <a:r>
              <a:rPr sz="1500" b="1">
                <a:solidFill>
                  <a:srgbClr val="FFFFFF"/>
                </a:solidFill>
                <a:latin typeface="Microsoft YaHei"/>
              </a:rPr>
              <a:t>当 2022 疫情后分布变化打破历史连续性时，能否用 LLM 的事件泛化能力，为传统 household travel model 提供无标签修正先验。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914400" y="3886200"/>
            <a:ext cx="50292" cy="82296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4241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Accuracy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241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2563EB"/>
                </a:solidFill>
                <a:latin typeface="Microsoft YaHei"/>
              </a:defRPr>
            </a:pPr>
            <a:r>
              <a:rPr sz="1600" b="1">
                <a:solidFill>
                  <a:srgbClr val="2563EB"/>
                </a:solidFill>
                <a:latin typeface="Microsoft YaHei"/>
              </a:rPr>
              <a:t>-42.3%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4241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MAE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52044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520440" y="3886200"/>
            <a:ext cx="50292" cy="822960"/>
          </a:xfrm>
          <a:prstGeom prst="rect">
            <a:avLst/>
          </a:prstGeom>
          <a:solidFill>
            <a:srgbClr val="1987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4845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Bias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64845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198754"/>
                </a:solidFill>
                <a:latin typeface="Microsoft YaHei"/>
              </a:defRPr>
            </a:pPr>
            <a:r>
              <a:rPr sz="1600" b="1">
                <a:solidFill>
                  <a:srgbClr val="198754"/>
                </a:solidFill>
                <a:latin typeface="Microsoft YaHei"/>
              </a:rPr>
              <a:t>-0.023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64845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weighted bias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3886200"/>
            <a:ext cx="50292" cy="822960"/>
          </a:xfrm>
          <a:prstGeom prst="rect">
            <a:avLst/>
          </a:prstGeom>
          <a:solidFill>
            <a:srgbClr val="EA580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5449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Scope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449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EA580C"/>
                </a:solidFill>
                <a:latin typeface="Microsoft YaHei"/>
              </a:defRPr>
            </a:pPr>
            <a:r>
              <a:rPr sz="1600" b="1">
                <a:solidFill>
                  <a:srgbClr val="EA580C"/>
                </a:solidFill>
                <a:latin typeface="Microsoft YaHei"/>
              </a:rPr>
              <a:t>4 outputs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25449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trips / modes / purposes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732520" y="3886200"/>
            <a:ext cx="2240280" cy="82296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732520" y="3886200"/>
            <a:ext cx="50292" cy="8229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860536" y="3959352"/>
            <a:ext cx="2020824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80" b="1">
                <a:solidFill>
                  <a:srgbClr val="64748B"/>
                </a:solidFill>
                <a:latin typeface="Microsoft YaHei"/>
              </a:defRPr>
            </a:pPr>
            <a:r>
              <a:rPr sz="780" b="1">
                <a:solidFill>
                  <a:srgbClr val="64748B"/>
                </a:solidFill>
                <a:latin typeface="Microsoft YaHei"/>
              </a:rPr>
              <a:t>LLM role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860536" y="4133087"/>
            <a:ext cx="2020824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600" b="1">
                <a:solidFill>
                  <a:srgbClr val="5B21B6"/>
                </a:solidFill>
                <a:latin typeface="Microsoft YaHei"/>
              </a:defRPr>
            </a:pPr>
            <a:r>
              <a:rPr sz="1600" b="1">
                <a:solidFill>
                  <a:srgbClr val="5B21B6"/>
                </a:solidFill>
                <a:latin typeface="Microsoft YaHei"/>
              </a:rPr>
              <a:t>adapter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60536" y="4443984"/>
            <a:ext cx="2020824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not standalone predictor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32688" y="5559552"/>
            <a:ext cx="1234440" cy="219456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CBD5E1"/>
                </a:solidFill>
                <a:latin typeface="Microsoft YaHei"/>
              </a:defRPr>
            </a:pPr>
            <a:r>
              <a:rPr sz="1200" b="1">
                <a:solidFill>
                  <a:srgbClr val="CBD5E1"/>
                </a:solidFill>
                <a:latin typeface="Microsoft YaHei"/>
              </a:rPr>
              <a:t>一句话总结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5486400"/>
            <a:ext cx="8138160" cy="34747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用 NHTS 历史数据学习正常出行规律，用 LLM 事件先验泛化疫情冲击，并输出家庭层面的出行强度、方式结构和目的结构。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为什么不直接让 LLM 构建 2022 决策树？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Why not ask the LLM to build the 2022 decision tree directly?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已经实现为 baseline；方向有用，但数值校准弱于 hybrid adapter。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LLM rule tree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2.6019; wBias -0.4072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Pseudo-label tree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2.6040; still follows LLM belief labels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hybrid gated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Key issue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 labels for split thresholds and leaf values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可以生成 qualitative belief tree，但没有 2022 标签时无法学习真实 NHTS 的 split threshold 和 leaf value。我们的设计把数值预测锚定在历史 NHTS household baseline 上，只让 LLM 提供事件机制先验。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有没有使用 2022 标签或 retrospective leakage？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Did the pipeline use 2022 labels or retrospective leakage?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主方法不使用 2022 CNTTDHH 训练或校准；2022 只做最终 evaluation。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Main method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gated_trip_suppression_a1_d0p15 fixed before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LLM inputs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Exclude HOUSEID, CNTTDHH, WTHHFIN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Leakage audit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LLM-facing files pass forbidden-column scan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Prospective context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prospective_event_context_2022 documents event assumptions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答法：LLM 输入是 cohort-level household profile 和泛化疫情事件语境，不含目标值、权重和 household ID。我们用 leakage audit、zero-shot baseline、placebo 和 fixed adapter 共同约束 no-label claim。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Global event prior 已经很强，LLM 还贡献什么？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If the global prior is strong, what does the LLM add?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主贡献应表述为 event-level correction；cohort ranking 是增量 refinement。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Global event prior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2.5223; wBias -0.7477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 adapter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ranked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placebo wMAE 2.6274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Pseudo-event gated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best gated placebo wMAE 2.5610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答法：不能夸大成 LLM cohort ranking 独自贡献全部提升。更准确的说法是：LLM event semantics 给出 label-free event correction，gated cohort refinement 改善 calibration 和 robustness。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和 2025-2026 mobility foundation model 有什么区别？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is this different from recent mobility foundation-model work?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最新工作多是 trajectory / flow / sensor forecasting；我们是 NHTS household survey 的 event adaptation。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Event-driven LLM mobility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ELLMob ICLR'26; CausalMob KDD'25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Zero-shot / agentic LLM mobility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AgentMove NAACL'25; AgentMob 2026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Efficient LLM mobility pipeline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ELP-Mob GIS'25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Foundation model direction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UniMob KDD'25; STFM survey'25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3232" y="4279392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8096" y="4343400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Our unit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36592" y="4279392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4343400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Household survey record, not trajectory or road node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答法：我们借用了 event-generalization 思路，但不声称训练 universal mobility foundation model。LLM 是 structured event-prior generator，数值需求预测仍由 NHTS 历史标签锚定。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Mode / purpose 是否已经解决？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Are mode and purpose choice solved?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没有。trip generation 是主贡献；mode/purpose 是 behavior-system extension。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Transit-share MAE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0.0325 -&gt; 0.0269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Mode-trip volume MAE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4.8467 -&gt; 3.2802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Purpose composition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Exploratory; LLM prior not overall best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Planning relevance, not solved full mode-choice model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答法：综合目标是预测 household behavior system，但最强结果仍是 post-pandemic trip generation。方式和目的模块说明可扩展到规划相关输出，也明确了未来工作边界。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这些指标怎么用一句话解释？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should the metrics be interpreted?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wMAE 是加权平均误差，wBias 是系统性高估/低估，越接近 0 越好。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Historical XGBoost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4.3377; wBias +3.6052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Primary gated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wMAE 2.5023; wBias -0.0230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2 trips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54.5% households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Within 3 trips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71.2% households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答法：MAE 看单个家庭预测误差，bias 看总需求是否系统性偏高或偏低。我们的核心收益不是只降低误差，而是几乎消除了 2022 的系统性高估。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有没有 NHTS 之外的外部验证？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Do we have validation beyond NHTS?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有机制级验证和 PSRC household microdata；但不是 NHTS 2022 的直接复刻。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work from home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5.7% -&gt; 2022 15.2%; supports remote-work prior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ACS public transit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2019 5.0% -&gt; 2022 3.1%; supports transit-avoidance prior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PSRC microdata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2017+2019-&gt;2023 wMAE 3.4271-&gt;3.2498; wBias +1.0532-&gt;+0.2605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Safe claim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External mechanism + recovery-transfer support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答法：我们用 ACS 证明疫情后通勤机制确实发生了远程办公和公共交通下降；用 PSRC 独立 household microdata 做 recovery-transfer 验证；同时用 BTS 做 guardrail，说明 device mobility trips 不能直接当作 NHTS household trip-count 的外部标签。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109728"/>
            <a:ext cx="448056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Mobility Inequality and Sustainable Development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84048" y="347472"/>
            <a:ext cx="777240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EA580C"/>
                </a:solidFill>
                <a:latin typeface="Microsoft YaHei"/>
              </a:defRPr>
            </a:pPr>
            <a:r>
              <a:rPr sz="1300" b="1">
                <a:solidFill>
                  <a:srgbClr val="EA580C"/>
                </a:solidFill>
                <a:latin typeface="Microsoft YaHei"/>
              </a:rPr>
              <a:t>BACKUP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246888"/>
            <a:ext cx="841248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700" b="1">
                <a:solidFill>
                  <a:srgbClr val="0F172A"/>
                </a:solidFill>
                <a:latin typeface="Microsoft YaHei"/>
              </a:defRPr>
            </a:pPr>
            <a:r>
              <a:rPr sz="1700" b="1">
                <a:solidFill>
                  <a:srgbClr val="0F172A"/>
                </a:solidFill>
                <a:latin typeface="Microsoft YaHei"/>
              </a:rPr>
              <a:t>规则蒸馏和低置信 LLM 回退怎么并入本方法？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52728" y="585216"/>
            <a:ext cx="8869680" cy="22860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850" b="0">
                <a:solidFill>
                  <a:srgbClr val="64748B"/>
                </a:solidFill>
                <a:latin typeface="Microsoft YaHei"/>
              </a:defRPr>
            </a:pPr>
            <a:r>
              <a:rPr sz="850" b="0">
                <a:solidFill>
                  <a:srgbClr val="64748B"/>
                </a:solidFill>
                <a:latin typeface="Microsoft YaHei"/>
              </a:rPr>
              <a:t>How do rule distillation and low-confidence LLM fallback fit into the method?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18520" y="201168"/>
            <a:ext cx="713232" cy="50273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384048" y="877824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84048" y="6428232"/>
            <a:ext cx="11201400" cy="10972"/>
          </a:xfrm>
          <a:prstGeom prst="rect">
            <a:avLst/>
          </a:prstGeom>
          <a:solidFill>
            <a:srgbClr val="CBD5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84048" y="6473952"/>
            <a:ext cx="521208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750" b="0">
                <a:solidFill>
                  <a:srgbClr val="64748B"/>
                </a:solidFill>
                <a:latin typeface="Microsoft YaHei"/>
              </a:defRPr>
            </a:pPr>
            <a:r>
              <a:rPr sz="750" b="0">
                <a:solidFill>
                  <a:srgbClr val="64748B"/>
                </a:solidFill>
                <a:latin typeface="Microsoft YaHei"/>
              </a:rPr>
              <a:t>Appendix: reviewer and instructor Q&amp;A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6473952"/>
            <a:ext cx="1417320" cy="164592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r">
              <a:defRPr sz="750" b="1">
                <a:solidFill>
                  <a:srgbClr val="64748B"/>
                </a:solidFill>
                <a:latin typeface="Microsoft YaHei"/>
              </a:defRPr>
            </a:pPr>
            <a:r>
              <a:rPr sz="750" b="1">
                <a:solidFill>
                  <a:srgbClr val="64748B"/>
                </a:solidFill>
                <a:latin typeface="Microsoft YaHei"/>
              </a:rPr>
              <a:t>B8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1115568"/>
            <a:ext cx="10287000" cy="749808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298448"/>
            <a:ext cx="1463040" cy="182880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000" b="1">
                <a:solidFill>
                  <a:srgbClr val="EA580C"/>
                </a:solidFill>
                <a:latin typeface="Microsoft YaHei"/>
              </a:defRPr>
            </a:pPr>
            <a:r>
              <a:rPr sz="1000" b="1">
                <a:solidFill>
                  <a:srgbClr val="EA580C"/>
                </a:solidFill>
                <a:latin typeface="Microsoft YaHei"/>
              </a:rPr>
              <a:t>Short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40280" y="1216152"/>
            <a:ext cx="8366760" cy="329184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l">
              <a:defRPr sz="1300" b="1">
                <a:solidFill>
                  <a:srgbClr val="0F172A"/>
                </a:solidFill>
                <a:latin typeface="Microsoft YaHei"/>
              </a:defRPr>
            </a:pPr>
            <a:r>
              <a:rPr sz="1300" b="1">
                <a:solidFill>
                  <a:srgbClr val="0F172A"/>
                </a:solidFill>
                <a:latin typeface="Microsoft YaHei"/>
              </a:rPr>
              <a:t>它们是同一条技术路线的部署层：LLM 先验被蒸馏成规则，低置信样本可选回退。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3232" y="2176272"/>
            <a:ext cx="402336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2249424"/>
            <a:ext cx="395020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Evidence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36592" y="2176272"/>
            <a:ext cx="6035040" cy="420624"/>
          </a:xfrm>
          <a:prstGeom prst="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73168" y="2249424"/>
            <a:ext cx="5961888" cy="292608"/>
          </a:xfrm>
          <a:prstGeom prst="rect">
            <a:avLst/>
          </a:prstGeom>
          <a:noFill/>
        </p:spPr>
        <p:txBody>
          <a:bodyPr wrap="square" lIns="27432" rIns="27432" tIns="9144" bIns="9144" anchor="ctr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icrosoft YaHei"/>
              </a:defRPr>
            </a:pPr>
            <a:r>
              <a:rPr sz="1200" b="1">
                <a:solidFill>
                  <a:srgbClr val="FFFFFF"/>
                </a:solidFill>
                <a:latin typeface="Microsoft YaHei"/>
              </a:rPr>
              <a:t>Value / implication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13232" y="2596896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2660903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Distilled rule layer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736592" y="2596896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91456" y="2660903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LLM priors -&gt; fixed event adapter, not per-household answers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3232" y="3017520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081527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Batch prompting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736592" y="3017520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791456" y="3081527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1,327 cohorts -&gt; 89 prompts with batch size 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13232" y="3438144"/>
            <a:ext cx="402336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3502151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Reported experiment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736592" y="3438144"/>
            <a:ext cx="6035040" cy="420624"/>
          </a:xfrm>
          <a:prstGeom prst="rect">
            <a:avLst/>
          </a:prstGeom>
          <a:solidFill>
            <a:srgbClr val="F8FAFC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91456" y="3502151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No target-year labels; low-confidence uses global pressure fallback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13232" y="3858768"/>
            <a:ext cx="402336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8096" y="3922776"/>
            <a:ext cx="391363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Deployable extension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736592" y="3858768"/>
            <a:ext cx="6035040" cy="420624"/>
          </a:xfrm>
          <a:prstGeom prst="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91456" y="3922776"/>
            <a:ext cx="5925312" cy="292608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0F172A"/>
                </a:solidFill>
                <a:latin typeface="Microsoft YaHei"/>
              </a:defRPr>
            </a:pPr>
            <a:r>
              <a:rPr sz="1200" b="0">
                <a:solidFill>
                  <a:srgbClr val="0F172A"/>
                </a:solidFill>
                <a:latin typeface="Microsoft YaHei"/>
              </a:rPr>
              <a:t>Online LLM fallback only for uncertain cohorts if cost allows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49808" y="5074920"/>
            <a:ext cx="10012680" cy="1005840"/>
          </a:xfrm>
          <a:prstGeom prst="roundRect">
            <a:avLst/>
          </a:prstGeom>
          <a:solidFill>
            <a:srgbClr val="F1F5F9"/>
          </a:solidFill>
          <a:ln w="9525">
            <a:solidFill>
              <a:srgbClr val="CBD5E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49808" y="5074920"/>
            <a:ext cx="50292" cy="100584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14400" y="5166359"/>
            <a:ext cx="9720072" cy="362102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1">
                <a:solidFill>
                  <a:srgbClr val="0F172A"/>
                </a:solidFill>
                <a:latin typeface="Microsoft YaHei"/>
              </a:defRPr>
            </a:pPr>
            <a:r>
              <a:rPr sz="1200" b="1">
                <a:solidFill>
                  <a:srgbClr val="0F172A"/>
                </a:solidFill>
                <a:latin typeface="Microsoft YaHei"/>
              </a:rPr>
              <a:t>答法：可以把“LLM 规则蒸馏 + 置信度回退”理解为我们方法的工程化外壳。论文主结果为了避免 target-year leakage，使用离线 batch 先验和固定 adapter；如果未来做线上系统，可以在低置信 cohort 上再调用 LLM，而不是改变本文主实验口径。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" y="5592470"/>
            <a:ext cx="9720072" cy="415137"/>
          </a:xfrm>
          <a:prstGeom prst="rect">
            <a:avLst/>
          </a:prstGeom>
          <a:noFill/>
        </p:spPr>
        <p:txBody>
          <a:bodyPr wrap="square" lIns="27432" rIns="27432" tIns="9144" bIns="9144" anchor="t">
            <a:spAutoFit/>
          </a:bodyPr>
          <a:lstStyle/>
          <a:p>
            <a:pPr algn="l">
              <a:defRPr sz="1200" b="0">
                <a:solidFill>
                  <a:srgbClr val="64748B"/>
                </a:solidFill>
                <a:latin typeface="Microsoft YaHei"/>
              </a:defRPr>
            </a:p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9810</TotalTime>
  <Words>6896</Words>
  <Application>Microsoft Office PowerPoint</Application>
  <PresentationFormat>宽屏</PresentationFormat>
  <Paragraphs>762</Paragraphs>
  <Slides>35</Slides>
  <Notes>33</Notes>
  <HiddenSlides>1</HiddenSlides>
  <MMClips>0</MMClips>
  <ScaleCrop>false</ScaleCrop>
  <HeadingPairs>
    <vt:vector size="6" baseType="variant">
      <vt:variant>
        <vt:lpstr>已用的字体</vt:lpstr>
      </vt:variant>
      <vt:variant>
        <vt:i4>16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35</vt:i4>
      </vt:variant>
    </vt:vector>
  </HeadingPairs>
  <TitlesOfParts>
    <vt:vector size="52" baseType="lpstr">
      <vt:lpstr>Avenir</vt:lpstr>
      <vt:lpstr>ElsevierGulliver</vt:lpstr>
      <vt:lpstr>Inter</vt:lpstr>
      <vt:lpstr>SFMono-Regular</vt:lpstr>
      <vt:lpstr>Weibei SC Bold</vt:lpstr>
      <vt:lpstr>等线</vt:lpstr>
      <vt:lpstr>等线 Light</vt:lpstr>
      <vt:lpstr>华文细黑</vt:lpstr>
      <vt:lpstr>Microsoft yahei</vt:lpstr>
      <vt:lpstr>Microsoft yahei</vt:lpstr>
      <vt:lpstr>Microsoft yahei</vt:lpstr>
      <vt:lpstr>Arial</vt:lpstr>
      <vt:lpstr>Calibri</vt:lpstr>
      <vt:lpstr>Helvetica</vt:lpstr>
      <vt:lpstr>Times</vt:lpstr>
      <vt:lpstr>Wingdings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lrving</dc:creator>
  <cp:lastModifiedBy>斑 宇智波</cp:lastModifiedBy>
  <cp:revision>32</cp:revision>
  <dcterms:created xsi:type="dcterms:W3CDTF">2023-11-10T13:11:20Z</dcterms:created>
  <dcterms:modified xsi:type="dcterms:W3CDTF">2026-06-09T15:18:45Z</dcterms:modified>
</cp:coreProperties>
</file>