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877824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Microsoft YaHei"/>
              </a:defRPr>
            </a:pPr>
            <a:r>
              <a:rPr sz="2500" b="1">
                <a:solidFill>
                  <a:srgbClr val="FFFFFF"/>
                </a:solidFill>
                <a:latin typeface="Microsoft YaHei"/>
              </a:rPr>
              <a:t>基于 NHTS 与 LLM 事件先验的</a:t>
            </a:r>
            <a:br/>
            <a:r>
              <a:rPr sz="2500" b="1">
                <a:solidFill>
                  <a:srgbClr val="FFFFFF"/>
                </a:solidFill>
                <a:latin typeface="Microsoft YaHei"/>
              </a:rPr>
              <a:t>疫情感知家庭出行行为预测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76809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不使用 2022 标签校准的疫情后出行预测修正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历史 NHTS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Transit MAE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-17.4%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mode signal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206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汇报结构 /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834640"/>
            <a:ext cx="2176272" cy="7498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一条主线：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2022 不是普通预测年，而是疫情后出行行为发生变化的一年。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Research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为什么不是普通跨年预测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Data and target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家庭层面预测：出行次数 + 方式结构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f_hist(X) × LLM event pressure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标签只用于最终评估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为什么 hybrid 比传统和纯 LLM 都更稳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1170432"/>
            <a:ext cx="5074920" cy="34747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07008"/>
            <a:ext cx="500176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96712" y="1170432"/>
            <a:ext cx="5349240" cy="347472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33288" y="1207008"/>
            <a:ext cx="527608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1517904"/>
            <a:ext cx="507492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1549908"/>
            <a:ext cx="49834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96712" y="1517904"/>
            <a:ext cx="534924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1" y="1549908"/>
            <a:ext cx="52578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" y="1865376"/>
            <a:ext cx="50749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1897380"/>
            <a:ext cx="49834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6712" y="1865376"/>
            <a:ext cx="53492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42431" y="1897380"/>
            <a:ext cx="52578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" y="2212848"/>
            <a:ext cx="507492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2244852"/>
            <a:ext cx="49834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96712" y="2212848"/>
            <a:ext cx="534924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42431" y="2244852"/>
            <a:ext cx="52578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" y="2560320"/>
            <a:ext cx="50749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" y="2592324"/>
            <a:ext cx="49834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96712" y="2560320"/>
            <a:ext cx="53492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2431" y="2592324"/>
            <a:ext cx="52578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Target labels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used for calibration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核心问题：不使用 2022 标签调参时，能否用疫情事件先验修正历史模型对家庭出行次数的系统性高估。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system，三个 linked outputs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2798064"/>
            <a:ext cx="2075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43784" y="2798064"/>
            <a:ext cx="31272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44183" y="2798064"/>
            <a:ext cx="271576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33104" y="2798064"/>
            <a:ext cx="2075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" y="3177540"/>
            <a:ext cx="2057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52928" y="3177540"/>
            <a:ext cx="31089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53327" y="3177540"/>
            <a:ext cx="2697479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42248" y="3177540"/>
            <a:ext cx="2057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088" y="3561588"/>
            <a:ext cx="2057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52928" y="3561588"/>
            <a:ext cx="31089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53327" y="3561588"/>
            <a:ext cx="2697479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842248" y="3561588"/>
            <a:ext cx="2057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TV distance / share MAE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8" y="3945636"/>
            <a:ext cx="2057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52928" y="3945636"/>
            <a:ext cx="31089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predicted trips x predicted mode share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53327" y="3945636"/>
            <a:ext cx="2697479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42248" y="3945636"/>
            <a:ext cx="2057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behavior：出行多少次、用什么方式、每种方式多少次。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prediction target is a household behavior system: trip generation, mode composition, and derived mode-specific trip counts.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历史模型给基线，LLM 只给事件折减因子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99032"/>
            <a:ext cx="14173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Microsoft YaHei"/>
              </a:defRPr>
            </a:pPr>
            <a:r>
              <a:rPr sz="900" b="1">
                <a:solidFill>
                  <a:srgbClr val="2563EB"/>
                </a:solidFill>
                <a:latin typeface="Microsoft YaHei"/>
              </a:rPr>
              <a:t>Routine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1536192"/>
            <a:ext cx="909828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148840" y="123444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21992" y="1298448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2001/09/17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151790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pre-2022 labels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325112" y="1453896"/>
            <a:ext cx="411480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0" y="123444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352" y="1298448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Household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151790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stable covariates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205472" y="1453896"/>
            <a:ext cx="411480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09560" y="123444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82712" y="1298448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151790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f_hist(X)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2953512"/>
            <a:ext cx="14173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Event prior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0240" y="3090672"/>
            <a:ext cx="909828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48840" y="278892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21992" y="2852927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307238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4325112" y="3008376"/>
            <a:ext cx="411480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0" y="278892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2" y="2852927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307238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context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205472" y="3008376"/>
            <a:ext cx="411480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909560" y="278892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82712" y="2852927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Event pressure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07238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" y="4507992"/>
            <a:ext cx="14173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198754"/>
                </a:solidFill>
                <a:latin typeface="Microsoft YaHei"/>
              </a:defRPr>
            </a:pPr>
            <a:r>
              <a:rPr sz="900" b="1">
                <a:solidFill>
                  <a:srgbClr val="198754"/>
                </a:solidFill>
                <a:latin typeface="Microsoft YaHei"/>
              </a:rPr>
              <a:t>Fixed adapter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4645152"/>
            <a:ext cx="9098280" cy="914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148840" y="434340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21992" y="4407408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Label-free rule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40280" y="462686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fixed alpha / threshold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4325112" y="4562856"/>
            <a:ext cx="411480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29200" y="434340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02352" y="4407408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Corrected output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0640" y="462686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 shares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7205472" y="4562856"/>
            <a:ext cx="411480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909560" y="4343400"/>
            <a:ext cx="210312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82712" y="4407408"/>
            <a:ext cx="195681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Final evaluation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626864"/>
            <a:ext cx="1920239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labels only here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3232" y="5559552"/>
            <a:ext cx="10378440" cy="4572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641848"/>
            <a:ext cx="10058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00796B"/>
                </a:solidFill>
                <a:latin typeface="Microsoft YaHei"/>
              </a:defRPr>
            </a:pPr>
            <a:r>
              <a:rPr sz="900" b="1">
                <a:solidFill>
                  <a:srgbClr val="00796B"/>
                </a:solidFill>
                <a:latin typeface="Microsoft YaHei"/>
              </a:rPr>
              <a:t>融合公式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5596128"/>
            <a:ext cx="539496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60" y="5614416"/>
            <a:ext cx="356616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64748B"/>
                </a:solidFill>
                <a:latin typeface="Microsoft YaHei"/>
              </a:defRPr>
            </a:pPr>
            <a:r>
              <a:rPr sz="1000" b="1">
                <a:solidFill>
                  <a:srgbClr val="64748B"/>
                </a:solidFill>
                <a:latin typeface="Microsoft YaHei"/>
              </a:rPr>
              <a:t>LLM 不输出 trip count，只输出事件压力 s_event。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1078992"/>
            <a:ext cx="2148840" cy="32918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115568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0" b="1">
                <a:solidFill>
                  <a:srgbClr val="FFFFFF"/>
                </a:solidFill>
                <a:latin typeface="Microsoft YaHei"/>
              </a:defRPr>
            </a:pPr>
            <a:r>
              <a:rPr sz="81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1078992"/>
            <a:ext cx="4069080" cy="32918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7208" y="1115568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0" b="1">
                <a:solidFill>
                  <a:srgbClr val="FFFFFF"/>
                </a:solidFill>
                <a:latin typeface="Microsoft YaHei"/>
              </a:defRPr>
            </a:pPr>
            <a:r>
              <a:rPr sz="81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39712" y="1078992"/>
            <a:ext cx="3931920" cy="329184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6288" y="1115568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0" b="1">
                <a:solidFill>
                  <a:srgbClr val="FFFFFF"/>
                </a:solidFill>
                <a:latin typeface="Microsoft YaHei"/>
              </a:defRPr>
            </a:pPr>
            <a:r>
              <a:rPr sz="81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1408176"/>
            <a:ext cx="214884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1440180"/>
            <a:ext cx="205740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70632" y="1408176"/>
            <a:ext cx="406908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16352" y="1440180"/>
            <a:ext cx="397764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39712" y="1408176"/>
            <a:ext cx="393192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85432" y="1440180"/>
            <a:ext cx="384048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" y="1737360"/>
            <a:ext cx="214884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" y="1769363"/>
            <a:ext cx="205740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1737360"/>
            <a:ext cx="406908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16352" y="1769363"/>
            <a:ext cx="397764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39712" y="1737360"/>
            <a:ext cx="393192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85432" y="1769363"/>
            <a:ext cx="384048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" y="2066543"/>
            <a:ext cx="214884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" y="2098548"/>
            <a:ext cx="205740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70632" y="2066543"/>
            <a:ext cx="406908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16352" y="2098548"/>
            <a:ext cx="397764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9712" y="2066543"/>
            <a:ext cx="393192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85432" y="2098548"/>
            <a:ext cx="384048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" y="2395728"/>
            <a:ext cx="214884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2427732"/>
            <a:ext cx="205740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70632" y="2395728"/>
            <a:ext cx="406908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16352" y="2427732"/>
            <a:ext cx="397764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9712" y="2395728"/>
            <a:ext cx="393192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85432" y="2427732"/>
            <a:ext cx="384048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" y="2724911"/>
            <a:ext cx="214884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2756915"/>
            <a:ext cx="205740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70632" y="2724911"/>
            <a:ext cx="406908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16352" y="2756915"/>
            <a:ext cx="397764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39712" y="2724911"/>
            <a:ext cx="3931920" cy="32918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85432" y="2756915"/>
            <a:ext cx="384048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" y="3054096"/>
            <a:ext cx="214884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3086100"/>
            <a:ext cx="205740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054096"/>
            <a:ext cx="406908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16352" y="3086100"/>
            <a:ext cx="397764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39712" y="3054096"/>
            <a:ext cx="3931920" cy="32918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85432" y="3086100"/>
            <a:ext cx="3840480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9808" y="4434840"/>
            <a:ext cx="4709160" cy="310896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471416"/>
            <a:ext cx="4636008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9" b="1">
                <a:solidFill>
                  <a:srgbClr val="FFFFFF"/>
                </a:solidFill>
                <a:latin typeface="Microsoft YaHei"/>
              </a:defRPr>
            </a:pPr>
            <a:r>
              <a:rPr sz="819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58968" y="4434840"/>
            <a:ext cx="4709160" cy="310896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95544" y="4471416"/>
            <a:ext cx="4636008" cy="23774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9" b="1">
                <a:solidFill>
                  <a:srgbClr val="FFFFFF"/>
                </a:solidFill>
                <a:latin typeface="Microsoft YaHei"/>
              </a:defRPr>
            </a:pPr>
            <a:r>
              <a:rPr sz="819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9808" y="4745736"/>
            <a:ext cx="470916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5528" y="4777740"/>
            <a:ext cx="46177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58968" y="4745736"/>
            <a:ext cx="470916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04688" y="4777740"/>
            <a:ext cx="46177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8" y="5056631"/>
            <a:ext cx="470916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5528" y="5088636"/>
            <a:ext cx="46177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58968" y="5056631"/>
            <a:ext cx="4709160" cy="31089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504688" y="5088636"/>
            <a:ext cx="46177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49808" y="5367527"/>
            <a:ext cx="470916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5528" y="5399531"/>
            <a:ext cx="46177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58968" y="5367527"/>
            <a:ext cx="4709160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504688" y="5399531"/>
            <a:ext cx="46177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577900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关键约束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74519" y="5733288"/>
            <a:ext cx="859536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rPr sz="1150" b="1">
                <a:solidFill>
                  <a:srgbClr val="0F172A"/>
                </a:solidFill>
                <a:latin typeface="Microsoft YaHei"/>
              </a:rPr>
              <a:t>LLM 只提供 s_event；预测数值仍由历史模型 f_hist(X) 和固定修正规则控制。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078992"/>
            <a:ext cx="1920240" cy="32004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124712"/>
            <a:ext cx="1847088" cy="22859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60" b="1">
                <a:solidFill>
                  <a:srgbClr val="FFFFFF"/>
                </a:solidFill>
                <a:latin typeface="Microsoft YaHei"/>
              </a:defRPr>
            </a:pPr>
            <a:r>
              <a:rPr sz="76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5728" y="1078992"/>
            <a:ext cx="914400" cy="32004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32304" y="1124712"/>
            <a:ext cx="841248" cy="22859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60" b="1">
                <a:solidFill>
                  <a:srgbClr val="FFFFFF"/>
                </a:solidFill>
                <a:latin typeface="Microsoft YaHei"/>
              </a:defRPr>
            </a:pPr>
            <a:r>
              <a:rPr sz="760" b="1">
                <a:solidFill>
                  <a:srgbClr val="FFFFFF"/>
                </a:solidFill>
                <a:latin typeface="Microsoft YaHei"/>
              </a:rPr>
              <a:t>历史模型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1078992"/>
            <a:ext cx="822960" cy="32004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6704" y="1124712"/>
            <a:ext cx="749808" cy="22859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60" b="1">
                <a:solidFill>
                  <a:srgbClr val="FFFFFF"/>
                </a:solidFill>
                <a:latin typeface="Microsoft YaHei"/>
              </a:defRPr>
            </a:pPr>
            <a:r>
              <a:rPr sz="76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33087" y="1078992"/>
            <a:ext cx="868680" cy="32004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9663" y="1124712"/>
            <a:ext cx="795528" cy="22859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60" b="1">
                <a:solidFill>
                  <a:srgbClr val="FFFFFF"/>
                </a:solidFill>
                <a:latin typeface="Microsoft YaHei"/>
              </a:defRPr>
            </a:pPr>
            <a:r>
              <a:rPr sz="76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1768" y="1078992"/>
            <a:ext cx="4434840" cy="32004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38344" y="1124712"/>
            <a:ext cx="4361688" cy="22859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60" b="1">
                <a:solidFill>
                  <a:srgbClr val="FFFFFF"/>
                </a:solidFill>
                <a:latin typeface="Microsoft YaHei"/>
              </a:defRPr>
            </a:pPr>
            <a:r>
              <a:rPr sz="76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36607" y="1078992"/>
            <a:ext cx="685800" cy="32004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3" y="1124712"/>
            <a:ext cx="612648" cy="22859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60" b="1">
                <a:solidFill>
                  <a:srgbClr val="FFFFFF"/>
                </a:solidFill>
                <a:latin typeface="Microsoft YaHei"/>
              </a:defRPr>
            </a:pPr>
            <a:r>
              <a:rPr sz="76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1399031"/>
            <a:ext cx="192024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1435607"/>
            <a:ext cx="18288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1">
                <a:solidFill>
                  <a:srgbClr val="0F172A"/>
                </a:solidFill>
                <a:latin typeface="Microsoft YaHei"/>
              </a:defRPr>
            </a:pPr>
            <a:r>
              <a:rPr sz="755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95728" y="1399031"/>
            <a:ext cx="91440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41448" y="1421891"/>
            <a:ext cx="82296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198754"/>
                </a:solidFill>
                <a:latin typeface="Microsoft YaHei"/>
              </a:defRPr>
            </a:pPr>
            <a:r>
              <a:rPr sz="125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10128" y="1399031"/>
            <a:ext cx="82296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55848" y="1421891"/>
            <a:ext cx="7315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33087" y="1399031"/>
            <a:ext cx="86868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8807" y="1421891"/>
            <a:ext cx="77724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01768" y="1399031"/>
            <a:ext cx="443484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7488" y="1435607"/>
            <a:ext cx="43434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0">
                <a:solidFill>
                  <a:srgbClr val="0F172A"/>
                </a:solidFill>
                <a:latin typeface="Microsoft YaHei"/>
              </a:defRPr>
            </a:pPr>
            <a:r>
              <a:rPr sz="755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36607" y="1399031"/>
            <a:ext cx="68580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82328" y="1435607"/>
            <a:ext cx="59436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5" b="0">
                <a:solidFill>
                  <a:srgbClr val="0F172A"/>
                </a:solidFill>
                <a:latin typeface="Microsoft YaHei"/>
              </a:defRPr>
            </a:pPr>
            <a:r>
              <a:rPr sz="755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5488" y="1719072"/>
            <a:ext cx="192024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1755648"/>
            <a:ext cx="18288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1">
                <a:solidFill>
                  <a:srgbClr val="0F172A"/>
                </a:solidFill>
                <a:latin typeface="Microsoft YaHei"/>
              </a:defRPr>
            </a:pPr>
            <a:r>
              <a:rPr sz="755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95728" y="1719072"/>
            <a:ext cx="91440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41448" y="1741931"/>
            <a:ext cx="82296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198754"/>
                </a:solidFill>
                <a:latin typeface="Microsoft YaHei"/>
              </a:defRPr>
            </a:pPr>
            <a:r>
              <a:rPr sz="125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10128" y="1719072"/>
            <a:ext cx="82296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55848" y="1741931"/>
            <a:ext cx="7315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33087" y="1719072"/>
            <a:ext cx="86868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78807" y="1741931"/>
            <a:ext cx="77724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01768" y="1719072"/>
            <a:ext cx="443484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7488" y="1755648"/>
            <a:ext cx="43434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0">
                <a:solidFill>
                  <a:srgbClr val="0F172A"/>
                </a:solidFill>
                <a:latin typeface="Microsoft YaHei"/>
              </a:defRPr>
            </a:pPr>
            <a:r>
              <a:rPr sz="755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36607" y="1719072"/>
            <a:ext cx="68580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82328" y="1755648"/>
            <a:ext cx="59436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5" b="0">
                <a:solidFill>
                  <a:srgbClr val="0F172A"/>
                </a:solidFill>
                <a:latin typeface="Microsoft YaHei"/>
              </a:defRPr>
            </a:pPr>
            <a:r>
              <a:rPr sz="755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5488" y="2039111"/>
            <a:ext cx="192024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" y="2075687"/>
            <a:ext cx="18288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1">
                <a:solidFill>
                  <a:srgbClr val="0F172A"/>
                </a:solidFill>
                <a:latin typeface="Microsoft YaHei"/>
              </a:defRPr>
            </a:pPr>
            <a:r>
              <a:rPr sz="755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95728" y="2039111"/>
            <a:ext cx="91440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41448" y="2061971"/>
            <a:ext cx="82296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198754"/>
                </a:solidFill>
                <a:latin typeface="Microsoft YaHei"/>
              </a:defRPr>
            </a:pPr>
            <a:r>
              <a:rPr sz="125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10128" y="2039111"/>
            <a:ext cx="82296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55848" y="2061971"/>
            <a:ext cx="7315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33087" y="2039111"/>
            <a:ext cx="86868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78807" y="2061971"/>
            <a:ext cx="77724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01768" y="2039111"/>
            <a:ext cx="443484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47488" y="2075687"/>
            <a:ext cx="43434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0">
                <a:solidFill>
                  <a:srgbClr val="0F172A"/>
                </a:solidFill>
                <a:latin typeface="Microsoft YaHei"/>
              </a:defRPr>
            </a:pPr>
            <a:r>
              <a:rPr sz="755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36607" y="2039111"/>
            <a:ext cx="68580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82328" y="2075687"/>
            <a:ext cx="59436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5" b="0">
                <a:solidFill>
                  <a:srgbClr val="0F172A"/>
                </a:solidFill>
                <a:latin typeface="Microsoft YaHei"/>
              </a:defRPr>
            </a:pPr>
            <a:r>
              <a:rPr sz="755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5488" y="2359152"/>
            <a:ext cx="192024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8" y="2395728"/>
            <a:ext cx="18288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1">
                <a:solidFill>
                  <a:srgbClr val="0F172A"/>
                </a:solidFill>
                <a:latin typeface="Microsoft YaHei"/>
              </a:defRPr>
            </a:pPr>
            <a:r>
              <a:rPr sz="755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395728" y="2359152"/>
            <a:ext cx="91440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41448" y="2382012"/>
            <a:ext cx="82296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310128" y="2359152"/>
            <a:ext cx="82296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355848" y="2382012"/>
            <a:ext cx="7315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198754"/>
                </a:solidFill>
                <a:latin typeface="Microsoft YaHei"/>
              </a:defRPr>
            </a:pPr>
            <a:r>
              <a:rPr sz="125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33087" y="2359152"/>
            <a:ext cx="86868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78807" y="2382012"/>
            <a:ext cx="77724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01768" y="2359152"/>
            <a:ext cx="443484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47488" y="2395728"/>
            <a:ext cx="43434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0">
                <a:solidFill>
                  <a:srgbClr val="0F172A"/>
                </a:solidFill>
                <a:latin typeface="Microsoft YaHei"/>
              </a:defRPr>
            </a:pPr>
            <a:r>
              <a:rPr sz="755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436607" y="2359152"/>
            <a:ext cx="68580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482328" y="2395728"/>
            <a:ext cx="59436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5" b="0">
                <a:solidFill>
                  <a:srgbClr val="0F172A"/>
                </a:solidFill>
                <a:latin typeface="Microsoft YaHei"/>
              </a:defRPr>
            </a:pPr>
            <a:r>
              <a:rPr sz="755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5488" y="2679191"/>
            <a:ext cx="192024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2715768"/>
            <a:ext cx="18288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1">
                <a:solidFill>
                  <a:srgbClr val="0F172A"/>
                </a:solidFill>
                <a:latin typeface="Microsoft YaHei"/>
              </a:defRPr>
            </a:pPr>
            <a:r>
              <a:rPr sz="755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95728" y="2679191"/>
            <a:ext cx="91440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41448" y="2702051"/>
            <a:ext cx="82296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198754"/>
                </a:solidFill>
                <a:latin typeface="Microsoft YaHei"/>
              </a:defRPr>
            </a:pPr>
            <a:r>
              <a:rPr sz="125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310128" y="2679191"/>
            <a:ext cx="82296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355848" y="2702051"/>
            <a:ext cx="7315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33087" y="2679191"/>
            <a:ext cx="86868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78807" y="2702051"/>
            <a:ext cx="77724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01768" y="2679191"/>
            <a:ext cx="443484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47488" y="2715768"/>
            <a:ext cx="43434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0">
                <a:solidFill>
                  <a:srgbClr val="0F172A"/>
                </a:solidFill>
                <a:latin typeface="Microsoft YaHei"/>
              </a:defRPr>
            </a:pPr>
            <a:r>
              <a:rPr sz="755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436607" y="2679191"/>
            <a:ext cx="68580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482328" y="2715768"/>
            <a:ext cx="59436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5" b="0">
                <a:solidFill>
                  <a:srgbClr val="0F172A"/>
                </a:solidFill>
                <a:latin typeface="Microsoft YaHei"/>
              </a:defRPr>
            </a:pPr>
            <a:r>
              <a:rPr sz="755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75488" y="2999231"/>
            <a:ext cx="192024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21208" y="3035807"/>
            <a:ext cx="18288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1">
                <a:solidFill>
                  <a:srgbClr val="0F172A"/>
                </a:solidFill>
                <a:latin typeface="Microsoft YaHei"/>
              </a:defRPr>
            </a:pPr>
            <a:r>
              <a:rPr sz="755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395728" y="2999231"/>
            <a:ext cx="91440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441448" y="3022091"/>
            <a:ext cx="82296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198754"/>
                </a:solidFill>
                <a:latin typeface="Microsoft YaHei"/>
              </a:defRPr>
            </a:pPr>
            <a:r>
              <a:rPr sz="125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310128" y="2999231"/>
            <a:ext cx="82296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355848" y="3022091"/>
            <a:ext cx="7315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33087" y="2999231"/>
            <a:ext cx="86868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78807" y="3022091"/>
            <a:ext cx="77724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001768" y="2999231"/>
            <a:ext cx="443484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47488" y="3035807"/>
            <a:ext cx="43434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0">
                <a:solidFill>
                  <a:srgbClr val="0F172A"/>
                </a:solidFill>
                <a:latin typeface="Microsoft YaHei"/>
              </a:defRPr>
            </a:pPr>
            <a:r>
              <a:rPr sz="755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436607" y="2999231"/>
            <a:ext cx="68580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482328" y="3035807"/>
            <a:ext cx="59436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5" b="0">
                <a:solidFill>
                  <a:srgbClr val="0F172A"/>
                </a:solidFill>
                <a:latin typeface="Microsoft YaHei"/>
              </a:defRPr>
            </a:pPr>
            <a:r>
              <a:rPr sz="755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75488" y="3319272"/>
            <a:ext cx="192024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21208" y="3355848"/>
            <a:ext cx="18288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1">
                <a:solidFill>
                  <a:srgbClr val="0F172A"/>
                </a:solidFill>
                <a:latin typeface="Microsoft YaHei"/>
              </a:defRPr>
            </a:pPr>
            <a:r>
              <a:rPr sz="755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395728" y="3319272"/>
            <a:ext cx="91440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441448" y="3342132"/>
            <a:ext cx="82296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198754"/>
                </a:solidFill>
                <a:latin typeface="Microsoft YaHei"/>
              </a:defRPr>
            </a:pPr>
            <a:r>
              <a:rPr sz="125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310128" y="3319272"/>
            <a:ext cx="82296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355848" y="3342132"/>
            <a:ext cx="73152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198754"/>
                </a:solidFill>
                <a:latin typeface="Microsoft YaHei"/>
              </a:defRPr>
            </a:pPr>
            <a:r>
              <a:rPr sz="125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133087" y="3319272"/>
            <a:ext cx="86868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178807" y="3342132"/>
            <a:ext cx="777240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rPr sz="125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001768" y="3319272"/>
            <a:ext cx="443484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047488" y="3355848"/>
            <a:ext cx="434340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5" b="1">
                <a:solidFill>
                  <a:srgbClr val="0F172A"/>
                </a:solidFill>
                <a:latin typeface="Microsoft YaHei"/>
              </a:defRPr>
            </a:pPr>
            <a:r>
              <a:rPr sz="755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436607" y="3319272"/>
            <a:ext cx="68580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482328" y="3355848"/>
            <a:ext cx="594360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5" b="1">
                <a:solidFill>
                  <a:srgbClr val="0F172A"/>
                </a:solidFill>
                <a:latin typeface="Microsoft YaHei"/>
              </a:defRPr>
            </a:pPr>
            <a:r>
              <a:rPr sz="755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94360" y="3730752"/>
            <a:ext cx="30175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1">
                <a:solidFill>
                  <a:srgbClr val="64748B"/>
                </a:solidFill>
                <a:latin typeface="Microsoft YaHei"/>
              </a:defRPr>
            </a:pPr>
            <a:r>
              <a:rPr sz="85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5029200"/>
            <a:ext cx="10012680" cy="11430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5029200"/>
            <a:ext cx="50292" cy="1143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5120640"/>
            <a:ext cx="9720072" cy="41147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对比逻辑：传统 XGBoost 有 household baseline 但缺少疫情机制；LLM-only 有事件方向但缺少家庭数值基线；hybrid 把两者合在一起。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596128"/>
            <a:ext cx="9720072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the value of each component: household grounding from the historical model and event pressure from the LLM.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5671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120700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1207008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115214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1656588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1706880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0" y="1706880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06440" y="1652016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156459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206752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0" y="2206752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2151887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265633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270662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0" y="2706624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265176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156204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3206496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0" y="3206496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151632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365607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3706368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0" y="3706368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365150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37960" y="1170432"/>
            <a:ext cx="1874519" cy="34747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74536" y="1207008"/>
            <a:ext cx="1801367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1">
                <a:solidFill>
                  <a:srgbClr val="FFFFFF"/>
                </a:solidFill>
                <a:latin typeface="Microsoft YaHei"/>
              </a:defRPr>
            </a:pPr>
            <a:r>
              <a:rPr sz="78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0" y="1170432"/>
            <a:ext cx="822960" cy="34747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49055" y="1207008"/>
            <a:ext cx="74980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1">
                <a:solidFill>
                  <a:srgbClr val="FFFFFF"/>
                </a:solidFill>
                <a:latin typeface="Microsoft YaHei"/>
              </a:defRPr>
            </a:pPr>
            <a:r>
              <a:rPr sz="78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1170432"/>
            <a:ext cx="822960" cy="34747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72015" y="1207008"/>
            <a:ext cx="74980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1">
                <a:solidFill>
                  <a:srgbClr val="FFFFFF"/>
                </a:solidFill>
                <a:latin typeface="Microsoft YaHei"/>
              </a:defRPr>
            </a:pPr>
            <a:r>
              <a:rPr sz="78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00" y="1170432"/>
            <a:ext cx="731520" cy="34747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94976" y="1207008"/>
            <a:ext cx="65836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1">
                <a:solidFill>
                  <a:srgbClr val="FFFFFF"/>
                </a:solidFill>
                <a:latin typeface="Microsoft YaHei"/>
              </a:defRPr>
            </a:pPr>
            <a:r>
              <a:rPr sz="78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1517904"/>
            <a:ext cx="1874519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1549908"/>
            <a:ext cx="178307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rPr sz="78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0" y="1517904"/>
            <a:ext cx="82296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1549908"/>
            <a:ext cx="73152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35440" y="1517904"/>
            <a:ext cx="82296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81160" y="1549908"/>
            <a:ext cx="73152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058400" y="1517904"/>
            <a:ext cx="73152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04120" y="1549908"/>
            <a:ext cx="6400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1865376"/>
            <a:ext cx="1874519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1897380"/>
            <a:ext cx="178307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rPr sz="78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12480" y="1865376"/>
            <a:ext cx="8229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58200" y="1897380"/>
            <a:ext cx="73152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35440" y="1865376"/>
            <a:ext cx="82296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81160" y="1897380"/>
            <a:ext cx="73152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058400" y="1865376"/>
            <a:ext cx="7315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04120" y="1897380"/>
            <a:ext cx="6400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37960" y="2212848"/>
            <a:ext cx="1874519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2244852"/>
            <a:ext cx="178307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0F172A"/>
                </a:solidFill>
                <a:latin typeface="Microsoft YaHei"/>
              </a:defRPr>
            </a:pPr>
            <a:r>
              <a:rPr sz="78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2212848"/>
            <a:ext cx="82296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58200" y="2244852"/>
            <a:ext cx="73152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235440" y="2212848"/>
            <a:ext cx="82296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81160" y="2244852"/>
            <a:ext cx="73152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58400" y="2212848"/>
            <a:ext cx="73152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04120" y="2244852"/>
            <a:ext cx="64008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547104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47104" y="3035808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675120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75120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75120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641080" y="3035808"/>
            <a:ext cx="1874519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641080" y="3035808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69096" y="31089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69096" y="32826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69096" y="3593591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普通 XGBoost 保留了家庭差异，但把 2022 当作常态延续，产生明显高估；加入事件折减后，wMAE 降到 2.50，bias 接近 0。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XGBoost preserves household differences but misses the pandemic shift. Event correction lowers wMAE to 2.50 and removes most systematic bias.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19</a:t>
            </a:r>
          </a:p>
        </p:txBody>
      </p:sp>
      <p:pic>
        <p:nvPicPr>
          <p:cNvPr id="12" name="Picture 11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historical model keeps a clear positive shift.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6600" y="2852928"/>
            <a:ext cx="1325880" cy="34747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3176" y="2889504"/>
            <a:ext cx="125272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2852928"/>
            <a:ext cx="2834640" cy="34747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49055" y="2889504"/>
            <a:ext cx="2761488" cy="27432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30" b="1">
                <a:solidFill>
                  <a:srgbClr val="FFFFFF"/>
                </a:solidFill>
                <a:latin typeface="Microsoft YaHei"/>
              </a:defRPr>
            </a:pPr>
            <a:r>
              <a:rPr sz="83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3200400"/>
            <a:ext cx="132588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0" y="3232404"/>
            <a:ext cx="12344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3200400"/>
            <a:ext cx="283464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3232404"/>
            <a:ext cx="27432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3547872"/>
            <a:ext cx="13258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0" y="3579876"/>
            <a:ext cx="12344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3547872"/>
            <a:ext cx="28346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58200" y="3579876"/>
            <a:ext cx="27432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86600" y="3895344"/>
            <a:ext cx="132588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0" y="3927348"/>
            <a:ext cx="12344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0" y="3895344"/>
            <a:ext cx="2834640" cy="34747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3927348"/>
            <a:ext cx="27432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6600" y="4242816"/>
            <a:ext cx="132588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0" y="4274820"/>
            <a:ext cx="12344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1">
                <a:solidFill>
                  <a:srgbClr val="0F172A"/>
                </a:solidFill>
                <a:latin typeface="Microsoft YaHei"/>
              </a:defRPr>
            </a:pPr>
            <a:r>
              <a:rPr sz="83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0" y="4242816"/>
            <a:ext cx="283464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4274820"/>
            <a:ext cx="2743200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30" b="0">
                <a:solidFill>
                  <a:srgbClr val="0F172A"/>
                </a:solidFill>
                <a:latin typeface="Microsoft YaHei"/>
              </a:defRPr>
            </a:pPr>
            <a:r>
              <a:rPr sz="83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06B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19</a:t>
            </a:r>
          </a:p>
        </p:txBody>
      </p:sp>
      <p:pic>
        <p:nvPicPr>
          <p:cNvPr id="12" name="Picture 11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3" name="Picture 12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历史模型误差分布整体偏正，说明它系统性高估 2022 出行；事件修正后误差更集中，容忍阈值内覆盖率更高。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historical model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19</a:t>
            </a:r>
          </a:p>
        </p:txBody>
      </p:sp>
      <p:pic>
        <p:nvPicPr>
          <p:cNvPr id="12" name="Picture 11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3" name="Picture 12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19</a:t>
            </a:r>
          </a:p>
        </p:txBody>
      </p:sp>
      <p:pic>
        <p:nvPicPr>
          <p:cNvPr id="12" name="Picture 11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2971800"/>
            <a:ext cx="1828800" cy="36576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48856" y="3008376"/>
            <a:ext cx="175564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9" b="1">
                <a:solidFill>
                  <a:srgbClr val="FFFFFF"/>
                </a:solidFill>
                <a:latin typeface="Microsoft YaHei"/>
              </a:defRPr>
            </a:pPr>
            <a:r>
              <a:rPr sz="819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41080" y="2971800"/>
            <a:ext cx="2514600" cy="36576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77655" y="3008376"/>
            <a:ext cx="244144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9" b="1">
                <a:solidFill>
                  <a:srgbClr val="FFFFFF"/>
                </a:solidFill>
                <a:latin typeface="Microsoft YaHei"/>
              </a:defRPr>
            </a:pPr>
            <a:r>
              <a:rPr sz="819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3337560"/>
            <a:ext cx="1828800" cy="36576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3369564"/>
            <a:ext cx="1737360" cy="3017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3337560"/>
            <a:ext cx="2514600" cy="36576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3369564"/>
            <a:ext cx="2423160" cy="3017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12280" y="3703320"/>
            <a:ext cx="182880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3735324"/>
            <a:ext cx="1737360" cy="3017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3703320"/>
            <a:ext cx="251460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3735324"/>
            <a:ext cx="2423160" cy="3017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4069080"/>
            <a:ext cx="1828800" cy="36576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4101084"/>
            <a:ext cx="1737360" cy="3017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LLM 能否替代表格模型？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41080" y="4069080"/>
            <a:ext cx="2514600" cy="36576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4101084"/>
            <a:ext cx="2423160" cy="3017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12280" y="4434840"/>
            <a:ext cx="182880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466844"/>
            <a:ext cx="1737360" cy="3017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1">
                <a:solidFill>
                  <a:srgbClr val="0F172A"/>
                </a:solidFill>
                <a:latin typeface="Microsoft YaHei"/>
              </a:defRPr>
            </a:pPr>
            <a:r>
              <a:rPr sz="819" b="1">
                <a:solidFill>
                  <a:srgbClr val="0F172A"/>
                </a:solidFill>
                <a:latin typeface="Microsoft YaHei"/>
              </a:rPr>
              <a:t>方式结构是否已经解决？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41080" y="4434840"/>
            <a:ext cx="251460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4466844"/>
            <a:ext cx="2423160" cy="3017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9" b="0">
                <a:solidFill>
                  <a:srgbClr val="0F172A"/>
                </a:solidFill>
                <a:latin typeface="Microsoft YaHei"/>
              </a:defRPr>
            </a:pPr>
            <a:r>
              <a:rPr sz="819" b="0">
                <a:solidFill>
                  <a:srgbClr val="0F172A"/>
                </a:solidFill>
                <a:latin typeface="Microsoft YaHei"/>
              </a:rPr>
              <a:t>还没有；主要是 transit 维度更清楚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07B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分组检验 / Subgroup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19</a:t>
            </a:r>
          </a:p>
        </p:txBody>
      </p:sp>
      <p:pic>
        <p:nvPicPr>
          <p:cNvPr id="12" name="Picture 11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分组结果显示，改进不只来自总体均值；多个家庭群体的 MAE 都低于历史 XGBoost，但这里仍是诊断证据，不作因果解释。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Subgroup results show that gains are not only an aggregate artifact; they remain diagnostic rather than causal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31736" y="2916936"/>
            <a:ext cx="15270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rPr sz="85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31936" y="2916936"/>
            <a:ext cx="235000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rPr sz="85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3296412"/>
            <a:ext cx="15087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1">
                <a:solidFill>
                  <a:srgbClr val="0F172A"/>
                </a:solidFill>
                <a:latin typeface="Microsoft YaHei"/>
              </a:defRPr>
            </a:pPr>
            <a:r>
              <a:rPr sz="850" b="1">
                <a:solidFill>
                  <a:srgbClr val="0F172A"/>
                </a:solidFill>
                <a:latin typeface="Microsoft YaHei"/>
              </a:rPr>
              <a:t>作为分组诊断证据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1080" y="3296412"/>
            <a:ext cx="233172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0F172A"/>
                </a:solidFill>
                <a:latin typeface="Microsoft YaHei"/>
              </a:defRPr>
            </a:pPr>
            <a:r>
              <a:rPr sz="850" b="0">
                <a:solidFill>
                  <a:srgbClr val="0F172A"/>
                </a:solidFill>
                <a:latin typeface="Microsoft YaHei"/>
              </a:rPr>
              <a:t>不解释成因果结论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3680459"/>
            <a:ext cx="15087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1">
                <a:solidFill>
                  <a:srgbClr val="0F172A"/>
                </a:solidFill>
                <a:latin typeface="Microsoft YaHei"/>
              </a:defRPr>
            </a:pPr>
            <a:r>
              <a:rPr sz="850" b="1">
                <a:solidFill>
                  <a:srgbClr val="0F172A"/>
                </a:solidFill>
                <a:latin typeface="Microsoft YaHei"/>
              </a:rPr>
              <a:t>强调整体改进趋势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1080" y="3680459"/>
            <a:ext cx="233172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0F172A"/>
                </a:solidFill>
                <a:latin typeface="Microsoft YaHei"/>
              </a:defRPr>
            </a:pPr>
            <a:r>
              <a:rPr sz="850" b="0">
                <a:solidFill>
                  <a:srgbClr val="0F172A"/>
                </a:solidFill>
                <a:latin typeface="Microsoft YaHei"/>
              </a:rPr>
              <a:t>编码细节可放附录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4064508"/>
            <a:ext cx="15087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1">
                <a:solidFill>
                  <a:srgbClr val="0F172A"/>
                </a:solidFill>
                <a:latin typeface="Microsoft YaHei"/>
              </a:defRPr>
            </a:pPr>
            <a:r>
              <a:rPr sz="85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4064508"/>
            <a:ext cx="233172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0F172A"/>
                </a:solidFill>
                <a:latin typeface="Microsoft YaHei"/>
              </a:defRPr>
            </a:pPr>
            <a:r>
              <a:rPr sz="850" b="0">
                <a:solidFill>
                  <a:srgbClr val="0F172A"/>
                </a:solidFill>
                <a:latin typeface="Microsoft YaHei"/>
              </a:rPr>
              <a:t>哪些家庭更难预测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Best sensitivity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2.482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wMAE, not main claim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89320" y="2761488"/>
            <a:ext cx="22402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5896" y="2798064"/>
            <a:ext cx="216712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 sz="8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0" y="2761488"/>
            <a:ext cx="28346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66175" y="2798064"/>
            <a:ext cx="27614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 sz="800" b="1">
                <a:solidFill>
                  <a:srgbClr val="FFFFFF"/>
                </a:solidFill>
                <a:latin typeface="Microsoft YaHei"/>
              </a:rPr>
              <a:t>Interpretation for presentation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3145536"/>
            <a:ext cx="22402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35040" y="3177540"/>
            <a:ext cx="214884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rPr sz="800" b="1">
                <a:solidFill>
                  <a:srgbClr val="0F172A"/>
                </a:solidFill>
                <a:latin typeface="Microsoft YaHei"/>
              </a:rPr>
              <a:t>XGBoost has strong household signal but positive bias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314553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75320" y="3177540"/>
            <a:ext cx="27432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routine mobility from history is too high for 2022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89320" y="3529584"/>
            <a:ext cx="22402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35040" y="3561588"/>
            <a:ext cx="214884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rPr sz="800" b="1">
                <a:solidFill>
                  <a:srgbClr val="0F172A"/>
                </a:solidFill>
                <a:latin typeface="Microsoft YaHei"/>
              </a:rPr>
              <a:t>LLM-only improves direction but lacks calibration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600" y="352958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75320" y="3561588"/>
            <a:ext cx="27432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event semantics alone cannot replace household baseline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89320" y="3913632"/>
            <a:ext cx="22402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35040" y="3945636"/>
            <a:ext cx="214884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rPr sz="800" b="1">
                <a:solidFill>
                  <a:srgbClr val="0F172A"/>
                </a:solidFill>
                <a:latin typeface="Microsoft YaHei"/>
              </a:rPr>
              <a:t>Hybrid gated is nearly unbiased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0" y="391363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75320" y="3945636"/>
            <a:ext cx="27432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separating routine demand and event response is the key design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输出的是 s_event，不是 y；最终预测 = 历史 household baseline × 事件折减系数。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方式结构扩展 / Mode Composition Extension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同一个事件先验也能解释 transit-specific shift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2523744"/>
            <a:ext cx="198424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 sz="8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07208" y="2523744"/>
            <a:ext cx="932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 sz="8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2523744"/>
            <a:ext cx="932688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 sz="8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18888" y="2523744"/>
            <a:ext cx="1892807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icrosoft YaHei"/>
              </a:defRPr>
            </a:pPr>
            <a:r>
              <a:rPr sz="8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" y="2903220"/>
            <a:ext cx="19659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rPr sz="8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16352" y="2903220"/>
            <a:ext cx="914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22191" y="2903220"/>
            <a:ext cx="914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28032" y="2903220"/>
            <a:ext cx="1874519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8952" y="3287268"/>
            <a:ext cx="19659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rPr sz="800" b="1">
                <a:solidFill>
                  <a:srgbClr val="0F172A"/>
                </a:solidFill>
                <a:latin typeface="Microsoft YaHei"/>
              </a:rPr>
              <a:t>XGBoost + LLM transit prior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16352" y="3287268"/>
            <a:ext cx="914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22191" y="3287268"/>
            <a:ext cx="914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28032" y="3287268"/>
            <a:ext cx="1874519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event-aware transit correction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952" y="3671316"/>
            <a:ext cx="196596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0F172A"/>
                </a:solidFill>
                <a:latin typeface="Microsoft YaHei"/>
              </a:defRPr>
            </a:pPr>
            <a:r>
              <a:rPr sz="8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16352" y="3671316"/>
            <a:ext cx="914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22191" y="3671316"/>
            <a:ext cx="914400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28032" y="3671316"/>
            <a:ext cx="1874519" cy="32004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  <a:latin typeface="Microsoft YaHei"/>
              </a:defRPr>
            </a:pPr>
            <a:r>
              <a:rPr sz="8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pic>
        <p:nvPicPr>
          <p:cNvPr id="57" name="Picture 56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225296"/>
            <a:ext cx="4389120" cy="2792054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可扩展性 / Scalability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Cohort prompting 降低请求量，并让结果更容易检查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1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7,893 households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2022 rows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32257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6148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3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1,327 cohorts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292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profiles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42569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86460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5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15 concurrency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full generation setting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52881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67727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79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7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normalized priors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31936" y="1664208"/>
            <a:ext cx="292608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70848" y="1417320"/>
            <a:ext cx="1600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1481328"/>
            <a:ext cx="145389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fixed adapter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1700784"/>
            <a:ext cx="141732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reproducible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40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2816352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Request reduction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83.2%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5.95x fewer prompts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2044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20440" y="2816352"/>
            <a:ext cx="50292" cy="786384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4845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Invalid records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845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4845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after validation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2816352"/>
            <a:ext cx="219456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2816352"/>
            <a:ext cx="50292" cy="78638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4496" y="2889504"/>
            <a:ext cx="197510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3063240"/>
            <a:ext cx="197510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fixed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54496" y="3374136"/>
            <a:ext cx="197510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re-runnable adapter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4160520"/>
            <a:ext cx="2926080" cy="32004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" y="4197096"/>
            <a:ext cx="2852928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0" b="1">
                <a:solidFill>
                  <a:srgbClr val="FFFFFF"/>
                </a:solidFill>
                <a:latin typeface="Microsoft YaHei"/>
              </a:defRPr>
            </a:pPr>
            <a:r>
              <a:rPr sz="810" b="1">
                <a:solidFill>
                  <a:srgbClr val="FFFFFF"/>
                </a:solidFill>
                <a:latin typeface="Microsoft YaHei"/>
              </a:rPr>
              <a:t>风险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0" y="4160520"/>
            <a:ext cx="6035040" cy="32004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77056" y="4197096"/>
            <a:ext cx="5961888" cy="246887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10" b="1">
                <a:solidFill>
                  <a:srgbClr val="FFFFFF"/>
                </a:solidFill>
                <a:latin typeface="Microsoft YaHei"/>
              </a:defRPr>
            </a:pPr>
            <a:r>
              <a:rPr sz="810" b="1">
                <a:solidFill>
                  <a:srgbClr val="FFFFFF"/>
                </a:solidFill>
                <a:latin typeface="Microsoft YaHei"/>
              </a:rPr>
              <a:t>控制方式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4480559"/>
            <a:ext cx="292608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4512564"/>
            <a:ext cx="283464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LLM hallucination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0" y="4480559"/>
            <a:ext cx="603504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86200" y="4512564"/>
            <a:ext cx="594360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structured schema + numeric range validation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" y="4800600"/>
            <a:ext cx="292608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0120" y="4832604"/>
            <a:ext cx="283464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target leakage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0" y="4800600"/>
            <a:ext cx="603504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86200" y="4832604"/>
            <a:ext cx="594360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no target labels / weights / household IDs in prompt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" y="5120640"/>
            <a:ext cx="292608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0120" y="5152644"/>
            <a:ext cx="283464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cost explosion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0" y="5120640"/>
            <a:ext cx="6035040" cy="32004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86200" y="5152644"/>
            <a:ext cx="594360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cohort-level prompting instead of per-household prompting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5440679"/>
            <a:ext cx="292608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0120" y="5472683"/>
            <a:ext cx="283464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1">
                <a:solidFill>
                  <a:srgbClr val="0F172A"/>
                </a:solidFill>
                <a:latin typeface="Microsoft YaHei"/>
              </a:defRPr>
            </a:pPr>
            <a:r>
              <a:rPr sz="810" b="1">
                <a:solidFill>
                  <a:srgbClr val="0F172A"/>
                </a:solidFill>
                <a:latin typeface="Microsoft YaHei"/>
              </a:rPr>
              <a:t>unreproducible tuning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5440679"/>
            <a:ext cx="6035040" cy="32004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86200" y="5472683"/>
            <a:ext cx="5943600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10" b="0">
                <a:solidFill>
                  <a:srgbClr val="0F172A"/>
                </a:solidFill>
                <a:latin typeface="Microsoft YaHei"/>
              </a:defRPr>
            </a:pPr>
            <a:r>
              <a:rPr sz="810" b="0">
                <a:solidFill>
                  <a:srgbClr val="0F172A"/>
                </a:solidFill>
                <a:latin typeface="Microsoft YaHei"/>
              </a:rPr>
              <a:t>main rule uses fixed no-label parameters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1078992"/>
            <a:ext cx="1508760" cy="42976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1115568"/>
            <a:ext cx="1435607" cy="35661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75" b="1">
                <a:solidFill>
                  <a:srgbClr val="FFFFFF"/>
                </a:solidFill>
                <a:latin typeface="Microsoft YaHei"/>
              </a:defRPr>
            </a:pPr>
            <a:r>
              <a:rPr sz="775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67128" y="1078992"/>
            <a:ext cx="4800600" cy="42976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03704" y="1115568"/>
            <a:ext cx="4727448" cy="35661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75" b="1">
                <a:solidFill>
                  <a:srgbClr val="FFFFFF"/>
                </a:solidFill>
                <a:latin typeface="Microsoft YaHei"/>
              </a:defRPr>
            </a:pPr>
            <a:r>
              <a:rPr sz="775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7728" y="1078992"/>
            <a:ext cx="3657600" cy="42976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04304" y="1115568"/>
            <a:ext cx="3584448" cy="35661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75" b="1">
                <a:solidFill>
                  <a:srgbClr val="FFFFFF"/>
                </a:solidFill>
                <a:latin typeface="Microsoft YaHei"/>
              </a:defRPr>
            </a:pPr>
            <a:r>
              <a:rPr sz="775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1508760"/>
            <a:ext cx="1508760" cy="4297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1540763"/>
            <a:ext cx="1417319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1">
                <a:solidFill>
                  <a:srgbClr val="0F172A"/>
                </a:solidFill>
                <a:latin typeface="Microsoft YaHei"/>
              </a:defRPr>
            </a:pPr>
            <a:r>
              <a:rPr sz="775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67128" y="1508760"/>
            <a:ext cx="4800600" cy="4297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12848" y="1540763"/>
            <a:ext cx="4709160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0">
                <a:solidFill>
                  <a:srgbClr val="0F172A"/>
                </a:solidFill>
                <a:latin typeface="Microsoft YaHei"/>
              </a:defRPr>
            </a:pPr>
            <a:r>
              <a:rPr sz="775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67728" y="1508760"/>
            <a:ext cx="3657600" cy="4297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1540763"/>
            <a:ext cx="3566160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0">
                <a:solidFill>
                  <a:srgbClr val="0F172A"/>
                </a:solidFill>
                <a:latin typeface="Microsoft YaHei"/>
              </a:defRPr>
            </a:pPr>
            <a:r>
              <a:rPr sz="775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1938528"/>
            <a:ext cx="1508760" cy="4297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1970532"/>
            <a:ext cx="1417319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1">
                <a:solidFill>
                  <a:srgbClr val="0F172A"/>
                </a:solidFill>
                <a:latin typeface="Microsoft YaHei"/>
              </a:defRPr>
            </a:pPr>
            <a:r>
              <a:rPr sz="775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67128" y="1938528"/>
            <a:ext cx="4800600" cy="4297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12848" y="1970532"/>
            <a:ext cx="4709160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0">
                <a:solidFill>
                  <a:srgbClr val="0F172A"/>
                </a:solidFill>
                <a:latin typeface="Microsoft YaHei"/>
              </a:defRPr>
            </a:pPr>
            <a:r>
              <a:rPr sz="775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1938528"/>
            <a:ext cx="3657600" cy="4297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13448" y="1970532"/>
            <a:ext cx="3566160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0">
                <a:solidFill>
                  <a:srgbClr val="0F172A"/>
                </a:solidFill>
                <a:latin typeface="Microsoft YaHei"/>
              </a:defRPr>
            </a:pPr>
            <a:r>
              <a:rPr sz="775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2368296"/>
            <a:ext cx="1508760" cy="4297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2400300"/>
            <a:ext cx="1417319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1">
                <a:solidFill>
                  <a:srgbClr val="0F172A"/>
                </a:solidFill>
                <a:latin typeface="Microsoft YaHei"/>
              </a:defRPr>
            </a:pPr>
            <a:r>
              <a:rPr sz="775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67128" y="2368296"/>
            <a:ext cx="4800600" cy="4297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12848" y="2400300"/>
            <a:ext cx="4709160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0">
                <a:solidFill>
                  <a:srgbClr val="0F172A"/>
                </a:solidFill>
                <a:latin typeface="Microsoft YaHei"/>
              </a:defRPr>
            </a:pPr>
            <a:r>
              <a:rPr sz="775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67728" y="2368296"/>
            <a:ext cx="3657600" cy="4297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13448" y="2400300"/>
            <a:ext cx="3566160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0">
                <a:solidFill>
                  <a:srgbClr val="0F172A"/>
                </a:solidFill>
                <a:latin typeface="Microsoft YaHei"/>
              </a:defRPr>
            </a:pPr>
            <a:r>
              <a:rPr sz="775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2798063"/>
            <a:ext cx="1508760" cy="4297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2830068"/>
            <a:ext cx="1417319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1">
                <a:solidFill>
                  <a:srgbClr val="0F172A"/>
                </a:solidFill>
                <a:latin typeface="Microsoft YaHei"/>
              </a:defRPr>
            </a:pPr>
            <a:r>
              <a:rPr sz="775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67128" y="2798063"/>
            <a:ext cx="4800600" cy="4297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12848" y="2830068"/>
            <a:ext cx="4709160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0">
                <a:solidFill>
                  <a:srgbClr val="0F172A"/>
                </a:solidFill>
                <a:latin typeface="Microsoft YaHei"/>
              </a:defRPr>
            </a:pPr>
            <a:r>
              <a:rPr sz="775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67728" y="2798063"/>
            <a:ext cx="3657600" cy="4297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13448" y="2830068"/>
            <a:ext cx="3566160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0">
                <a:solidFill>
                  <a:srgbClr val="0F172A"/>
                </a:solidFill>
                <a:latin typeface="Microsoft YaHei"/>
              </a:defRPr>
            </a:pPr>
            <a:r>
              <a:rPr sz="775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227831"/>
            <a:ext cx="1508760" cy="4297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4088" y="3259835"/>
            <a:ext cx="1417319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1">
                <a:solidFill>
                  <a:srgbClr val="0F172A"/>
                </a:solidFill>
                <a:latin typeface="Microsoft YaHei"/>
              </a:defRPr>
            </a:pPr>
            <a:r>
              <a:rPr sz="775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67128" y="3227831"/>
            <a:ext cx="4800600" cy="4297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12848" y="3259835"/>
            <a:ext cx="4709160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0">
                <a:solidFill>
                  <a:srgbClr val="0F172A"/>
                </a:solidFill>
                <a:latin typeface="Microsoft YaHei"/>
              </a:defRPr>
            </a:pPr>
            <a:r>
              <a:rPr sz="775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67728" y="3227831"/>
            <a:ext cx="3657600" cy="4297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13448" y="3259835"/>
            <a:ext cx="3566160" cy="365759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75" b="0">
                <a:solidFill>
                  <a:srgbClr val="0F172A"/>
                </a:solidFill>
                <a:latin typeface="Microsoft YaHei"/>
              </a:defRPr>
            </a:pPr>
            <a:r>
              <a:rPr sz="775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20624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PRE FOR Big Data and Urban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93776"/>
            <a:ext cx="438912" cy="2286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17904" y="246888"/>
            <a:ext cx="804672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85216"/>
            <a:ext cx="850392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历史出行规律 + 疫情事件修正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19 / 19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2 tasks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 count + modes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用历史 NHTS 学正常出行规律，用 LLM 事件先验修正 2022 疫情后的出行变化。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