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7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962D71"/>
    <a:srgbClr val="822370"/>
    <a:srgbClr val="59156B"/>
    <a:srgbClr val="812153"/>
    <a:srgbClr val="00336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无样式，无网格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3C2FFA5D-87B4-456A-9821-1D502468CF0F}" styleName="主题样式 1 - 强调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284E427A-3D55-4303-BF80-6455036E1DE7}" styleName="主题样式 1 - 强调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  <a:tblStyle styleId="{9D7B26C5-4107-4FEC-AEDC-1716B250A1EF}" styleName="浅色样式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5940675A-B579-460E-94D1-54222C63F5DA}" styleName="无样式，网格型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306799F8-075E-4A3A-A7F6-7FBC6576F1A4}" styleName="主题样式 2 - 强调 3">
    <a:tblBg>
      <a:fillRef idx="3">
        <a:schemeClr val="accent3"/>
      </a:fillRef>
      <a:effectRef idx="3">
        <a:schemeClr val="accent3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3">
                <a:tint val="50000"/>
              </a:schemeClr>
            </a:lnRef>
          </a:left>
          <a:right>
            <a:lnRef idx="1">
              <a:schemeClr val="accent3">
                <a:tint val="50000"/>
              </a:schemeClr>
            </a:lnRef>
          </a:right>
          <a:top>
            <a:lnRef idx="1">
              <a:schemeClr val="accent3">
                <a:tint val="50000"/>
              </a:schemeClr>
            </a:lnRef>
          </a:top>
          <a:bottom>
            <a:lnRef idx="1">
              <a:schemeClr val="accent3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中度样式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125E5076-3810-47DD-B79F-674D7AD40C01}" styleName="深色样式 1 - 强调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wholeTbl>
    <a:band1H>
      <a:tcStyle>
        <a:tcBdr/>
        <a:fill>
          <a:solidFill>
            <a:schemeClr val="accent1">
              <a:shade val="60000"/>
            </a:schemeClr>
          </a:solidFill>
        </a:fill>
      </a:tcStyle>
    </a:band1H>
    <a:band1V>
      <a:tcStyle>
        <a:tcBdr/>
        <a:fill>
          <a:solidFill>
            <a:schemeClr val="accent1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1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1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1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1216"/>
    <p:restoredTop sz="87611"/>
  </p:normalViewPr>
  <p:slideViewPr>
    <p:cSldViewPr snapToGrid="0">
      <p:cViewPr varScale="1">
        <p:scale>
          <a:sx n="69" d="100"/>
          <a:sy n="69" d="100"/>
        </p:scale>
        <p:origin x="816" y="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37" Type="http://schemas.openxmlformats.org/officeDocument/2006/relationships/notesMaster" Target="notesMasters/notesMaster1.xml"/><Relationship Id="rId38" Type="http://schemas.openxmlformats.org/officeDocument/2006/relationships/presProps" Target="presProps.xml"/><Relationship Id="rId39" Type="http://schemas.openxmlformats.org/officeDocument/2006/relationships/viewProps" Target="viewProps.xml"/><Relationship Id="rId40" Type="http://schemas.openxmlformats.org/officeDocument/2006/relationships/theme" Target="theme/theme1.xml"/><Relationship Id="rId41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B7C9EA5-FFC8-914E-8FCA-A7534D56BDB4}" type="datetimeFigureOut">
              <a:rPr kumimoji="1" lang="zh-CN" altLang="en-US" smtClean="0"/>
              <a:t>2026/6/9</a:t>
            </a:fld>
            <a:endParaRPr kumimoji="1"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DD7C717-45A6-3141-B281-E423F6A4A12E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402782063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23498C3-D54F-2DF0-7F6C-1B9AF4E4127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43AA32A8-846D-B4D2-587A-5AF89E8879D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BADF113A-3AF1-A60E-0C1E-5D94E58DE2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38DAC0-CE62-D141-B832-686CBE4253BA}" type="datetimeFigureOut">
              <a:rPr kumimoji="1" lang="zh-CN" altLang="en-US" smtClean="0"/>
              <a:t>2026/6/9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5245AFD9-4E22-F4DD-0E0A-B568FE201D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E01A49AA-BD73-1626-CF55-95797BC97A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45BADA-1024-0545-A29F-910C83BB960C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43947467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9923C81-B4F4-AE67-A990-8D68CC1C0C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68B56CAD-1703-340B-AA2A-D6FE89B722C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6CE8D7E-3D4A-5E1E-C664-8DAE368D12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38DAC0-CE62-D141-B832-686CBE4253BA}" type="datetimeFigureOut">
              <a:rPr kumimoji="1" lang="zh-CN" altLang="en-US" smtClean="0"/>
              <a:t>2026/6/9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B6DF0354-DAD3-1ED2-A3EA-829EA2A28B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5770C08E-E57D-5621-512B-98CB8A6C40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45BADA-1024-0545-A29F-910C83BB960C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99630752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8AFCAEF-33E4-C4BA-47CA-D86D636D05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C4DE1394-35DE-30A7-C3F0-D42EF6327ED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8CD0C23B-8B3D-39CF-2F7F-B7661D806A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38DAC0-CE62-D141-B832-686CBE4253BA}" type="datetimeFigureOut">
              <a:rPr kumimoji="1" lang="zh-CN" altLang="en-US" smtClean="0"/>
              <a:t>2026/6/9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B1C6254B-D5DA-E555-1E3D-D0572D78B3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63CFAF2F-4286-8494-8BA1-3953EBB916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45BADA-1024-0545-A29F-910C83BB960C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70334157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4697836-44FE-148D-B4E6-69AAA72C7D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F8029AB3-8B12-B414-CB0B-E0DC4050A72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20BCD0A2-02B2-C5BB-A27A-647C7F31A2A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DC9B2010-FF3A-2EC4-6BF5-A4263AA1D3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38DAC0-CE62-D141-B832-686CBE4253BA}" type="datetimeFigureOut">
              <a:rPr kumimoji="1" lang="zh-CN" altLang="en-US" smtClean="0"/>
              <a:t>2026/6/9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A9537D9D-C7C0-051E-9789-69823169EB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84AF71E1-6419-34DB-16D7-37627522EE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45BADA-1024-0545-A29F-910C83BB960C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6820603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428247B-C24A-C0D1-4474-91AF8B3BED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52446941-472D-F7AF-33E6-69A5AE2FC6E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3CE7BB1A-5AFE-5616-5CB0-CC0E870F349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01FAB0A6-A480-1DF9-6229-2C5AE531520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80CF117F-3F02-A468-4523-9541C3F8419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D50863CB-1B22-C361-F330-BF437FA7BC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38DAC0-CE62-D141-B832-686CBE4253BA}" type="datetimeFigureOut">
              <a:rPr kumimoji="1" lang="zh-CN" altLang="en-US" smtClean="0"/>
              <a:t>2026/6/9</a:t>
            </a:fld>
            <a:endParaRPr kumimoji="1"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71631CB1-DCDD-BAF7-533A-438EF52025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EB61FAEA-67A0-07BF-0AE0-F2E9D12FD2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45BADA-1024-0545-A29F-910C83BB960C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00595542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CCF3D23-12E5-4FE1-2410-F9B4E586E8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21649DFA-CEE1-4EE9-E631-8EA8695D01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38DAC0-CE62-D141-B832-686CBE4253BA}" type="datetimeFigureOut">
              <a:rPr kumimoji="1" lang="zh-CN" altLang="en-US" smtClean="0"/>
              <a:t>2026/6/9</a:t>
            </a:fld>
            <a:endParaRPr kumimoji="1"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A9638806-E19A-1D0C-3BBD-61CC2FF75D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BF7FC78C-AA00-43F7-42B0-A3A71DC216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45BADA-1024-0545-A29F-910C83BB960C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49612368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B1B3B159-E48A-C230-5F68-D4C9E6E7A4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38DAC0-CE62-D141-B832-686CBE4253BA}" type="datetimeFigureOut">
              <a:rPr kumimoji="1" lang="zh-CN" altLang="en-US" smtClean="0"/>
              <a:t>2026/6/9</a:t>
            </a:fld>
            <a:endParaRPr kumimoji="1"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8674C26E-FE58-8847-BCAA-826ED841AB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5FB92021-DD8F-1E2F-FC7D-A926ADCEF1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45BADA-1024-0545-A29F-910C83BB960C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8650510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BFB012C-D2D8-A8B2-979D-DDEB5E3286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D22278AF-E913-D049-09D5-ED27D8C2B3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7ECE38B4-FDD8-FB1F-F478-F9585CFB6BE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E852B11F-DE93-C6ED-AE88-6A2934A875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38DAC0-CE62-D141-B832-686CBE4253BA}" type="datetimeFigureOut">
              <a:rPr kumimoji="1" lang="zh-CN" altLang="en-US" smtClean="0"/>
              <a:t>2026/6/9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F3C3D0ED-E64B-E4EC-CA1C-FDC291B225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FF547D80-7489-4C54-228A-CC5D544785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45BADA-1024-0545-A29F-910C83BB960C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75076092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93B61D0-68D4-774B-DDFC-371EC2FAEE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70A16EC5-2B61-A2F9-8C22-E9C0728BEFA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B3897952-8CEB-D716-E25F-92ABBE2F30E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EB4628F6-DC0D-1F1C-10C8-CC022BDD11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38DAC0-CE62-D141-B832-686CBE4253BA}" type="datetimeFigureOut">
              <a:rPr kumimoji="1" lang="zh-CN" altLang="en-US" smtClean="0"/>
              <a:t>2026/6/9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304BA56B-6D65-1C1D-1814-C4956BD68D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6F9F3A70-1A12-46D3-8741-7C6EB9B142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45BADA-1024-0545-A29F-910C83BB960C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78573980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2CA8388-E75C-91D0-3494-45A24A8969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2382C16C-CAD8-5E55-36BB-39DDC05A6D3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D7DB5697-30DA-1FAB-7CDA-B8CAFEE4E7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38DAC0-CE62-D141-B832-686CBE4253BA}" type="datetimeFigureOut">
              <a:rPr kumimoji="1" lang="zh-CN" altLang="en-US" smtClean="0"/>
              <a:t>2026/6/9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F7C0735D-6289-D301-6E7C-F9DB9FEB56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FDBD317E-DBD7-B38E-069E-BC2B2B6C26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45BADA-1024-0545-A29F-910C83BB960C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9202423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1DE36967-6EFD-2898-86C8-B768B0340A4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77EFE42D-5F60-C7C1-EAF6-446586C3DFE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4510EEEF-2B2A-90EA-003D-61BD0D7608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38DAC0-CE62-D141-B832-686CBE4253BA}" type="datetimeFigureOut">
              <a:rPr kumimoji="1" lang="zh-CN" altLang="en-US" smtClean="0"/>
              <a:t>2026/6/9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E256FC1C-7D18-D347-F7BE-AEBC88002D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7018F0DE-F492-1F7A-367E-4676913D74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45BADA-1024-0545-A29F-910C83BB960C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91098979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3298137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研究问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 6"/>
          <p:cNvSpPr/>
          <p:nvPr userDrawn="1"/>
        </p:nvSpPr>
        <p:spPr>
          <a:xfrm>
            <a:off x="146379" y="-2"/>
            <a:ext cx="1365649" cy="685800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en-US" altLang="zh-CN" sz="3600" b="1" i="0" u="none" strike="noStrike" kern="1200" cap="none" spc="0" normalizeH="0" baseline="0" noProof="0" dirty="0">
              <a:ln>
                <a:noFill/>
              </a:ln>
              <a:solidFill>
                <a:srgbClr val="A5A5A5">
                  <a:lumMod val="75000"/>
                </a:srgb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uLnTx/>
              <a:uFillTx/>
              <a:latin typeface="Arial" panose="020B0604020202020204"/>
              <a:ea typeface="微软雅黑" panose="020B0503020204020204" charset="-122"/>
              <a:cs typeface="+mn-cs"/>
              <a:sym typeface="Arial" panose="020B0604020202020204"/>
            </a:endParaRPr>
          </a:p>
        </p:txBody>
      </p:sp>
      <p:sp>
        <p:nvSpPr>
          <p:cNvPr id="9" name="TextBox 18"/>
          <p:cNvSpPr>
            <a:spLocks noChangeArrowheads="1"/>
          </p:cNvSpPr>
          <p:nvPr userDrawn="1"/>
        </p:nvSpPr>
        <p:spPr bwMode="auto">
          <a:xfrm>
            <a:off x="278834" y="421090"/>
            <a:ext cx="1100737" cy="1200262"/>
          </a:xfrm>
          <a:prstGeom prst="rect">
            <a:avLst/>
          </a:prstGeom>
          <a:noFill/>
          <a:ln>
            <a:noFill/>
          </a:ln>
        </p:spPr>
        <p:txBody>
          <a:bodyPr wrap="square" lIns="91374" tIns="45687" rIns="91374" bIns="45687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36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  <a:sym typeface="方正大黑简体" pitchFamily="65" charset="-122"/>
              </a:rPr>
              <a:t>模型算法</a:t>
            </a:r>
          </a:p>
        </p:txBody>
      </p:sp>
      <p:sp>
        <p:nvSpPr>
          <p:cNvPr id="11" name="矩形 10"/>
          <p:cNvSpPr/>
          <p:nvPr userDrawn="1"/>
        </p:nvSpPr>
        <p:spPr>
          <a:xfrm>
            <a:off x="328060" y="5735781"/>
            <a:ext cx="1002283" cy="923617"/>
          </a:xfrm>
          <a:prstGeom prst="rect">
            <a:avLst/>
          </a:prstGeom>
          <a:noFill/>
          <a:ln w="53975">
            <a:solidFill>
              <a:schemeClr val="bg1"/>
            </a:solidFill>
            <a:miter lim="800000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altLang="zh-CN" sz="32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</a:rPr>
              <a:t>04</a:t>
            </a:r>
            <a:endParaRPr kumimoji="0" lang="zh-CN" altLang="en-US" sz="32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+mn-cs"/>
            </a:endParaRPr>
          </a:p>
        </p:txBody>
      </p:sp>
      <p:sp>
        <p:nvSpPr>
          <p:cNvPr id="14" name="TextBox 18"/>
          <p:cNvSpPr>
            <a:spLocks noChangeArrowheads="1"/>
          </p:cNvSpPr>
          <p:nvPr userDrawn="1"/>
        </p:nvSpPr>
        <p:spPr bwMode="auto">
          <a:xfrm>
            <a:off x="367603" y="1621353"/>
            <a:ext cx="923196" cy="3986376"/>
          </a:xfrm>
          <a:prstGeom prst="rect">
            <a:avLst/>
          </a:prstGeom>
          <a:noFill/>
          <a:ln>
            <a:noFill/>
          </a:ln>
        </p:spPr>
        <p:txBody>
          <a:bodyPr vert="vert270" wrap="square" lIns="91374" tIns="45687" rIns="91374" bIns="45687">
            <a:spAutoFit/>
          </a:bodyPr>
          <a:lstStyle/>
          <a:p>
            <a:pPr marL="0" marR="0" lvl="0" indent="0" algn="just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fr-FR" altLang="zh-CN" sz="24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  <a:sym typeface="方正大黑简体" pitchFamily="65" charset="-122"/>
              </a:rPr>
              <a:t>MODEL </a:t>
            </a:r>
          </a:p>
          <a:p>
            <a:pPr marL="0" marR="0" lvl="0" indent="0" algn="just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fr-FR" altLang="zh-CN" sz="24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  <a:sym typeface="方正大黑简体" pitchFamily="65" charset="-122"/>
              </a:rPr>
              <a:t>ALGORITHM</a:t>
            </a:r>
          </a:p>
        </p:txBody>
      </p:sp>
      <p:cxnSp>
        <p:nvCxnSpPr>
          <p:cNvPr id="3" name="直线连接符 7"/>
          <p:cNvCxnSpPr/>
          <p:nvPr userDrawn="1"/>
        </p:nvCxnSpPr>
        <p:spPr>
          <a:xfrm>
            <a:off x="1505543" y="586296"/>
            <a:ext cx="10686457" cy="0"/>
          </a:xfrm>
          <a:prstGeom prst="line">
            <a:avLst/>
          </a:prstGeom>
          <a:ln w="47625">
            <a:gradFill flip="none" rotWithShape="1">
              <a:gsLst>
                <a:gs pos="0">
                  <a:schemeClr val="bg1">
                    <a:lumMod val="50000"/>
                  </a:schemeClr>
                </a:gs>
                <a:gs pos="100000">
                  <a:schemeClr val="bg1"/>
                </a:gs>
              </a:gsLst>
              <a:lin ang="0" scaled="1"/>
              <a:tileRect/>
            </a:gradFill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4" name="TextBox 12"/>
          <p:cNvSpPr txBox="1">
            <a:spLocks noChangeArrowheads="1"/>
          </p:cNvSpPr>
          <p:nvPr userDrawn="1"/>
        </p:nvSpPr>
        <p:spPr bwMode="auto">
          <a:xfrm>
            <a:off x="8710489" y="143606"/>
            <a:ext cx="4364233" cy="436880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wrap="square" lIns="108841" tIns="108000" rIns="432000" bIns="10800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1" i="0" u="none" strike="noStrike" kern="0" cap="none" spc="0" normalizeH="0" baseline="0" noProof="0" dirty="0">
                <a:ln w="12700">
                  <a:noFill/>
                  <a:prstDash val="solid"/>
                </a:ln>
                <a:solidFill>
                  <a:prstClr val="black"/>
                </a:solidFill>
                <a:effectLst>
                  <a:outerShdw blurRad="41275" dist="20320" dir="1800000" algn="tl" rotWithShape="0">
                    <a:srgbClr val="000000">
                      <a:alpha val="40000"/>
                    </a:srgbClr>
                  </a:outerShdw>
                </a:effectLst>
                <a:uLnTx/>
                <a:uFillTx/>
                <a:latin typeface="Weibei SC Bold"/>
                <a:ea typeface="微软雅黑" panose="020B0503020204020204" charset="-122"/>
                <a:cs typeface="Weibei SC Bold"/>
              </a:rPr>
              <a:t>网红绿地影响因素及其与环境绅士化关系探究</a:t>
            </a:r>
          </a:p>
        </p:txBody>
      </p:sp>
    </p:spTree>
    <p:extLst>
      <p:ext uri="{BB962C8B-B14F-4D97-AF65-F5344CB8AC3E}">
        <p14:creationId xmlns:p14="http://schemas.microsoft.com/office/powerpoint/2010/main" val="21152286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1F087FCD-4307-F0F2-D3BD-38D65778AD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B1FF7AFB-CFCD-86FF-5E24-287E86B0084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F8EEC7E-945E-A690-7898-B1308AD699A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A38DAC0-CE62-D141-B832-686CBE4253BA}" type="datetimeFigureOut">
              <a:rPr kumimoji="1" lang="zh-CN" altLang="en-US" smtClean="0"/>
              <a:t>2026/6/9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65B91929-D260-3310-FA98-F4DCA18BF33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6A959924-338A-6333-1869-40B137FFAA0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245BADA-1024-0545-A29F-910C83BB960C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5662189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7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8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9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0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2A4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0771632" y="283464"/>
            <a:ext cx="914400" cy="56692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08" y="310896"/>
            <a:ext cx="841248" cy="59296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21792" y="713232"/>
            <a:ext cx="9052560" cy="8686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Microsoft YaHei"/>
              </a:defRPr>
            </a:pPr>
            <a:r>
              <a:rPr sz="2400" b="1">
                <a:solidFill>
                  <a:srgbClr val="FFFFFF"/>
                </a:solidFill>
                <a:latin typeface="Microsoft YaHei"/>
              </a:rPr>
              <a:t>疫情冲击下的家庭出行行为预测</a:t>
            </a:r>
            <a:br/>
            <a:r>
              <a:rPr sz="2400" b="1">
                <a:solidFill>
                  <a:srgbClr val="FFFFFF"/>
                </a:solidFill>
                <a:latin typeface="Microsoft YaHei"/>
              </a:rPr>
              <a:t>面向移动不平等与可持续出行评估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700784"/>
            <a:ext cx="859536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250" b="1">
                <a:solidFill>
                  <a:srgbClr val="CBD5E1"/>
                </a:solidFill>
                <a:latin typeface="Microsoft YaHei"/>
              </a:defRPr>
            </a:pPr>
            <a:r>
              <a:rPr sz="1250" b="1">
                <a:solidFill>
                  <a:srgbClr val="CBD5E1"/>
                </a:solidFill>
                <a:latin typeface="Microsoft YaHei"/>
              </a:rPr>
              <a:t>Pandemic-Aware Household Travel Behavior Prediction for Mobility Inequality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039112"/>
            <a:ext cx="8046720" cy="25603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000" b="0">
                <a:solidFill>
                  <a:srgbClr val="CBD5E1"/>
                </a:solidFill>
                <a:latin typeface="Microsoft YaHei"/>
              </a:defRPr>
            </a:pPr>
            <a:r>
              <a:rPr sz="1000" b="0">
                <a:solidFill>
                  <a:srgbClr val="CBD5E1"/>
                </a:solidFill>
                <a:latin typeface="Microsoft YaHei"/>
              </a:rPr>
              <a:t>传统监督模型 + LLM 事件先验；不使用 2022 目标标签校准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2743200"/>
            <a:ext cx="10881360" cy="9144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31520" y="3063240"/>
            <a:ext cx="2057400" cy="640080"/>
          </a:xfrm>
          <a:prstGeom prst="roundRect">
            <a:avLst/>
          </a:prstGeom>
          <a:solidFill>
            <a:srgbClr val="1E405B"/>
          </a:solidFill>
          <a:ln w="9525">
            <a:solidFill>
              <a:srgbClr val="0079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4672" y="3127248"/>
            <a:ext cx="1911095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919" b="1">
                <a:solidFill>
                  <a:srgbClr val="00796B"/>
                </a:solidFill>
                <a:latin typeface="Microsoft YaHei"/>
              </a:defRPr>
            </a:pPr>
            <a:r>
              <a:rPr sz="919" b="1">
                <a:solidFill>
                  <a:srgbClr val="00796B"/>
                </a:solidFill>
                <a:latin typeface="Microsoft YaHei"/>
              </a:rPr>
              <a:t>NHTS 历史数据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346704"/>
            <a:ext cx="1874519" cy="301751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80" b="0">
                <a:solidFill>
                  <a:srgbClr val="64748B"/>
                </a:solidFill>
                <a:latin typeface="Microsoft YaHei"/>
              </a:defRPr>
            </a:pPr>
            <a:r>
              <a:rPr sz="780" b="0">
                <a:solidFill>
                  <a:srgbClr val="64748B"/>
                </a:solidFill>
                <a:latin typeface="Microsoft YaHei"/>
              </a:rPr>
              <a:t>routine mobility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2834640" y="3264408"/>
            <a:ext cx="438912" cy="164592"/>
          </a:xfrm>
          <a:prstGeom prst="rightArrow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493008" y="3063240"/>
            <a:ext cx="2057400" cy="640080"/>
          </a:xfrm>
          <a:prstGeom prst="roundRect">
            <a:avLst/>
          </a:prstGeom>
          <a:solidFill>
            <a:srgbClr val="1E405B"/>
          </a:solidFill>
          <a:ln w="9525">
            <a:solidFill>
              <a:srgbClr val="0079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66160" y="3127248"/>
            <a:ext cx="1911095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919" b="1">
                <a:solidFill>
                  <a:srgbClr val="00796B"/>
                </a:solidFill>
                <a:latin typeface="Microsoft YaHei"/>
              </a:defRPr>
            </a:pPr>
            <a:r>
              <a:rPr sz="919" b="1">
                <a:solidFill>
                  <a:srgbClr val="00796B"/>
                </a:solidFill>
                <a:latin typeface="Microsoft YaHei"/>
              </a:rPr>
              <a:t>2022 疫情冲击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84448" y="3346704"/>
            <a:ext cx="1874519" cy="301751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80" b="0">
                <a:solidFill>
                  <a:srgbClr val="64748B"/>
                </a:solidFill>
                <a:latin typeface="Microsoft YaHei"/>
              </a:defRPr>
            </a:pPr>
            <a:r>
              <a:rPr sz="780" b="0">
                <a:solidFill>
                  <a:srgbClr val="64748B"/>
                </a:solidFill>
                <a:latin typeface="Microsoft YaHei"/>
              </a:rPr>
              <a:t>event-driven shift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5596128" y="3264408"/>
            <a:ext cx="438912" cy="164592"/>
          </a:xfrm>
          <a:prstGeom prst="rightArrow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254496" y="3063240"/>
            <a:ext cx="2057400" cy="640080"/>
          </a:xfrm>
          <a:prstGeom prst="roundRect">
            <a:avLst/>
          </a:prstGeom>
          <a:solidFill>
            <a:srgbClr val="1E405B"/>
          </a:solidFill>
          <a:ln w="9525">
            <a:solidFill>
              <a:srgbClr val="0079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27648" y="3127248"/>
            <a:ext cx="1911095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919" b="1">
                <a:solidFill>
                  <a:srgbClr val="00796B"/>
                </a:solidFill>
                <a:latin typeface="Microsoft YaHei"/>
              </a:defRPr>
            </a:pPr>
            <a:r>
              <a:rPr sz="919" b="1">
                <a:solidFill>
                  <a:srgbClr val="00796B"/>
                </a:solidFill>
                <a:latin typeface="Microsoft YaHei"/>
              </a:rPr>
              <a:t>LLM 事件先验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45936" y="3346704"/>
            <a:ext cx="1874519" cy="301751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80" b="0">
                <a:solidFill>
                  <a:srgbClr val="64748B"/>
                </a:solidFill>
                <a:latin typeface="Microsoft YaHei"/>
              </a:defRPr>
            </a:pPr>
            <a:r>
              <a:rPr sz="780" b="0">
                <a:solidFill>
                  <a:srgbClr val="64748B"/>
                </a:solidFill>
                <a:latin typeface="Microsoft YaHei"/>
              </a:rPr>
              <a:t>event correction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8357616" y="3264408"/>
            <a:ext cx="438912" cy="164592"/>
          </a:xfrm>
          <a:prstGeom prst="rightArrow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9015984" y="3063240"/>
            <a:ext cx="2057400" cy="640080"/>
          </a:xfrm>
          <a:prstGeom prst="roundRect">
            <a:avLst/>
          </a:prstGeom>
          <a:solidFill>
            <a:srgbClr val="1E405B"/>
          </a:solidFill>
          <a:ln w="9525">
            <a:solidFill>
              <a:srgbClr val="0079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089136" y="3127248"/>
            <a:ext cx="1911095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919" b="1">
                <a:solidFill>
                  <a:srgbClr val="00796B"/>
                </a:solidFill>
                <a:latin typeface="Microsoft YaHei"/>
              </a:defRPr>
            </a:pPr>
            <a:r>
              <a:rPr sz="919" b="1">
                <a:solidFill>
                  <a:srgbClr val="00796B"/>
                </a:solidFill>
                <a:latin typeface="Microsoft YaHei"/>
              </a:rPr>
              <a:t>家庭出行行为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07424" y="3346704"/>
            <a:ext cx="1874519" cy="301751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80" b="0">
                <a:solidFill>
                  <a:srgbClr val="64748B"/>
                </a:solidFill>
                <a:latin typeface="Microsoft YaHei"/>
              </a:defRPr>
            </a:pPr>
            <a:r>
              <a:rPr sz="780" b="0">
                <a:solidFill>
                  <a:srgbClr val="64748B"/>
                </a:solidFill>
                <a:latin typeface="Microsoft YaHei"/>
              </a:rPr>
              <a:t>trips + modes + purposes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49808" y="4617720"/>
            <a:ext cx="2331720" cy="8229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49808" y="4617720"/>
            <a:ext cx="50292" cy="8229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77824" y="4690872"/>
            <a:ext cx="2112263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Trip-count MAE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7824" y="4864608"/>
            <a:ext cx="2112263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2563EB"/>
                </a:solidFill>
                <a:latin typeface="Microsoft YaHei"/>
              </a:defRPr>
            </a:pPr>
            <a:r>
              <a:rPr sz="1600" b="1">
                <a:solidFill>
                  <a:srgbClr val="2563EB"/>
                </a:solidFill>
                <a:latin typeface="Microsoft YaHei"/>
              </a:rPr>
              <a:t>-42.3%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77824" y="5175504"/>
            <a:ext cx="2112263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vs ordinary XGBoost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364992" y="4617720"/>
            <a:ext cx="2331720" cy="8229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364992" y="4617720"/>
            <a:ext cx="50292" cy="822960"/>
          </a:xfrm>
          <a:prstGeom prst="rect">
            <a:avLst/>
          </a:prstGeom>
          <a:solidFill>
            <a:srgbClr val="1987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493008" y="4690872"/>
            <a:ext cx="2112263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Weighted bias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493008" y="4864608"/>
            <a:ext cx="2112263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198754"/>
                </a:solidFill>
                <a:latin typeface="Microsoft YaHei"/>
              </a:defRPr>
            </a:pPr>
            <a:r>
              <a:rPr sz="1600" b="1">
                <a:solidFill>
                  <a:srgbClr val="198754"/>
                </a:solidFill>
                <a:latin typeface="Microsoft YaHei"/>
              </a:rPr>
              <a:t>-0.023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493008" y="5175504"/>
            <a:ext cx="2112263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nearly unbiased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980176" y="4617720"/>
            <a:ext cx="2331720" cy="8229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980176" y="4617720"/>
            <a:ext cx="50292" cy="82296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108192" y="4690872"/>
            <a:ext cx="2112263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Within 2 trips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108192" y="4864608"/>
            <a:ext cx="2112263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EA580C"/>
                </a:solidFill>
                <a:latin typeface="Microsoft YaHei"/>
              </a:defRPr>
            </a:pPr>
            <a:r>
              <a:rPr sz="1600" b="1">
                <a:solidFill>
                  <a:srgbClr val="EA580C"/>
                </a:solidFill>
                <a:latin typeface="Microsoft YaHei"/>
              </a:rPr>
              <a:t>54.5%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108192" y="5175504"/>
            <a:ext cx="2112263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household tolerance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595360" y="4617720"/>
            <a:ext cx="2331720" cy="8229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8595360" y="4617720"/>
            <a:ext cx="50292" cy="822960"/>
          </a:xfrm>
          <a:prstGeom prst="rect">
            <a:avLst/>
          </a:prstGeom>
          <a:solidFill>
            <a:srgbClr val="5B2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723376" y="4690872"/>
            <a:ext cx="2112263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Behavior scope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723376" y="4864608"/>
            <a:ext cx="2112263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5B21B6"/>
                </a:solidFill>
                <a:latin typeface="Microsoft YaHei"/>
              </a:defRPr>
            </a:pPr>
            <a:r>
              <a:rPr sz="1600" b="1">
                <a:solidFill>
                  <a:srgbClr val="5B21B6"/>
                </a:solidFill>
                <a:latin typeface="Microsoft YaHei"/>
              </a:rPr>
              <a:t>3+ outputs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723376" y="5175504"/>
            <a:ext cx="2112263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trips / modes / purposes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58368" y="6245352"/>
            <a:ext cx="4480560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00" b="1">
                <a:solidFill>
                  <a:srgbClr val="CBD5E1"/>
                </a:solidFill>
                <a:latin typeface="Microsoft YaHei"/>
              </a:defRPr>
            </a:pPr>
            <a:r>
              <a:rPr sz="800" b="1">
                <a:solidFill>
                  <a:srgbClr val="CBD5E1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716768" y="6245352"/>
            <a:ext cx="777240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800" b="1">
                <a:solidFill>
                  <a:srgbClr val="CBD5E1"/>
                </a:solidFill>
                <a:latin typeface="Microsoft YaHei"/>
              </a:defRPr>
            </a:pPr>
            <a:r>
              <a:rPr sz="800" b="1">
                <a:solidFill>
                  <a:srgbClr val="CBD5E1"/>
                </a:solidFill>
                <a:latin typeface="Microsoft YaHei"/>
              </a:rPr>
              <a:t>01 / 22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48056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50292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400" b="1">
                <a:solidFill>
                  <a:srgbClr val="00796B"/>
                </a:solidFill>
                <a:latin typeface="Microsoft YaHei"/>
              </a:defRPr>
            </a:pPr>
            <a:r>
              <a:rPr sz="1400" b="1">
                <a:solidFill>
                  <a:srgbClr val="00796B"/>
                </a:solidFill>
                <a:latin typeface="Microsoft YaHei"/>
              </a:rPr>
              <a:t>00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246888"/>
            <a:ext cx="841248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50" b="1">
                <a:solidFill>
                  <a:srgbClr val="0F172A"/>
                </a:solidFill>
                <a:latin typeface="Microsoft YaHei"/>
              </a:defRPr>
            </a:pPr>
            <a:r>
              <a:rPr sz="1750" b="1">
                <a:solidFill>
                  <a:srgbClr val="0F172A"/>
                </a:solidFill>
                <a:latin typeface="Microsoft YaHei"/>
              </a:rPr>
              <a:t>目录 / Content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61288" y="585216"/>
            <a:ext cx="886968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从研究问题到技术路线，再到结果解释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6473952"/>
            <a:ext cx="521208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Pandemic-Aware Household Travel Behavior Prediction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52760" y="6473952"/>
            <a:ext cx="91440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02 / 22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325880"/>
            <a:ext cx="2834640" cy="4297680"/>
          </a:xfrm>
          <a:prstGeom prst="rect">
            <a:avLst/>
          </a:prstGeom>
          <a:solidFill>
            <a:srgbClr val="112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" y="2240280"/>
            <a:ext cx="1920240" cy="38404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Microsoft YaHei"/>
              </a:defRPr>
            </a:pPr>
            <a:r>
              <a:rPr sz="2000" b="1">
                <a:solidFill>
                  <a:srgbClr val="FFFFFF"/>
                </a:solidFill>
                <a:latin typeface="Microsoft YaHei"/>
              </a:rPr>
              <a:t>CONTENT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" y="2834640"/>
            <a:ext cx="2176272" cy="82296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000" b="0">
                <a:solidFill>
                  <a:srgbClr val="CBD5E1"/>
                </a:solidFill>
                <a:latin typeface="Microsoft YaHei"/>
              </a:defRPr>
            </a:pPr>
            <a:r>
              <a:rPr sz="1000" b="0">
                <a:solidFill>
                  <a:srgbClr val="CBD5E1"/>
                </a:solidFill>
                <a:latin typeface="Microsoft YaHei"/>
              </a:rPr>
              <a:t>10 分钟主线：</a:t>
            </a:r>
            <a:br/>
            <a:r>
              <a:rPr sz="1000" b="0">
                <a:solidFill>
                  <a:srgbClr val="CBD5E1"/>
                </a:solidFill>
                <a:latin typeface="Microsoft YaHei"/>
              </a:rPr>
              <a:t>为什么 2022 需要事件适应，LLM 如何提供可泛化的事件先验。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767328" y="1207008"/>
            <a:ext cx="457200" cy="457200"/>
          </a:xfrm>
          <a:prstGeom prst="round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813048" y="1280160"/>
            <a:ext cx="36576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rPr sz="1100" b="1">
                <a:solidFill>
                  <a:srgbClr val="FFFFFF"/>
                </a:solidFill>
                <a:latin typeface="Microsoft YaHei"/>
              </a:rPr>
              <a:t>01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07408" y="1225296"/>
            <a:ext cx="283464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Background &amp; gap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07408" y="1463040"/>
            <a:ext cx="6217920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疫情冲击、移动不平等与相关研究缺口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60520" y="1737360"/>
            <a:ext cx="6766560" cy="7315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3767328" y="2066543"/>
            <a:ext cx="457200" cy="457200"/>
          </a:xfrm>
          <a:prstGeom prst="round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813048" y="2139696"/>
            <a:ext cx="36576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rPr sz="1100" b="1">
                <a:solidFill>
                  <a:srgbClr val="FFFFFF"/>
                </a:solidFill>
                <a:latin typeface="Microsoft YaHei"/>
              </a:rPr>
              <a:t>02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07408" y="2084831"/>
            <a:ext cx="283464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Problem &amp; data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07408" y="2322576"/>
            <a:ext cx="6217920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家庭层面多输出 travel behavior system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160520" y="2596896"/>
            <a:ext cx="6766560" cy="7315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3767328" y="2926080"/>
            <a:ext cx="457200" cy="457200"/>
          </a:xfrm>
          <a:prstGeom prst="round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813048" y="2999232"/>
            <a:ext cx="36576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rPr sz="1100" b="1">
                <a:solidFill>
                  <a:srgbClr val="FFFFFF"/>
                </a:solidFill>
                <a:latin typeface="Microsoft YaHei"/>
              </a:rPr>
              <a:t>03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07408" y="2944368"/>
            <a:ext cx="283464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Method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07408" y="3182112"/>
            <a:ext cx="6217920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传统监督模型 × LLM event-generalizable priors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160520" y="3456432"/>
            <a:ext cx="6766560" cy="7315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3767328" y="3785615"/>
            <a:ext cx="457200" cy="457200"/>
          </a:xfrm>
          <a:prstGeom prst="round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813048" y="3858768"/>
            <a:ext cx="36576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rPr sz="1100" b="1">
                <a:solidFill>
                  <a:srgbClr val="FFFFFF"/>
                </a:solidFill>
                <a:latin typeface="Microsoft YaHei"/>
              </a:rPr>
              <a:t>04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07408" y="3803903"/>
            <a:ext cx="283464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Evaluation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407408" y="4041648"/>
            <a:ext cx="6217920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性能比较、置信区间、稳健性检验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160520" y="4315968"/>
            <a:ext cx="6766560" cy="7315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3767328" y="4645152"/>
            <a:ext cx="457200" cy="457200"/>
          </a:xfrm>
          <a:prstGeom prst="round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813048" y="4718304"/>
            <a:ext cx="36576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rPr sz="1100" b="1">
                <a:solidFill>
                  <a:srgbClr val="FFFFFF"/>
                </a:solidFill>
                <a:latin typeface="Microsoft YaHei"/>
              </a:rPr>
              <a:t>05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407408" y="4663440"/>
            <a:ext cx="283464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Insights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407408" y="4901184"/>
            <a:ext cx="6217920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出行强度、方式、目的与未来工作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160520" y="5175504"/>
            <a:ext cx="6766560" cy="7315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48056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50292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400" b="1">
                <a:solidFill>
                  <a:srgbClr val="00796B"/>
                </a:solidFill>
                <a:latin typeface="Microsoft YaHei"/>
              </a:defRPr>
            </a:pPr>
            <a:r>
              <a:rPr sz="1400" b="1">
                <a:solidFill>
                  <a:srgbClr val="00796B"/>
                </a:solidFill>
                <a:latin typeface="Microsoft YaHei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246888"/>
            <a:ext cx="841248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50" b="1">
                <a:solidFill>
                  <a:srgbClr val="0F172A"/>
                </a:solidFill>
                <a:latin typeface="Microsoft YaHei"/>
              </a:defRPr>
            </a:pPr>
            <a:r>
              <a:rPr sz="1750" b="1">
                <a:solidFill>
                  <a:srgbClr val="0F172A"/>
                </a:solidFill>
                <a:latin typeface="Microsoft YaHei"/>
              </a:rPr>
              <a:t>研究问题 / Research Gap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61288" y="585216"/>
            <a:ext cx="886968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2022 不是普通跨年预测 | 2022 is not an ordinary transfer year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6473952"/>
            <a:ext cx="521208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Pandemic-Aware Household Travel Behavior Prediction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52760" y="6473952"/>
            <a:ext cx="91440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03 / 22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" y="1170432"/>
            <a:ext cx="5074920" cy="457200"/>
          </a:xfrm>
          <a:prstGeom prst="rect">
            <a:avLst/>
          </a:prstGeom>
          <a:solidFill>
            <a:srgbClr val="112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1243584"/>
            <a:ext cx="5001768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Traditional framing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96712" y="1170432"/>
            <a:ext cx="5349240" cy="457200"/>
          </a:xfrm>
          <a:prstGeom prst="rect">
            <a:avLst/>
          </a:prstGeom>
          <a:solidFill>
            <a:srgbClr val="112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733288" y="1243584"/>
            <a:ext cx="5276088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Event-driven framing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" y="1627632"/>
            <a:ext cx="5074920" cy="45720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76656" y="1691640"/>
            <a:ext cx="496519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2017 -&gt; 2022 as smooth temporal transfer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96712" y="1627632"/>
            <a:ext cx="5349240" cy="45720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751575" y="1691640"/>
            <a:ext cx="523951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2022 as post-pandemic behavioral regime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1792" y="2084832"/>
            <a:ext cx="5074920" cy="45720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76656" y="2148840"/>
            <a:ext cx="496519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Covariates explain most household differences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696712" y="2084832"/>
            <a:ext cx="5349240" cy="45720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51575" y="2148840"/>
            <a:ext cx="523951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Household covariates miss remote work / transit avoidance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1792" y="2542032"/>
            <a:ext cx="5074920" cy="45720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76656" y="2606040"/>
            <a:ext cx="496519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Model failure means weak tabular learner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696712" y="2542032"/>
            <a:ext cx="5349240" cy="45720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751575" y="2606040"/>
            <a:ext cx="523951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Model failure reveals unobserved event mechanisms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21792" y="2999232"/>
            <a:ext cx="5074920" cy="45720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76656" y="3063240"/>
            <a:ext cx="496519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Tune on target labels if available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696712" y="2999232"/>
            <a:ext cx="5349240" cy="45720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751575" y="3063240"/>
            <a:ext cx="523951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Use no 2022 labels for training/calibration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58368" y="4343400"/>
            <a:ext cx="2377440" cy="786384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58368" y="4343400"/>
            <a:ext cx="50292" cy="786384"/>
          </a:xfrm>
          <a:prstGeom prst="rect">
            <a:avLst/>
          </a:prstGeom>
          <a:solidFill>
            <a:srgbClr val="BE1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86384" y="4416552"/>
            <a:ext cx="2157984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Ordinary XGBoost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86384" y="4590288"/>
            <a:ext cx="2157984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BE123C"/>
                </a:solidFill>
                <a:latin typeface="Microsoft YaHei"/>
              </a:defRPr>
            </a:pPr>
            <a:r>
              <a:rPr sz="1600" b="1">
                <a:solidFill>
                  <a:srgbClr val="BE123C"/>
                </a:solidFill>
                <a:latin typeface="Microsoft YaHei"/>
              </a:rPr>
              <a:t>4.34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86384" y="4901184"/>
            <a:ext cx="2157984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weighted MAE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273552" y="4343400"/>
            <a:ext cx="2377440" cy="786384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273552" y="4343400"/>
            <a:ext cx="50292" cy="786384"/>
          </a:xfrm>
          <a:prstGeom prst="rect">
            <a:avLst/>
          </a:prstGeom>
          <a:solidFill>
            <a:srgbClr val="BE1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401568" y="4416552"/>
            <a:ext cx="2157984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Systematic bias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401568" y="4590288"/>
            <a:ext cx="2157984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BE123C"/>
                </a:solidFill>
                <a:latin typeface="Microsoft YaHei"/>
              </a:defRPr>
            </a:pPr>
            <a:r>
              <a:rPr sz="1600" b="1">
                <a:solidFill>
                  <a:srgbClr val="BE123C"/>
                </a:solidFill>
                <a:latin typeface="Microsoft YaHei"/>
              </a:rPr>
              <a:t>+3.61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401568" y="4901184"/>
            <a:ext cx="2157984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over-predicts trips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5888736" y="4343400"/>
            <a:ext cx="2377440" cy="786384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5888736" y="4343400"/>
            <a:ext cx="50292" cy="786384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016752" y="4416552"/>
            <a:ext cx="2157984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Pre-COVID bias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016752" y="4590288"/>
            <a:ext cx="2157984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00796B"/>
                </a:solidFill>
                <a:latin typeface="Microsoft YaHei"/>
              </a:defRPr>
            </a:pPr>
            <a:r>
              <a:rPr sz="1600" b="1">
                <a:solidFill>
                  <a:srgbClr val="00796B"/>
                </a:solidFill>
                <a:latin typeface="Microsoft YaHei"/>
              </a:rPr>
              <a:t>0.90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016752" y="4901184"/>
            <a:ext cx="2157984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mean abs. wBias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8503920" y="4343400"/>
            <a:ext cx="2377440" cy="786384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8503920" y="4343400"/>
            <a:ext cx="50292" cy="78638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631936" y="4416552"/>
            <a:ext cx="2157984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Research target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631936" y="4590288"/>
            <a:ext cx="2157984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2563EB"/>
                </a:solidFill>
                <a:latin typeface="Microsoft YaHei"/>
              </a:defRPr>
            </a:pPr>
            <a:r>
              <a:rPr sz="1600" b="1">
                <a:solidFill>
                  <a:srgbClr val="2563EB"/>
                </a:solidFill>
                <a:latin typeface="Microsoft YaHei"/>
              </a:rPr>
              <a:t>adapt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631936" y="4901184"/>
            <a:ext cx="2157984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not just fit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749808" y="5230368"/>
            <a:ext cx="10012680" cy="1078992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749808" y="5230368"/>
            <a:ext cx="50292" cy="1078992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14400" y="5321807"/>
            <a:ext cx="9720072" cy="388437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核心问题：2022 的 weighted bias 远高于疫情前跨年验证；不使用 2022 标签调参时，能否用事件先验修正这种系统性高估。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14400" y="5774253"/>
            <a:ext cx="9720072" cy="46195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Microsoft YaHei"/>
              </a:defRPr>
            </a:pPr>
            <a:r>
              <a:rPr sz="1200" b="0">
                <a:solidFill>
                  <a:srgbClr val="64748B"/>
                </a:solidFill>
                <a:latin typeface="Microsoft YaHei"/>
              </a:rPr>
              <a:t>Core question: can event priors correct the post-pandemic overprediction without using 2022 target labels for calibration?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48056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50292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400" b="1">
                <a:solidFill>
                  <a:srgbClr val="00796B"/>
                </a:solidFill>
                <a:latin typeface="Microsoft YaHei"/>
              </a:defRPr>
            </a:pPr>
            <a:r>
              <a:rPr sz="1400" b="1">
                <a:solidFill>
                  <a:srgbClr val="00796B"/>
                </a:solidFill>
                <a:latin typeface="Microsoft YaHei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246888"/>
            <a:ext cx="841248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50" b="1">
                <a:solidFill>
                  <a:srgbClr val="0F172A"/>
                </a:solidFill>
                <a:latin typeface="Microsoft YaHei"/>
              </a:defRPr>
            </a:pPr>
            <a:r>
              <a:rPr sz="1750" b="1">
                <a:solidFill>
                  <a:srgbClr val="0F172A"/>
                </a:solidFill>
                <a:latin typeface="Microsoft YaHei"/>
              </a:rPr>
              <a:t>相关研究与缺口 / Related Work and Gap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61288" y="585216"/>
            <a:ext cx="886968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从交通预测到 LLM 事件泛化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6473952"/>
            <a:ext cx="521208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Pandemic-Aware Household Travel Behavior Prediction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52760" y="6473952"/>
            <a:ext cx="91440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04 / 22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94360" y="1115568"/>
            <a:ext cx="2331720" cy="658368"/>
          </a:xfrm>
          <a:prstGeom prst="rect">
            <a:avLst/>
          </a:prstGeom>
          <a:solidFill>
            <a:srgbClr val="1836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0936" y="1188720"/>
            <a:ext cx="2258568" cy="53035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研究方向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26079" y="1115568"/>
            <a:ext cx="3840480" cy="658368"/>
          </a:xfrm>
          <a:prstGeom prst="rect">
            <a:avLst/>
          </a:prstGeom>
          <a:solidFill>
            <a:srgbClr val="1836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962656" y="1188720"/>
            <a:ext cx="3767328" cy="53035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已有做法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766560" y="1115568"/>
            <a:ext cx="4297680" cy="658368"/>
          </a:xfrm>
          <a:prstGeom prst="rect">
            <a:avLst/>
          </a:prstGeom>
          <a:solidFill>
            <a:srgbClr val="1836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03136" y="1188720"/>
            <a:ext cx="4224528" cy="53035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本项目的切入点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94360" y="1773936"/>
            <a:ext cx="2331720" cy="65836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" y="1837943"/>
            <a:ext cx="2221991" cy="53035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Travel demand modeling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926079" y="1773936"/>
            <a:ext cx="3840480" cy="65836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980944" y="1837943"/>
            <a:ext cx="3730752" cy="53035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用 household covariates 预测出行强度/方式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766560" y="1773936"/>
            <a:ext cx="4297680" cy="65836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21424" y="1837943"/>
            <a:ext cx="4187952" cy="53035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2022 是疫情后 shift，不是普通外推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94360" y="2432304"/>
            <a:ext cx="2331720" cy="65836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9224" y="2496312"/>
            <a:ext cx="2221991" cy="53035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ML for NHTS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926079" y="2432304"/>
            <a:ext cx="3840480" cy="65836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980944" y="2496312"/>
            <a:ext cx="3730752" cy="53035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XGBoost 等模型捕捉非线性家庭差异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766560" y="2432304"/>
            <a:ext cx="4297680" cy="65836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21424" y="2496312"/>
            <a:ext cx="4187952" cy="53035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传统监督模型缺少事件机制变量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94360" y="3090672"/>
            <a:ext cx="2331720" cy="65836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9224" y="3154679"/>
            <a:ext cx="2221991" cy="53035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LLM mobility forecasting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926079" y="3090672"/>
            <a:ext cx="3840480" cy="65836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980944" y="3154679"/>
            <a:ext cx="3730752" cy="53035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利用文本事件、语义和少样本泛化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766560" y="3090672"/>
            <a:ext cx="4297680" cy="65836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21424" y="3154679"/>
            <a:ext cx="4187952" cy="53035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LLM 不直接预测 y，只生成 event priors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94360" y="3749039"/>
            <a:ext cx="2331720" cy="65836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9224" y="3813048"/>
            <a:ext cx="2221991" cy="53035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Sustainable mobility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926079" y="3749039"/>
            <a:ext cx="3840480" cy="65836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980944" y="3813048"/>
            <a:ext cx="3730752" cy="53035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关注 transit、active mobility 与不平等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766560" y="3749039"/>
            <a:ext cx="4297680" cy="65836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821424" y="3813048"/>
            <a:ext cx="4187952" cy="53035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输出扩展到 mode / purpose / derived trips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822960" y="4800600"/>
            <a:ext cx="9875520" cy="777240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024128" y="5047488"/>
            <a:ext cx="100584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000" b="1">
                <a:solidFill>
                  <a:srgbClr val="EA580C"/>
                </a:solidFill>
                <a:latin typeface="Microsoft YaHei"/>
              </a:defRPr>
            </a:pPr>
            <a:r>
              <a:rPr sz="1000" b="1">
                <a:solidFill>
                  <a:srgbClr val="EA580C"/>
                </a:solidFill>
                <a:latin typeface="Microsoft YaHei"/>
              </a:rPr>
              <a:t>研究缺口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057400" y="4910328"/>
            <a:ext cx="8183879" cy="38404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缺的不是更复杂的黑箱，而是一个能把“日常出行规律”和“疫情事件机制”组合起来、且不依赖 2022 标签校准的可解释框架。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48056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50292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400" b="1">
                <a:solidFill>
                  <a:srgbClr val="00796B"/>
                </a:solidFill>
                <a:latin typeface="Microsoft YaHei"/>
              </a:defRPr>
            </a:pPr>
            <a:r>
              <a:rPr sz="1400" b="1">
                <a:solidFill>
                  <a:srgbClr val="00796B"/>
                </a:solidFill>
                <a:latin typeface="Microsoft YaHei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246888"/>
            <a:ext cx="841248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50" b="1">
                <a:solidFill>
                  <a:srgbClr val="0F172A"/>
                </a:solidFill>
                <a:latin typeface="Microsoft YaHei"/>
              </a:defRPr>
            </a:pPr>
            <a:r>
              <a:rPr sz="1750" b="1">
                <a:solidFill>
                  <a:srgbClr val="0F172A"/>
                </a:solidFill>
                <a:latin typeface="Microsoft YaHei"/>
              </a:rPr>
              <a:t>数据与目标 / Data and Target System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61288" y="585216"/>
            <a:ext cx="886968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一个 household behavior system，多种 linked outputs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6473952"/>
            <a:ext cx="521208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Pandemic-Aware Household Travel Behavior Prediction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52760" y="6473952"/>
            <a:ext cx="91440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05 / 22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1389888"/>
            <a:ext cx="914400" cy="502920"/>
          </a:xfrm>
          <a:prstGeom prst="round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58952" y="1481328"/>
            <a:ext cx="768096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2001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1947672"/>
            <a:ext cx="137160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800" b="0">
                <a:solidFill>
                  <a:srgbClr val="64748B"/>
                </a:solidFill>
                <a:latin typeface="Microsoft YaHei"/>
              </a:defRPr>
            </a:pPr>
            <a:r>
              <a:rPr sz="800" b="0">
                <a:solidFill>
                  <a:srgbClr val="64748B"/>
                </a:solidFill>
                <a:latin typeface="Microsoft YaHei"/>
              </a:rPr>
              <a:t>history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1737360" y="1572768"/>
            <a:ext cx="658368" cy="146304"/>
          </a:xfrm>
          <a:prstGeom prst="rightArrow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108960" y="1389888"/>
            <a:ext cx="914400" cy="502920"/>
          </a:xfrm>
          <a:prstGeom prst="round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182112" y="1481328"/>
            <a:ext cx="768096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2009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80360" y="1947672"/>
            <a:ext cx="137160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800" b="0">
                <a:solidFill>
                  <a:srgbClr val="64748B"/>
                </a:solidFill>
                <a:latin typeface="Microsoft YaHei"/>
              </a:defRPr>
            </a:pPr>
            <a:r>
              <a:rPr sz="800" b="0">
                <a:solidFill>
                  <a:srgbClr val="64748B"/>
                </a:solidFill>
                <a:latin typeface="Microsoft YaHei"/>
              </a:rPr>
              <a:t>history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4160520" y="1572768"/>
            <a:ext cx="658368" cy="146304"/>
          </a:xfrm>
          <a:prstGeom prst="rightArrow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532120" y="1389888"/>
            <a:ext cx="914400" cy="502920"/>
          </a:xfrm>
          <a:prstGeom prst="round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05272" y="1481328"/>
            <a:ext cx="768096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2017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03520" y="1947672"/>
            <a:ext cx="137160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800" b="0">
                <a:solidFill>
                  <a:srgbClr val="64748B"/>
                </a:solidFill>
                <a:latin typeface="Microsoft YaHei"/>
              </a:defRPr>
            </a:pPr>
            <a:r>
              <a:rPr sz="800" b="0">
                <a:solidFill>
                  <a:srgbClr val="64748B"/>
                </a:solidFill>
                <a:latin typeface="Microsoft YaHei"/>
              </a:rPr>
              <a:t>history + mode base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6583679" y="1572768"/>
            <a:ext cx="658368" cy="146304"/>
          </a:xfrm>
          <a:prstGeom prst="rightArrow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7955279" y="1389888"/>
            <a:ext cx="914400" cy="502920"/>
          </a:xfrm>
          <a:prstGeom prst="round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28431" y="1481328"/>
            <a:ext cx="768096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2022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26679" y="1947672"/>
            <a:ext cx="137160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800" b="0">
                <a:solidFill>
                  <a:srgbClr val="64748B"/>
                </a:solidFill>
                <a:latin typeface="Microsoft YaHei"/>
              </a:defRPr>
            </a:pPr>
            <a:r>
              <a:rPr sz="800" b="0">
                <a:solidFill>
                  <a:srgbClr val="64748B"/>
                </a:solidFill>
                <a:latin typeface="Microsoft YaHei"/>
              </a:rPr>
              <a:t>post-pandemic eval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58368" y="2761488"/>
            <a:ext cx="2148840" cy="457200"/>
          </a:xfrm>
          <a:prstGeom prst="rect">
            <a:avLst/>
          </a:prstGeom>
          <a:solidFill>
            <a:srgbClr val="1836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94944" y="2834640"/>
            <a:ext cx="2075688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Output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807208" y="2761488"/>
            <a:ext cx="3200400" cy="457200"/>
          </a:xfrm>
          <a:prstGeom prst="rect">
            <a:avLst/>
          </a:prstGeom>
          <a:solidFill>
            <a:srgbClr val="1836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843784" y="2834640"/>
            <a:ext cx="3127248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Construction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007607" y="2761488"/>
            <a:ext cx="2788920" cy="457200"/>
          </a:xfrm>
          <a:prstGeom prst="rect">
            <a:avLst/>
          </a:prstGeom>
          <a:solidFill>
            <a:srgbClr val="1836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044183" y="2834640"/>
            <a:ext cx="2715768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Planning meaning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796528" y="2761488"/>
            <a:ext cx="2148840" cy="457200"/>
          </a:xfrm>
          <a:prstGeom prst="rect">
            <a:avLst/>
          </a:prstGeom>
          <a:solidFill>
            <a:srgbClr val="1836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833104" y="2834640"/>
            <a:ext cx="2075688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Main metric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58368" y="3218688"/>
            <a:ext cx="2148840" cy="45720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13232" y="3282696"/>
            <a:ext cx="203911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Trip generation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807208" y="3218688"/>
            <a:ext cx="3200400" cy="45720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862072" y="3282696"/>
            <a:ext cx="309067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CNTTDHH at household level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007607" y="3218688"/>
            <a:ext cx="2788920" cy="45720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062471" y="3282696"/>
            <a:ext cx="2679191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How much travel demand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796528" y="3218688"/>
            <a:ext cx="2148840" cy="45720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851392" y="3282696"/>
            <a:ext cx="203911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weighted MAE / bias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58368" y="3675887"/>
            <a:ext cx="2148840" cy="45720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13232" y="3739896"/>
            <a:ext cx="203911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Mode composition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807208" y="3675887"/>
            <a:ext cx="3200400" cy="45720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862072" y="3739896"/>
            <a:ext cx="309067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TRPTRANS -&gt; household share vector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007607" y="3675887"/>
            <a:ext cx="2788920" cy="45720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062471" y="3739896"/>
            <a:ext cx="2679191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How demand is distributed</a:t>
            </a:r>
          </a:p>
        </p:txBody>
      </p:sp>
      <p:sp>
        <p:nvSpPr>
          <p:cNvPr id="48" name="Rectangle 47"/>
          <p:cNvSpPr/>
          <p:nvPr/>
        </p:nvSpPr>
        <p:spPr>
          <a:xfrm>
            <a:off x="8796528" y="3675887"/>
            <a:ext cx="2148840" cy="45720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851392" y="3739896"/>
            <a:ext cx="203911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TV / share MAE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58368" y="4133087"/>
            <a:ext cx="2148840" cy="45720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13232" y="4197096"/>
            <a:ext cx="203911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Purpose composition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807208" y="4133087"/>
            <a:ext cx="3200400" cy="45720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862072" y="4197096"/>
            <a:ext cx="309067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TRIPPURP -&gt; household purpose vector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007607" y="4133087"/>
            <a:ext cx="2788920" cy="45720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062471" y="4197096"/>
            <a:ext cx="2679191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Why households travel</a:t>
            </a:r>
          </a:p>
        </p:txBody>
      </p:sp>
      <p:sp>
        <p:nvSpPr>
          <p:cNvPr id="56" name="Rectangle 55"/>
          <p:cNvSpPr/>
          <p:nvPr/>
        </p:nvSpPr>
        <p:spPr>
          <a:xfrm>
            <a:off x="8796528" y="4133087"/>
            <a:ext cx="2148840" cy="45720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851392" y="4197096"/>
            <a:ext cx="203911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TV / purpose MAE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58368" y="4590288"/>
            <a:ext cx="2148840" cy="45720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13232" y="4654296"/>
            <a:ext cx="203911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Mode-specific trips</a:t>
            </a:r>
          </a:p>
        </p:txBody>
      </p:sp>
      <p:sp>
        <p:nvSpPr>
          <p:cNvPr id="60" name="Rectangle 59"/>
          <p:cNvSpPr/>
          <p:nvPr/>
        </p:nvSpPr>
        <p:spPr>
          <a:xfrm>
            <a:off x="2807208" y="4590288"/>
            <a:ext cx="3200400" cy="45720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862072" y="4654296"/>
            <a:ext cx="309067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predicted trips × mode share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007607" y="4590288"/>
            <a:ext cx="2788920" cy="45720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062471" y="4654296"/>
            <a:ext cx="2679191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Trips by mode for planning</a:t>
            </a:r>
          </a:p>
        </p:txBody>
      </p:sp>
      <p:sp>
        <p:nvSpPr>
          <p:cNvPr id="64" name="Rectangle 63"/>
          <p:cNvSpPr/>
          <p:nvPr/>
        </p:nvSpPr>
        <p:spPr>
          <a:xfrm>
            <a:off x="8796528" y="4590288"/>
            <a:ext cx="2148840" cy="45720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8851392" y="4654296"/>
            <a:ext cx="203911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derived output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749808" y="5074920"/>
            <a:ext cx="10012680" cy="1024128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749808" y="5074920"/>
            <a:ext cx="50292" cy="102412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914400" y="5166359"/>
            <a:ext cx="9720072" cy="368686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目标不是只预测 CNTTDHH，而是构造 household travel behavior：出行多少次、用什么方式、为什么出行、每种方式多少次。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14400" y="5599054"/>
            <a:ext cx="9720072" cy="42684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Microsoft YaHei"/>
              </a:defRPr>
            </a:pPr>
            <a:r>
              <a:rPr sz="1200" b="0">
                <a:solidFill>
                  <a:srgbClr val="64748B"/>
                </a:solidFill>
                <a:latin typeface="Microsoft YaHei"/>
              </a:rPr>
              <a:t>The target is a household behavior system: trip generation, mode composition, purpose composition, and derived mode-specific trip counts.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48056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50292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400" b="1">
                <a:solidFill>
                  <a:srgbClr val="00796B"/>
                </a:solidFill>
                <a:latin typeface="Microsoft YaHei"/>
              </a:defRPr>
            </a:pPr>
            <a:r>
              <a:rPr sz="1400" b="1">
                <a:solidFill>
                  <a:srgbClr val="00796B"/>
                </a:solidFill>
                <a:latin typeface="Microsoft YaHei"/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246888"/>
            <a:ext cx="841248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50" b="1">
                <a:solidFill>
                  <a:srgbClr val="0F172A"/>
                </a:solidFill>
                <a:latin typeface="Microsoft YaHei"/>
              </a:defRPr>
            </a:pPr>
            <a:r>
              <a:rPr sz="1750" b="1">
                <a:solidFill>
                  <a:srgbClr val="0F172A"/>
                </a:solidFill>
                <a:latin typeface="Microsoft YaHei"/>
              </a:rPr>
              <a:t>技术路线 / Technical Route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61288" y="585216"/>
            <a:ext cx="886968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传统监督模型给基线，LLM 只给事件折减因子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6473952"/>
            <a:ext cx="521208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Pandemic-Aware Household Travel Behavior Prediction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52760" y="6473952"/>
            <a:ext cx="91440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06 / 22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1078992"/>
            <a:ext cx="214884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950" b="1">
                <a:solidFill>
                  <a:srgbClr val="2563EB"/>
                </a:solidFill>
                <a:latin typeface="Microsoft YaHei"/>
              </a:defRPr>
            </a:pPr>
            <a:r>
              <a:rPr sz="950" b="1">
                <a:solidFill>
                  <a:srgbClr val="2563EB"/>
                </a:solidFill>
                <a:latin typeface="Microsoft YaHei"/>
              </a:rPr>
              <a:t>Historical routine branch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14400" y="1353312"/>
            <a:ext cx="1874519" cy="62179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87552" y="1417320"/>
            <a:ext cx="1728216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919" b="1">
                <a:solidFill>
                  <a:srgbClr val="2563EB"/>
                </a:solidFill>
                <a:latin typeface="Microsoft YaHei"/>
              </a:defRPr>
            </a:pPr>
            <a:r>
              <a:rPr sz="919" b="1">
                <a:solidFill>
                  <a:srgbClr val="2563EB"/>
                </a:solidFill>
                <a:latin typeface="Microsoft YaHei"/>
              </a:rPr>
              <a:t>NHTS history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1636776"/>
            <a:ext cx="1691639" cy="28346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80" b="0">
                <a:solidFill>
                  <a:srgbClr val="64748B"/>
                </a:solidFill>
                <a:latin typeface="Microsoft YaHei"/>
              </a:defRPr>
            </a:pPr>
            <a:r>
              <a:rPr sz="780" b="0">
                <a:solidFill>
                  <a:srgbClr val="64748B"/>
                </a:solidFill>
                <a:latin typeface="Microsoft YaHei"/>
              </a:rPr>
              <a:t>2001 / 2009 / 2017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2862072" y="1591056"/>
            <a:ext cx="347472" cy="128016"/>
          </a:xfrm>
          <a:prstGeom prst="rightArrow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337560" y="1353312"/>
            <a:ext cx="1874519" cy="62179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410712" y="1417320"/>
            <a:ext cx="1728216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919" b="1">
                <a:solidFill>
                  <a:srgbClr val="2563EB"/>
                </a:solidFill>
                <a:latin typeface="Microsoft YaHei"/>
              </a:defRPr>
            </a:pPr>
            <a:r>
              <a:rPr sz="919" b="1">
                <a:solidFill>
                  <a:srgbClr val="2563EB"/>
                </a:solidFill>
                <a:latin typeface="Microsoft YaHei"/>
              </a:rPr>
              <a:t>Feature harmonization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29000" y="1636776"/>
            <a:ext cx="1691639" cy="28346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80" b="0">
                <a:solidFill>
                  <a:srgbClr val="64748B"/>
                </a:solidFill>
                <a:latin typeface="Microsoft YaHei"/>
              </a:defRPr>
            </a:pPr>
            <a:r>
              <a:rPr sz="780" b="0">
                <a:solidFill>
                  <a:srgbClr val="64748B"/>
                </a:solidFill>
                <a:latin typeface="Microsoft YaHei"/>
              </a:rPr>
              <a:t>same household schema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5285231" y="1591056"/>
            <a:ext cx="347472" cy="128016"/>
          </a:xfrm>
          <a:prstGeom prst="rightArrow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760720" y="1353312"/>
            <a:ext cx="1874519" cy="62179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33872" y="1417320"/>
            <a:ext cx="1728216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919" b="1">
                <a:solidFill>
                  <a:srgbClr val="2563EB"/>
                </a:solidFill>
                <a:latin typeface="Microsoft YaHei"/>
              </a:defRPr>
            </a:pPr>
            <a:r>
              <a:rPr sz="919" b="1">
                <a:solidFill>
                  <a:srgbClr val="2563EB"/>
                </a:solidFill>
                <a:latin typeface="Microsoft YaHei"/>
              </a:rPr>
              <a:t>XGBoost CUDA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852159" y="1636776"/>
            <a:ext cx="1691639" cy="28346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80" b="0">
                <a:solidFill>
                  <a:srgbClr val="64748B"/>
                </a:solidFill>
                <a:latin typeface="Microsoft YaHei"/>
              </a:defRPr>
            </a:pPr>
            <a:r>
              <a:rPr sz="780" b="0">
                <a:solidFill>
                  <a:srgbClr val="64748B"/>
                </a:solidFill>
                <a:latin typeface="Microsoft YaHei"/>
              </a:rPr>
              <a:t>learn f_hist(X)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2359152"/>
            <a:ext cx="214884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950" b="1">
                <a:solidFill>
                  <a:srgbClr val="EA580C"/>
                </a:solidFill>
                <a:latin typeface="Microsoft YaHei"/>
              </a:defRPr>
            </a:pPr>
            <a:r>
              <a:rPr sz="950" b="1">
                <a:solidFill>
                  <a:srgbClr val="EA580C"/>
                </a:solidFill>
                <a:latin typeface="Microsoft YaHei"/>
              </a:rPr>
              <a:t>LLM event-prior branch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14400" y="2633472"/>
            <a:ext cx="1874519" cy="62179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87552" y="2697479"/>
            <a:ext cx="1728216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919" b="1">
                <a:solidFill>
                  <a:srgbClr val="EA580C"/>
                </a:solidFill>
                <a:latin typeface="Microsoft YaHei"/>
              </a:defRPr>
            </a:pPr>
            <a:r>
              <a:rPr sz="919" b="1">
                <a:solidFill>
                  <a:srgbClr val="EA580C"/>
                </a:solidFill>
                <a:latin typeface="Microsoft YaHei"/>
              </a:rPr>
              <a:t>2022 cohort profile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2916936"/>
            <a:ext cx="1691639" cy="28346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80" b="0">
                <a:solidFill>
                  <a:srgbClr val="64748B"/>
                </a:solidFill>
                <a:latin typeface="Microsoft YaHei"/>
              </a:defRPr>
            </a:pPr>
            <a:r>
              <a:rPr sz="780" b="0">
                <a:solidFill>
                  <a:srgbClr val="64748B"/>
                </a:solidFill>
                <a:latin typeface="Microsoft YaHei"/>
              </a:rPr>
              <a:t>aggregated households</a:t>
            </a:r>
          </a:p>
        </p:txBody>
      </p:sp>
      <p:sp>
        <p:nvSpPr>
          <p:cNvPr id="27" name="Right Arrow 26"/>
          <p:cNvSpPr/>
          <p:nvPr/>
        </p:nvSpPr>
        <p:spPr>
          <a:xfrm>
            <a:off x="2862072" y="2871216"/>
            <a:ext cx="347472" cy="128016"/>
          </a:xfrm>
          <a:prstGeom prst="rightArrow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3337560" y="2633472"/>
            <a:ext cx="1874519" cy="62179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410712" y="2697479"/>
            <a:ext cx="1728216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919" b="1">
                <a:solidFill>
                  <a:srgbClr val="EA580C"/>
                </a:solidFill>
                <a:latin typeface="Microsoft YaHei"/>
              </a:defRPr>
            </a:pPr>
            <a:r>
              <a:rPr sz="919" b="1">
                <a:solidFill>
                  <a:srgbClr val="EA580C"/>
                </a:solidFill>
                <a:latin typeface="Microsoft YaHei"/>
              </a:rPr>
              <a:t>GPT-5.5 prompt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429000" y="2916936"/>
            <a:ext cx="1691639" cy="28346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80" b="0">
                <a:solidFill>
                  <a:srgbClr val="64748B"/>
                </a:solidFill>
                <a:latin typeface="Microsoft YaHei"/>
              </a:defRPr>
            </a:pPr>
            <a:r>
              <a:rPr sz="780" b="0">
                <a:solidFill>
                  <a:srgbClr val="64748B"/>
                </a:solidFill>
                <a:latin typeface="Microsoft YaHei"/>
              </a:rPr>
              <a:t>pandemic mechanisms</a:t>
            </a:r>
          </a:p>
        </p:txBody>
      </p:sp>
      <p:sp>
        <p:nvSpPr>
          <p:cNvPr id="31" name="Right Arrow 30"/>
          <p:cNvSpPr/>
          <p:nvPr/>
        </p:nvSpPr>
        <p:spPr>
          <a:xfrm>
            <a:off x="5285231" y="2871216"/>
            <a:ext cx="347472" cy="128016"/>
          </a:xfrm>
          <a:prstGeom prst="rightArrow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5760720" y="2633472"/>
            <a:ext cx="1874519" cy="62179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833872" y="2697479"/>
            <a:ext cx="1728216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919" b="1">
                <a:solidFill>
                  <a:srgbClr val="EA580C"/>
                </a:solidFill>
                <a:latin typeface="Microsoft YaHei"/>
              </a:defRPr>
            </a:pPr>
            <a:r>
              <a:rPr sz="919" b="1">
                <a:solidFill>
                  <a:srgbClr val="EA580C"/>
                </a:solidFill>
                <a:latin typeface="Microsoft YaHei"/>
              </a:rPr>
              <a:t>Validated event prior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852159" y="2916936"/>
            <a:ext cx="1691639" cy="28346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80" b="0">
                <a:solidFill>
                  <a:srgbClr val="64748B"/>
                </a:solidFill>
                <a:latin typeface="Microsoft YaHei"/>
              </a:defRPr>
            </a:pPr>
            <a:r>
              <a:rPr sz="780" b="0">
                <a:solidFill>
                  <a:srgbClr val="64748B"/>
                </a:solidFill>
                <a:latin typeface="Microsoft YaHei"/>
              </a:rPr>
              <a:t>s_event in [0, 1]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58368" y="3730752"/>
            <a:ext cx="6995160" cy="1078992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68680" y="3895344"/>
            <a:ext cx="192024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000" b="1">
                <a:solidFill>
                  <a:srgbClr val="198754"/>
                </a:solidFill>
                <a:latin typeface="Microsoft YaHei"/>
              </a:defRPr>
            </a:pPr>
            <a:r>
              <a:rPr sz="1000" b="1">
                <a:solidFill>
                  <a:srgbClr val="198754"/>
                </a:solidFill>
                <a:latin typeface="Microsoft YaHei"/>
              </a:rPr>
              <a:t>Fixed no-label adapter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514600" y="3803904"/>
            <a:ext cx="4800600" cy="43891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ŷ_2022 = f_hist(X) × clip(1 − α × s_event, min_factor, 1)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514600" y="4279392"/>
            <a:ext cx="480060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919" b="0">
                <a:solidFill>
                  <a:srgbClr val="64748B"/>
                </a:solidFill>
                <a:latin typeface="Microsoft YaHei"/>
              </a:defRPr>
            </a:pPr>
            <a:r>
              <a:rPr sz="919" b="0">
                <a:solidFill>
                  <a:srgbClr val="64748B"/>
                </a:solidFill>
                <a:latin typeface="Microsoft YaHei"/>
              </a:rPr>
              <a:t>low-confidence cohort -&gt; global pressure fallback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514600" y="4553712"/>
            <a:ext cx="4800600" cy="25603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919" b="1">
                <a:solidFill>
                  <a:srgbClr val="BE123C"/>
                </a:solidFill>
                <a:latin typeface="Microsoft YaHei"/>
              </a:defRPr>
            </a:pPr>
            <a:r>
              <a:rPr sz="919" b="1">
                <a:solidFill>
                  <a:srgbClr val="BE123C"/>
                </a:solidFill>
                <a:latin typeface="Microsoft YaHei"/>
              </a:rPr>
              <a:t>2022 labels enter only here: final evaluation</a:t>
            </a:r>
          </a:p>
        </p:txBody>
      </p:sp>
      <p:sp>
        <p:nvSpPr>
          <p:cNvPr id="40" name="Right Arrow 39"/>
          <p:cNvSpPr/>
          <p:nvPr/>
        </p:nvSpPr>
        <p:spPr>
          <a:xfrm>
            <a:off x="6126480" y="1965960"/>
            <a:ext cx="146304" cy="566928"/>
          </a:xfrm>
          <a:prstGeom prst="rightArrow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ight Arrow 40"/>
          <p:cNvSpPr/>
          <p:nvPr/>
        </p:nvSpPr>
        <p:spPr>
          <a:xfrm>
            <a:off x="6126480" y="3255264"/>
            <a:ext cx="146304" cy="402336"/>
          </a:xfrm>
          <a:prstGeom prst="rightArrow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229600" y="3749039"/>
            <a:ext cx="228600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000" b="1">
                <a:solidFill>
                  <a:srgbClr val="198754"/>
                </a:solidFill>
                <a:latin typeface="Microsoft YaHei"/>
              </a:defRPr>
            </a:pPr>
            <a:r>
              <a:rPr sz="1000" b="1">
                <a:solidFill>
                  <a:srgbClr val="198754"/>
                </a:solidFill>
                <a:latin typeface="Microsoft YaHei"/>
              </a:rPr>
              <a:t>Output behavior system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8229600" y="4069080"/>
            <a:ext cx="1874519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1987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302752" y="4133088"/>
            <a:ext cx="1728216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919" b="1">
                <a:solidFill>
                  <a:srgbClr val="198754"/>
                </a:solidFill>
                <a:latin typeface="Microsoft YaHei"/>
              </a:defRPr>
            </a:pPr>
            <a:r>
              <a:rPr sz="919" b="1">
                <a:solidFill>
                  <a:srgbClr val="198754"/>
                </a:solidFill>
                <a:latin typeface="Microsoft YaHei"/>
              </a:rPr>
              <a:t>Trip generation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321040" y="4352544"/>
            <a:ext cx="1691639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80" b="0">
                <a:solidFill>
                  <a:srgbClr val="64748B"/>
                </a:solidFill>
                <a:latin typeface="Microsoft YaHei"/>
              </a:defRPr>
            </a:pPr>
            <a:r>
              <a:rPr sz="780" b="0">
                <a:solidFill>
                  <a:srgbClr val="64748B"/>
                </a:solidFill>
                <a:latin typeface="Microsoft YaHei"/>
              </a:rPr>
              <a:t>household CNTTDHH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0058400" y="4069080"/>
            <a:ext cx="1463040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1987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0131552" y="4133088"/>
            <a:ext cx="1316736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919" b="1">
                <a:solidFill>
                  <a:srgbClr val="198754"/>
                </a:solidFill>
                <a:latin typeface="Microsoft YaHei"/>
              </a:defRPr>
            </a:pPr>
            <a:r>
              <a:rPr sz="919" b="1">
                <a:solidFill>
                  <a:srgbClr val="198754"/>
                </a:solidFill>
                <a:latin typeface="Microsoft YaHei"/>
              </a:rPr>
              <a:t>Mode shares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149840" y="4352544"/>
            <a:ext cx="128016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80" b="0">
                <a:solidFill>
                  <a:srgbClr val="64748B"/>
                </a:solidFill>
                <a:latin typeface="Microsoft YaHei"/>
              </a:defRPr>
            </a:pPr>
            <a:r>
              <a:rPr sz="780" b="0">
                <a:solidFill>
                  <a:srgbClr val="64748B"/>
                </a:solidFill>
                <a:latin typeface="Microsoft YaHei"/>
              </a:rPr>
              <a:t>transit signal</a:t>
            </a:r>
          </a:p>
        </p:txBody>
      </p:sp>
      <p:sp>
        <p:nvSpPr>
          <p:cNvPr id="49" name="Right Arrow 48"/>
          <p:cNvSpPr/>
          <p:nvPr/>
        </p:nvSpPr>
        <p:spPr>
          <a:xfrm>
            <a:off x="7699248" y="4187952"/>
            <a:ext cx="384048" cy="146304"/>
          </a:xfrm>
          <a:prstGeom prst="rightArrow">
            <a:avLst/>
          </a:prstGeom>
          <a:solidFill>
            <a:srgbClr val="1987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8229600" y="1234440"/>
            <a:ext cx="2788920" cy="2377440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458200" y="1417320"/>
            <a:ext cx="233172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050" b="1">
                <a:solidFill>
                  <a:srgbClr val="BE123C"/>
                </a:solidFill>
                <a:latin typeface="Microsoft YaHei"/>
              </a:defRPr>
            </a:pPr>
            <a:r>
              <a:rPr sz="1050" b="1">
                <a:solidFill>
                  <a:srgbClr val="BE123C"/>
                </a:solidFill>
                <a:latin typeface="Microsoft YaHei"/>
              </a:rPr>
              <a:t>Leakage guardrails</a:t>
            </a:r>
          </a:p>
        </p:txBody>
      </p:sp>
      <p:sp>
        <p:nvSpPr>
          <p:cNvPr id="52" name="Rectangle 51"/>
          <p:cNvSpPr/>
          <p:nvPr/>
        </p:nvSpPr>
        <p:spPr>
          <a:xfrm>
            <a:off x="8412480" y="1755648"/>
            <a:ext cx="1234440" cy="457200"/>
          </a:xfrm>
          <a:prstGeom prst="rect">
            <a:avLst/>
          </a:prstGeom>
          <a:solidFill>
            <a:srgbClr val="BE1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449055" y="1828800"/>
            <a:ext cx="1161288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禁止进入 LLM</a:t>
            </a:r>
          </a:p>
        </p:txBody>
      </p:sp>
      <p:sp>
        <p:nvSpPr>
          <p:cNvPr id="54" name="Rectangle 53"/>
          <p:cNvSpPr/>
          <p:nvPr/>
        </p:nvSpPr>
        <p:spPr>
          <a:xfrm>
            <a:off x="9646919" y="1755648"/>
            <a:ext cx="1234440" cy="457200"/>
          </a:xfrm>
          <a:prstGeom prst="rect">
            <a:avLst/>
          </a:prstGeom>
          <a:solidFill>
            <a:srgbClr val="BE1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9683495" y="1828800"/>
            <a:ext cx="1161288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原因</a:t>
            </a:r>
          </a:p>
        </p:txBody>
      </p:sp>
      <p:sp>
        <p:nvSpPr>
          <p:cNvPr id="56" name="Rectangle 55"/>
          <p:cNvSpPr/>
          <p:nvPr/>
        </p:nvSpPr>
        <p:spPr>
          <a:xfrm>
            <a:off x="8412480" y="2212848"/>
            <a:ext cx="1234440" cy="45720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467344" y="2276856"/>
            <a:ext cx="112471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CNTTDHH</a:t>
            </a:r>
          </a:p>
        </p:txBody>
      </p:sp>
      <p:sp>
        <p:nvSpPr>
          <p:cNvPr id="58" name="Rectangle 57"/>
          <p:cNvSpPr/>
          <p:nvPr/>
        </p:nvSpPr>
        <p:spPr>
          <a:xfrm>
            <a:off x="9646919" y="2212848"/>
            <a:ext cx="1234440" cy="45720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9701784" y="2276856"/>
            <a:ext cx="112471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目标标签</a:t>
            </a:r>
          </a:p>
        </p:txBody>
      </p:sp>
      <p:sp>
        <p:nvSpPr>
          <p:cNvPr id="60" name="Rectangle 59"/>
          <p:cNvSpPr/>
          <p:nvPr/>
        </p:nvSpPr>
        <p:spPr>
          <a:xfrm>
            <a:off x="8412480" y="2670048"/>
            <a:ext cx="1234440" cy="45720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8467344" y="2734056"/>
            <a:ext cx="112471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WTHHFIN</a:t>
            </a:r>
          </a:p>
        </p:txBody>
      </p:sp>
      <p:sp>
        <p:nvSpPr>
          <p:cNvPr id="62" name="Rectangle 61"/>
          <p:cNvSpPr/>
          <p:nvPr/>
        </p:nvSpPr>
        <p:spPr>
          <a:xfrm>
            <a:off x="9646919" y="2670048"/>
            <a:ext cx="1234440" cy="45720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9701784" y="2734056"/>
            <a:ext cx="112471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样本权重</a:t>
            </a:r>
          </a:p>
        </p:txBody>
      </p:sp>
      <p:sp>
        <p:nvSpPr>
          <p:cNvPr id="64" name="Rectangle 63"/>
          <p:cNvSpPr/>
          <p:nvPr/>
        </p:nvSpPr>
        <p:spPr>
          <a:xfrm>
            <a:off x="8412480" y="3127248"/>
            <a:ext cx="1234440" cy="45720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8467344" y="3191256"/>
            <a:ext cx="112471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HOUSEID</a:t>
            </a:r>
          </a:p>
        </p:txBody>
      </p:sp>
      <p:sp>
        <p:nvSpPr>
          <p:cNvPr id="66" name="Rectangle 65"/>
          <p:cNvSpPr/>
          <p:nvPr/>
        </p:nvSpPr>
        <p:spPr>
          <a:xfrm>
            <a:off x="9646919" y="3127248"/>
            <a:ext cx="1234440" cy="45720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9701784" y="3191256"/>
            <a:ext cx="112471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个体标识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48056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50292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400" b="1">
                <a:solidFill>
                  <a:srgbClr val="00796B"/>
                </a:solidFill>
                <a:latin typeface="Microsoft YaHei"/>
              </a:defRPr>
            </a:pPr>
            <a:r>
              <a:rPr sz="1400" b="1">
                <a:solidFill>
                  <a:srgbClr val="00796B"/>
                </a:solidFill>
                <a:latin typeface="Microsoft YaHei"/>
              </a:rP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246888"/>
            <a:ext cx="841248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50" b="1">
                <a:solidFill>
                  <a:srgbClr val="0F172A"/>
                </a:solidFill>
                <a:latin typeface="Microsoft YaHei"/>
              </a:defRPr>
            </a:pPr>
            <a:r>
              <a:rPr sz="1750" b="1">
                <a:solidFill>
                  <a:srgbClr val="0F172A"/>
                </a:solidFill>
                <a:latin typeface="Microsoft YaHei"/>
              </a:rPr>
              <a:t>LLM 事件先验 / LLM Event Prior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61288" y="585216"/>
            <a:ext cx="886968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从 cohort 描述生成结构化疫情响应变量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6473952"/>
            <a:ext cx="521208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Pandemic-Aware Household Travel Behavior Prediction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52760" y="6473952"/>
            <a:ext cx="91440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07 / 22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" y="1078992"/>
            <a:ext cx="2148840" cy="457200"/>
          </a:xfrm>
          <a:prstGeom prst="rect">
            <a:avLst/>
          </a:prstGeom>
          <a:solidFill>
            <a:srgbClr val="1836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1152144"/>
            <a:ext cx="2075688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LLM output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70632" y="1078992"/>
            <a:ext cx="4069080" cy="457200"/>
          </a:xfrm>
          <a:prstGeom prst="rect">
            <a:avLst/>
          </a:prstGeom>
          <a:solidFill>
            <a:srgbClr val="1836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807208" y="1152144"/>
            <a:ext cx="3995928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变量含义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39712" y="1078992"/>
            <a:ext cx="3931920" cy="457200"/>
          </a:xfrm>
          <a:prstGeom prst="rect">
            <a:avLst/>
          </a:prstGeom>
          <a:solidFill>
            <a:srgbClr val="1836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76288" y="1152144"/>
            <a:ext cx="3858768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进入模型的位置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1792" y="1536192"/>
            <a:ext cx="2148840" cy="45720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76656" y="1600200"/>
            <a:ext cx="203911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trip_suppression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770632" y="1536192"/>
            <a:ext cx="4069080" cy="45720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825496" y="1600200"/>
            <a:ext cx="395935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总体出行折减压力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839712" y="1536192"/>
            <a:ext cx="3931920" cy="45720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94576" y="1600200"/>
            <a:ext cx="3822191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修正 total trips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1792" y="1993391"/>
            <a:ext cx="2148840" cy="45720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76656" y="2057399"/>
            <a:ext cx="203911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remote_work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770632" y="1993391"/>
            <a:ext cx="4069080" cy="45720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825496" y="2057399"/>
            <a:ext cx="395935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通勤被远程办公替代的可能性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839712" y="1993391"/>
            <a:ext cx="3931920" cy="45720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94576" y="2057399"/>
            <a:ext cx="3822191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解释出行下降来源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21792" y="2450591"/>
            <a:ext cx="2148840" cy="45720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76656" y="2514599"/>
            <a:ext cx="203911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transit_avoidance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770632" y="2450591"/>
            <a:ext cx="4069080" cy="45720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825496" y="2514599"/>
            <a:ext cx="395935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公共交通规避倾向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839712" y="2450591"/>
            <a:ext cx="3931920" cy="45720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94576" y="2514599"/>
            <a:ext cx="3822191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修正 transit share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21792" y="2907791"/>
            <a:ext cx="2148840" cy="45720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76656" y="2971799"/>
            <a:ext cx="203911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delivery_substitution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770632" y="2907791"/>
            <a:ext cx="4069080" cy="45720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825496" y="2971799"/>
            <a:ext cx="395935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购物/服务被线上替代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839712" y="2907791"/>
            <a:ext cx="3931920" cy="45720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894576" y="2971799"/>
            <a:ext cx="3822191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解释非通勤出行下降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21792" y="3364991"/>
            <a:ext cx="2148840" cy="45720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76656" y="3428999"/>
            <a:ext cx="203911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recovery_sensitivity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770632" y="3364991"/>
            <a:ext cx="4069080" cy="45720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2825496" y="3428999"/>
            <a:ext cx="395935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恢复到常态出行的能力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839712" y="3364991"/>
            <a:ext cx="3931920" cy="45720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894576" y="3428999"/>
            <a:ext cx="3822191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刻画 rebound 差异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21792" y="3822191"/>
            <a:ext cx="2148840" cy="45720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76656" y="3886200"/>
            <a:ext cx="203911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confidence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770632" y="3822191"/>
            <a:ext cx="4069080" cy="45720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2825496" y="3886200"/>
            <a:ext cx="395935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LLM 对判断的自评置信度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839712" y="3822191"/>
            <a:ext cx="3931920" cy="45720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894576" y="3886200"/>
            <a:ext cx="3822191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质量检查信号</a:t>
            </a:r>
          </a:p>
        </p:txBody>
      </p:sp>
      <p:sp>
        <p:nvSpPr>
          <p:cNvPr id="53" name="Rectangle 52"/>
          <p:cNvSpPr/>
          <p:nvPr/>
        </p:nvSpPr>
        <p:spPr>
          <a:xfrm>
            <a:off x="749808" y="4434840"/>
            <a:ext cx="4709160" cy="457200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86384" y="4507992"/>
            <a:ext cx="4636008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LLM 输入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458968" y="4434840"/>
            <a:ext cx="4709160" cy="457200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5495544" y="4507992"/>
            <a:ext cx="4636008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明确排除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49808" y="4892040"/>
            <a:ext cx="4709160" cy="45720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804671" y="4956048"/>
            <a:ext cx="459943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cohort-level household profile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458968" y="4892040"/>
            <a:ext cx="4709160" cy="45720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513832" y="4956048"/>
            <a:ext cx="459943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CNTTDHH / trip count label</a:t>
            </a:r>
          </a:p>
        </p:txBody>
      </p:sp>
      <p:sp>
        <p:nvSpPr>
          <p:cNvPr id="61" name="Rectangle 60"/>
          <p:cNvSpPr/>
          <p:nvPr/>
        </p:nvSpPr>
        <p:spPr>
          <a:xfrm>
            <a:off x="749808" y="5349240"/>
            <a:ext cx="4709160" cy="45720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804671" y="5413248"/>
            <a:ext cx="459943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urban context, vehicles, workers</a:t>
            </a:r>
          </a:p>
        </p:txBody>
      </p:sp>
      <p:sp>
        <p:nvSpPr>
          <p:cNvPr id="63" name="Rectangle 62"/>
          <p:cNvSpPr/>
          <p:nvPr/>
        </p:nvSpPr>
        <p:spPr>
          <a:xfrm>
            <a:off x="5458968" y="5349240"/>
            <a:ext cx="4709160" cy="45720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5513832" y="5413248"/>
            <a:ext cx="459943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sample weights / household IDs</a:t>
            </a:r>
          </a:p>
        </p:txBody>
      </p:sp>
      <p:sp>
        <p:nvSpPr>
          <p:cNvPr id="65" name="Rectangle 64"/>
          <p:cNvSpPr/>
          <p:nvPr/>
        </p:nvSpPr>
        <p:spPr>
          <a:xfrm>
            <a:off x="749808" y="5806440"/>
            <a:ext cx="4709160" cy="45720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804671" y="5870448"/>
            <a:ext cx="459943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generic 2022 pandemic context</a:t>
            </a:r>
          </a:p>
        </p:txBody>
      </p:sp>
      <p:sp>
        <p:nvSpPr>
          <p:cNvPr id="67" name="Rectangle 66"/>
          <p:cNvSpPr/>
          <p:nvPr/>
        </p:nvSpPr>
        <p:spPr>
          <a:xfrm>
            <a:off x="5458968" y="5806440"/>
            <a:ext cx="4709160" cy="45720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513832" y="5870448"/>
            <a:ext cx="459943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aggregate 2022 outcomes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48056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50292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400" b="1">
                <a:solidFill>
                  <a:srgbClr val="00796B"/>
                </a:solidFill>
                <a:latin typeface="Microsoft YaHei"/>
              </a:defRPr>
            </a:pPr>
            <a:r>
              <a:rPr sz="1400" b="1">
                <a:solidFill>
                  <a:srgbClr val="00796B"/>
                </a:solidFill>
                <a:latin typeface="Microsoft YaHei"/>
              </a:rPr>
              <a:t>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246888"/>
            <a:ext cx="841248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50" b="1">
                <a:solidFill>
                  <a:srgbClr val="0F172A"/>
                </a:solidFill>
                <a:latin typeface="Microsoft YaHei"/>
              </a:defRPr>
            </a:pPr>
            <a:r>
              <a:rPr sz="1750" b="1">
                <a:solidFill>
                  <a:srgbClr val="0F172A"/>
                </a:solidFill>
                <a:latin typeface="Microsoft YaHei"/>
              </a:rPr>
              <a:t>对比体系 / Evaluation Design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61288" y="585216"/>
            <a:ext cx="886968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传统模型、简单事件修正、纯 LLM 与 hybrid 方法逐层比较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6473952"/>
            <a:ext cx="521208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Pandemic-Aware Household Travel Behavior Prediction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52760" y="6473952"/>
            <a:ext cx="91440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08 / 22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78992"/>
            <a:ext cx="1920240" cy="438912"/>
          </a:xfrm>
          <a:prstGeom prst="rect">
            <a:avLst/>
          </a:prstGeom>
          <a:solidFill>
            <a:srgbClr val="112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12064" y="1152144"/>
            <a:ext cx="1847088" cy="31089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Method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395728" y="1078992"/>
            <a:ext cx="914400" cy="438912"/>
          </a:xfrm>
          <a:prstGeom prst="rect">
            <a:avLst/>
          </a:prstGeom>
          <a:solidFill>
            <a:srgbClr val="112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432304" y="1152144"/>
            <a:ext cx="841248" cy="31089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传统基线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310128" y="1078992"/>
            <a:ext cx="822960" cy="438912"/>
          </a:xfrm>
          <a:prstGeom prst="rect">
            <a:avLst/>
          </a:prstGeom>
          <a:solidFill>
            <a:srgbClr val="112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346704" y="1152144"/>
            <a:ext cx="749808" cy="31089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LLM先验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33087" y="1078992"/>
            <a:ext cx="868680" cy="438912"/>
          </a:xfrm>
          <a:prstGeom prst="rect">
            <a:avLst/>
          </a:prstGeom>
          <a:solidFill>
            <a:srgbClr val="112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69663" y="1152144"/>
            <a:ext cx="795528" cy="31089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2022标签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01768" y="1078992"/>
            <a:ext cx="4434840" cy="438912"/>
          </a:xfrm>
          <a:prstGeom prst="rect">
            <a:avLst/>
          </a:prstGeom>
          <a:solidFill>
            <a:srgbClr val="112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38344" y="1152144"/>
            <a:ext cx="4361688" cy="31089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对比作用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436607" y="1078992"/>
            <a:ext cx="685800" cy="438912"/>
          </a:xfrm>
          <a:prstGeom prst="rect">
            <a:avLst/>
          </a:prstGeom>
          <a:solidFill>
            <a:srgbClr val="112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473183" y="1152144"/>
            <a:ext cx="612648" cy="31089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wMAE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75488" y="1517904"/>
            <a:ext cx="1920240" cy="438912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30352" y="1581912"/>
            <a:ext cx="1810512" cy="31089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Historical mean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395728" y="1517904"/>
            <a:ext cx="914400" cy="438912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441448" y="1581912"/>
            <a:ext cx="822960" cy="31089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198754"/>
                </a:solidFill>
                <a:latin typeface="Microsoft YaHei"/>
              </a:defRPr>
            </a:pPr>
            <a:r>
              <a:rPr sz="1200" b="1">
                <a:solidFill>
                  <a:srgbClr val="198754"/>
                </a:solidFill>
                <a:latin typeface="Microsoft YaHei"/>
              </a:rPr>
              <a:t>●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310128" y="1517904"/>
            <a:ext cx="822960" cy="438912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355848" y="1581912"/>
            <a:ext cx="731520" cy="31089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BE123C"/>
                </a:solidFill>
                <a:latin typeface="Microsoft YaHei"/>
              </a:defRPr>
            </a:pPr>
            <a:r>
              <a:rPr sz="1200" b="1">
                <a:solidFill>
                  <a:srgbClr val="BE123C"/>
                </a:solidFill>
                <a:latin typeface="Microsoft YaHei"/>
              </a:rPr>
              <a:t>×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133087" y="1517904"/>
            <a:ext cx="868680" cy="438912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178807" y="1581912"/>
            <a:ext cx="777240" cy="31089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BE123C"/>
                </a:solidFill>
                <a:latin typeface="Microsoft YaHei"/>
              </a:defRPr>
            </a:pPr>
            <a:r>
              <a:rPr sz="1200" b="1">
                <a:solidFill>
                  <a:srgbClr val="BE123C"/>
                </a:solidFill>
                <a:latin typeface="Microsoft YaHei"/>
              </a:rPr>
              <a:t>×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001768" y="1517904"/>
            <a:ext cx="4434840" cy="438912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056632" y="1581912"/>
            <a:ext cx="4325112" cy="31089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只保留历史平均水平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436607" y="1517904"/>
            <a:ext cx="685800" cy="438912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491472" y="1581912"/>
            <a:ext cx="576072" cy="31089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5.51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75488" y="1956815"/>
            <a:ext cx="1920240" cy="438912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30352" y="2020823"/>
            <a:ext cx="1810512" cy="31089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Ordinary XGBoost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395728" y="1956815"/>
            <a:ext cx="914400" cy="438912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441448" y="2020823"/>
            <a:ext cx="822960" cy="31089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198754"/>
                </a:solidFill>
                <a:latin typeface="Microsoft YaHei"/>
              </a:defRPr>
            </a:pPr>
            <a:r>
              <a:rPr sz="1200" b="1">
                <a:solidFill>
                  <a:srgbClr val="198754"/>
                </a:solidFill>
                <a:latin typeface="Microsoft YaHei"/>
              </a:rPr>
              <a:t>●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310128" y="1956815"/>
            <a:ext cx="822960" cy="438912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355848" y="2020823"/>
            <a:ext cx="731520" cy="31089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BE123C"/>
                </a:solidFill>
                <a:latin typeface="Microsoft YaHei"/>
              </a:defRPr>
            </a:pPr>
            <a:r>
              <a:rPr sz="1200" b="1">
                <a:solidFill>
                  <a:srgbClr val="BE123C"/>
                </a:solidFill>
                <a:latin typeface="Microsoft YaHei"/>
              </a:rPr>
              <a:t>×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133087" y="1956815"/>
            <a:ext cx="868680" cy="438912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178807" y="2020823"/>
            <a:ext cx="777240" cy="31089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BE123C"/>
                </a:solidFill>
                <a:latin typeface="Microsoft YaHei"/>
              </a:defRPr>
            </a:pPr>
            <a:r>
              <a:rPr sz="1200" b="1">
                <a:solidFill>
                  <a:srgbClr val="BE123C"/>
                </a:solidFill>
                <a:latin typeface="Microsoft YaHei"/>
              </a:rPr>
              <a:t>×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001768" y="1956815"/>
            <a:ext cx="4434840" cy="438912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056632" y="2020823"/>
            <a:ext cx="4325112" cy="31089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传统方法：家庭属性 -&gt; 出行次数</a:t>
            </a:r>
          </a:p>
        </p:txBody>
      </p:sp>
      <p:sp>
        <p:nvSpPr>
          <p:cNvPr id="45" name="Rectangle 44"/>
          <p:cNvSpPr/>
          <p:nvPr/>
        </p:nvSpPr>
        <p:spPr>
          <a:xfrm>
            <a:off x="9436607" y="1956815"/>
            <a:ext cx="685800" cy="438912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491472" y="2020823"/>
            <a:ext cx="576072" cy="31089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4.34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75488" y="2395728"/>
            <a:ext cx="1920240" cy="438912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30352" y="2459736"/>
            <a:ext cx="1810512" cy="31089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Trend / indicator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395728" y="2395728"/>
            <a:ext cx="914400" cy="438912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2441448" y="2459736"/>
            <a:ext cx="822960" cy="31089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198754"/>
                </a:solidFill>
                <a:latin typeface="Microsoft YaHei"/>
              </a:defRPr>
            </a:pPr>
            <a:r>
              <a:rPr sz="1200" b="1">
                <a:solidFill>
                  <a:srgbClr val="198754"/>
                </a:solidFill>
                <a:latin typeface="Microsoft YaHei"/>
              </a:rPr>
              <a:t>●</a:t>
            </a:r>
          </a:p>
        </p:txBody>
      </p:sp>
      <p:sp>
        <p:nvSpPr>
          <p:cNvPr id="51" name="Rectangle 50"/>
          <p:cNvSpPr/>
          <p:nvPr/>
        </p:nvSpPr>
        <p:spPr>
          <a:xfrm>
            <a:off x="3310128" y="2395728"/>
            <a:ext cx="822960" cy="438912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3355848" y="2459736"/>
            <a:ext cx="731520" cy="31089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BE123C"/>
                </a:solidFill>
                <a:latin typeface="Microsoft YaHei"/>
              </a:defRPr>
            </a:pPr>
            <a:r>
              <a:rPr sz="1200" b="1">
                <a:solidFill>
                  <a:srgbClr val="BE123C"/>
                </a:solidFill>
                <a:latin typeface="Microsoft YaHei"/>
              </a:rPr>
              <a:t>×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133087" y="2395728"/>
            <a:ext cx="868680" cy="438912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4178807" y="2459736"/>
            <a:ext cx="777240" cy="31089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BE123C"/>
                </a:solidFill>
                <a:latin typeface="Microsoft YaHei"/>
              </a:defRPr>
            </a:pPr>
            <a:r>
              <a:rPr sz="1200" b="1">
                <a:solidFill>
                  <a:srgbClr val="BE123C"/>
                </a:solidFill>
                <a:latin typeface="Microsoft YaHei"/>
              </a:rPr>
              <a:t>×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001768" y="2395728"/>
            <a:ext cx="4434840" cy="438912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5056632" y="2459736"/>
            <a:ext cx="4325112" cy="31089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统一趋势修正，不区分疫情机制</a:t>
            </a:r>
          </a:p>
        </p:txBody>
      </p:sp>
      <p:sp>
        <p:nvSpPr>
          <p:cNvPr id="57" name="Rectangle 56"/>
          <p:cNvSpPr/>
          <p:nvPr/>
        </p:nvSpPr>
        <p:spPr>
          <a:xfrm>
            <a:off x="9436607" y="2395728"/>
            <a:ext cx="685800" cy="438912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9491472" y="2459736"/>
            <a:ext cx="576072" cy="31089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4.15</a:t>
            </a:r>
          </a:p>
        </p:txBody>
      </p:sp>
      <p:sp>
        <p:nvSpPr>
          <p:cNvPr id="59" name="Rectangle 58"/>
          <p:cNvSpPr/>
          <p:nvPr/>
        </p:nvSpPr>
        <p:spPr>
          <a:xfrm>
            <a:off x="475488" y="2834639"/>
            <a:ext cx="1920240" cy="438912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30352" y="2898647"/>
            <a:ext cx="1810512" cy="31089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LLM-only pressure</a:t>
            </a:r>
          </a:p>
        </p:txBody>
      </p:sp>
      <p:sp>
        <p:nvSpPr>
          <p:cNvPr id="61" name="Rectangle 60"/>
          <p:cNvSpPr/>
          <p:nvPr/>
        </p:nvSpPr>
        <p:spPr>
          <a:xfrm>
            <a:off x="2395728" y="2834639"/>
            <a:ext cx="914400" cy="438912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2441448" y="2898647"/>
            <a:ext cx="822960" cy="31089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BE123C"/>
                </a:solidFill>
                <a:latin typeface="Microsoft YaHei"/>
              </a:defRPr>
            </a:pPr>
            <a:r>
              <a:rPr sz="1200" b="1">
                <a:solidFill>
                  <a:srgbClr val="BE123C"/>
                </a:solidFill>
                <a:latin typeface="Microsoft YaHei"/>
              </a:rPr>
              <a:t>×</a:t>
            </a:r>
          </a:p>
        </p:txBody>
      </p:sp>
      <p:sp>
        <p:nvSpPr>
          <p:cNvPr id="63" name="Rectangle 62"/>
          <p:cNvSpPr/>
          <p:nvPr/>
        </p:nvSpPr>
        <p:spPr>
          <a:xfrm>
            <a:off x="3310128" y="2834639"/>
            <a:ext cx="822960" cy="438912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3355848" y="2898647"/>
            <a:ext cx="731520" cy="31089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198754"/>
                </a:solidFill>
                <a:latin typeface="Microsoft YaHei"/>
              </a:defRPr>
            </a:pPr>
            <a:r>
              <a:rPr sz="1200" b="1">
                <a:solidFill>
                  <a:srgbClr val="198754"/>
                </a:solidFill>
                <a:latin typeface="Microsoft YaHei"/>
              </a:rPr>
              <a:t>●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133087" y="2834639"/>
            <a:ext cx="868680" cy="438912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178807" y="2898647"/>
            <a:ext cx="777240" cy="31089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BE123C"/>
                </a:solidFill>
                <a:latin typeface="Microsoft YaHei"/>
              </a:defRPr>
            </a:pPr>
            <a:r>
              <a:rPr sz="1200" b="1">
                <a:solidFill>
                  <a:srgbClr val="BE123C"/>
                </a:solidFill>
                <a:latin typeface="Microsoft YaHei"/>
              </a:rPr>
              <a:t>×</a:t>
            </a:r>
          </a:p>
        </p:txBody>
      </p:sp>
      <p:sp>
        <p:nvSpPr>
          <p:cNvPr id="67" name="Rectangle 66"/>
          <p:cNvSpPr/>
          <p:nvPr/>
        </p:nvSpPr>
        <p:spPr>
          <a:xfrm>
            <a:off x="5001768" y="2834639"/>
            <a:ext cx="4434840" cy="438912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056632" y="2898647"/>
            <a:ext cx="4325112" cy="31089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只有事件方向，缺少 household baseline</a:t>
            </a:r>
          </a:p>
        </p:txBody>
      </p:sp>
      <p:sp>
        <p:nvSpPr>
          <p:cNvPr id="69" name="Rectangle 68"/>
          <p:cNvSpPr/>
          <p:nvPr/>
        </p:nvSpPr>
        <p:spPr>
          <a:xfrm>
            <a:off x="9436607" y="2834639"/>
            <a:ext cx="685800" cy="438912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9491472" y="2898647"/>
            <a:ext cx="576072" cy="31089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2.72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75488" y="3273552"/>
            <a:ext cx="1920240" cy="438912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530352" y="3337560"/>
            <a:ext cx="1810512" cy="31089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Global event rule</a:t>
            </a:r>
          </a:p>
        </p:txBody>
      </p:sp>
      <p:sp>
        <p:nvSpPr>
          <p:cNvPr id="73" name="Rectangle 72"/>
          <p:cNvSpPr/>
          <p:nvPr/>
        </p:nvSpPr>
        <p:spPr>
          <a:xfrm>
            <a:off x="2395728" y="3273552"/>
            <a:ext cx="914400" cy="438912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2441448" y="3337560"/>
            <a:ext cx="822960" cy="31089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198754"/>
                </a:solidFill>
                <a:latin typeface="Microsoft YaHei"/>
              </a:defRPr>
            </a:pPr>
            <a:r>
              <a:rPr sz="1200" b="1">
                <a:solidFill>
                  <a:srgbClr val="198754"/>
                </a:solidFill>
                <a:latin typeface="Microsoft YaHei"/>
              </a:rPr>
              <a:t>●</a:t>
            </a:r>
          </a:p>
        </p:txBody>
      </p:sp>
      <p:sp>
        <p:nvSpPr>
          <p:cNvPr id="75" name="Rectangle 74"/>
          <p:cNvSpPr/>
          <p:nvPr/>
        </p:nvSpPr>
        <p:spPr>
          <a:xfrm>
            <a:off x="3310128" y="3273552"/>
            <a:ext cx="822960" cy="438912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3355848" y="3337560"/>
            <a:ext cx="731520" cy="31089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BE123C"/>
                </a:solidFill>
                <a:latin typeface="Microsoft YaHei"/>
              </a:defRPr>
            </a:pPr>
            <a:r>
              <a:rPr sz="1200" b="1">
                <a:solidFill>
                  <a:srgbClr val="BE123C"/>
                </a:solidFill>
                <a:latin typeface="Microsoft YaHei"/>
              </a:rPr>
              <a:t>×</a:t>
            </a:r>
          </a:p>
        </p:txBody>
      </p:sp>
      <p:sp>
        <p:nvSpPr>
          <p:cNvPr id="77" name="Rectangle 76"/>
          <p:cNvSpPr/>
          <p:nvPr/>
        </p:nvSpPr>
        <p:spPr>
          <a:xfrm>
            <a:off x="4133087" y="3273552"/>
            <a:ext cx="868680" cy="438912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4178807" y="3337560"/>
            <a:ext cx="777240" cy="31089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BE123C"/>
                </a:solidFill>
                <a:latin typeface="Microsoft YaHei"/>
              </a:defRPr>
            </a:pPr>
            <a:r>
              <a:rPr sz="1200" b="1">
                <a:solidFill>
                  <a:srgbClr val="BE123C"/>
                </a:solidFill>
                <a:latin typeface="Microsoft YaHei"/>
              </a:rPr>
              <a:t>×</a:t>
            </a:r>
          </a:p>
        </p:txBody>
      </p:sp>
      <p:sp>
        <p:nvSpPr>
          <p:cNvPr id="79" name="Rectangle 78"/>
          <p:cNvSpPr/>
          <p:nvPr/>
        </p:nvSpPr>
        <p:spPr>
          <a:xfrm>
            <a:off x="5001768" y="3273552"/>
            <a:ext cx="4434840" cy="438912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5056632" y="3337560"/>
            <a:ext cx="4325112" cy="31089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所有家庭使用同一疫情折减</a:t>
            </a:r>
          </a:p>
        </p:txBody>
      </p:sp>
      <p:sp>
        <p:nvSpPr>
          <p:cNvPr id="81" name="Rectangle 80"/>
          <p:cNvSpPr/>
          <p:nvPr/>
        </p:nvSpPr>
        <p:spPr>
          <a:xfrm>
            <a:off x="9436607" y="3273552"/>
            <a:ext cx="685800" cy="438912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9491472" y="3337560"/>
            <a:ext cx="576072" cy="31089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2.52</a:t>
            </a:r>
          </a:p>
        </p:txBody>
      </p:sp>
      <p:sp>
        <p:nvSpPr>
          <p:cNvPr id="83" name="Rectangle 82"/>
          <p:cNvSpPr/>
          <p:nvPr/>
        </p:nvSpPr>
        <p:spPr>
          <a:xfrm>
            <a:off x="475488" y="3712463"/>
            <a:ext cx="1920240" cy="438912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530352" y="3776472"/>
            <a:ext cx="1810512" cy="31089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Random pressure</a:t>
            </a:r>
          </a:p>
        </p:txBody>
      </p:sp>
      <p:sp>
        <p:nvSpPr>
          <p:cNvPr id="85" name="Rectangle 84"/>
          <p:cNvSpPr/>
          <p:nvPr/>
        </p:nvSpPr>
        <p:spPr>
          <a:xfrm>
            <a:off x="2395728" y="3712463"/>
            <a:ext cx="914400" cy="438912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2441448" y="3776472"/>
            <a:ext cx="822960" cy="31089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198754"/>
                </a:solidFill>
                <a:latin typeface="Microsoft YaHei"/>
              </a:defRPr>
            </a:pPr>
            <a:r>
              <a:rPr sz="1200" b="1">
                <a:solidFill>
                  <a:srgbClr val="198754"/>
                </a:solidFill>
                <a:latin typeface="Microsoft YaHei"/>
              </a:rPr>
              <a:t>●</a:t>
            </a:r>
          </a:p>
        </p:txBody>
      </p:sp>
      <p:sp>
        <p:nvSpPr>
          <p:cNvPr id="87" name="Rectangle 86"/>
          <p:cNvSpPr/>
          <p:nvPr/>
        </p:nvSpPr>
        <p:spPr>
          <a:xfrm>
            <a:off x="3310128" y="3712463"/>
            <a:ext cx="822960" cy="438912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3355848" y="3776472"/>
            <a:ext cx="731520" cy="31089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BE123C"/>
                </a:solidFill>
                <a:latin typeface="Microsoft YaHei"/>
              </a:defRPr>
            </a:pPr>
            <a:r>
              <a:rPr sz="1200" b="1">
                <a:solidFill>
                  <a:srgbClr val="BE123C"/>
                </a:solidFill>
                <a:latin typeface="Microsoft YaHei"/>
              </a:rPr>
              <a:t>×</a:t>
            </a:r>
          </a:p>
        </p:txBody>
      </p:sp>
      <p:sp>
        <p:nvSpPr>
          <p:cNvPr id="89" name="Rectangle 88"/>
          <p:cNvSpPr/>
          <p:nvPr/>
        </p:nvSpPr>
        <p:spPr>
          <a:xfrm>
            <a:off x="4133087" y="3712463"/>
            <a:ext cx="868680" cy="438912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4178807" y="3776472"/>
            <a:ext cx="777240" cy="31089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BE123C"/>
                </a:solidFill>
                <a:latin typeface="Microsoft YaHei"/>
              </a:defRPr>
            </a:pPr>
            <a:r>
              <a:rPr sz="1200" b="1">
                <a:solidFill>
                  <a:srgbClr val="BE123C"/>
                </a:solidFill>
                <a:latin typeface="Microsoft YaHei"/>
              </a:rPr>
              <a:t>×</a:t>
            </a:r>
          </a:p>
        </p:txBody>
      </p:sp>
      <p:sp>
        <p:nvSpPr>
          <p:cNvPr id="91" name="Rectangle 90"/>
          <p:cNvSpPr/>
          <p:nvPr/>
        </p:nvSpPr>
        <p:spPr>
          <a:xfrm>
            <a:off x="5001768" y="3712463"/>
            <a:ext cx="4434840" cy="438912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5056632" y="3776472"/>
            <a:ext cx="4325112" cy="31089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随机 pressure 对照</a:t>
            </a:r>
          </a:p>
        </p:txBody>
      </p:sp>
      <p:sp>
        <p:nvSpPr>
          <p:cNvPr id="93" name="Rectangle 92"/>
          <p:cNvSpPr/>
          <p:nvPr/>
        </p:nvSpPr>
        <p:spPr>
          <a:xfrm>
            <a:off x="9436607" y="3712463"/>
            <a:ext cx="685800" cy="438912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9491472" y="3776472"/>
            <a:ext cx="576072" cy="31089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2.65</a:t>
            </a:r>
          </a:p>
        </p:txBody>
      </p:sp>
      <p:sp>
        <p:nvSpPr>
          <p:cNvPr id="95" name="Rectangle 94"/>
          <p:cNvSpPr/>
          <p:nvPr/>
        </p:nvSpPr>
        <p:spPr>
          <a:xfrm>
            <a:off x="475488" y="4151376"/>
            <a:ext cx="1920240" cy="438912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530352" y="4215384"/>
            <a:ext cx="1810512" cy="31089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Hybrid gated</a:t>
            </a:r>
          </a:p>
        </p:txBody>
      </p:sp>
      <p:sp>
        <p:nvSpPr>
          <p:cNvPr id="97" name="Rectangle 96"/>
          <p:cNvSpPr/>
          <p:nvPr/>
        </p:nvSpPr>
        <p:spPr>
          <a:xfrm>
            <a:off x="2395728" y="4151376"/>
            <a:ext cx="914400" cy="438912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2441448" y="4215384"/>
            <a:ext cx="822960" cy="31089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198754"/>
                </a:solidFill>
                <a:latin typeface="Microsoft YaHei"/>
              </a:defRPr>
            </a:pPr>
            <a:r>
              <a:rPr sz="1200" b="1">
                <a:solidFill>
                  <a:srgbClr val="198754"/>
                </a:solidFill>
                <a:latin typeface="Microsoft YaHei"/>
              </a:rPr>
              <a:t>●</a:t>
            </a:r>
          </a:p>
        </p:txBody>
      </p:sp>
      <p:sp>
        <p:nvSpPr>
          <p:cNvPr id="99" name="Rectangle 98"/>
          <p:cNvSpPr/>
          <p:nvPr/>
        </p:nvSpPr>
        <p:spPr>
          <a:xfrm>
            <a:off x="3310128" y="4151376"/>
            <a:ext cx="822960" cy="438912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3355848" y="4215384"/>
            <a:ext cx="731520" cy="31089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198754"/>
                </a:solidFill>
                <a:latin typeface="Microsoft YaHei"/>
              </a:defRPr>
            </a:pPr>
            <a:r>
              <a:rPr sz="1200" b="1">
                <a:solidFill>
                  <a:srgbClr val="198754"/>
                </a:solidFill>
                <a:latin typeface="Microsoft YaHei"/>
              </a:rPr>
              <a:t>●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4133087" y="4151376"/>
            <a:ext cx="868680" cy="438912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4178807" y="4215384"/>
            <a:ext cx="777240" cy="31089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BE123C"/>
                </a:solidFill>
                <a:latin typeface="Microsoft YaHei"/>
              </a:defRPr>
            </a:pPr>
            <a:r>
              <a:rPr sz="1200" b="1">
                <a:solidFill>
                  <a:srgbClr val="BE123C"/>
                </a:solidFill>
                <a:latin typeface="Microsoft YaHei"/>
              </a:rPr>
              <a:t>×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5001768" y="4151376"/>
            <a:ext cx="4434840" cy="438912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5056632" y="4215384"/>
            <a:ext cx="4325112" cy="31089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历史基线 × LLM 事件折减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9436607" y="4151376"/>
            <a:ext cx="685800" cy="438912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9491472" y="4215384"/>
            <a:ext cx="576072" cy="31089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2.50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594360" y="4617720"/>
            <a:ext cx="3383280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200" b="1">
                <a:solidFill>
                  <a:srgbClr val="64748B"/>
                </a:solidFill>
                <a:latin typeface="Microsoft YaHei"/>
              </a:defRPr>
            </a:pPr>
            <a:r>
              <a:rPr sz="1200" b="1">
                <a:solidFill>
                  <a:srgbClr val="64748B"/>
                </a:solidFill>
                <a:latin typeface="Microsoft YaHei"/>
              </a:rPr>
              <a:t>● 使用 / used    × 不使用 / not used</a:t>
            </a:r>
          </a:p>
        </p:txBody>
      </p:sp>
      <p:sp>
        <p:nvSpPr>
          <p:cNvPr id="108" name="Rounded Rectangle 107"/>
          <p:cNvSpPr/>
          <p:nvPr/>
        </p:nvSpPr>
        <p:spPr>
          <a:xfrm>
            <a:off x="749808" y="4919472"/>
            <a:ext cx="10012680" cy="1170432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749808" y="4919472"/>
            <a:ext cx="50292" cy="1170432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914400" y="5010912"/>
            <a:ext cx="9720072" cy="42062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对比逻辑：传统 XGBoost 有 household baseline 但缺少疫情机制；LLM-only 有事件方向但缺少家庭数值基线；hybrid 把两者合在一起。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914400" y="5495544"/>
            <a:ext cx="9720072" cy="5212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Microsoft YaHei"/>
              </a:defRPr>
            </a:pPr>
            <a:r>
              <a:rPr sz="1200" b="0">
                <a:solidFill>
                  <a:srgbClr val="64748B"/>
                </a:solidFill>
                <a:latin typeface="Microsoft YaHei"/>
              </a:rPr>
              <a:t>The comparison isolates the value of each component: household grounding from the traditional supervised baseline and event pressure from the LLM.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48056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50292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400" b="1">
                <a:solidFill>
                  <a:srgbClr val="00796B"/>
                </a:solidFill>
                <a:latin typeface="Microsoft YaHei"/>
              </a:defRPr>
            </a:pPr>
            <a:r>
              <a:rPr sz="1400" b="1">
                <a:solidFill>
                  <a:srgbClr val="00796B"/>
                </a:solidFill>
                <a:latin typeface="Microsoft YaHei"/>
              </a:rPr>
              <a:t>07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246888"/>
            <a:ext cx="841248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50" b="1">
                <a:solidFill>
                  <a:srgbClr val="0F172A"/>
                </a:solidFill>
                <a:latin typeface="Microsoft YaHei"/>
              </a:defRPr>
            </a:pPr>
            <a:r>
              <a:rPr sz="1750" b="1">
                <a:solidFill>
                  <a:srgbClr val="0F172A"/>
                </a:solidFill>
                <a:latin typeface="Microsoft YaHei"/>
              </a:rPr>
              <a:t>主结果 / Main Trip-Count Results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61288" y="585216"/>
            <a:ext cx="886968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Hybrid adapters reduce error while controlling bias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6473952"/>
            <a:ext cx="521208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Pandemic-Aware Household Travel Behavior Prediction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52760" y="6473952"/>
            <a:ext cx="91440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09 / 22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1156716"/>
            <a:ext cx="2057400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0">
                <a:solidFill>
                  <a:srgbClr val="0F172A"/>
                </a:solidFill>
                <a:latin typeface="Microsoft YaHei"/>
              </a:defRPr>
            </a:pPr>
            <a:r>
              <a:rPr sz="780" b="0">
                <a:solidFill>
                  <a:srgbClr val="0F172A"/>
                </a:solidFill>
                <a:latin typeface="Microsoft YaHei"/>
              </a:rPr>
              <a:t>Historical mean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43200" y="1207008"/>
            <a:ext cx="2971800" cy="1554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743200" y="1207008"/>
            <a:ext cx="2729917" cy="155448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806440" y="1152144"/>
            <a:ext cx="502920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800" b="1">
                <a:solidFill>
                  <a:srgbClr val="64748B"/>
                </a:solidFill>
                <a:latin typeface="Microsoft YaHei"/>
              </a:defRPr>
            </a:pPr>
            <a:r>
              <a:rPr sz="800" b="1">
                <a:solidFill>
                  <a:srgbClr val="64748B"/>
                </a:solidFill>
                <a:latin typeface="Microsoft YaHei"/>
              </a:rPr>
              <a:t>5.51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1656588"/>
            <a:ext cx="2057400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0">
                <a:solidFill>
                  <a:srgbClr val="0F172A"/>
                </a:solidFill>
                <a:latin typeface="Microsoft YaHei"/>
              </a:defRPr>
            </a:pPr>
            <a:r>
              <a:rPr sz="780" b="0">
                <a:solidFill>
                  <a:srgbClr val="0F172A"/>
                </a:solidFill>
                <a:latin typeface="Microsoft YaHei"/>
              </a:rPr>
              <a:t>Ordinary XGBoost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743200" y="1706880"/>
            <a:ext cx="2971800" cy="1554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743200" y="1706880"/>
            <a:ext cx="2148456" cy="155448"/>
          </a:xfrm>
          <a:prstGeom prst="rect">
            <a:avLst/>
          </a:prstGeom>
          <a:solidFill>
            <a:srgbClr val="BE1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806440" y="1652016"/>
            <a:ext cx="502920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800" b="1">
                <a:solidFill>
                  <a:srgbClr val="BE123C"/>
                </a:solidFill>
                <a:latin typeface="Microsoft YaHei"/>
              </a:defRPr>
            </a:pPr>
            <a:r>
              <a:rPr sz="800" b="1">
                <a:solidFill>
                  <a:srgbClr val="BE123C"/>
                </a:solidFill>
                <a:latin typeface="Microsoft YaHei"/>
              </a:rPr>
              <a:t>4.34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2156459"/>
            <a:ext cx="2057400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0">
                <a:solidFill>
                  <a:srgbClr val="0F172A"/>
                </a:solidFill>
                <a:latin typeface="Microsoft YaHei"/>
              </a:defRPr>
            </a:pPr>
            <a:r>
              <a:rPr sz="780" b="0">
                <a:solidFill>
                  <a:srgbClr val="0F172A"/>
                </a:solidFill>
                <a:latin typeface="Microsoft YaHei"/>
              </a:rPr>
              <a:t>Trend / indicator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743200" y="2206752"/>
            <a:ext cx="2971800" cy="1554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743200" y="2206752"/>
            <a:ext cx="2055717" cy="155448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806440" y="2151887"/>
            <a:ext cx="502920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800" b="1">
                <a:solidFill>
                  <a:srgbClr val="EA580C"/>
                </a:solidFill>
                <a:latin typeface="Microsoft YaHei"/>
              </a:defRPr>
            </a:pPr>
            <a:r>
              <a:rPr sz="800" b="1">
                <a:solidFill>
                  <a:srgbClr val="EA580C"/>
                </a:solidFill>
                <a:latin typeface="Microsoft YaHei"/>
              </a:rPr>
              <a:t>4.15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" y="2656332"/>
            <a:ext cx="2057400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0">
                <a:solidFill>
                  <a:srgbClr val="0F172A"/>
                </a:solidFill>
                <a:latin typeface="Microsoft YaHei"/>
              </a:defRPr>
            </a:pPr>
            <a:r>
              <a:rPr sz="780" b="0">
                <a:solidFill>
                  <a:srgbClr val="0F172A"/>
                </a:solidFill>
                <a:latin typeface="Microsoft YaHei"/>
              </a:rPr>
              <a:t>LLM-only pressure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743200" y="2706624"/>
            <a:ext cx="2971800" cy="1554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743200" y="2706624"/>
            <a:ext cx="1345984" cy="155448"/>
          </a:xfrm>
          <a:prstGeom prst="rect">
            <a:avLst/>
          </a:prstGeom>
          <a:solidFill>
            <a:srgbClr val="5B2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806440" y="2651760"/>
            <a:ext cx="502920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800" b="1">
                <a:solidFill>
                  <a:srgbClr val="5B21B6"/>
                </a:solidFill>
                <a:latin typeface="Microsoft YaHei"/>
              </a:defRPr>
            </a:pPr>
            <a:r>
              <a:rPr sz="800" b="1">
                <a:solidFill>
                  <a:srgbClr val="5B21B6"/>
                </a:solidFill>
                <a:latin typeface="Microsoft YaHei"/>
              </a:rPr>
              <a:t>2.72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4360" y="3156204"/>
            <a:ext cx="2057400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0">
                <a:solidFill>
                  <a:srgbClr val="0F172A"/>
                </a:solidFill>
                <a:latin typeface="Microsoft YaHei"/>
              </a:defRPr>
            </a:pPr>
            <a:r>
              <a:rPr sz="780" b="0">
                <a:solidFill>
                  <a:srgbClr val="0F172A"/>
                </a:solidFill>
                <a:latin typeface="Microsoft YaHei"/>
              </a:rPr>
              <a:t>Global event rule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743200" y="3206496"/>
            <a:ext cx="2971800" cy="1554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2743200" y="3206496"/>
            <a:ext cx="1249310" cy="155448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806440" y="3151632"/>
            <a:ext cx="502920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800" b="1">
                <a:solidFill>
                  <a:srgbClr val="00796B"/>
                </a:solidFill>
                <a:latin typeface="Microsoft YaHei"/>
              </a:defRPr>
            </a:pPr>
            <a:r>
              <a:rPr sz="800" b="1">
                <a:solidFill>
                  <a:srgbClr val="00796B"/>
                </a:solidFill>
                <a:latin typeface="Microsoft YaHei"/>
              </a:rPr>
              <a:t>2.52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94360" y="3656076"/>
            <a:ext cx="2057400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0">
                <a:solidFill>
                  <a:srgbClr val="0F172A"/>
                </a:solidFill>
                <a:latin typeface="Microsoft YaHei"/>
              </a:defRPr>
            </a:pPr>
            <a:r>
              <a:rPr sz="780" b="0">
                <a:solidFill>
                  <a:srgbClr val="0F172A"/>
                </a:solidFill>
                <a:latin typeface="Microsoft YaHei"/>
              </a:rPr>
              <a:t>Hybrid gated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743200" y="3706368"/>
            <a:ext cx="2971800" cy="1554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2743200" y="3706368"/>
            <a:ext cx="1239379" cy="155448"/>
          </a:xfrm>
          <a:prstGeom prst="rect">
            <a:avLst/>
          </a:prstGeom>
          <a:solidFill>
            <a:srgbClr val="1987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806440" y="3651504"/>
            <a:ext cx="502920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800" b="1">
                <a:solidFill>
                  <a:srgbClr val="198754"/>
                </a:solidFill>
                <a:latin typeface="Microsoft YaHei"/>
              </a:defRPr>
            </a:pPr>
            <a:r>
              <a:rPr sz="800" b="1">
                <a:solidFill>
                  <a:srgbClr val="198754"/>
                </a:solidFill>
                <a:latin typeface="Microsoft YaHei"/>
              </a:rPr>
              <a:t>2.50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537960" y="1170432"/>
            <a:ext cx="1874519" cy="457200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574536" y="1243584"/>
            <a:ext cx="1801367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Method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412480" y="1170432"/>
            <a:ext cx="822960" cy="457200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449055" y="1243584"/>
            <a:ext cx="749808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wMAE</a:t>
            </a:r>
          </a:p>
        </p:txBody>
      </p:sp>
      <p:sp>
        <p:nvSpPr>
          <p:cNvPr id="39" name="Rectangle 38"/>
          <p:cNvSpPr/>
          <p:nvPr/>
        </p:nvSpPr>
        <p:spPr>
          <a:xfrm>
            <a:off x="9235440" y="1170432"/>
            <a:ext cx="822960" cy="457200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272015" y="1243584"/>
            <a:ext cx="749808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wBias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0058400" y="1170432"/>
            <a:ext cx="731520" cy="457200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0094976" y="1243584"/>
            <a:ext cx="658368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wR2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537960" y="1627632"/>
            <a:ext cx="1874519" cy="45720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592824" y="1691640"/>
            <a:ext cx="1764791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Ordinary XGBoost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412480" y="1627632"/>
            <a:ext cx="822960" cy="45720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467344" y="1691640"/>
            <a:ext cx="71323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4.338</a:t>
            </a:r>
          </a:p>
        </p:txBody>
      </p:sp>
      <p:sp>
        <p:nvSpPr>
          <p:cNvPr id="47" name="Rectangle 46"/>
          <p:cNvSpPr/>
          <p:nvPr/>
        </p:nvSpPr>
        <p:spPr>
          <a:xfrm>
            <a:off x="9235440" y="1627632"/>
            <a:ext cx="822960" cy="45720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290304" y="1691640"/>
            <a:ext cx="71323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+3.605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0058400" y="1627632"/>
            <a:ext cx="731520" cy="45720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113264" y="1691640"/>
            <a:ext cx="62179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-0.637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537960" y="2084832"/>
            <a:ext cx="1874519" cy="45720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592824" y="2148840"/>
            <a:ext cx="1764791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LLM-only pressure</a:t>
            </a:r>
          </a:p>
        </p:txBody>
      </p:sp>
      <p:sp>
        <p:nvSpPr>
          <p:cNvPr id="53" name="Rectangle 52"/>
          <p:cNvSpPr/>
          <p:nvPr/>
        </p:nvSpPr>
        <p:spPr>
          <a:xfrm>
            <a:off x="8412480" y="2084832"/>
            <a:ext cx="822960" cy="45720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467344" y="2148840"/>
            <a:ext cx="71323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2.718</a:t>
            </a:r>
          </a:p>
        </p:txBody>
      </p:sp>
      <p:sp>
        <p:nvSpPr>
          <p:cNvPr id="55" name="Rectangle 54"/>
          <p:cNvSpPr/>
          <p:nvPr/>
        </p:nvSpPr>
        <p:spPr>
          <a:xfrm>
            <a:off x="9235440" y="2084832"/>
            <a:ext cx="822960" cy="45720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9290304" y="2148840"/>
            <a:ext cx="71323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-0.373</a:t>
            </a:r>
          </a:p>
        </p:txBody>
      </p:sp>
      <p:sp>
        <p:nvSpPr>
          <p:cNvPr id="57" name="Rectangle 56"/>
          <p:cNvSpPr/>
          <p:nvPr/>
        </p:nvSpPr>
        <p:spPr>
          <a:xfrm>
            <a:off x="10058400" y="2084832"/>
            <a:ext cx="731520" cy="45720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10113264" y="2148840"/>
            <a:ext cx="62179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0.079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537960" y="2542032"/>
            <a:ext cx="1874519" cy="45720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592824" y="2606040"/>
            <a:ext cx="1764791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Hybrid gated</a:t>
            </a:r>
          </a:p>
        </p:txBody>
      </p:sp>
      <p:sp>
        <p:nvSpPr>
          <p:cNvPr id="61" name="Rectangle 60"/>
          <p:cNvSpPr/>
          <p:nvPr/>
        </p:nvSpPr>
        <p:spPr>
          <a:xfrm>
            <a:off x="8412480" y="2542032"/>
            <a:ext cx="822960" cy="45720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8467344" y="2606040"/>
            <a:ext cx="71323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2.502</a:t>
            </a:r>
          </a:p>
        </p:txBody>
      </p:sp>
      <p:sp>
        <p:nvSpPr>
          <p:cNvPr id="63" name="Rectangle 62"/>
          <p:cNvSpPr/>
          <p:nvPr/>
        </p:nvSpPr>
        <p:spPr>
          <a:xfrm>
            <a:off x="9235440" y="2542032"/>
            <a:ext cx="822960" cy="45720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9290304" y="2606040"/>
            <a:ext cx="71323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-0.023</a:t>
            </a:r>
          </a:p>
        </p:txBody>
      </p:sp>
      <p:sp>
        <p:nvSpPr>
          <p:cNvPr id="65" name="Rectangle 64"/>
          <p:cNvSpPr/>
          <p:nvPr/>
        </p:nvSpPr>
        <p:spPr>
          <a:xfrm>
            <a:off x="10058400" y="2542032"/>
            <a:ext cx="731520" cy="45720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0113264" y="2606040"/>
            <a:ext cx="62179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0.248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6547104" y="3035808"/>
            <a:ext cx="1874519" cy="749808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6547104" y="3035808"/>
            <a:ext cx="50292" cy="749808"/>
          </a:xfrm>
          <a:prstGeom prst="rect">
            <a:avLst/>
          </a:prstGeom>
          <a:solidFill>
            <a:srgbClr val="1987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675120" y="3108960"/>
            <a:ext cx="1655063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MAE reduction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675120" y="3282696"/>
            <a:ext cx="1655063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198754"/>
                </a:solidFill>
                <a:latin typeface="Microsoft YaHei"/>
              </a:defRPr>
            </a:pPr>
            <a:r>
              <a:rPr sz="1600" b="1">
                <a:solidFill>
                  <a:srgbClr val="198754"/>
                </a:solidFill>
                <a:latin typeface="Microsoft YaHei"/>
              </a:rPr>
              <a:t>-42.3%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675120" y="3593591"/>
            <a:ext cx="1655063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primary vs XGBoost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8641080" y="3035808"/>
            <a:ext cx="1874519" cy="749808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8641080" y="3035808"/>
            <a:ext cx="50292" cy="74980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8769096" y="3108960"/>
            <a:ext cx="1655063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Bias reduction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8769096" y="3282696"/>
            <a:ext cx="1655063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2563EB"/>
                </a:solidFill>
                <a:latin typeface="Microsoft YaHei"/>
              </a:defRPr>
            </a:pPr>
            <a:r>
              <a:rPr sz="1600" b="1">
                <a:solidFill>
                  <a:srgbClr val="2563EB"/>
                </a:solidFill>
                <a:latin typeface="Microsoft YaHei"/>
              </a:rPr>
              <a:t>-99.4%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8769096" y="3593591"/>
            <a:ext cx="1655063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absolute weighted bias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749808" y="4892040"/>
            <a:ext cx="10012680" cy="1115568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749808" y="4892040"/>
            <a:ext cx="50292" cy="1115568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914400" y="4983479"/>
            <a:ext cx="9720072" cy="40160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普通 XGBoost 保留了家庭差异，但把 2022 当作常态延续，产生明显高估；加入事件折减后，wMAE 降到 2.50，bias 接近 0。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914400" y="5449092"/>
            <a:ext cx="9720072" cy="485363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Microsoft YaHei"/>
              </a:defRPr>
            </a:pPr>
            <a:r>
              <a:rPr sz="1200" b="0">
                <a:solidFill>
                  <a:srgbClr val="64748B"/>
                </a:solidFill>
                <a:latin typeface="Microsoft YaHei"/>
              </a:rPr>
              <a:t>XGBoost preserves household differences but misses the pandemic shift. Event correction lowers wMAE to 2.50 and removes most systematic bias.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48056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50292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400" b="1">
                <a:solidFill>
                  <a:srgbClr val="00796B"/>
                </a:solidFill>
                <a:latin typeface="Microsoft YaHei"/>
              </a:defRPr>
            </a:pPr>
            <a:r>
              <a:rPr sz="1400" b="1">
                <a:solidFill>
                  <a:srgbClr val="00796B"/>
                </a:solidFill>
                <a:latin typeface="Microsoft YaHei"/>
              </a:rPr>
              <a:t>08A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246888"/>
            <a:ext cx="841248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50" b="1">
                <a:solidFill>
                  <a:srgbClr val="0F172A"/>
                </a:solidFill>
                <a:latin typeface="Microsoft YaHei"/>
              </a:defRPr>
            </a:pPr>
            <a:r>
              <a:rPr sz="1750" b="1">
                <a:solidFill>
                  <a:srgbClr val="0F172A"/>
                </a:solidFill>
                <a:latin typeface="Microsoft YaHei"/>
              </a:rPr>
              <a:t>统计验证 / Statistical Validation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61288" y="585216"/>
            <a:ext cx="886968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用 household bootstrap 给主结果加不确定性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6473952"/>
            <a:ext cx="521208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Pandemic-Aware Household Travel Behavior Prediction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52760" y="6473952"/>
            <a:ext cx="91440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10 / 22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13232" y="1143000"/>
            <a:ext cx="2468880" cy="530352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9808" y="1216152"/>
            <a:ext cx="2395728" cy="402335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Metric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182112" y="1143000"/>
            <a:ext cx="1600200" cy="530352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218688" y="1216152"/>
            <a:ext cx="1527048" cy="402335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Point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782312" y="1143000"/>
            <a:ext cx="2834640" cy="530352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18888" y="1216152"/>
            <a:ext cx="2761488" cy="402335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95% CI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13232" y="1673352"/>
            <a:ext cx="2468880" cy="530352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8096" y="1737360"/>
            <a:ext cx="2359152" cy="402335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Baseline wMAE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182112" y="1673352"/>
            <a:ext cx="1600200" cy="530352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236976" y="1737360"/>
            <a:ext cx="1490472" cy="402335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4.338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782312" y="1673352"/>
            <a:ext cx="2834640" cy="530352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37176" y="1737360"/>
            <a:ext cx="2724912" cy="402335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[4.242, 4.431]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13232" y="2203704"/>
            <a:ext cx="2468880" cy="530352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8096" y="2267712"/>
            <a:ext cx="2359152" cy="402335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Hybrid wMAE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182112" y="2203704"/>
            <a:ext cx="1600200" cy="530352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236976" y="2267712"/>
            <a:ext cx="1490472" cy="402335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2.502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782312" y="2203704"/>
            <a:ext cx="2834640" cy="530352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837176" y="2267712"/>
            <a:ext cx="2724912" cy="402335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[2.429, 2.581]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13232" y="2734056"/>
            <a:ext cx="2468880" cy="530352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8096" y="2798063"/>
            <a:ext cx="2359152" cy="402335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Hybrid bias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82112" y="2734056"/>
            <a:ext cx="1600200" cy="530352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236976" y="2798063"/>
            <a:ext cx="1490472" cy="402335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-0.023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782312" y="2734056"/>
            <a:ext cx="2834640" cy="530352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837176" y="2798063"/>
            <a:ext cx="2724912" cy="402335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[-0.130, +0.088]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13232" y="3264408"/>
            <a:ext cx="2468880" cy="530352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68096" y="3328415"/>
            <a:ext cx="2359152" cy="402335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Within 2 trips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182112" y="3264408"/>
            <a:ext cx="1600200" cy="530352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236976" y="3328415"/>
            <a:ext cx="1490472" cy="402335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54.0%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782312" y="3264408"/>
            <a:ext cx="2834640" cy="530352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837176" y="3328415"/>
            <a:ext cx="2724912" cy="402335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[52.6%, 55.3%]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635240" y="1234440"/>
            <a:ext cx="2514600" cy="841248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7635240" y="1234440"/>
            <a:ext cx="50292" cy="841248"/>
          </a:xfrm>
          <a:prstGeom prst="rect">
            <a:avLst/>
          </a:prstGeom>
          <a:solidFill>
            <a:srgbClr val="1987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763256" y="1307592"/>
            <a:ext cx="2295144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MAE gain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763256" y="1481328"/>
            <a:ext cx="2295144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198754"/>
                </a:solidFill>
                <a:latin typeface="Microsoft YaHei"/>
              </a:defRPr>
            </a:pPr>
            <a:r>
              <a:rPr sz="1600" b="1">
                <a:solidFill>
                  <a:srgbClr val="198754"/>
                </a:solidFill>
                <a:latin typeface="Microsoft YaHei"/>
              </a:rPr>
              <a:t>1.84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763256" y="1792224"/>
            <a:ext cx="2295144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CI [1.74, 1.93]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7635240" y="2331720"/>
            <a:ext cx="2514600" cy="841248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7635240" y="2331720"/>
            <a:ext cx="50292" cy="84124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763256" y="2404872"/>
            <a:ext cx="2295144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Bias gain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763256" y="2578608"/>
            <a:ext cx="2295144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2563EB"/>
                </a:solidFill>
                <a:latin typeface="Microsoft YaHei"/>
              </a:defRPr>
            </a:pPr>
            <a:r>
              <a:rPr sz="1600" b="1">
                <a:solidFill>
                  <a:srgbClr val="2563EB"/>
                </a:solidFill>
                <a:latin typeface="Microsoft YaHei"/>
              </a:rPr>
              <a:t>3.56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763256" y="2889503"/>
            <a:ext cx="2295144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CI [3.36, 3.67]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749808" y="4754880"/>
            <a:ext cx="10012680" cy="1051560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749808" y="4754880"/>
            <a:ext cx="50292" cy="1051560"/>
          </a:xfrm>
          <a:prstGeom prst="rect">
            <a:avLst/>
          </a:prstGeom>
          <a:solidFill>
            <a:srgbClr val="1987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14400" y="4846320"/>
            <a:ext cx="9720072" cy="37856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Bootstrap 结果说明：主方法的 MAE 改善和 bias 改善不是单个点估计的偶然波动，paired CI 保持为正。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14400" y="5288889"/>
            <a:ext cx="9720072" cy="44439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Microsoft YaHei"/>
              </a:defRPr>
            </a:pPr>
            <a:r>
              <a:rPr sz="1200" b="0">
                <a:solidFill>
                  <a:srgbClr val="64748B"/>
                </a:solidFill>
                <a:latin typeface="Microsoft YaHei"/>
              </a:rPr>
              <a:t>The paired confidence intervals remain positive, supporting the robustness of the event-adaptation gain.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48056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50292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400" b="1">
                <a:solidFill>
                  <a:srgbClr val="00796B"/>
                </a:solidFill>
                <a:latin typeface="Microsoft YaHei"/>
              </a:defRPr>
            </a:pPr>
            <a:r>
              <a:rPr sz="1400" b="1">
                <a:solidFill>
                  <a:srgbClr val="00796B"/>
                </a:solidFill>
                <a:latin typeface="Microsoft YaHei"/>
              </a:rPr>
              <a:t>08B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246888"/>
            <a:ext cx="841248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50" b="1">
                <a:solidFill>
                  <a:srgbClr val="0F172A"/>
                </a:solidFill>
                <a:latin typeface="Microsoft YaHei"/>
              </a:defRPr>
            </a:pPr>
            <a:r>
              <a:rPr sz="1750" b="1">
                <a:solidFill>
                  <a:srgbClr val="0F172A"/>
                </a:solidFill>
                <a:latin typeface="Microsoft YaHei"/>
              </a:rPr>
              <a:t>误差与偏差权衡 / Error-Bias Tradeoff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61288" y="585216"/>
            <a:ext cx="886968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横轴是 |bias|，纵轴是 wMAE，越靠左下越好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6473952"/>
            <a:ext cx="521208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Pandemic-Aware Household Travel Behavior Prediction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52760" y="6473952"/>
            <a:ext cx="91440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11 / 22</a:t>
            </a:r>
          </a:p>
        </p:txBody>
      </p:sp>
      <p:pic>
        <p:nvPicPr>
          <p:cNvPr id="11" name="Picture 10" descr="mae_bias_tradeo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1170432"/>
            <a:ext cx="6172200" cy="3628129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7086600" y="1298448"/>
            <a:ext cx="3749039" cy="1444752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086600" y="1298448"/>
            <a:ext cx="50292" cy="1444752"/>
          </a:xfrm>
          <a:prstGeom prst="rect">
            <a:avLst/>
          </a:prstGeom>
          <a:solidFill>
            <a:srgbClr val="1987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251192" y="1389888"/>
            <a:ext cx="3456432" cy="42062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Hybrid 位于低误差、低偏差区域；普通 XGBoost 的偏差较大，说明 2022 的整体高估不能只靠家庭表格变量解决。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51192" y="1874519"/>
            <a:ext cx="3456432" cy="79552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Microsoft YaHei"/>
              </a:defRPr>
            </a:pPr>
            <a:r>
              <a:rPr sz="1200" b="0">
                <a:solidFill>
                  <a:srgbClr val="64748B"/>
                </a:solidFill>
                <a:latin typeface="Microsoft YaHei"/>
              </a:rPr>
              <a:t>The hybrid method moves toward lower error and near-zero bias; the ordinary supervised baseline keeps a clear positive shift.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086600" y="2852928"/>
            <a:ext cx="1325880" cy="457200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123176" y="2926080"/>
            <a:ext cx="1252728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读图方式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412480" y="2852928"/>
            <a:ext cx="2834640" cy="457200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49055" y="2926080"/>
            <a:ext cx="2761488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含义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086600" y="3310128"/>
            <a:ext cx="1325880" cy="45720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141464" y="3374136"/>
            <a:ext cx="121615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横轴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412480" y="3310128"/>
            <a:ext cx="2834640" cy="45720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467344" y="3374136"/>
            <a:ext cx="272491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越接近 0，系统性偏差越小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086600" y="3767328"/>
            <a:ext cx="1325880" cy="45720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141464" y="3831336"/>
            <a:ext cx="121615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纵轴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412480" y="3767328"/>
            <a:ext cx="2834640" cy="45720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467344" y="3831336"/>
            <a:ext cx="272491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越低，家庭出行次数误差越小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086600" y="4224528"/>
            <a:ext cx="1325880" cy="45720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141464" y="4288536"/>
            <a:ext cx="121615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点大小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412480" y="4224528"/>
            <a:ext cx="2834640" cy="45720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467344" y="4288536"/>
            <a:ext cx="272491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代表 weighted RMSE，反映大误差风险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086600" y="4681728"/>
            <a:ext cx="1325880" cy="45720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141464" y="4745736"/>
            <a:ext cx="121615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Hybrid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412480" y="4681728"/>
            <a:ext cx="2834640" cy="45720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467344" y="4745736"/>
            <a:ext cx="272491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位于低误差、低偏差区域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48056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50292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400" b="1">
                <a:solidFill>
                  <a:srgbClr val="00796B"/>
                </a:solidFill>
                <a:latin typeface="Microsoft YaHei"/>
              </a:defRPr>
            </a:pPr>
            <a:r>
              <a:rPr sz="1400" b="1">
                <a:solidFill>
                  <a:srgbClr val="00796B"/>
                </a:solidFill>
                <a:latin typeface="Microsoft YaHei"/>
              </a:rPr>
              <a:t>08C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246888"/>
            <a:ext cx="841248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50" b="1">
                <a:solidFill>
                  <a:srgbClr val="0F172A"/>
                </a:solidFill>
                <a:latin typeface="Microsoft YaHei"/>
              </a:defRPr>
            </a:pPr>
            <a:r>
              <a:rPr sz="1750" b="1">
                <a:solidFill>
                  <a:srgbClr val="0F172A"/>
                </a:solidFill>
                <a:latin typeface="Microsoft YaHei"/>
              </a:rPr>
              <a:t>误差分布与容忍度 / Error Distribution and Tolerance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61288" y="585216"/>
            <a:ext cx="886968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误差分布看系统性高估，容忍曲线看 household-level 可用性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6473952"/>
            <a:ext cx="521208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Pandemic-Aware Household Travel Behavior Prediction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52760" y="6473952"/>
            <a:ext cx="91440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12 / 22</a:t>
            </a:r>
          </a:p>
        </p:txBody>
      </p:sp>
      <p:pic>
        <p:nvPicPr>
          <p:cNvPr id="11" name="Picture 10" descr="error_distribu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097280"/>
            <a:ext cx="5349240" cy="3420345"/>
          </a:xfrm>
          <a:prstGeom prst="rect">
            <a:avLst/>
          </a:prstGeom>
        </p:spPr>
      </p:pic>
      <p:pic>
        <p:nvPicPr>
          <p:cNvPr id="12" name="Picture 11" descr="tolerance_curv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63640" y="1097280"/>
            <a:ext cx="5166360" cy="3366270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777240" y="5074920"/>
            <a:ext cx="10012680" cy="1097280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77240" y="5074920"/>
            <a:ext cx="50292" cy="109728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41832" y="5166359"/>
            <a:ext cx="9720072" cy="39502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传统监督模型误差分布整体偏正，说明它系统性高估 2022 出行；事件修正后误差更集中，容忍阈值内覆盖率更高。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41832" y="5625388"/>
            <a:ext cx="9720072" cy="473659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Microsoft YaHei"/>
              </a:defRPr>
            </a:pPr>
            <a:r>
              <a:rPr sz="1200" b="0">
                <a:solidFill>
                  <a:srgbClr val="64748B"/>
                </a:solidFill>
                <a:latin typeface="Microsoft YaHei"/>
              </a:rPr>
              <a:t>The traditional supervised baseline overpredicts many households; event correction shifts errors closer to zero and improves tolerance-level coverage.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48056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50292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400" b="1">
                <a:solidFill>
                  <a:srgbClr val="00796B"/>
                </a:solidFill>
                <a:latin typeface="Microsoft YaHei"/>
              </a:defRPr>
            </a:pPr>
            <a:r>
              <a:rPr sz="1400" b="1">
                <a:solidFill>
                  <a:srgbClr val="00796B"/>
                </a:solidFill>
                <a:latin typeface="Microsoft YaHei"/>
              </a:rPr>
              <a:t>09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246888"/>
            <a:ext cx="841248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50" b="1">
                <a:solidFill>
                  <a:srgbClr val="0F172A"/>
                </a:solidFill>
                <a:latin typeface="Microsoft YaHei"/>
              </a:defRPr>
            </a:pPr>
            <a:r>
              <a:rPr sz="1750" b="1">
                <a:solidFill>
                  <a:srgbClr val="0F172A"/>
                </a:solidFill>
                <a:latin typeface="Microsoft YaHei"/>
              </a:rPr>
              <a:t>疫情影响异质性 / Event Heterogeneity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61288" y="585216"/>
            <a:ext cx="886968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pressure 分层和先验相关性检验事件机制是否合理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6473952"/>
            <a:ext cx="521208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Pandemic-Aware Household Travel Behavior Prediction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52760" y="6473952"/>
            <a:ext cx="91440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13 / 22</a:t>
            </a:r>
          </a:p>
        </p:txBody>
      </p:sp>
      <p:pic>
        <p:nvPicPr>
          <p:cNvPr id="11" name="Picture 10" descr="pressure_quintile_gai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097280"/>
            <a:ext cx="5349240" cy="3550665"/>
          </a:xfrm>
          <a:prstGeom prst="rect">
            <a:avLst/>
          </a:prstGeom>
        </p:spPr>
      </p:pic>
      <p:pic>
        <p:nvPicPr>
          <p:cNvPr id="12" name="Picture 11" descr="event_prior_heatma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0" y="1033271"/>
            <a:ext cx="4526280" cy="4012902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777240" y="5138928"/>
            <a:ext cx="10012680" cy="1005840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77240" y="5138928"/>
            <a:ext cx="50292" cy="1005840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41832" y="5230368"/>
            <a:ext cx="9720072" cy="36210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LLM pressure 与疫情机制相符：高 pressure 组需要更强出行折减，remote work、transit avoidance 等先验之间也呈现可解释相关。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41832" y="5656478"/>
            <a:ext cx="9720072" cy="415137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Microsoft YaHei"/>
              </a:defRPr>
            </a:pPr>
            <a:r>
              <a:rPr sz="1200" b="0">
                <a:solidFill>
                  <a:srgbClr val="64748B"/>
                </a:solidFill>
                <a:latin typeface="Microsoft YaHei"/>
              </a:rPr>
              <a:t>The LLM priors behave like event variables, with pressure strata and prior correlations matching COVID-era mobility mechanisms.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48056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50292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400" b="1">
                <a:solidFill>
                  <a:srgbClr val="00796B"/>
                </a:solidFill>
                <a:latin typeface="Microsoft YaHei"/>
              </a:defRPr>
            </a:pPr>
            <a:r>
              <a:rPr sz="1400" b="1">
                <a:solidFill>
                  <a:srgbClr val="00796B"/>
                </a:solidFill>
                <a:latin typeface="Microsoft YaHei"/>
              </a:rPr>
              <a:t>09A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246888"/>
            <a:ext cx="841248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50" b="1">
                <a:solidFill>
                  <a:srgbClr val="0F172A"/>
                </a:solidFill>
                <a:latin typeface="Microsoft YaHei"/>
              </a:defRPr>
            </a:pPr>
            <a:r>
              <a:rPr sz="1750" b="1">
                <a:solidFill>
                  <a:srgbClr val="0F172A"/>
                </a:solidFill>
                <a:latin typeface="Microsoft YaHei"/>
              </a:rPr>
              <a:t>稳健性检验 / Robustness Check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61288" y="585216"/>
            <a:ext cx="886968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随机置换检验 LLM pressure 是否包含真实排序信息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6473952"/>
            <a:ext cx="521208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Pandemic-Aware Household Travel Behavior Prediction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52760" y="6473952"/>
            <a:ext cx="91440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14 / 22</a:t>
            </a:r>
          </a:p>
        </p:txBody>
      </p:sp>
      <p:pic>
        <p:nvPicPr>
          <p:cNvPr id="11" name="Picture 10" descr="permutation_null_ma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1115568"/>
            <a:ext cx="5669280" cy="3636689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6812280" y="1234440"/>
            <a:ext cx="4069080" cy="1463040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812280" y="1234440"/>
            <a:ext cx="50292" cy="1463040"/>
          </a:xfrm>
          <a:prstGeom prst="rect">
            <a:avLst/>
          </a:prstGeom>
          <a:solidFill>
            <a:srgbClr val="BE1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976872" y="1325880"/>
            <a:ext cx="3776472" cy="42062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真实 LLM pressure 的误差低于 500 次随机分配；同时 global pressure 也很强，说明主贡献是疫情事件层面的修正，cohort 排序是增量信息。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76872" y="1810512"/>
            <a:ext cx="3776472" cy="813816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Microsoft YaHei"/>
              </a:defRPr>
            </a:pPr>
            <a:r>
              <a:rPr sz="1200" b="0">
                <a:solidFill>
                  <a:srgbClr val="64748B"/>
                </a:solidFill>
                <a:latin typeface="Microsoft YaHei"/>
              </a:rPr>
              <a:t>Real LLM pressure beats random assignment, while the strong global baseline shows that the main signal is event-level correction.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812280" y="2971800"/>
            <a:ext cx="1828800" cy="457200"/>
          </a:xfrm>
          <a:prstGeom prst="rect">
            <a:avLst/>
          </a:prstGeom>
          <a:solidFill>
            <a:srgbClr val="1836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48856" y="3044952"/>
            <a:ext cx="1755648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可能被问到的问题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641080" y="2971800"/>
            <a:ext cx="2514600" cy="457200"/>
          </a:xfrm>
          <a:prstGeom prst="rect">
            <a:avLst/>
          </a:prstGeom>
          <a:solidFill>
            <a:srgbClr val="1836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77655" y="3044952"/>
            <a:ext cx="2441448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我们的回答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812280" y="3429000"/>
            <a:ext cx="1828800" cy="45720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67144" y="3493008"/>
            <a:ext cx="171907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global rule 是否已经足够？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641080" y="3429000"/>
            <a:ext cx="2514600" cy="45720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95944" y="3493008"/>
            <a:ext cx="240487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它很强；LLM 排序提供增量价值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812280" y="3886200"/>
            <a:ext cx="1828800" cy="45720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67144" y="3950208"/>
            <a:ext cx="171907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是否用了 2022 标签？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641080" y="3886200"/>
            <a:ext cx="2514600" cy="45720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95944" y="3950208"/>
            <a:ext cx="240487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LLM 输入排除目标值、权重和 ID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812280" y="4343400"/>
            <a:ext cx="1828800" cy="45720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867144" y="4407408"/>
            <a:ext cx="171907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LLM 能否替代传统模型？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641080" y="4343400"/>
            <a:ext cx="2514600" cy="45720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695944" y="4407408"/>
            <a:ext cx="240487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不能；hybrid 明显更稳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812280" y="4800600"/>
            <a:ext cx="1828800" cy="45720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867144" y="4864608"/>
            <a:ext cx="171907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方式结构是否已经解决？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641080" y="4800600"/>
            <a:ext cx="2514600" cy="45720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695944" y="4864608"/>
            <a:ext cx="240487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还没有；主要是 transit 维度更清楚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48056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50292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400" b="1">
                <a:solidFill>
                  <a:srgbClr val="00796B"/>
                </a:solidFill>
                <a:latin typeface="Microsoft YaHei"/>
              </a:defRPr>
            </a:pPr>
            <a:r>
              <a:rPr sz="1400" b="1">
                <a:solidFill>
                  <a:srgbClr val="00796B"/>
                </a:solidFill>
                <a:latin typeface="Microsoft YaHei"/>
              </a:rPr>
              <a:t>09B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246888"/>
            <a:ext cx="841248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50" b="1">
                <a:solidFill>
                  <a:srgbClr val="0F172A"/>
                </a:solidFill>
                <a:latin typeface="Microsoft YaHei"/>
              </a:defRPr>
            </a:pPr>
            <a:r>
              <a:rPr sz="1750" b="1">
                <a:solidFill>
                  <a:srgbClr val="0F172A"/>
                </a:solidFill>
                <a:latin typeface="Microsoft YaHei"/>
              </a:rPr>
              <a:t>分组检验 / Subgroup Check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61288" y="585216"/>
            <a:ext cx="886968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比较不同家庭群体中的 MAE 改善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6473952"/>
            <a:ext cx="521208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Pandemic-Aware Household Travel Behavior Prediction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52760" y="6473952"/>
            <a:ext cx="91440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15 / 22</a:t>
            </a:r>
          </a:p>
        </p:txBody>
      </p:sp>
      <p:pic>
        <p:nvPicPr>
          <p:cNvPr id="11" name="Picture 10" descr="subgroup_gain_t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1143000"/>
            <a:ext cx="6035040" cy="3636405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6995160" y="1261872"/>
            <a:ext cx="3886200" cy="1444752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995160" y="1261872"/>
            <a:ext cx="50292" cy="1444752"/>
          </a:xfrm>
          <a:prstGeom prst="rect">
            <a:avLst/>
          </a:prstGeom>
          <a:solidFill>
            <a:srgbClr val="5B2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159752" y="1353312"/>
            <a:ext cx="3593592" cy="42062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分组结果显示，改进不只来自总体均值；多个家庭群体的 MAE 都低于历史 XGBoost，但这里仍是诊断证据，不作因果解释。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59752" y="1837943"/>
            <a:ext cx="3593592" cy="79552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Microsoft YaHei"/>
              </a:defRPr>
            </a:pPr>
            <a:r>
              <a:rPr sz="1200" b="0">
                <a:solidFill>
                  <a:srgbClr val="64748B"/>
                </a:solidFill>
                <a:latin typeface="Microsoft YaHei"/>
              </a:rPr>
              <a:t>Subgroup results show that gains are not only an aggregate artifact; they remain diagnostic rather than causal evidence.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995160" y="2880360"/>
            <a:ext cx="1600200" cy="457200"/>
          </a:xfrm>
          <a:prstGeom prst="rect">
            <a:avLst/>
          </a:prstGeom>
          <a:solidFill>
            <a:srgbClr val="1836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031736" y="2953512"/>
            <a:ext cx="1527048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汇报时怎么讲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595360" y="2880360"/>
            <a:ext cx="2423160" cy="457200"/>
          </a:xfrm>
          <a:prstGeom prst="rect">
            <a:avLst/>
          </a:prstGeom>
          <a:solidFill>
            <a:srgbClr val="1836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31936" y="2953512"/>
            <a:ext cx="2350008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注意边界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995160" y="3337560"/>
            <a:ext cx="1600200" cy="45720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050024" y="3401568"/>
            <a:ext cx="149047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作为分组诊断证据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595360" y="3337560"/>
            <a:ext cx="2423160" cy="45720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50224" y="3401568"/>
            <a:ext cx="231343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不解释成因果结论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995160" y="3794760"/>
            <a:ext cx="1600200" cy="45720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050024" y="3858768"/>
            <a:ext cx="149047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强调整体改进趋势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595360" y="3794760"/>
            <a:ext cx="2423160" cy="45720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50224" y="3858768"/>
            <a:ext cx="231343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编码细节可放附录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995160" y="4251960"/>
            <a:ext cx="1600200" cy="45720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050024" y="4315968"/>
            <a:ext cx="149047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联系规划含义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595360" y="4251960"/>
            <a:ext cx="2423160" cy="45720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650224" y="4315968"/>
            <a:ext cx="231343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哪些家庭更难预测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48056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50292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400" b="1">
                <a:solidFill>
                  <a:srgbClr val="00796B"/>
                </a:solidFill>
                <a:latin typeface="Microsoft YaHei"/>
              </a:defRPr>
            </a:pPr>
            <a:r>
              <a:rPr sz="1400" b="1">
                <a:solidFill>
                  <a:srgbClr val="00796B"/>
                </a:solidFill>
                <a:latin typeface="Microsoft YaHei"/>
              </a:rPr>
              <a:t>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246888"/>
            <a:ext cx="841248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50" b="1">
                <a:solidFill>
                  <a:srgbClr val="0F172A"/>
                </a:solidFill>
                <a:latin typeface="Microsoft YaHei"/>
              </a:defRPr>
            </a:pPr>
            <a:r>
              <a:rPr sz="1750" b="1">
                <a:solidFill>
                  <a:srgbClr val="0F172A"/>
                </a:solidFill>
                <a:latin typeface="Microsoft YaHei"/>
              </a:rPr>
              <a:t>误差洞察 / Error Insight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61288" y="585216"/>
            <a:ext cx="886968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主收益来自消除 post-pandemic over-prediction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6473952"/>
            <a:ext cx="521208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Pandemic-Aware Household Travel Behavior Prediction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52760" y="6473952"/>
            <a:ext cx="91440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16 / 22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1170432"/>
            <a:ext cx="2240280" cy="822960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85800" y="1170432"/>
            <a:ext cx="50292" cy="8229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3816" y="1243584"/>
            <a:ext cx="2020824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Exact rounded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3816" y="1417320"/>
            <a:ext cx="2020824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2563EB"/>
                </a:solidFill>
                <a:latin typeface="Microsoft YaHei"/>
              </a:defRPr>
            </a:pPr>
            <a:r>
              <a:rPr sz="1600" b="1">
                <a:solidFill>
                  <a:srgbClr val="2563EB"/>
                </a:solidFill>
                <a:latin typeface="Microsoft YaHei"/>
              </a:rPr>
              <a:t>17.7%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3816" y="1728216"/>
            <a:ext cx="2020824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household accuracy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182112" y="1170432"/>
            <a:ext cx="2240280" cy="822960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182112" y="1170432"/>
            <a:ext cx="50292" cy="822960"/>
          </a:xfrm>
          <a:prstGeom prst="rect">
            <a:avLst/>
          </a:prstGeom>
          <a:solidFill>
            <a:srgbClr val="1987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310128" y="1243584"/>
            <a:ext cx="2020824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Within 2 trips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310128" y="1417320"/>
            <a:ext cx="2020824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198754"/>
                </a:solidFill>
                <a:latin typeface="Microsoft YaHei"/>
              </a:defRPr>
            </a:pPr>
            <a:r>
              <a:rPr sz="1600" b="1">
                <a:solidFill>
                  <a:srgbClr val="198754"/>
                </a:solidFill>
                <a:latin typeface="Microsoft YaHei"/>
              </a:rPr>
              <a:t>54.5%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310128" y="1728216"/>
            <a:ext cx="2020824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practical tolerance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78424" y="1170432"/>
            <a:ext cx="2240280" cy="822960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678424" y="1170432"/>
            <a:ext cx="50292" cy="82296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806440" y="1243584"/>
            <a:ext cx="2020824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Within 3 trips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806440" y="1417320"/>
            <a:ext cx="2020824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EA580C"/>
                </a:solidFill>
                <a:latin typeface="Microsoft YaHei"/>
              </a:defRPr>
            </a:pPr>
            <a:r>
              <a:rPr sz="1600" b="1">
                <a:solidFill>
                  <a:srgbClr val="EA580C"/>
                </a:solidFill>
                <a:latin typeface="Microsoft YaHei"/>
              </a:rPr>
              <a:t>71.2%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06440" y="1728216"/>
            <a:ext cx="2020824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broad tolerance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174736" y="1170432"/>
            <a:ext cx="2240280" cy="822960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174736" y="1170432"/>
            <a:ext cx="50292" cy="822960"/>
          </a:xfrm>
          <a:prstGeom prst="rect">
            <a:avLst/>
          </a:prstGeom>
          <a:solidFill>
            <a:srgbClr val="5B2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302752" y="1243584"/>
            <a:ext cx="2020824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Best sensitivity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02752" y="1417320"/>
            <a:ext cx="2020824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5B21B6"/>
                </a:solidFill>
                <a:latin typeface="Microsoft YaHei"/>
              </a:defRPr>
            </a:pPr>
            <a:r>
              <a:rPr sz="1600" b="1">
                <a:solidFill>
                  <a:srgbClr val="5B21B6"/>
                </a:solidFill>
                <a:latin typeface="Microsoft YaHei"/>
              </a:rPr>
              <a:t>2.482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02752" y="1728216"/>
            <a:ext cx="2020824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wMAE, not main claim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49808" y="2514600"/>
            <a:ext cx="2103120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050" b="1">
                <a:solidFill>
                  <a:srgbClr val="00796B"/>
                </a:solidFill>
                <a:latin typeface="Microsoft YaHei"/>
              </a:defRPr>
            </a:pPr>
            <a:r>
              <a:rPr sz="1050" b="1">
                <a:solidFill>
                  <a:srgbClr val="00796B"/>
                </a:solidFill>
                <a:latin typeface="Microsoft YaHei"/>
              </a:rPr>
              <a:t>Weighted bias comparison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174796" y="2852928"/>
            <a:ext cx="13716" cy="2148840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065068" y="5020056"/>
            <a:ext cx="219456" cy="13716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00" b="1">
                <a:solidFill>
                  <a:srgbClr val="64748B"/>
                </a:solidFill>
                <a:latin typeface="Microsoft YaHei"/>
              </a:defRPr>
            </a:pPr>
            <a:r>
              <a:rPr sz="700" b="1">
                <a:solidFill>
                  <a:srgbClr val="64748B"/>
                </a:solidFill>
                <a:latin typeface="Microsoft YaHei"/>
              </a:rPr>
              <a:t>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49808" y="2990088"/>
            <a:ext cx="141732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0F172A"/>
                </a:solidFill>
                <a:latin typeface="Microsoft YaHei"/>
              </a:defRPr>
            </a:pPr>
            <a:r>
              <a:rPr sz="750" b="0">
                <a:solidFill>
                  <a:srgbClr val="0F172A"/>
                </a:solidFill>
                <a:latin typeface="Microsoft YaHei"/>
              </a:rPr>
              <a:t>Historical mean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174796" y="3017520"/>
            <a:ext cx="1967165" cy="137160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141962" y="2980944"/>
            <a:ext cx="457200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+4.50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49808" y="3429000"/>
            <a:ext cx="141732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0F172A"/>
                </a:solidFill>
                <a:latin typeface="Microsoft YaHei"/>
              </a:defRPr>
            </a:pPr>
            <a:r>
              <a:rPr sz="750" b="0">
                <a:solidFill>
                  <a:srgbClr val="0F172A"/>
                </a:solidFill>
                <a:latin typeface="Microsoft YaHei"/>
              </a:rPr>
              <a:t>Ordinary XGBoost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174796" y="3456432"/>
            <a:ext cx="1576177" cy="137160"/>
          </a:xfrm>
          <a:prstGeom prst="rect">
            <a:avLst/>
          </a:prstGeom>
          <a:solidFill>
            <a:srgbClr val="BE1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750974" y="3419856"/>
            <a:ext cx="457200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BE123C"/>
                </a:solidFill>
                <a:latin typeface="Microsoft YaHei"/>
              </a:defRPr>
            </a:pPr>
            <a:r>
              <a:rPr sz="750" b="1">
                <a:solidFill>
                  <a:srgbClr val="BE123C"/>
                </a:solidFill>
                <a:latin typeface="Microsoft YaHei"/>
              </a:rPr>
              <a:t>+3.61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49808" y="3867911"/>
            <a:ext cx="141732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0F172A"/>
                </a:solidFill>
                <a:latin typeface="Microsoft YaHei"/>
              </a:defRPr>
            </a:pPr>
            <a:r>
              <a:rPr sz="750" b="0">
                <a:solidFill>
                  <a:srgbClr val="0F172A"/>
                </a:solidFill>
                <a:latin typeface="Microsoft YaHei"/>
              </a:rPr>
              <a:t>Trend / indicator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174796" y="3895344"/>
            <a:ext cx="1463936" cy="13716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638733" y="3858768"/>
            <a:ext cx="457200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EA580C"/>
                </a:solidFill>
                <a:latin typeface="Microsoft YaHei"/>
              </a:defRPr>
            </a:pPr>
            <a:r>
              <a:rPr sz="750" b="1">
                <a:solidFill>
                  <a:srgbClr val="EA580C"/>
                </a:solidFill>
                <a:latin typeface="Microsoft YaHei"/>
              </a:rPr>
              <a:t>+3.35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49808" y="4306824"/>
            <a:ext cx="141732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0F172A"/>
                </a:solidFill>
                <a:latin typeface="Microsoft YaHei"/>
              </a:defRPr>
            </a:pPr>
            <a:r>
              <a:rPr sz="750" b="0">
                <a:solidFill>
                  <a:srgbClr val="0F172A"/>
                </a:solidFill>
                <a:latin typeface="Microsoft YaHei"/>
              </a:rPr>
              <a:t>LLM-only pressure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011613" y="4334256"/>
            <a:ext cx="163183" cy="137160"/>
          </a:xfrm>
          <a:prstGeom prst="rect">
            <a:avLst/>
          </a:prstGeom>
          <a:solidFill>
            <a:srgbClr val="5B2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554413" y="4297680"/>
            <a:ext cx="457200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5B21B6"/>
                </a:solidFill>
                <a:latin typeface="Microsoft YaHei"/>
              </a:defRPr>
            </a:pPr>
            <a:r>
              <a:rPr sz="750" b="1">
                <a:solidFill>
                  <a:srgbClr val="5B21B6"/>
                </a:solidFill>
                <a:latin typeface="Microsoft YaHei"/>
              </a:rPr>
              <a:t>-0.37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49808" y="4745736"/>
            <a:ext cx="141732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0F172A"/>
                </a:solidFill>
                <a:latin typeface="Microsoft YaHei"/>
              </a:defRPr>
            </a:pPr>
            <a:r>
              <a:rPr sz="750" b="0">
                <a:solidFill>
                  <a:srgbClr val="0F172A"/>
                </a:solidFill>
                <a:latin typeface="Microsoft YaHei"/>
              </a:rPr>
              <a:t>Hybrid gated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164724" y="4773168"/>
            <a:ext cx="10072" cy="137160"/>
          </a:xfrm>
          <a:prstGeom prst="rect">
            <a:avLst/>
          </a:prstGeom>
          <a:solidFill>
            <a:srgbClr val="1987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2707524" y="4736592"/>
            <a:ext cx="457200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198754"/>
                </a:solidFill>
                <a:latin typeface="Microsoft YaHei"/>
              </a:defRPr>
            </a:pPr>
            <a:r>
              <a:rPr sz="750" b="1">
                <a:solidFill>
                  <a:srgbClr val="198754"/>
                </a:solidFill>
                <a:latin typeface="Microsoft YaHei"/>
              </a:rPr>
              <a:t>-0.02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806440" y="2761488"/>
            <a:ext cx="2514600" cy="566928"/>
          </a:xfrm>
          <a:prstGeom prst="rect">
            <a:avLst/>
          </a:prstGeom>
          <a:solidFill>
            <a:srgbClr val="1836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843016" y="2834640"/>
            <a:ext cx="2441448" cy="43891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Observation</a:t>
            </a:r>
          </a:p>
        </p:txBody>
      </p:sp>
      <p:sp>
        <p:nvSpPr>
          <p:cNvPr id="51" name="Rectangle 50"/>
          <p:cNvSpPr/>
          <p:nvPr/>
        </p:nvSpPr>
        <p:spPr>
          <a:xfrm>
            <a:off x="8321040" y="2761488"/>
            <a:ext cx="2743200" cy="566928"/>
          </a:xfrm>
          <a:prstGeom prst="rect">
            <a:avLst/>
          </a:prstGeom>
          <a:solidFill>
            <a:srgbClr val="1836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357615" y="2834640"/>
            <a:ext cx="2670048" cy="43891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Interpretation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806440" y="3328416"/>
            <a:ext cx="2514600" cy="56692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861303" y="3392424"/>
            <a:ext cx="2404872" cy="43891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XGBoost: household signal + positive bias</a:t>
            </a:r>
          </a:p>
        </p:txBody>
      </p:sp>
      <p:sp>
        <p:nvSpPr>
          <p:cNvPr id="55" name="Rectangle 54"/>
          <p:cNvSpPr/>
          <p:nvPr/>
        </p:nvSpPr>
        <p:spPr>
          <a:xfrm>
            <a:off x="8321040" y="3328416"/>
            <a:ext cx="2743200" cy="56692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8375904" y="3392424"/>
            <a:ext cx="2633472" cy="43891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history routine is too high for 2022</a:t>
            </a:r>
          </a:p>
        </p:txBody>
      </p:sp>
      <p:sp>
        <p:nvSpPr>
          <p:cNvPr id="57" name="Rectangle 56"/>
          <p:cNvSpPr/>
          <p:nvPr/>
        </p:nvSpPr>
        <p:spPr>
          <a:xfrm>
            <a:off x="5806440" y="3895344"/>
            <a:ext cx="2514600" cy="56692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5861303" y="3959352"/>
            <a:ext cx="2404872" cy="43891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LLM-only: direction useful, calibration weak</a:t>
            </a:r>
          </a:p>
        </p:txBody>
      </p:sp>
      <p:sp>
        <p:nvSpPr>
          <p:cNvPr id="59" name="Rectangle 58"/>
          <p:cNvSpPr/>
          <p:nvPr/>
        </p:nvSpPr>
        <p:spPr>
          <a:xfrm>
            <a:off x="8321040" y="3895344"/>
            <a:ext cx="2743200" cy="56692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8375904" y="3959352"/>
            <a:ext cx="2633472" cy="43891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event semantics cannot replace household baseline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806440" y="4462272"/>
            <a:ext cx="2514600" cy="56692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5861303" y="4526280"/>
            <a:ext cx="2404872" cy="43891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Hybrid: bias close to zero</a:t>
            </a:r>
          </a:p>
        </p:txBody>
      </p:sp>
      <p:sp>
        <p:nvSpPr>
          <p:cNvPr id="63" name="Rectangle 62"/>
          <p:cNvSpPr/>
          <p:nvPr/>
        </p:nvSpPr>
        <p:spPr>
          <a:xfrm>
            <a:off x="8321040" y="4462272"/>
            <a:ext cx="2743200" cy="56692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8375904" y="4526280"/>
            <a:ext cx="2633472" cy="43891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routine demand and event response are separated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48056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50292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400" b="1">
                <a:solidFill>
                  <a:srgbClr val="00796B"/>
                </a:solidFill>
                <a:latin typeface="Microsoft YaHei"/>
              </a:defRPr>
            </a:pPr>
            <a:r>
              <a:rPr sz="1400" b="1">
                <a:solidFill>
                  <a:srgbClr val="00796B"/>
                </a:solidFill>
                <a:latin typeface="Microsoft YaHei"/>
              </a:rPr>
              <a:t>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246888"/>
            <a:ext cx="841248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50" b="1">
                <a:solidFill>
                  <a:srgbClr val="0F172A"/>
                </a:solidFill>
                <a:latin typeface="Microsoft YaHei"/>
              </a:defRPr>
            </a:pPr>
            <a:r>
              <a:rPr sz="1750" b="1">
                <a:solidFill>
                  <a:srgbClr val="0F172A"/>
                </a:solidFill>
                <a:latin typeface="Microsoft YaHei"/>
              </a:rPr>
              <a:t>LLM 的角色 / What the LLM Adds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61288" y="585216"/>
            <a:ext cx="886968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LLM 提供事件压力，XGBoost 提供家庭基线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6473952"/>
            <a:ext cx="521208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Pandemic-Aware Household Travel Behavior Prediction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52760" y="6473952"/>
            <a:ext cx="91440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17 / 22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51560" y="1170432"/>
            <a:ext cx="9464040" cy="4096512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760720" y="1170432"/>
            <a:ext cx="10972" cy="409651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51560" y="3218688"/>
            <a:ext cx="946404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25880" y="932688"/>
            <a:ext cx="219456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00" b="1">
                <a:solidFill>
                  <a:srgbClr val="64748B"/>
                </a:solidFill>
                <a:latin typeface="Microsoft YaHei"/>
              </a:defRPr>
            </a:pPr>
            <a:r>
              <a:rPr sz="800" b="1">
                <a:solidFill>
                  <a:srgbClr val="64748B"/>
                </a:solidFill>
                <a:latin typeface="Microsoft YaHei"/>
              </a:rPr>
              <a:t>事件信息弱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0" y="932688"/>
            <a:ext cx="219456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00" b="1">
                <a:solidFill>
                  <a:srgbClr val="64748B"/>
                </a:solidFill>
                <a:latin typeface="Microsoft YaHei"/>
              </a:defRPr>
            </a:pPr>
            <a:r>
              <a:rPr sz="800" b="1">
                <a:solidFill>
                  <a:srgbClr val="64748B"/>
                </a:solidFill>
                <a:latin typeface="Microsoft YaHei"/>
              </a:rPr>
              <a:t>事件信息强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4592" y="1828800"/>
            <a:ext cx="685800" cy="42062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800" b="1">
                <a:solidFill>
                  <a:srgbClr val="64748B"/>
                </a:solidFill>
                <a:latin typeface="Microsoft YaHei"/>
              </a:defRPr>
            </a:pPr>
            <a:r>
              <a:rPr sz="800" b="1">
                <a:solidFill>
                  <a:srgbClr val="64748B"/>
                </a:solidFill>
                <a:latin typeface="Microsoft YaHei"/>
              </a:rPr>
              <a:t>家庭基线弱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4592" y="3977639"/>
            <a:ext cx="685800" cy="42062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800" b="1">
                <a:solidFill>
                  <a:srgbClr val="64748B"/>
                </a:solidFill>
                <a:latin typeface="Microsoft YaHei"/>
              </a:defRPr>
            </a:pPr>
            <a:r>
              <a:rPr sz="800" b="1">
                <a:solidFill>
                  <a:srgbClr val="64748B"/>
                </a:solidFill>
                <a:latin typeface="Microsoft YaHei"/>
              </a:rPr>
              <a:t>家庭基线强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600200" y="1664208"/>
            <a:ext cx="3108960" cy="7315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673352" y="1728216"/>
            <a:ext cx="2962656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919" b="1">
                <a:solidFill>
                  <a:srgbClr val="64748B"/>
                </a:solidFill>
                <a:latin typeface="Microsoft YaHei"/>
              </a:defRPr>
            </a:pPr>
            <a:r>
              <a:rPr sz="919" b="1">
                <a:solidFill>
                  <a:srgbClr val="64748B"/>
                </a:solidFill>
                <a:latin typeface="Microsoft YaHei"/>
              </a:rPr>
              <a:t>Historical mean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91640" y="1947672"/>
            <a:ext cx="2926079" cy="3931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80" b="0">
                <a:solidFill>
                  <a:srgbClr val="64748B"/>
                </a:solidFill>
                <a:latin typeface="Microsoft YaHei"/>
              </a:defRPr>
            </a:pPr>
            <a:r>
              <a:rPr sz="780" b="0">
                <a:solidFill>
                  <a:srgbClr val="64748B"/>
                </a:solidFill>
                <a:latin typeface="Microsoft YaHei"/>
              </a:rPr>
              <a:t>neither household heterogeneity nor event semantics</a:t>
            </a:r>
            <a:br/>
            <a:r>
              <a:rPr sz="780" b="0">
                <a:solidFill>
                  <a:srgbClr val="64748B"/>
                </a:solidFill>
                <a:latin typeface="Microsoft YaHei"/>
              </a:rPr>
              <a:t>wMAE 5.51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537960" y="1664208"/>
            <a:ext cx="3108960" cy="7315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5B21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11112" y="1728216"/>
            <a:ext cx="2962656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919" b="1">
                <a:solidFill>
                  <a:srgbClr val="5B21B6"/>
                </a:solidFill>
                <a:latin typeface="Microsoft YaHei"/>
              </a:defRPr>
            </a:pPr>
            <a:r>
              <a:rPr sz="919" b="1">
                <a:solidFill>
                  <a:srgbClr val="5B21B6"/>
                </a:solidFill>
                <a:latin typeface="Microsoft YaHei"/>
              </a:rPr>
              <a:t>LLM-only pressure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29400" y="1947672"/>
            <a:ext cx="2926079" cy="3931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80" b="0">
                <a:solidFill>
                  <a:srgbClr val="64748B"/>
                </a:solidFill>
                <a:latin typeface="Microsoft YaHei"/>
              </a:defRPr>
            </a:pPr>
            <a:r>
              <a:rPr sz="780" b="0">
                <a:solidFill>
                  <a:srgbClr val="64748B"/>
                </a:solidFill>
                <a:latin typeface="Microsoft YaHei"/>
              </a:rPr>
              <a:t>event direction without household baseline</a:t>
            </a:r>
            <a:br/>
            <a:r>
              <a:rPr sz="780" b="0">
                <a:solidFill>
                  <a:srgbClr val="64748B"/>
                </a:solidFill>
                <a:latin typeface="Microsoft YaHei"/>
              </a:rPr>
              <a:t>wMAE 2.72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600200" y="3749039"/>
            <a:ext cx="3108960" cy="7315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E12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673352" y="3813048"/>
            <a:ext cx="2962656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919" b="1">
                <a:solidFill>
                  <a:srgbClr val="BE123C"/>
                </a:solidFill>
                <a:latin typeface="Microsoft YaHei"/>
              </a:defRPr>
            </a:pPr>
            <a:r>
              <a:rPr sz="919" b="1">
                <a:solidFill>
                  <a:srgbClr val="BE123C"/>
                </a:solidFill>
                <a:latin typeface="Microsoft YaHei"/>
              </a:rPr>
              <a:t>Ordinary XGBoost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691640" y="4032503"/>
            <a:ext cx="2926079" cy="3931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80" b="0">
                <a:solidFill>
                  <a:srgbClr val="64748B"/>
                </a:solidFill>
                <a:latin typeface="Microsoft YaHei"/>
              </a:defRPr>
            </a:pPr>
            <a:r>
              <a:rPr sz="780" b="0">
                <a:solidFill>
                  <a:srgbClr val="64748B"/>
                </a:solidFill>
                <a:latin typeface="Microsoft YaHei"/>
              </a:rPr>
              <a:t>household grounding without pandemic semantics</a:t>
            </a:r>
            <a:br/>
            <a:r>
              <a:rPr sz="780" b="0">
                <a:solidFill>
                  <a:srgbClr val="64748B"/>
                </a:solidFill>
                <a:latin typeface="Microsoft YaHei"/>
              </a:rPr>
              <a:t>wMAE 4.34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537960" y="3749039"/>
            <a:ext cx="3108960" cy="7315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1987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11112" y="3813048"/>
            <a:ext cx="2962656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919" b="1">
                <a:solidFill>
                  <a:srgbClr val="198754"/>
                </a:solidFill>
                <a:latin typeface="Microsoft YaHei"/>
              </a:defRPr>
            </a:pPr>
            <a:r>
              <a:rPr sz="919" b="1">
                <a:solidFill>
                  <a:srgbClr val="198754"/>
                </a:solidFill>
                <a:latin typeface="Microsoft YaHei"/>
              </a:rPr>
              <a:t>Hybrid gated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29400" y="4032503"/>
            <a:ext cx="2926079" cy="3931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80" b="0">
                <a:solidFill>
                  <a:srgbClr val="64748B"/>
                </a:solidFill>
                <a:latin typeface="Microsoft YaHei"/>
              </a:defRPr>
            </a:pPr>
            <a:r>
              <a:rPr sz="780" b="0">
                <a:solidFill>
                  <a:srgbClr val="64748B"/>
                </a:solidFill>
                <a:latin typeface="Microsoft YaHei"/>
              </a:rPr>
              <a:t>household baseline + event prior</a:t>
            </a:r>
            <a:br/>
            <a:r>
              <a:rPr sz="780" b="0">
                <a:solidFill>
                  <a:srgbClr val="64748B"/>
                </a:solidFill>
                <a:latin typeface="Microsoft YaHei"/>
              </a:rPr>
              <a:t>wMAE 2.50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05840" y="5577840"/>
            <a:ext cx="9555480" cy="438912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88720" y="5669280"/>
            <a:ext cx="914400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900" b="1">
                <a:solidFill>
                  <a:srgbClr val="EA580C"/>
                </a:solidFill>
                <a:latin typeface="Microsoft YaHei"/>
              </a:defRPr>
            </a:pPr>
            <a:r>
              <a:rPr sz="900" b="1">
                <a:solidFill>
                  <a:srgbClr val="EA580C"/>
                </a:solidFill>
                <a:latin typeface="Microsoft YaHei"/>
              </a:rPr>
              <a:t>汇报讲法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148840" y="5605272"/>
            <a:ext cx="804672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LLM 输出的是 s_event，不是 y；最终预测 = 历史 household baseline × 事件折减系数。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48056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50292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400" b="1">
                <a:solidFill>
                  <a:srgbClr val="00796B"/>
                </a:solidFill>
                <a:latin typeface="Microsoft YaHei"/>
              </a:defRPr>
            </a:pPr>
            <a:r>
              <a:rPr sz="1400" b="1">
                <a:solidFill>
                  <a:srgbClr val="00796B"/>
                </a:solidFill>
                <a:latin typeface="Microsoft YaHei"/>
              </a:rPr>
              <a:t>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246888"/>
            <a:ext cx="841248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50" b="1">
                <a:solidFill>
                  <a:srgbClr val="0F172A"/>
                </a:solidFill>
                <a:latin typeface="Microsoft YaHei"/>
              </a:defRPr>
            </a:pPr>
            <a:r>
              <a:rPr sz="1750" b="1">
                <a:solidFill>
                  <a:srgbClr val="0F172A"/>
                </a:solidFill>
                <a:latin typeface="Microsoft YaHei"/>
              </a:rPr>
              <a:t>综合行为输出 / Behavior Outputs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61288" y="585216"/>
            <a:ext cx="886968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从出行次数扩展到方式结构和方式出行量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6473952"/>
            <a:ext cx="521208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Pandemic-Aware Household Travel Behavior Prediction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52760" y="6473952"/>
            <a:ext cx="91440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18 / 22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13232" y="1298448"/>
            <a:ext cx="749808" cy="384048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9808" y="1399032"/>
            <a:ext cx="676656" cy="14630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20" b="1">
                <a:solidFill>
                  <a:srgbClr val="FFFFFF"/>
                </a:solidFill>
                <a:latin typeface="Microsoft YaHei"/>
              </a:defRPr>
            </a:pPr>
            <a:r>
              <a:rPr sz="720" b="1">
                <a:solidFill>
                  <a:srgbClr val="FFFFFF"/>
                </a:solidFill>
                <a:latin typeface="Microsoft YaHei"/>
              </a:rPr>
              <a:t>private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810512" y="1298448"/>
            <a:ext cx="749808" cy="384048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847088" y="1399032"/>
            <a:ext cx="676656" cy="14630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20" b="1">
                <a:solidFill>
                  <a:srgbClr val="FFFFFF"/>
                </a:solidFill>
                <a:latin typeface="Microsoft YaHei"/>
              </a:defRPr>
            </a:pPr>
            <a:r>
              <a:rPr sz="720" b="1">
                <a:solidFill>
                  <a:srgbClr val="FFFFFF"/>
                </a:solidFill>
                <a:latin typeface="Microsoft YaHei"/>
              </a:rPr>
              <a:t>walk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907791" y="1298448"/>
            <a:ext cx="749808" cy="384048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944368" y="1399032"/>
            <a:ext cx="676656" cy="14630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20" b="1">
                <a:solidFill>
                  <a:srgbClr val="FFFFFF"/>
                </a:solidFill>
                <a:latin typeface="Microsoft YaHei"/>
              </a:defRPr>
            </a:pPr>
            <a:r>
              <a:rPr sz="720" b="1">
                <a:solidFill>
                  <a:srgbClr val="FFFFFF"/>
                </a:solidFill>
                <a:latin typeface="Microsoft YaHei"/>
              </a:rPr>
              <a:t>bike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005072" y="1298448"/>
            <a:ext cx="749808" cy="384048"/>
          </a:xfrm>
          <a:prstGeom prst="round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041648" y="1399032"/>
            <a:ext cx="676656" cy="14630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20" b="1">
                <a:solidFill>
                  <a:srgbClr val="FFFFFF"/>
                </a:solidFill>
                <a:latin typeface="Microsoft YaHei"/>
              </a:defRPr>
            </a:pPr>
            <a:r>
              <a:rPr sz="720" b="1">
                <a:solidFill>
                  <a:srgbClr val="FFFFFF"/>
                </a:solidFill>
                <a:latin typeface="Microsoft YaHei"/>
              </a:rPr>
              <a:t>transit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102352" y="1298448"/>
            <a:ext cx="749808" cy="384048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138928" y="1399032"/>
            <a:ext cx="676656" cy="14630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20" b="1">
                <a:solidFill>
                  <a:srgbClr val="FFFFFF"/>
                </a:solidFill>
                <a:latin typeface="Microsoft YaHei"/>
              </a:defRPr>
            </a:pPr>
            <a:r>
              <a:rPr sz="720" b="1">
                <a:solidFill>
                  <a:srgbClr val="FFFFFF"/>
                </a:solidFill>
                <a:latin typeface="Microsoft YaHei"/>
              </a:rPr>
              <a:t>taxi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99632" y="1298448"/>
            <a:ext cx="749808" cy="384048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36208" y="1399032"/>
            <a:ext cx="676656" cy="14630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20" b="1">
                <a:solidFill>
                  <a:srgbClr val="FFFFFF"/>
                </a:solidFill>
                <a:latin typeface="Microsoft YaHei"/>
              </a:defRPr>
            </a:pPr>
            <a:r>
              <a:rPr sz="720" b="1">
                <a:solidFill>
                  <a:srgbClr val="FFFFFF"/>
                </a:solidFill>
                <a:latin typeface="Microsoft YaHei"/>
              </a:rPr>
              <a:t>other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057400" y="1856231"/>
            <a:ext cx="297180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900" b="1">
                <a:solidFill>
                  <a:srgbClr val="64748B"/>
                </a:solidFill>
                <a:latin typeface="Microsoft YaHei"/>
              </a:defRPr>
            </a:pPr>
            <a:r>
              <a:rPr sz="900" b="1">
                <a:solidFill>
                  <a:srgbClr val="64748B"/>
                </a:solidFill>
                <a:latin typeface="Microsoft YaHei"/>
              </a:rPr>
              <a:t>household mode-share vector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13232" y="2487168"/>
            <a:ext cx="2057400" cy="457200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49808" y="2560320"/>
            <a:ext cx="1984248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Method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70632" y="2487168"/>
            <a:ext cx="1005840" cy="457200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807208" y="2560320"/>
            <a:ext cx="932688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weighted TV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776472" y="2487168"/>
            <a:ext cx="1005840" cy="457200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813048" y="2560320"/>
            <a:ext cx="932688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transit MAE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782312" y="2487168"/>
            <a:ext cx="1965960" cy="457200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818888" y="2560320"/>
            <a:ext cx="1892807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Interpretation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13232" y="2944368"/>
            <a:ext cx="2057400" cy="45720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68096" y="3008376"/>
            <a:ext cx="194767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Historical XGBoost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770632" y="2944368"/>
            <a:ext cx="1005840" cy="45720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825496" y="3008376"/>
            <a:ext cx="89611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0.2008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776472" y="2944368"/>
            <a:ext cx="1005840" cy="45720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831335" y="3008376"/>
            <a:ext cx="89611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0.0325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782312" y="2944368"/>
            <a:ext cx="1965960" cy="45720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837176" y="3008376"/>
            <a:ext cx="1856231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routine mode pattern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13232" y="3401568"/>
            <a:ext cx="2057400" cy="45720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68096" y="3465576"/>
            <a:ext cx="194767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XGB + LLM prior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770632" y="3401568"/>
            <a:ext cx="1005840" cy="45720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825496" y="3465576"/>
            <a:ext cx="89611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0.1985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776472" y="3401568"/>
            <a:ext cx="1005840" cy="45720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831335" y="3465576"/>
            <a:ext cx="89611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0.0269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782312" y="3401568"/>
            <a:ext cx="1965960" cy="45720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837176" y="3465576"/>
            <a:ext cx="1856231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transit correction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13232" y="3858768"/>
            <a:ext cx="2057400" cy="45720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68096" y="3922776"/>
            <a:ext cx="194767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Improvement</a:t>
            </a:r>
          </a:p>
        </p:txBody>
      </p:sp>
      <p:sp>
        <p:nvSpPr>
          <p:cNvPr id="50" name="Rectangle 49"/>
          <p:cNvSpPr/>
          <p:nvPr/>
        </p:nvSpPr>
        <p:spPr>
          <a:xfrm>
            <a:off x="2770632" y="3858768"/>
            <a:ext cx="1005840" cy="45720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2825496" y="3922776"/>
            <a:ext cx="89611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1.1%</a:t>
            </a:r>
          </a:p>
        </p:txBody>
      </p:sp>
      <p:sp>
        <p:nvSpPr>
          <p:cNvPr id="52" name="Rectangle 51"/>
          <p:cNvSpPr/>
          <p:nvPr/>
        </p:nvSpPr>
        <p:spPr>
          <a:xfrm>
            <a:off x="3776472" y="3858768"/>
            <a:ext cx="1005840" cy="45720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3831335" y="3922776"/>
            <a:ext cx="89611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17.4%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782312" y="3858768"/>
            <a:ext cx="1965960" cy="45720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837176" y="3922776"/>
            <a:ext cx="1856231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clearer on transit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6720840" y="1261872"/>
            <a:ext cx="2011680" cy="749808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6720840" y="1261872"/>
            <a:ext cx="50292" cy="749808"/>
          </a:xfrm>
          <a:prstGeom prst="rect">
            <a:avLst/>
          </a:prstGeom>
          <a:solidFill>
            <a:srgbClr val="1987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848855" y="1335024"/>
            <a:ext cx="1792224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Mode-trip MAE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848855" y="1508760"/>
            <a:ext cx="1792224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198754"/>
                </a:solidFill>
                <a:latin typeface="Microsoft YaHei"/>
              </a:defRPr>
            </a:pPr>
            <a:r>
              <a:rPr sz="1600" b="1">
                <a:solidFill>
                  <a:srgbClr val="198754"/>
                </a:solidFill>
                <a:latin typeface="Microsoft YaHei"/>
              </a:rPr>
              <a:t>3.28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848855" y="1819655"/>
            <a:ext cx="1792224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gated count × LLM mode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9006840" y="1261872"/>
            <a:ext cx="2011680" cy="749808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9006840" y="1261872"/>
            <a:ext cx="50292" cy="74980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9134856" y="1335024"/>
            <a:ext cx="1792224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Reduction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9134856" y="1508760"/>
            <a:ext cx="1792224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2563EB"/>
                </a:solidFill>
                <a:latin typeface="Microsoft YaHei"/>
              </a:defRPr>
            </a:pPr>
            <a:r>
              <a:rPr sz="1600" b="1">
                <a:solidFill>
                  <a:srgbClr val="2563EB"/>
                </a:solidFill>
                <a:latin typeface="Microsoft YaHei"/>
              </a:rPr>
              <a:t>32.3%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134856" y="1819655"/>
            <a:ext cx="1792224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vs traditional combo</a:t>
            </a:r>
          </a:p>
        </p:txBody>
      </p:sp>
      <p:pic>
        <p:nvPicPr>
          <p:cNvPr id="66" name="Picture 65" descr="mode_component_ma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29400" y="2331720"/>
            <a:ext cx="4389120" cy="2792054"/>
          </a:xfrm>
          <a:prstGeom prst="rect">
            <a:avLst/>
          </a:prstGeom>
        </p:spPr>
      </p:pic>
      <p:sp>
        <p:nvSpPr>
          <p:cNvPr id="67" name="Rounded Rectangle 66"/>
          <p:cNvSpPr/>
          <p:nvPr/>
        </p:nvSpPr>
        <p:spPr>
          <a:xfrm>
            <a:off x="749808" y="5029200"/>
            <a:ext cx="10012680" cy="1078992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749808" y="5029200"/>
            <a:ext cx="50292" cy="1078992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914400" y="5120640"/>
            <a:ext cx="9720072" cy="388437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方式结构不是主要增益来源，但 transit share 明显改善；这与疫情期间公共交通规避机制一致。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14400" y="5573085"/>
            <a:ext cx="9720072" cy="46195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Microsoft YaHei"/>
              </a:defRPr>
            </a:pPr>
            <a:r>
              <a:rPr sz="1200" b="0">
                <a:solidFill>
                  <a:srgbClr val="64748B"/>
                </a:solidFill>
                <a:latin typeface="Microsoft YaHei"/>
              </a:rPr>
              <a:t>Mode composition gains are modest overall, but transit-share error improves in the direction suggested by pandemic transit avoidance.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48056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50292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400" b="1">
                <a:solidFill>
                  <a:srgbClr val="00796B"/>
                </a:solidFill>
                <a:latin typeface="Microsoft YaHei"/>
              </a:defRPr>
            </a:pPr>
            <a:r>
              <a:rPr sz="1400" b="1">
                <a:solidFill>
                  <a:srgbClr val="00796B"/>
                </a:solidFill>
                <a:latin typeface="Microsoft YaHei"/>
              </a:rPr>
              <a:t>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246888"/>
            <a:ext cx="841248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50" b="1">
                <a:solidFill>
                  <a:srgbClr val="0F172A"/>
                </a:solidFill>
                <a:latin typeface="Microsoft YaHei"/>
              </a:defRPr>
            </a:pPr>
            <a:r>
              <a:rPr sz="1750" b="1">
                <a:solidFill>
                  <a:srgbClr val="0F172A"/>
                </a:solidFill>
                <a:latin typeface="Microsoft YaHei"/>
              </a:rPr>
              <a:t>出行目的扩展 / Purpose Composition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61288" y="585216"/>
            <a:ext cx="886968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第三个行为维度：为什么出行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6473952"/>
            <a:ext cx="521208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Pandemic-Aware Household Travel Behavior Prediction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52760" y="6473952"/>
            <a:ext cx="91440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19 / 22</a:t>
            </a:r>
          </a:p>
        </p:txBody>
      </p:sp>
      <p:pic>
        <p:nvPicPr>
          <p:cNvPr id="11" name="Picture 10" descr="purpose_distribution_shif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1078992"/>
            <a:ext cx="5257800" cy="2632716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6144768" y="1170432"/>
            <a:ext cx="2057400" cy="512064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81344" y="1243584"/>
            <a:ext cx="1984248" cy="38404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Method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02167" y="1170432"/>
            <a:ext cx="777240" cy="512064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38743" y="1243584"/>
            <a:ext cx="704088" cy="38404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TV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979408" y="1170432"/>
            <a:ext cx="1234440" cy="512064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015984" y="1243584"/>
            <a:ext cx="1161288" cy="38404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Component MAE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0213848" y="1170432"/>
            <a:ext cx="1325880" cy="512064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250424" y="1243584"/>
            <a:ext cx="1252728" cy="38404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Role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44768" y="1682496"/>
            <a:ext cx="2057400" cy="51206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199631" y="1746504"/>
            <a:ext cx="1947672" cy="38404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Traditional XGBoost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02167" y="1682496"/>
            <a:ext cx="777240" cy="51206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57031" y="1746504"/>
            <a:ext cx="667512" cy="38404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0.566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979408" y="1682496"/>
            <a:ext cx="1234440" cy="51206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034272" y="1746504"/>
            <a:ext cx="1124712" cy="38404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0.202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0213848" y="1682496"/>
            <a:ext cx="1325880" cy="51206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268712" y="1746504"/>
            <a:ext cx="1216152" cy="38404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strongest overall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144768" y="2194560"/>
            <a:ext cx="2057400" cy="51206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199631" y="2258568"/>
            <a:ext cx="1947672" cy="38404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LLM purpose prior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202167" y="2194560"/>
            <a:ext cx="777240" cy="51206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57031" y="2258568"/>
            <a:ext cx="667512" cy="38404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0.586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979408" y="2194560"/>
            <a:ext cx="1234440" cy="51206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034272" y="2258568"/>
            <a:ext cx="1124712" cy="38404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0.201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213848" y="2194560"/>
            <a:ext cx="1325880" cy="51206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268712" y="2258568"/>
            <a:ext cx="1216152" cy="38404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directional components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144768" y="2706624"/>
            <a:ext cx="2057400" cy="51206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199631" y="2770632"/>
            <a:ext cx="1947672" cy="38404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Global purpose prior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202167" y="2706624"/>
            <a:ext cx="777240" cy="51206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257031" y="2770632"/>
            <a:ext cx="667512" cy="38404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0.580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979408" y="2706624"/>
            <a:ext cx="1234440" cy="51206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034272" y="2770632"/>
            <a:ext cx="1124712" cy="38404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0.249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0213848" y="2706624"/>
            <a:ext cx="1325880" cy="51206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268712" y="2770632"/>
            <a:ext cx="1216152" cy="38404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shopping improves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777240" y="5074920"/>
            <a:ext cx="10012680" cy="1051560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777240" y="5074920"/>
            <a:ext cx="50292" cy="1051560"/>
          </a:xfrm>
          <a:prstGeom prst="rect">
            <a:avLst/>
          </a:prstGeom>
          <a:solidFill>
            <a:srgbClr val="5B2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41832" y="5166359"/>
            <a:ext cx="9720072" cy="37856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purpose 结果说明综合目标已经扩展到“为什么出行”；但 LLM prior 目前不是整体最优，适合作为边界和未来工作，而不是主贡献。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41832" y="5608929"/>
            <a:ext cx="9720072" cy="44439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Microsoft YaHei"/>
              </a:defRPr>
            </a:pPr>
            <a:r>
              <a:rPr sz="1200" b="0">
                <a:solidFill>
                  <a:srgbClr val="64748B"/>
                </a:solidFill>
                <a:latin typeface="Microsoft YaHei"/>
              </a:rPr>
              <a:t>Purpose composition broadens the behavior system, while also showing a clear limitation: event priors need stronger task-specific calibration.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48056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50292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400" b="1">
                <a:solidFill>
                  <a:srgbClr val="00796B"/>
                </a:solidFill>
                <a:latin typeface="Microsoft YaHei"/>
              </a:defRPr>
            </a:pPr>
            <a:r>
              <a:rPr sz="1400" b="1">
                <a:solidFill>
                  <a:srgbClr val="00796B"/>
                </a:solidFill>
                <a:latin typeface="Microsoft YaHei"/>
              </a:rPr>
              <a:t>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246888"/>
            <a:ext cx="841248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50" b="1">
                <a:solidFill>
                  <a:srgbClr val="0F172A"/>
                </a:solidFill>
                <a:latin typeface="Microsoft YaHei"/>
              </a:defRPr>
            </a:pPr>
            <a:r>
              <a:rPr sz="1750" b="1">
                <a:solidFill>
                  <a:srgbClr val="0F172A"/>
                </a:solidFill>
                <a:latin typeface="Microsoft YaHei"/>
              </a:rPr>
              <a:t>LLM 扩展与泛化 / LLM Scaling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61288" y="585216"/>
            <a:ext cx="886968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Batch prompting + event-generalizable priors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6473952"/>
            <a:ext cx="521208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Pandemic-Aware Household Travel Behavior Prediction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52760" y="6473952"/>
            <a:ext cx="91440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20 / 22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1417320"/>
            <a:ext cx="1600200" cy="6858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0079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19" y="1481328"/>
            <a:ext cx="1453896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919" b="1">
                <a:solidFill>
                  <a:srgbClr val="00796B"/>
                </a:solidFill>
                <a:latin typeface="Microsoft YaHei"/>
              </a:defRPr>
            </a:pPr>
            <a:r>
              <a:rPr sz="919" b="1">
                <a:solidFill>
                  <a:srgbClr val="00796B"/>
                </a:solidFill>
                <a:latin typeface="Microsoft YaHei"/>
              </a:rPr>
              <a:t>7,893 households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1700784"/>
            <a:ext cx="1417320" cy="34747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80" b="0">
                <a:solidFill>
                  <a:srgbClr val="64748B"/>
                </a:solidFill>
                <a:latin typeface="Microsoft YaHei"/>
              </a:defRPr>
            </a:pPr>
            <a:r>
              <a:rPr sz="780" b="0">
                <a:solidFill>
                  <a:srgbClr val="64748B"/>
                </a:solidFill>
                <a:latin typeface="Microsoft YaHei"/>
              </a:rPr>
              <a:t>2022 rows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2322576" y="1664208"/>
            <a:ext cx="292608" cy="128016"/>
          </a:xfrm>
          <a:prstGeom prst="rightArrow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2761487" y="1417320"/>
            <a:ext cx="1600200" cy="6858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0079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834639" y="1481328"/>
            <a:ext cx="1453896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919" b="1">
                <a:solidFill>
                  <a:srgbClr val="00796B"/>
                </a:solidFill>
                <a:latin typeface="Microsoft YaHei"/>
              </a:defRPr>
            </a:pPr>
            <a:r>
              <a:rPr sz="919" b="1">
                <a:solidFill>
                  <a:srgbClr val="00796B"/>
                </a:solidFill>
                <a:latin typeface="Microsoft YaHei"/>
              </a:rPr>
              <a:t>1,327 cohorts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52927" y="1700784"/>
            <a:ext cx="1417320" cy="34747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80" b="0">
                <a:solidFill>
                  <a:srgbClr val="64748B"/>
                </a:solidFill>
                <a:latin typeface="Microsoft YaHei"/>
              </a:defRPr>
            </a:pPr>
            <a:r>
              <a:rPr sz="780" b="0">
                <a:solidFill>
                  <a:srgbClr val="64748B"/>
                </a:solidFill>
                <a:latin typeface="Microsoft YaHei"/>
              </a:rPr>
              <a:t>aggregated profiles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4425696" y="1664208"/>
            <a:ext cx="292608" cy="128016"/>
          </a:xfrm>
          <a:prstGeom prst="rightArrow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4864607" y="1417320"/>
            <a:ext cx="1600200" cy="6858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37759" y="1481328"/>
            <a:ext cx="1453896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919" b="1">
                <a:solidFill>
                  <a:srgbClr val="EA580C"/>
                </a:solidFill>
                <a:latin typeface="Microsoft YaHei"/>
              </a:defRPr>
            </a:pPr>
            <a:r>
              <a:rPr sz="919" b="1">
                <a:solidFill>
                  <a:srgbClr val="EA580C"/>
                </a:solidFill>
                <a:latin typeface="Microsoft YaHei"/>
              </a:rPr>
              <a:t>89 batch prompts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56047" y="1700784"/>
            <a:ext cx="1417320" cy="34747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80" b="0">
                <a:solidFill>
                  <a:srgbClr val="64748B"/>
                </a:solidFill>
                <a:latin typeface="Microsoft YaHei"/>
              </a:defRPr>
            </a:pPr>
            <a:r>
              <a:rPr sz="780" b="0">
                <a:solidFill>
                  <a:srgbClr val="64748B"/>
                </a:solidFill>
                <a:latin typeface="Microsoft YaHei"/>
              </a:rPr>
              <a:t>batch size 15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6528816" y="1664208"/>
            <a:ext cx="292608" cy="128016"/>
          </a:xfrm>
          <a:prstGeom prst="rightArrow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967727" y="1417320"/>
            <a:ext cx="1600200" cy="6858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040879" y="1481328"/>
            <a:ext cx="1453896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919" b="1">
                <a:solidFill>
                  <a:srgbClr val="EA580C"/>
                </a:solidFill>
                <a:latin typeface="Microsoft YaHei"/>
              </a:defRPr>
            </a:pPr>
            <a:r>
              <a:rPr sz="919" b="1">
                <a:solidFill>
                  <a:srgbClr val="EA580C"/>
                </a:solidFill>
                <a:latin typeface="Microsoft YaHei"/>
              </a:rPr>
              <a:t>validated JSON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59167" y="1700784"/>
            <a:ext cx="1417320" cy="34747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80" b="0">
                <a:solidFill>
                  <a:srgbClr val="64748B"/>
                </a:solidFill>
                <a:latin typeface="Microsoft YaHei"/>
              </a:defRPr>
            </a:pPr>
            <a:r>
              <a:rPr sz="780" b="0">
                <a:solidFill>
                  <a:srgbClr val="64748B"/>
                </a:solidFill>
                <a:latin typeface="Microsoft YaHei"/>
              </a:rPr>
              <a:t>event priors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8631936" y="1664208"/>
            <a:ext cx="292608" cy="128016"/>
          </a:xfrm>
          <a:prstGeom prst="rightArrow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9070848" y="1417320"/>
            <a:ext cx="1600200" cy="6858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44000" y="1481328"/>
            <a:ext cx="1453896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919" b="1">
                <a:solidFill>
                  <a:srgbClr val="EA580C"/>
                </a:solidFill>
                <a:latin typeface="Microsoft YaHei"/>
              </a:defRPr>
            </a:pPr>
            <a:r>
              <a:rPr sz="919" b="1">
                <a:solidFill>
                  <a:srgbClr val="EA580C"/>
                </a:solidFill>
                <a:latin typeface="Microsoft YaHei"/>
              </a:rPr>
              <a:t>multi-output adapter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62288" y="1700784"/>
            <a:ext cx="1417320" cy="34747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80" b="0">
                <a:solidFill>
                  <a:srgbClr val="64748B"/>
                </a:solidFill>
                <a:latin typeface="Microsoft YaHei"/>
              </a:defRPr>
            </a:pPr>
            <a:r>
              <a:rPr sz="780" b="0">
                <a:solidFill>
                  <a:srgbClr val="64748B"/>
                </a:solidFill>
                <a:latin typeface="Microsoft YaHei"/>
              </a:rPr>
              <a:t>trips / modes / purposes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14400" y="2816352"/>
            <a:ext cx="2194560" cy="786384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914400" y="2816352"/>
            <a:ext cx="50292" cy="78638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42416" y="2889504"/>
            <a:ext cx="1975104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Request reduction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42416" y="3063240"/>
            <a:ext cx="1975104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2563EB"/>
                </a:solidFill>
                <a:latin typeface="Microsoft YaHei"/>
              </a:defRPr>
            </a:pPr>
            <a:r>
              <a:rPr sz="1600" b="1">
                <a:solidFill>
                  <a:srgbClr val="2563EB"/>
                </a:solidFill>
                <a:latin typeface="Microsoft YaHei"/>
              </a:rPr>
              <a:t>93.3%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42416" y="3374136"/>
            <a:ext cx="1975104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1327 -&gt; 89 prompts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520440" y="2816352"/>
            <a:ext cx="2194560" cy="786384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3520440" y="2816352"/>
            <a:ext cx="50292" cy="786384"/>
          </a:xfrm>
          <a:prstGeom prst="rect">
            <a:avLst/>
          </a:prstGeom>
          <a:solidFill>
            <a:srgbClr val="1987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648456" y="2889504"/>
            <a:ext cx="1975104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LLM strength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648456" y="3063240"/>
            <a:ext cx="1975104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198754"/>
                </a:solidFill>
                <a:latin typeface="Microsoft YaHei"/>
              </a:defRPr>
            </a:pPr>
            <a:r>
              <a:rPr sz="1600" b="1">
                <a:solidFill>
                  <a:srgbClr val="198754"/>
                </a:solidFill>
                <a:latin typeface="Microsoft YaHei"/>
              </a:rPr>
              <a:t>generalize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648456" y="3374136"/>
            <a:ext cx="1975104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event mechanisms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126480" y="2816352"/>
            <a:ext cx="2194560" cy="786384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126480" y="2816352"/>
            <a:ext cx="50292" cy="786384"/>
          </a:xfrm>
          <a:prstGeom prst="rect">
            <a:avLst/>
          </a:prstGeom>
          <a:solidFill>
            <a:srgbClr val="5B2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254496" y="2889504"/>
            <a:ext cx="1975104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Context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254496" y="3063240"/>
            <a:ext cx="1975104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5B21B6"/>
                </a:solidFill>
                <a:latin typeface="Microsoft YaHei"/>
              </a:defRPr>
            </a:pPr>
            <a:r>
              <a:rPr sz="1600" b="1">
                <a:solidFill>
                  <a:srgbClr val="5B21B6"/>
                </a:solidFill>
                <a:latin typeface="Microsoft YaHei"/>
              </a:rPr>
              <a:t>frozen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254496" y="3374136"/>
            <a:ext cx="1975104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prospective event file</a:t>
            </a:r>
          </a:p>
        </p:txBody>
      </p:sp>
      <p:sp>
        <p:nvSpPr>
          <p:cNvPr id="45" name="Rectangle 44"/>
          <p:cNvSpPr/>
          <p:nvPr/>
        </p:nvSpPr>
        <p:spPr>
          <a:xfrm>
            <a:off x="914400" y="3977639"/>
            <a:ext cx="2926080" cy="457200"/>
          </a:xfrm>
          <a:prstGeom prst="rect">
            <a:avLst/>
          </a:prstGeom>
          <a:solidFill>
            <a:srgbClr val="1836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50976" y="4050791"/>
            <a:ext cx="2852928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风险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840480" y="3977639"/>
            <a:ext cx="6035040" cy="457200"/>
          </a:xfrm>
          <a:prstGeom prst="rect">
            <a:avLst/>
          </a:prstGeom>
          <a:solidFill>
            <a:srgbClr val="1836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877056" y="4050791"/>
            <a:ext cx="5961888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控制方式</a:t>
            </a:r>
          </a:p>
        </p:txBody>
      </p:sp>
      <p:sp>
        <p:nvSpPr>
          <p:cNvPr id="49" name="Rectangle 48"/>
          <p:cNvSpPr/>
          <p:nvPr/>
        </p:nvSpPr>
        <p:spPr>
          <a:xfrm>
            <a:off x="914400" y="4434840"/>
            <a:ext cx="2926080" cy="45720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969264" y="4498848"/>
            <a:ext cx="281635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hallucination</a:t>
            </a:r>
          </a:p>
        </p:txBody>
      </p:sp>
      <p:sp>
        <p:nvSpPr>
          <p:cNvPr id="51" name="Rectangle 50"/>
          <p:cNvSpPr/>
          <p:nvPr/>
        </p:nvSpPr>
        <p:spPr>
          <a:xfrm>
            <a:off x="3840480" y="4434840"/>
            <a:ext cx="6035040" cy="45720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3895344" y="4498848"/>
            <a:ext cx="592531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schema + numeric range validation</a:t>
            </a:r>
          </a:p>
        </p:txBody>
      </p:sp>
      <p:sp>
        <p:nvSpPr>
          <p:cNvPr id="53" name="Rectangle 52"/>
          <p:cNvSpPr/>
          <p:nvPr/>
        </p:nvSpPr>
        <p:spPr>
          <a:xfrm>
            <a:off x="914400" y="4892040"/>
            <a:ext cx="2926080" cy="45720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969264" y="4956048"/>
            <a:ext cx="281635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target leakage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840480" y="4892040"/>
            <a:ext cx="6035040" cy="45720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3895344" y="4956048"/>
            <a:ext cx="592531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exclude labels, weights, IDs</a:t>
            </a:r>
          </a:p>
        </p:txBody>
      </p:sp>
      <p:sp>
        <p:nvSpPr>
          <p:cNvPr id="57" name="Rectangle 56"/>
          <p:cNvSpPr/>
          <p:nvPr/>
        </p:nvSpPr>
        <p:spPr>
          <a:xfrm>
            <a:off x="914400" y="5349240"/>
            <a:ext cx="2926080" cy="45720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969264" y="5413248"/>
            <a:ext cx="281635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request cost</a:t>
            </a:r>
          </a:p>
        </p:txBody>
      </p:sp>
      <p:sp>
        <p:nvSpPr>
          <p:cNvPr id="59" name="Rectangle 58"/>
          <p:cNvSpPr/>
          <p:nvPr/>
        </p:nvSpPr>
        <p:spPr>
          <a:xfrm>
            <a:off x="3840480" y="5349240"/>
            <a:ext cx="6035040" cy="45720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3895344" y="5413248"/>
            <a:ext cx="592531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batch cohort prompting</a:t>
            </a:r>
          </a:p>
        </p:txBody>
      </p:sp>
      <p:sp>
        <p:nvSpPr>
          <p:cNvPr id="61" name="Rectangle 60"/>
          <p:cNvSpPr/>
          <p:nvPr/>
        </p:nvSpPr>
        <p:spPr>
          <a:xfrm>
            <a:off x="914400" y="5806440"/>
            <a:ext cx="2926080" cy="45720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969264" y="5870448"/>
            <a:ext cx="281635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tuning leakage</a:t>
            </a:r>
          </a:p>
        </p:txBody>
      </p:sp>
      <p:sp>
        <p:nvSpPr>
          <p:cNvPr id="63" name="Rectangle 62"/>
          <p:cNvSpPr/>
          <p:nvPr/>
        </p:nvSpPr>
        <p:spPr>
          <a:xfrm>
            <a:off x="3840480" y="5806440"/>
            <a:ext cx="6035040" cy="45720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3895344" y="5870448"/>
            <a:ext cx="592531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fixed no-label rule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60120" y="5989320"/>
            <a:ext cx="9326880" cy="25603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LLM 的核心价值不是逐户预测，而是把“疫情/冲击机制”泛化到未标注 cohort，并可迁移到其他事件场景。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48056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50292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400" b="1">
                <a:solidFill>
                  <a:srgbClr val="00796B"/>
                </a:solidFill>
                <a:latin typeface="Microsoft YaHei"/>
              </a:defRPr>
            </a:pPr>
            <a:r>
              <a:rPr sz="1400" b="1">
                <a:solidFill>
                  <a:srgbClr val="00796B"/>
                </a:solidFill>
                <a:latin typeface="Microsoft YaHei"/>
              </a:rPr>
              <a:t>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246888"/>
            <a:ext cx="841248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50" b="1">
                <a:solidFill>
                  <a:srgbClr val="0F172A"/>
                </a:solidFill>
                <a:latin typeface="Microsoft YaHei"/>
              </a:defRPr>
            </a:pPr>
            <a:r>
              <a:rPr sz="1750" b="1">
                <a:solidFill>
                  <a:srgbClr val="0F172A"/>
                </a:solidFill>
                <a:latin typeface="Microsoft YaHei"/>
              </a:rPr>
              <a:t>研究逻辑链 / Research Logic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61288" y="585216"/>
            <a:ext cx="886968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从问题定义到方法优势的完整闭环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6473952"/>
            <a:ext cx="521208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Pandemic-Aware Household Travel Behavior Prediction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52760" y="6473952"/>
            <a:ext cx="91440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21 / 22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1078992"/>
            <a:ext cx="1508760" cy="566928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4944" y="1152144"/>
            <a:ext cx="1435607" cy="43891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环节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167128" y="1078992"/>
            <a:ext cx="4800600" cy="566928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203704" y="1152144"/>
            <a:ext cx="4727448" cy="43891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怎么做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967728" y="1078992"/>
            <a:ext cx="3657600" cy="566928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004304" y="1152144"/>
            <a:ext cx="3584448" cy="43891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证据 / 结果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8368" y="1645919"/>
            <a:ext cx="1508760" cy="56692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13232" y="1709928"/>
            <a:ext cx="1399031" cy="43891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问题定义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167128" y="1645919"/>
            <a:ext cx="4800600" cy="56692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221992" y="1709928"/>
            <a:ext cx="4690872" cy="43891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2022 是疫情后恢复期，不是平滑跨年预测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967728" y="1645919"/>
            <a:ext cx="3657600" cy="56692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22592" y="1709928"/>
            <a:ext cx="3547872" cy="43891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普通 XGBoost bias +3.61 trips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8368" y="2212848"/>
            <a:ext cx="1508760" cy="56692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13232" y="2276856"/>
            <a:ext cx="1399031" cy="43891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传统基线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167128" y="2212848"/>
            <a:ext cx="4800600" cy="56692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221992" y="2276856"/>
            <a:ext cx="4690872" cy="43891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用历史 NHTS 学 f_hist(X)，保留家庭属性差异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967728" y="2212848"/>
            <a:ext cx="3657600" cy="56692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022592" y="2276856"/>
            <a:ext cx="3547872" cy="43891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wMAE 4.34，说明 household signal 有用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58368" y="2779776"/>
            <a:ext cx="1508760" cy="56692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13232" y="2843784"/>
            <a:ext cx="1399031" cy="43891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LLM 进入点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167128" y="2779776"/>
            <a:ext cx="4800600" cy="56692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221992" y="2843784"/>
            <a:ext cx="4690872" cy="43891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cohort profile -&gt; s_event，表达 remote work / transit avoidance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967728" y="2779776"/>
            <a:ext cx="3657600" cy="56692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022592" y="2843784"/>
            <a:ext cx="3547872" cy="43891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不输入 CNTTDHH、权重和 household ID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58368" y="3346704"/>
            <a:ext cx="1508760" cy="56692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13232" y="3410712"/>
            <a:ext cx="1399031" cy="43891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融合规则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167128" y="3346704"/>
            <a:ext cx="4800600" cy="56692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221992" y="3410712"/>
            <a:ext cx="4690872" cy="43891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ŷ = f_hist(X) × correction(s_event)，参数固定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967728" y="3346704"/>
            <a:ext cx="3657600" cy="56692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022592" y="3410712"/>
            <a:ext cx="3547872" cy="43891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wMAE 2.50，bias -0.023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58368" y="3913632"/>
            <a:ext cx="1508760" cy="56692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13232" y="3977640"/>
            <a:ext cx="1399031" cy="43891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结果边界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167128" y="3913632"/>
            <a:ext cx="4800600" cy="56692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2221992" y="3977640"/>
            <a:ext cx="4690872" cy="43891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主增益来自事件层面修正，mode 改善集中在 transit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967728" y="3913632"/>
            <a:ext cx="3657600" cy="56692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022592" y="3977640"/>
            <a:ext cx="3547872" cy="43891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不夸大成纯 LLM 或完整 mode-choice model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822960" y="4754880"/>
            <a:ext cx="9784080" cy="685800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024128" y="4965192"/>
            <a:ext cx="1143000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950" b="1">
                <a:solidFill>
                  <a:srgbClr val="EA580C"/>
                </a:solidFill>
                <a:latin typeface="Microsoft YaHei"/>
              </a:defRPr>
            </a:pPr>
            <a:r>
              <a:rPr sz="950" b="1">
                <a:solidFill>
                  <a:srgbClr val="EA580C"/>
                </a:solidFill>
                <a:latin typeface="Microsoft YaHei"/>
              </a:rPr>
              <a:t>一句话故事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212848" y="4882896"/>
            <a:ext cx="8046720" cy="31089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传统模型负责“正常情况下谁会出行更多”，LLM 负责“疫情后哪些出行会被压低”，二者相乘得到 2022 的无标签修正预测。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2A4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48056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CBD5E1"/>
                </a:solidFill>
                <a:latin typeface="Microsoft YaHei"/>
              </a:defRPr>
            </a:pPr>
            <a:r>
              <a:rPr sz="750" b="1">
                <a:solidFill>
                  <a:srgbClr val="CBD5E1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50292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400" b="1">
                <a:solidFill>
                  <a:srgbClr val="00796B"/>
                </a:solidFill>
                <a:latin typeface="Microsoft YaHei"/>
              </a:defRPr>
            </a:pPr>
            <a:r>
              <a:rPr sz="1400" b="1">
                <a:solidFill>
                  <a:srgbClr val="00796B"/>
                </a:solidFill>
                <a:latin typeface="Microsoft YaHei"/>
              </a:rPr>
              <a:t>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246888"/>
            <a:ext cx="841248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50" b="1">
                <a:solidFill>
                  <a:srgbClr val="FFFFFF"/>
                </a:solidFill>
                <a:latin typeface="Microsoft YaHei"/>
              </a:defRPr>
            </a:pPr>
            <a:r>
              <a:rPr sz="1750" b="1">
                <a:solidFill>
                  <a:srgbClr val="FFFFFF"/>
                </a:solidFill>
                <a:latin typeface="Microsoft YaHei"/>
              </a:rPr>
              <a:t>总结 / Conclusion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61288" y="585216"/>
            <a:ext cx="886968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CBD5E1"/>
                </a:solidFill>
                <a:latin typeface="Microsoft YaHei"/>
              </a:defRPr>
            </a:pPr>
            <a:r>
              <a:rPr sz="850" b="0">
                <a:solidFill>
                  <a:srgbClr val="CBD5E1"/>
                </a:solidFill>
                <a:latin typeface="Microsoft YaHei"/>
              </a:rPr>
              <a:t>传统出行基线 + 疫情事件修正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981944" y="173736"/>
            <a:ext cx="786384" cy="56692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048" y="6473952"/>
            <a:ext cx="521208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CBD5E1"/>
                </a:solidFill>
                <a:latin typeface="Microsoft YaHei"/>
              </a:defRPr>
            </a:pPr>
            <a:r>
              <a:rPr sz="750" b="0">
                <a:solidFill>
                  <a:srgbClr val="CBD5E1"/>
                </a:solidFill>
                <a:latin typeface="Microsoft YaHei"/>
              </a:rPr>
              <a:t>Pandemic-Aware Household Travel Behavior Prediction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52760" y="6473952"/>
            <a:ext cx="91440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CBD5E1"/>
                </a:solidFill>
                <a:latin typeface="Microsoft YaHei"/>
              </a:defRPr>
            </a:pPr>
            <a:r>
              <a:rPr sz="750" b="1">
                <a:solidFill>
                  <a:srgbClr val="CBD5E1"/>
                </a:solidFill>
                <a:latin typeface="Microsoft YaHei"/>
              </a:rPr>
              <a:t>22 / 22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9808" y="1325880"/>
            <a:ext cx="10195560" cy="2011680"/>
          </a:xfrm>
          <a:prstGeom prst="roundRect">
            <a:avLst/>
          </a:prstGeom>
          <a:solidFill>
            <a:srgbClr val="1E405B"/>
          </a:solidFill>
          <a:ln w="9525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24128" y="1581912"/>
            <a:ext cx="9601200" cy="82296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Microsoft YaHei"/>
              </a:defRPr>
            </a:pPr>
            <a:r>
              <a:rPr sz="1500" b="1">
                <a:solidFill>
                  <a:srgbClr val="FFFFFF"/>
                </a:solidFill>
                <a:latin typeface="Microsoft YaHei"/>
              </a:rPr>
              <a:t>我们研究的不是“LLM 直接预测出行次数”，而是：</a:t>
            </a:r>
            <a:br/>
            <a:r>
              <a:rPr sz="1500" b="1">
                <a:solidFill>
                  <a:srgbClr val="FFFFFF"/>
                </a:solidFill>
                <a:latin typeface="Microsoft YaHei"/>
              </a:rPr>
              <a:t>当 2022 疫情后分布变化打破历史连续性时，能否用 LLM 的事件泛化能力，为传统 household travel model 提供无标签修正先验。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14400" y="3886200"/>
            <a:ext cx="2240280" cy="8229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14400" y="3886200"/>
            <a:ext cx="50292" cy="8229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42416" y="3959352"/>
            <a:ext cx="2020824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Accuracy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2416" y="4133087"/>
            <a:ext cx="2020824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2563EB"/>
                </a:solidFill>
                <a:latin typeface="Microsoft YaHei"/>
              </a:defRPr>
            </a:pPr>
            <a:r>
              <a:rPr sz="1600" b="1">
                <a:solidFill>
                  <a:srgbClr val="2563EB"/>
                </a:solidFill>
                <a:latin typeface="Microsoft YaHei"/>
              </a:rPr>
              <a:t>-42.3%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2416" y="4443984"/>
            <a:ext cx="2020824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weighted MAE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520440" y="3886200"/>
            <a:ext cx="2240280" cy="8229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520440" y="3886200"/>
            <a:ext cx="50292" cy="822960"/>
          </a:xfrm>
          <a:prstGeom prst="rect">
            <a:avLst/>
          </a:prstGeom>
          <a:solidFill>
            <a:srgbClr val="1987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48456" y="3959352"/>
            <a:ext cx="2020824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Bias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48456" y="4133087"/>
            <a:ext cx="2020824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198754"/>
                </a:solidFill>
                <a:latin typeface="Microsoft YaHei"/>
              </a:defRPr>
            </a:pPr>
            <a:r>
              <a:rPr sz="1600" b="1">
                <a:solidFill>
                  <a:srgbClr val="198754"/>
                </a:solidFill>
                <a:latin typeface="Microsoft YaHei"/>
              </a:rPr>
              <a:t>-0.023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48456" y="4443984"/>
            <a:ext cx="2020824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weighted bias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26480" y="3886200"/>
            <a:ext cx="2240280" cy="8229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126480" y="3886200"/>
            <a:ext cx="50292" cy="82296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254496" y="3959352"/>
            <a:ext cx="2020824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Scope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54496" y="4133087"/>
            <a:ext cx="2020824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EA580C"/>
                </a:solidFill>
                <a:latin typeface="Microsoft YaHei"/>
              </a:defRPr>
            </a:pPr>
            <a:r>
              <a:rPr sz="1600" b="1">
                <a:solidFill>
                  <a:srgbClr val="EA580C"/>
                </a:solidFill>
                <a:latin typeface="Microsoft YaHei"/>
              </a:rPr>
              <a:t>4 outputs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54496" y="4443984"/>
            <a:ext cx="2020824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trips / modes / purposes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732520" y="3886200"/>
            <a:ext cx="2240280" cy="8229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732520" y="3886200"/>
            <a:ext cx="50292" cy="822960"/>
          </a:xfrm>
          <a:prstGeom prst="rect">
            <a:avLst/>
          </a:prstGeom>
          <a:solidFill>
            <a:srgbClr val="5B2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860536" y="3959352"/>
            <a:ext cx="2020824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LLM role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860536" y="4133087"/>
            <a:ext cx="2020824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5B21B6"/>
                </a:solidFill>
                <a:latin typeface="Microsoft YaHei"/>
              </a:defRPr>
            </a:pPr>
            <a:r>
              <a:rPr sz="1600" b="1">
                <a:solidFill>
                  <a:srgbClr val="5B21B6"/>
                </a:solidFill>
                <a:latin typeface="Microsoft YaHei"/>
              </a:rPr>
              <a:t>adapter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860536" y="4443984"/>
            <a:ext cx="2020824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not standalone predictor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32688" y="5559552"/>
            <a:ext cx="1234440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200" b="1">
                <a:solidFill>
                  <a:srgbClr val="CBD5E1"/>
                </a:solidFill>
                <a:latin typeface="Microsoft YaHei"/>
              </a:defRPr>
            </a:pPr>
            <a:r>
              <a:rPr sz="1200" b="1">
                <a:solidFill>
                  <a:srgbClr val="CBD5E1"/>
                </a:solidFill>
                <a:latin typeface="Microsoft YaHei"/>
              </a:rPr>
              <a:t>一句话总结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148840" y="5486400"/>
            <a:ext cx="8138160" cy="34747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用 NHTS 历史数据学习正常出行规律，用 LLM 事件先验泛化疫情冲击，并输出家庭层面的出行强度、方式结构和目的结构。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9810</TotalTime>
  <Words>6896</Words>
  <Application>Microsoft Office PowerPoint</Application>
  <PresentationFormat>宽屏</PresentationFormat>
  <Paragraphs>762</Paragraphs>
  <Slides>35</Slides>
  <Notes>33</Notes>
  <HiddenSlides>1</HiddenSlides>
  <MMClips>0</MMClips>
  <ScaleCrop>false</ScaleCrop>
  <HeadingPairs>
    <vt:vector size="6" baseType="variant">
      <vt:variant>
        <vt:lpstr>已用的字体</vt:lpstr>
      </vt:variant>
      <vt:variant>
        <vt:i4>16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35</vt:i4>
      </vt:variant>
    </vt:vector>
  </HeadingPairs>
  <TitlesOfParts>
    <vt:vector size="52" baseType="lpstr">
      <vt:lpstr>Avenir</vt:lpstr>
      <vt:lpstr>ElsevierGulliver</vt:lpstr>
      <vt:lpstr>Inter</vt:lpstr>
      <vt:lpstr>SFMono-Regular</vt:lpstr>
      <vt:lpstr>Weibei SC Bold</vt:lpstr>
      <vt:lpstr>等线</vt:lpstr>
      <vt:lpstr>等线 Light</vt:lpstr>
      <vt:lpstr>华文细黑</vt:lpstr>
      <vt:lpstr>Microsoft yahei</vt:lpstr>
      <vt:lpstr>Microsoft yahei</vt:lpstr>
      <vt:lpstr>Microsoft yahei</vt:lpstr>
      <vt:lpstr>Arial</vt:lpstr>
      <vt:lpstr>Calibri</vt:lpstr>
      <vt:lpstr>Helvetica</vt:lpstr>
      <vt:lpstr>Times</vt:lpstr>
      <vt:lpstr>Wingdings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lrving</dc:creator>
  <cp:lastModifiedBy>斑 宇智波</cp:lastModifiedBy>
  <cp:revision>32</cp:revision>
  <dcterms:created xsi:type="dcterms:W3CDTF">2023-11-10T13:11:20Z</dcterms:created>
  <dcterms:modified xsi:type="dcterms:W3CDTF">2026-06-09T15:18:45Z</dcterms:modified>
</cp:coreProperties>
</file>