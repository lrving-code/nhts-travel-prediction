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2D71"/>
    <a:srgbClr val="822370"/>
    <a:srgbClr val="59156B"/>
    <a:srgbClr val="812153"/>
    <a:srgbClr val="0033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主题样式 2 - 强调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216"/>
    <p:restoredTop sz="87611"/>
  </p:normalViewPr>
  <p:slideViewPr>
    <p:cSldViewPr snapToGrid="0">
      <p:cViewPr varScale="1">
        <p:scale>
          <a:sx n="69" d="100"/>
          <a:sy n="69" d="100"/>
        </p:scale>
        <p:origin x="8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7C9EA5-FFC8-914E-8FCA-A7534D56BDB4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D7C717-45A6-3141-B281-E423F6A4A12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78206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3498C3-D54F-2DF0-7F6C-1B9AF4E412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3AA32A8-846D-B4D2-587A-5AF89E887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DF113A-3AF1-A60E-0C1E-5D94E58DE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5AFD9-4E22-F4DD-0E0A-B568FE201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01A49AA-BD73-1626-CF55-95797BC97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9474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923C81-B4F4-AE67-A990-8D68CC1C0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B56CAD-1703-340B-AA2A-D6FE89B72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CE8D7E-3D4A-5E1E-C664-8DAE368D1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DF0354-DAD3-1ED2-A3EA-829EA2A2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70C08E-E57D-5621-512B-98CB8A6C4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6307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AFCAEF-33E4-C4BA-47CA-D86D636D0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4DE1394-35DE-30A7-C3F0-D42EF6327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D0C23B-8B3D-39CF-2F7F-B7661D806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C6254B-D5DA-E555-1E3D-D0572D78B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CFAF2F-4286-8494-8BA1-3953EBB91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033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697836-44FE-148D-B4E6-69AAA72C7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029AB3-8B12-B414-CB0B-E0DC4050A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0BCD0A2-02B2-C5BB-A27A-647C7F31A2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9B2010-FF3A-2EC4-6BF5-A4263AA1D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537D9D-C7C0-051E-9789-69823169E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4AF71E1-6419-34DB-16D7-37627522E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8206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28247B-C24A-C0D1-4474-91AF8B3BE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446941-472D-F7AF-33E6-69A5AE2FC6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CE7BB1A-5AFE-5616-5CB0-CC0E870F34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1FAB0A6-A480-1DF9-6229-2C5AE53152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0CF117F-3F02-A468-4523-9541C3F841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50863CB-1B22-C361-F330-BF437FA7B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1631CB1-DCDD-BAF7-533A-438EF5202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61FAEA-67A0-07BF-0AE0-F2E9D12FD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5955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CF3D23-12E5-4FE1-2410-F9B4E586E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649DFA-CEE1-4EE9-E631-8EA8695D0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638806-E19A-1D0C-3BBD-61CC2FF75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7FC78C-AA00-43F7-42B0-A3A71DC21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6123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1B3B159-E48A-C230-5F68-D4C9E6E7A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674C26E-FE58-8847-BCAA-826ED841A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FB92021-DD8F-1E2F-FC7D-A926ADCEF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6505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FB012C-D2D8-A8B2-979D-DDEB5E328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2278AF-E913-D049-09D5-ED27D8C2B3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ECE38B4-FDD8-FB1F-F478-F9585CFB6B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852B11F-DE93-C6ED-AE88-6A2934A87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3C3D0ED-E64B-E4EC-CA1C-FDC291B22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F547D80-7489-4C54-228A-CC5D54478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50760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3B61D0-68D4-774B-DDFC-371EC2FAE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0A16EC5-2B61-A2F9-8C22-E9C0728BE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897952-8CEB-D716-E25F-92ABBE2F30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4628F6-DC0D-1F1C-10C8-CC022BDD1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04BA56B-6D65-1C1D-1814-C4956BD68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F9F3A70-1A12-46D3-8741-7C6EB9B14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857398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CA8388-E75C-91D0-3494-45A24A896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82C16C-CAD8-5E55-36BB-39DDC05A6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DB5697-30DA-1FAB-7CDA-B8CAFEE4E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C0735D-6289-D301-6E7C-F9DB9FEB5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BD317E-DBD7-B38E-069E-BC2B2B6C2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20242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DE36967-6EFD-2898-86C8-B768B0340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7EFE42D-5F60-C7C1-EAF6-446586C3DF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10EEEF-2B2A-90EA-003D-61BD0D760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56FC1C-7D18-D347-F7BE-AEBC88002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18F0DE-F492-1F7A-367E-4676913D7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09897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29813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研究问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46379" y="-2"/>
            <a:ext cx="1365649" cy="685800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srgbClr val="A5A5A5">
                  <a:lumMod val="75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Arial" panose="020B0604020202020204"/>
              <a:ea typeface="微软雅黑" panose="020B0503020204020204" charset="-122"/>
              <a:cs typeface="+mn-cs"/>
              <a:sym typeface="Arial" panose="020B0604020202020204"/>
            </a:endParaRPr>
          </a:p>
        </p:txBody>
      </p:sp>
      <p:sp>
        <p:nvSpPr>
          <p:cNvPr id="9" name="TextBox 18"/>
          <p:cNvSpPr>
            <a:spLocks noChangeArrowheads="1"/>
          </p:cNvSpPr>
          <p:nvPr userDrawn="1"/>
        </p:nvSpPr>
        <p:spPr bwMode="auto">
          <a:xfrm>
            <a:off x="278834" y="421090"/>
            <a:ext cx="1100737" cy="1200262"/>
          </a:xfrm>
          <a:prstGeom prst="rect">
            <a:avLst/>
          </a:prstGeom>
          <a:noFill/>
          <a:ln>
            <a:noFill/>
          </a:ln>
        </p:spPr>
        <p:txBody>
          <a:bodyPr wrap="square" lIns="91374" tIns="45687" rIns="91374" bIns="45687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模型算法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328060" y="5735781"/>
            <a:ext cx="1002283" cy="923617"/>
          </a:xfrm>
          <a:prstGeom prst="rect">
            <a:avLst/>
          </a:prstGeom>
          <a:noFill/>
          <a:ln w="53975">
            <a:solidFill>
              <a:schemeClr val="bg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04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4" name="TextBox 18"/>
          <p:cNvSpPr>
            <a:spLocks noChangeArrowheads="1"/>
          </p:cNvSpPr>
          <p:nvPr userDrawn="1"/>
        </p:nvSpPr>
        <p:spPr bwMode="auto">
          <a:xfrm>
            <a:off x="367603" y="1621353"/>
            <a:ext cx="923196" cy="3986376"/>
          </a:xfrm>
          <a:prstGeom prst="rect">
            <a:avLst/>
          </a:prstGeom>
          <a:noFill/>
          <a:ln>
            <a:noFill/>
          </a:ln>
        </p:spPr>
        <p:txBody>
          <a:bodyPr vert="vert270" wrap="square" lIns="91374" tIns="45687" rIns="91374" bIns="45687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MODEL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ALGORITHM</a:t>
            </a:r>
          </a:p>
        </p:txBody>
      </p:sp>
      <p:cxnSp>
        <p:nvCxnSpPr>
          <p:cNvPr id="3" name="直线连接符 7"/>
          <p:cNvCxnSpPr/>
          <p:nvPr userDrawn="1"/>
        </p:nvCxnSpPr>
        <p:spPr>
          <a:xfrm>
            <a:off x="1505543" y="586296"/>
            <a:ext cx="10686457" cy="0"/>
          </a:xfrm>
          <a:prstGeom prst="line">
            <a:avLst/>
          </a:prstGeom>
          <a:ln w="47625">
            <a:gradFill flip="none" rotWithShape="1"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" name="TextBox 12"/>
          <p:cNvSpPr txBox="1">
            <a:spLocks noChangeArrowheads="1"/>
          </p:cNvSpPr>
          <p:nvPr userDrawn="1"/>
        </p:nvSpPr>
        <p:spPr bwMode="auto">
          <a:xfrm>
            <a:off x="8710489" y="143606"/>
            <a:ext cx="4364233" cy="4368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108841" tIns="108000" rIns="432000" bIns="108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1" i="0" u="none" strike="noStrike" kern="0" cap="none" spc="0" normalizeH="0" baseline="0" noProof="0" dirty="0">
                <a:ln w="12700">
                  <a:noFill/>
                  <a:prstDash val="solid"/>
                </a:ln>
                <a:solidFill>
                  <a:prstClr val="black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Weibei SC Bold"/>
                <a:ea typeface="微软雅黑" panose="020B0503020204020204" charset="-122"/>
                <a:cs typeface="Weibei SC Bold"/>
              </a:rPr>
              <a:t>网红绿地影响因素及其与环境绅士化关系探究</a:t>
            </a:r>
          </a:p>
        </p:txBody>
      </p:sp>
    </p:spTree>
    <p:extLst>
      <p:ext uri="{BB962C8B-B14F-4D97-AF65-F5344CB8AC3E}">
        <p14:creationId xmlns:p14="http://schemas.microsoft.com/office/powerpoint/2010/main" val="2115228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F087FCD-4307-F0F2-D3BD-38D65778A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FF7AFB-CFCD-86FF-5E24-287E86B00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8EEC7E-945E-A690-7898-B1308AD699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B91929-D260-3310-FA98-F4DCA18BF3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959924-338A-6333-1869-40B137FFAA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66218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771632" y="283464"/>
            <a:ext cx="91440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08" y="310896"/>
            <a:ext cx="841248" cy="5929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1792" y="713232"/>
            <a:ext cx="9052560" cy="8686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疫情冲击下的家庭出行行为预测</a:t>
            </a:r>
            <a:br/>
            <a:r>
              <a:rPr sz="2400" b="1">
                <a:solidFill>
                  <a:srgbClr val="FFFFFF"/>
                </a:solidFill>
                <a:latin typeface="Microsoft YaHei"/>
              </a:rPr>
              <a:t>面向移动不平等与可持续出行评估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00784"/>
            <a:ext cx="859536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50" b="1">
                <a:solidFill>
                  <a:srgbClr val="CBD5E1"/>
                </a:solidFill>
                <a:latin typeface="Microsoft YaHei"/>
              </a:defRPr>
            </a:pPr>
            <a:r>
              <a:rPr sz="1250" b="1">
                <a:solidFill>
                  <a:srgbClr val="CBD5E1"/>
                </a:solidFill>
                <a:latin typeface="Microsoft YaHei"/>
              </a:rPr>
              <a:t>Pandemic-Aware Household Travel Behavior Prediction for Mobility Inequality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804672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传统监督模型 + LLM 事件先验；不使用 2022 目标标签校准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3200"/>
            <a:ext cx="10881360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NHTS 历史数据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routine mobility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34640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2022 疫情冲击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event-driven shift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596128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54496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LLM 事件先验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5936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correction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357616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15984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家庭出行行为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+ modes + purposes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61772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Trip-count 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ordinary XGBoost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64992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64992" y="461772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3008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nearly unbiased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80176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0176" y="461772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08192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54.5%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tolerance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0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95360" y="461772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23376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Behavior 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23376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3+ outputs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23376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245352"/>
            <a:ext cx="448056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16768" y="6245352"/>
            <a:ext cx="7772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01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目录 /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从研究问题到技术路线，再到结果解释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02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2834640" cy="429768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40280"/>
            <a:ext cx="1920240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834640"/>
            <a:ext cx="2176272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10 分钟主线：</a:t>
            </a:r>
            <a:br/>
            <a:r>
              <a:rPr sz="1000" b="0">
                <a:solidFill>
                  <a:srgbClr val="CBD5E1"/>
                </a:solidFill>
                <a:latin typeface="Microsoft YaHei"/>
              </a:rPr>
              <a:t>为什么 2022 需要事件适应，LLM 如何提供可泛化的事件先验。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67328" y="1207008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3048" y="1280160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225296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Background &amp;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463040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疫情冲击、移动不平等与相关研究缺口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737360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67328" y="2066543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13048" y="2139696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084831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Problem &amp;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322576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家庭层面多输出 travel behavior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2596896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67328" y="2926080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3048" y="2999232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2944368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Method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3182112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 × LLM event-generalizable priors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3456432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767328" y="3785615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13048" y="3858768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3803903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4041648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性能比较、Pareto 选择、置信区间、稳健性检验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0520" y="4315968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767328" y="4645152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13048" y="4718304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4663440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Insights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901184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出行强度、方式、目的与未来工作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60520" y="5175504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研究问题 / Research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2022 不是普通跨年预测 | 2022 is not an ordinary transfer year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03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170432"/>
            <a:ext cx="5074920" cy="384048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243584"/>
            <a:ext cx="5001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Traditional framing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96712" y="1170432"/>
            <a:ext cx="5349240" cy="384048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33288" y="1243584"/>
            <a:ext cx="52760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Event-driven framing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1554480"/>
            <a:ext cx="5074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1618488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2017 -&gt; 2022 as smooth temporal transfer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96712" y="1554480"/>
            <a:ext cx="5349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51575" y="1618488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as post-pandemic behavioral regime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" y="1938528"/>
            <a:ext cx="5074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2002536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Covariates explain most household differences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96712" y="1938528"/>
            <a:ext cx="5349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51575" y="2002536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Household covariates miss remote work / transit avoidance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2322576"/>
            <a:ext cx="5074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2386584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Model failure means weak tabular learner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96712" y="2322576"/>
            <a:ext cx="5349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51575" y="2386584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Model failure reveals unobserved event mechanisms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" y="2706624"/>
            <a:ext cx="5074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2770632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Tune on target labels if available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706624"/>
            <a:ext cx="5349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51575" y="2770632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Use no 2022 labels for training/calibration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73552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73552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1568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Systematic bias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1568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01568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over-predicts trips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88736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88736" y="4343400"/>
            <a:ext cx="50292" cy="78638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16752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Pre-COVID bias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16752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00796B"/>
                </a:solidFill>
                <a:latin typeface="Microsoft YaHei"/>
              </a:defRPr>
            </a:pPr>
            <a:r>
              <a:rPr sz="1600" b="1">
                <a:solidFill>
                  <a:srgbClr val="00796B"/>
                </a:solidFill>
                <a:latin typeface="Microsoft YaHei"/>
              </a:rPr>
              <a:t>0.90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16752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mean abs. wBias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03920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503920" y="4343400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31936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Research target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31936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adapt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31936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just fit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5230368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5230368"/>
            <a:ext cx="50292" cy="10789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5321807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核心问题：2022 的 weighted bias 远高于疫情前跨年验证；不使用 2022 标签调参时，能否用事件先验修正这种系统性高估。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774253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Core question: can event priors correct the post-pandemic overprediction without using 2022 target labels for calibration?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相关研究与缺口 / Related Work and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2025-2026: LLM mobility, causal events, and foundation models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04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115568"/>
            <a:ext cx="233172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188720"/>
            <a:ext cx="225856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最新方向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79" y="1115568"/>
            <a:ext cx="384048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62656" y="1188720"/>
            <a:ext cx="376732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2025-2026 代表线索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1115568"/>
            <a:ext cx="429768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03136" y="1188720"/>
            <a:ext cx="422452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本项目的位置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1773936"/>
            <a:ext cx="233172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1837943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Event-driven mobility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79" y="1773936"/>
            <a:ext cx="38404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80944" y="1837943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ELLMob ICLR'26; CausalMob KDD'25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1773936"/>
            <a:ext cx="42976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21424" y="1837943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把 COVID shock 转成 label-free event priors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2432304"/>
            <a:ext cx="233172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" y="2496312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LLM mobility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79" y="2432304"/>
            <a:ext cx="38404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80944" y="2496312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AgentMove NAACL'25; ELP-Mob GIS'25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2432304"/>
            <a:ext cx="42976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1424" y="2496312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直接 LLM 可做 baseline，但数值校准弱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3090672"/>
            <a:ext cx="233172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3154679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Mobility foundation models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79" y="3090672"/>
            <a:ext cx="38404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80944" y="3154679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UniMob KDD'25; STFM survey'25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3090672"/>
            <a:ext cx="42976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1424" y="3154679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不训练大 FM；用轻量 adapter 处理 survey shift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3749039"/>
            <a:ext cx="233172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" y="3813048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Planning evaluation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79" y="3749039"/>
            <a:ext cx="38404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80944" y="3813048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causal guardrails + multi-objective metrics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66560" y="3749039"/>
            <a:ext cx="42976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21424" y="3813048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同时报告 accuracy、bias、equity、mode/purpose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4800600"/>
            <a:ext cx="9875520" cy="7772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" y="5047488"/>
            <a:ext cx="1005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研究缺口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57400" y="4910328"/>
            <a:ext cx="8183879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缺口：已有工作多关注 trajectory / flow / sensor forecasting；NHTS household survey 的 post-pandemic label-free event adaptation 仍需要一个可解释、可审计框架。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数据与目标 / Data and Target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一个 household behavior system，多种 linked outputs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05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73736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0896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6052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212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0527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 + mode base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83679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55279" y="1389888"/>
            <a:ext cx="914400" cy="50292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8431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post-pandemic eval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76148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283464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Output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07208" y="2761488"/>
            <a:ext cx="32004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43784" y="2834640"/>
            <a:ext cx="31272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Construction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07607" y="2761488"/>
            <a:ext cx="278892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4183" y="2834640"/>
            <a:ext cx="2715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Planning meaning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96528" y="276148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33104" y="283464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Main metric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1455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32095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 generation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7208" y="3145536"/>
            <a:ext cx="3200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62072" y="3209544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at household level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07607" y="3145536"/>
            <a:ext cx="2788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62471" y="3209544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much travel demand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96528" y="31455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51392" y="32095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weighted MAE / bias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35295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35935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 composition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07208" y="3529584"/>
            <a:ext cx="3200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62072" y="3593591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TRPTRANS -&gt; household share vector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07607" y="3529584"/>
            <a:ext cx="2788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62471" y="3593591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demand is distributed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796528" y="35295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51392" y="35935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share MAE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39136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39776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composition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7208" y="3913632"/>
            <a:ext cx="3200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62072" y="3977640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TRIPPURP -&gt; household purpose vector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07607" y="3913632"/>
            <a:ext cx="2788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62471" y="3977640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Why households travel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796528" y="39136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51392" y="39776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purpose MAE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8368" y="42976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32" y="43616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Mode-specific trips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07208" y="4297680"/>
            <a:ext cx="3200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62072" y="4361688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predicted trips × mode share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07607" y="4297680"/>
            <a:ext cx="2788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62471" y="4361688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Trips by mode for planning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796528" y="42976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851392" y="43616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derived output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49808" y="5074920"/>
            <a:ext cx="10012680" cy="102412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49808" y="5074920"/>
            <a:ext cx="50292" cy="10241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5166359"/>
            <a:ext cx="9720072" cy="36868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目标不是只预测 CNTTDHH，而是构造 household travel behavior：出行多少次、用什么方式、为什么出行、每种方式多少次。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" y="5599054"/>
            <a:ext cx="9720072" cy="42684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target is a household behavior system: trip generation, mode composition, purpose composition, and derived mode-specific trip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技术路线 / Technical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传统监督模型给基线，LLM 只给事件折减因子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06 /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07899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2563EB"/>
                </a:solidFill>
                <a:latin typeface="Microsoft YaHei"/>
              </a:defRPr>
            </a:pPr>
            <a:r>
              <a:rPr sz="950" b="1">
                <a:solidFill>
                  <a:srgbClr val="2563EB"/>
                </a:solidFill>
                <a:latin typeface="Microsoft YaHei"/>
              </a:rPr>
              <a:t>Historical routine branch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NHTS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2001 / 2009 / 2017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862072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3756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071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Feature harmonization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same household schema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85231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6072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3387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XGBoost CUDA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59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learn f_hist(X)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235915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LLM event-prior branch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2022 cohort profile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households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862072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33756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1071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GPT-5.5 prompt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pandemic mechanisms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285231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76072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3387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event prior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59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s_event in [0, 1]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3730752"/>
            <a:ext cx="699516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3895344"/>
            <a:ext cx="19202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Fixed no-label adapter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3803904"/>
            <a:ext cx="4800600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ŷ_2022 = f_hist(X) × clip(1 − α × s_event, min_factor, 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14600" y="4279392"/>
            <a:ext cx="480060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low-confidence cohort -&gt; global pressure fallback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14600" y="4553712"/>
            <a:ext cx="4800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2022 labels enter only here: final evaluation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6126480" y="1965960"/>
            <a:ext cx="146304" cy="56692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6126480" y="3255264"/>
            <a:ext cx="146304" cy="40233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0" y="3749039"/>
            <a:ext cx="22860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Output behavior system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0" y="4069080"/>
            <a:ext cx="1874519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02752" y="4133088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Trip generation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352544"/>
            <a:ext cx="1691639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CNTTDHH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58400" y="4069080"/>
            <a:ext cx="14630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31552" y="4133088"/>
            <a:ext cx="131673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Mode shares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4352544"/>
            <a:ext cx="128016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transit signal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7699248" y="4187952"/>
            <a:ext cx="384048" cy="146304"/>
          </a:xfrm>
          <a:prstGeom prst="rightArrow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229600" y="1234440"/>
            <a:ext cx="2788920" cy="23774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58200" y="1417320"/>
            <a:ext cx="23317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BE123C"/>
                </a:solidFill>
                <a:latin typeface="Microsoft YaHei"/>
              </a:defRPr>
            </a:pPr>
            <a:r>
              <a:rPr sz="1050" b="1">
                <a:solidFill>
                  <a:srgbClr val="BE123C"/>
                </a:solidFill>
                <a:latin typeface="Microsoft YaHei"/>
              </a:rPr>
              <a:t>Leakage guardrails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80" y="1755648"/>
            <a:ext cx="1234440" cy="3840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49055" y="1828800"/>
            <a:ext cx="11612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禁止进入 LLM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46919" y="1755648"/>
            <a:ext cx="1234440" cy="3840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83495" y="1828800"/>
            <a:ext cx="11612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原因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12480" y="2139696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67344" y="2203703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CNTTDHH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646919" y="2139696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01784" y="2203703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目标标签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12480" y="2523744"/>
            <a:ext cx="12344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67344" y="2587751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WTHHFIN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646919" y="2523744"/>
            <a:ext cx="12344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01784" y="2587751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样本权重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12480" y="2907791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67344" y="2971799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HOUSEID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46919" y="2907791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701784" y="2971799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个体标识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事件先验 / LLM Event Prior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 cohort 描述生成结构化疫情响应变量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07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078992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152144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0632" y="1078992"/>
            <a:ext cx="406908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7208" y="1152144"/>
            <a:ext cx="39959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变量含义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39712" y="1078992"/>
            <a:ext cx="393192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76288" y="1152144"/>
            <a:ext cx="3858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进入模型的位置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1463039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152704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trip_suppression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0632" y="1463039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5496" y="1527048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总体出行折减压力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39712" y="1463039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4576" y="1527048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total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1847088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1911095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remote_work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70632" y="1847088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25496" y="1911095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通勤被远程办公替代的可能性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39712" y="1847088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1911095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解释出行下降来源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" y="22311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22951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transit_avoidance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70632" y="2231136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25496" y="2295144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公共交通规避倾向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39712" y="2231136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94576" y="2295144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transit share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" y="26151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26791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delivery_substitution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70632" y="2615184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25496" y="2679191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购物/服务被线上替代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9712" y="2615184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94576" y="2679191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解释非通勤出行下降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" y="29992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0632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recovery_sensitivity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70632" y="2999232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25496" y="3063240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恢复到常态出行的能力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39712" y="2999232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94576" y="3063240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刻画 rebound 差异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" y="33832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6656" y="34472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confidence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70632" y="3383280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25496" y="3447288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对判断的自评置信度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39712" y="3383280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94576" y="3447288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质量检查信号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8" y="4434840"/>
            <a:ext cx="47091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6384" y="4507992"/>
            <a:ext cx="4636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输入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58968" y="4434840"/>
            <a:ext cx="47091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95544" y="4507992"/>
            <a:ext cx="4636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明确排除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49808" y="4818888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4671" y="4882896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cohort-level household profile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58968" y="4818888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13832" y="4882896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/ trip count label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9808" y="5202936"/>
            <a:ext cx="4709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4671" y="5266944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urban context, vehicles, workers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58968" y="5202936"/>
            <a:ext cx="4709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13832" y="5266944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sample weights / household IDs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49808" y="5586983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1" y="5650992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generic 2022 pandemic context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58968" y="5586983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13832" y="5650992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aggregate 2022 outcomes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对比体系 / Evaluation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传统模型、简单事件修正、纯 LLM 与 hybrid 方法逐层比较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08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24128"/>
            <a:ext cx="196596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088136"/>
            <a:ext cx="1892807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1448" y="1024128"/>
            <a:ext cx="91440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78024" y="1088136"/>
            <a:ext cx="84124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传统基线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55848" y="1024128"/>
            <a:ext cx="82296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92424" y="1088136"/>
            <a:ext cx="74980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LLM先验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78808" y="1024128"/>
            <a:ext cx="86868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15384" y="1088136"/>
            <a:ext cx="79552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2022标签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47488" y="1024128"/>
            <a:ext cx="438912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84064" y="1088136"/>
            <a:ext cx="431596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对比作用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6607" y="1024128"/>
            <a:ext cx="68580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73183" y="1088136"/>
            <a:ext cx="61264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1380744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1435608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1448" y="1380744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87168" y="1435608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55848" y="1380744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1568" y="1435608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78808" y="1380744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8" y="1435608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47488" y="1380744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2351" y="1435608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只保留历史平均水平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36607" y="1380744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435608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5.51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" y="1737360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" y="1792224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41448" y="1737360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87168" y="1792224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1737360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01568" y="1792224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78808" y="1737360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24528" y="1792224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47488" y="1737360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02351" y="1792224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传统方法：家庭属性 -&gt; 出行次数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36607" y="1737360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91472" y="1792224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4.34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" y="2093976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2148840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41448" y="2093976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87168" y="2148840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55848" y="2093976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01568" y="2148840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78808" y="2093976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24528" y="2148840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47488" y="2093976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02351" y="2148840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统一趋势修正，不区分疫情机制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36607" y="2093976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91472" y="2148840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4.15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5488" y="2450592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0352" y="2505456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441448" y="2450592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487168" y="2505456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355848" y="2450592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01568" y="2505456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78808" y="2450592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24528" y="2505456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47488" y="2450592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02351" y="2505456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只有事件方向，缺少 household baseline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436607" y="2450592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91472" y="2505456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2.72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75488" y="2807208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" y="2862072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Zero-shot rule tree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441448" y="2807208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87168" y="2862072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55848" y="2807208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01568" y="2862072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78808" y="2807208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24528" y="2862072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47488" y="2807208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102351" y="2862072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LLM 直接构建规则树，无数值校准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436607" y="2807208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491472" y="2862072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2.60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5488" y="3163824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30352" y="3218688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Rule + 500 history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441448" y="3163824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487168" y="3218688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355848" y="3163824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401568" y="3218688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78808" y="3163824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224528" y="3218688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47488" y="3163824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102351" y="3218688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LLM 规则 + 少量历史标签校准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436607" y="3163824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491472" y="3218688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2.77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75488" y="3520440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30352" y="3575304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441448" y="3520440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87168" y="3575304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355848" y="3520440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401568" y="3575304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178808" y="3520440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224528" y="3575304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047488" y="3520440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102351" y="3575304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所有家庭使用同一疫情折减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436607" y="3520440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491472" y="3575304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2.52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75488" y="3877056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30352" y="3931920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Random pressure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441448" y="3877056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487168" y="3931920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355848" y="3877056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401568" y="3931920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178808" y="3877056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224528" y="3931920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047488" y="3877056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102351" y="3931920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随机 pressure 对照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436607" y="3877056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491472" y="3931920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2.65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75488" y="4233672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30352" y="4288536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441448" y="4233672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487168" y="4288536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355848" y="4233672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401568" y="4288536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178808" y="4233672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4224528" y="4288536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047488" y="4233672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102351" y="4288536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历史基线 × LLM 事件折减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36607" y="4233672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91472" y="4288536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2.50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94360" y="4736592"/>
            <a:ext cx="338328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64748B"/>
                </a:solidFill>
                <a:latin typeface="Microsoft YaHei"/>
              </a:defRPr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● 使用 / used    × 不使用 / not used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749808" y="4983480"/>
            <a:ext cx="10012680" cy="1042415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49808" y="4983480"/>
            <a:ext cx="50292" cy="1042415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5074920"/>
            <a:ext cx="9720072" cy="37526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对比逻辑：LLM 直接构树能给出事件方向，但缺少历史行为的数值锚点；小样本规则校准仍偏高估。主方法保留 household baseline，再用 LLM 事件先验做无标签修正。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5514197"/>
            <a:ext cx="9720072" cy="43854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comparison isolates household grounding, zero-shot rule priors, small historical calibration, and the final gated event adapter.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主结果 / Main Trip-Count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Hybrid adapters reduce error while controlling bias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09 /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10185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15214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1152144"/>
            <a:ext cx="2729917" cy="15544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109728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5.51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49618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54647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0" y="1546479"/>
            <a:ext cx="2148456" cy="1554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149161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BE123C"/>
                </a:solidFill>
                <a:latin typeface="Microsoft YaHei"/>
              </a:defRPr>
            </a:pPr>
            <a:r>
              <a:rPr sz="8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189052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194081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0" y="1940814"/>
            <a:ext cx="2055717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6440" y="188595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4.15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28485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233514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0" y="2335149"/>
            <a:ext cx="1345984" cy="155448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6440" y="228028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5B21B6"/>
                </a:solidFill>
                <a:latin typeface="Microsoft YaHei"/>
              </a:defRPr>
            </a:pPr>
            <a:r>
              <a:rPr sz="800" b="1">
                <a:solidFill>
                  <a:srgbClr val="5B21B6"/>
                </a:solidFill>
                <a:latin typeface="Microsoft YaHei"/>
              </a:rPr>
              <a:t>2.72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267919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Zero-shot rule tree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272948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0" y="2729484"/>
            <a:ext cx="1288744" cy="1554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440" y="26746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2563EB"/>
                </a:solidFill>
                <a:latin typeface="Microsoft YaHei"/>
              </a:defRPr>
            </a:pPr>
            <a:r>
              <a:rPr sz="800" b="1">
                <a:solidFill>
                  <a:srgbClr val="2563EB"/>
                </a:solidFill>
                <a:latin typeface="Microsoft YaHei"/>
              </a:rPr>
              <a:t>2.60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73526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Rule + 500 history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312381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0" y="3123819"/>
            <a:ext cx="1373131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06440" y="3068954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2.77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46786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351815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0" y="3518154"/>
            <a:ext cx="1249310" cy="1554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6440" y="346329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00796B"/>
                </a:solidFill>
                <a:latin typeface="Microsoft YaHei"/>
              </a:defRPr>
            </a:pPr>
            <a:r>
              <a:rPr sz="800" b="1">
                <a:solidFill>
                  <a:srgbClr val="00796B"/>
                </a:solidFill>
                <a:latin typeface="Microsoft YaHei"/>
              </a:rPr>
              <a:t>2.52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386219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0" y="391248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0" y="3912489"/>
            <a:ext cx="1239379" cy="1554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06440" y="385762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198754"/>
                </a:solidFill>
                <a:latin typeface="Microsoft YaHei"/>
              </a:defRPr>
            </a:pPr>
            <a:r>
              <a:rPr sz="800" b="1">
                <a:solidFill>
                  <a:srgbClr val="198754"/>
                </a:solidFill>
                <a:latin typeface="Microsoft YaHei"/>
              </a:rPr>
              <a:t>2.50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7960" y="1078992"/>
            <a:ext cx="1874519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74536" y="1152144"/>
            <a:ext cx="1801367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12480" y="1078992"/>
            <a:ext cx="822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49055" y="1152144"/>
            <a:ext cx="7498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35440" y="1078992"/>
            <a:ext cx="822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72015" y="1152144"/>
            <a:ext cx="7498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wBias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58400" y="1078992"/>
            <a:ext cx="73152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94976" y="1152144"/>
            <a:ext cx="6583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wR2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7960" y="1463039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92824" y="1527048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0" y="1463039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67344" y="152704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35440" y="1463039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90304" y="152704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+3.605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058400" y="1463039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113264" y="1527048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-0.637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7960" y="1847088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92824" y="1911095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12480" y="1847088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67344" y="1911095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4.220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35440" y="1847088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290304" y="1911095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+3.487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0" y="1847088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13264" y="1911095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-0.571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37960" y="2231136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92824" y="2295144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12480" y="2231136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67344" y="2295144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2.718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35440" y="2231136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290304" y="2295144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-0.373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58400" y="2231136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113264" y="2295144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0.079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37960" y="2615184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92824" y="2679191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tree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12480" y="2615184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67344" y="2679191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2.602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235440" y="2615184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290304" y="2679191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-0.407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058400" y="2615184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113264" y="2679191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0.151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537960" y="2999232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592824" y="3063240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Rule + 500 hist.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412480" y="2999232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467344" y="3063240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2.772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235440" y="2999232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290304" y="3063240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+0.463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058400" y="2999232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113264" y="3063240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0.154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37960" y="3383280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92824" y="3447288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412480" y="3383280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467344" y="344728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235440" y="3383280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290304" y="344728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058400" y="3383280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113264" y="3447288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0.248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547104" y="3950208"/>
            <a:ext cx="1874519" cy="65836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547104" y="3950208"/>
            <a:ext cx="50292" cy="65836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675120" y="40233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reduction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675120" y="41970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-42.3%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675120" y="4507992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vs XGBoost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641080" y="3950208"/>
            <a:ext cx="1874519" cy="65836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641080" y="3950208"/>
            <a:ext cx="50292" cy="6583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769096" y="40233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reduction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769096" y="41970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-99.4%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769096" y="4507992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absolute weighted bias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749808" y="4892040"/>
            <a:ext cx="10012680" cy="111556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49808" y="4892040"/>
            <a:ext cx="50292" cy="111556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14400" y="4983479"/>
            <a:ext cx="9720072" cy="40160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GPU、zero-shot LLM rule tree 和少量历史校准规则都没有超过主方法；加入 gated event adapter 后，wMAE 降到 2.50，bias 接近 0。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5449092"/>
            <a:ext cx="9720072" cy="485363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main adapter outperforms stronger tabular, zero-shot rule-tree, and small-data calibration baselines while removing most systematic bias.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统计验证 / Statistical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用 household bootstrap 给主结果加不确定性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10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143000"/>
            <a:ext cx="246888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216152"/>
            <a:ext cx="239572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Metric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82112" y="1143000"/>
            <a:ext cx="160020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8688" y="1216152"/>
            <a:ext cx="152704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82312" y="1143000"/>
            <a:ext cx="283464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8888" y="1216152"/>
            <a:ext cx="276148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95% CI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1673352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1737360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Baseline 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82112" y="1673352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36976" y="1737360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82312" y="1673352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7176" y="1737360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[4.242, 4.431]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2203704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2267712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wMAE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82112" y="2203704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36976" y="2267712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82312" y="2203704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37176" y="2267712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[2.429, 2.581]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2734056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2798063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bias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82112" y="2734056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36976" y="2798063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82312" y="2734056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7176" y="2798063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[-0.130, +0.088]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3264408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" y="3328415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2 trips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82112" y="3264408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36976" y="3328415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54.0%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82312" y="3264408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37176" y="3328415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[52.6%, 55.3%]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35240" y="123444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35240" y="1234440"/>
            <a:ext cx="50292" cy="8412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63256" y="130759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gain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148132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1.84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3256" y="1792224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[1.74, 1.93]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635240" y="233172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35240" y="2331720"/>
            <a:ext cx="50292" cy="8412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63256" y="240487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gain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63256" y="257860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3.56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63256" y="2889503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[3.36, 3.67]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475488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4754880"/>
            <a:ext cx="50292" cy="10515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4846320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Bootstrap 结果说明：主方法的 MAE 改善和 bias 改善不是单个点估计的偶然波动，paired CI 保持为正。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28888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paired confidence intervals remain positive, supporting the robustness of the event-adaptation gain.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误差与偏差权衡 / Error-Bias Tradeoff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横轴是 |bias|，纵轴是 wMAE，越靠左下越好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11 / 23</a:t>
            </a:r>
          </a:p>
        </p:txBody>
      </p:sp>
      <p:pic>
        <p:nvPicPr>
          <p:cNvPr id="11" name="Picture 10" descr="mae_bias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70432"/>
            <a:ext cx="6172200" cy="362812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86600" y="1298448"/>
            <a:ext cx="3749039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86600" y="1298448"/>
            <a:ext cx="50292" cy="144475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51192" y="1389888"/>
            <a:ext cx="345643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位于低误差、低偏差区域；普通 XGBoost 的偏差较大，说明 2022 的整体高估不能只靠家庭表格变量解决。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51192" y="1874519"/>
            <a:ext cx="345643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hybrid method moves toward lower error and near-zero bias; the ordinary supervised baseline keeps a clear positive shift.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2852928"/>
            <a:ext cx="132588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23176" y="2926080"/>
            <a:ext cx="12527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读图方式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2852928"/>
            <a:ext cx="28346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5" y="2926080"/>
            <a:ext cx="27614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含义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3236976"/>
            <a:ext cx="13258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41464" y="3300984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横轴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3236976"/>
            <a:ext cx="28346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67344" y="3300984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越接近 0，系统性偏差越小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3621024"/>
            <a:ext cx="13258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41464" y="3685032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纵轴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3621024"/>
            <a:ext cx="28346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67344" y="3685032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越低，家庭出行次数误差越小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4005072"/>
            <a:ext cx="13258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41464" y="4069080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点大小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4005072"/>
            <a:ext cx="28346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67344" y="4069080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代表 weighted RMSE，反映大误差风险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4389120"/>
            <a:ext cx="13258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41464" y="4453128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0" y="4389120"/>
            <a:ext cx="28346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67344" y="4453128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位于低误差、低偏差区域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多目标选择 / Multi-Objective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从单一排行榜转向规划目标下的 operating point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12 / 23</a:t>
            </a:r>
          </a:p>
        </p:txBody>
      </p:sp>
      <p:pic>
        <p:nvPicPr>
          <p:cNvPr id="11" name="Picture 10" descr="trip_pareto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078992"/>
            <a:ext cx="5394960" cy="3300446"/>
          </a:xfrm>
          <a:prstGeom prst="rect">
            <a:avLst/>
          </a:prstGeom>
        </p:spPr>
      </p:pic>
      <p:pic>
        <p:nvPicPr>
          <p:cNvPr id="12" name="Picture 11" descr="behavior_system_improv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097280"/>
            <a:ext cx="5074920" cy="286583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49808" y="4572000"/>
            <a:ext cx="15087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645152"/>
            <a:ext cx="1435607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Preference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58568" y="4572000"/>
            <a:ext cx="19659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95144" y="4645152"/>
            <a:ext cx="1892807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Selected method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4572000"/>
            <a:ext cx="73152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1104" y="4645152"/>
            <a:ext cx="65836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4572000"/>
            <a:ext cx="73152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4645152"/>
            <a:ext cx="65836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|bias|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87568" y="4572000"/>
            <a:ext cx="8229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4144" y="4645152"/>
            <a:ext cx="74980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req.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4965192"/>
            <a:ext cx="15087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1" y="5029200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Calibration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58568" y="4965192"/>
            <a:ext cx="1965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13432" y="5029200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24528" y="4965192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9392" y="5029200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56048" y="4965192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0912" y="5029200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87568" y="4965192"/>
            <a:ext cx="822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42432" y="5029200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5358384"/>
            <a:ext cx="15087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1" y="5422392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Balanced / main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58568" y="5358384"/>
            <a:ext cx="19659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13432" y="5422392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24528" y="5358384"/>
            <a:ext cx="73152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9392" y="5422392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6048" y="5358384"/>
            <a:ext cx="73152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10912" y="5422392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87568" y="5358384"/>
            <a:ext cx="8229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42432" y="5422392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9808" y="5751576"/>
            <a:ext cx="15087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1" y="5815584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Low-cost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58568" y="5751576"/>
            <a:ext cx="1965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13432" y="5815584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Global prior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24528" y="5751576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5815584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2.553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5751576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10912" y="5815584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0.123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87568" y="5751576"/>
            <a:ext cx="822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42432" y="5815584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60920" y="4736592"/>
            <a:ext cx="3749039" cy="9144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360920" y="4736592"/>
            <a:ext cx="50292" cy="914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25512" y="4828031"/>
            <a:ext cx="3456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关键讲法：LLM 不是直接报一个答案，而是把事件机制转成候选修正；最终由规划目标选择 Pareto operating point。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25512" y="5221224"/>
            <a:ext cx="3456432" cy="3566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Key message: the LLM supplies event mechanisms; a deterministic grid/solver selects the operating point under planning objectives.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误差分布与容忍度 / Error Distribution and Tolerance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误差分布看系统性高估，容忍曲线看 household-level 可用性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13 / 23</a:t>
            </a:r>
          </a:p>
        </p:txBody>
      </p:sp>
      <p:pic>
        <p:nvPicPr>
          <p:cNvPr id="11" name="Picture 10" descr="error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420345"/>
          </a:xfrm>
          <a:prstGeom prst="rect">
            <a:avLst/>
          </a:prstGeom>
        </p:spPr>
      </p:pic>
      <p:pic>
        <p:nvPicPr>
          <p:cNvPr id="12" name="Picture 11" descr="tolerance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097280"/>
            <a:ext cx="5166360" cy="336627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074920"/>
            <a:ext cx="10012680" cy="10972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50292" cy="10972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166359"/>
            <a:ext cx="9720072" cy="3950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传统监督模型误差分布整体偏正，说明它系统性高估 2022 出行；事件修正后误差更集中，容忍阈值内覆盖率更高。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25388"/>
            <a:ext cx="9720072" cy="47365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traditional supervised baseline overpredicts many households; event correction shifts errors closer to zero and improves tolerance-level coverage.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疫情影响异质性 / Event Heterogeneity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pressure 分层和先验相关性检验事件机制是否合理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14 / 23</a:t>
            </a:r>
          </a:p>
        </p:txBody>
      </p:sp>
      <p:pic>
        <p:nvPicPr>
          <p:cNvPr id="11" name="Picture 10" descr="pressure_quintile_g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550665"/>
          </a:xfrm>
          <a:prstGeom prst="rect">
            <a:avLst/>
          </a:prstGeom>
        </p:spPr>
      </p:pic>
      <p:pic>
        <p:nvPicPr>
          <p:cNvPr id="12" name="Picture 11" descr="event_prior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033271"/>
            <a:ext cx="4526280" cy="40129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138928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138928"/>
            <a:ext cx="50292" cy="100584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230368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pressure 与疫情机制相符：高 pressure 组需要更强出行折减，remote work、transit avoidance 等先验之间也呈现可解释相关。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56478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LLM priors behave like event variables, with pressure strata and prior correlations matching COVID-era mobility mechanisms.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稳健性检验 / Robustness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随机置换检验 LLM pressure 是否包含真实排序信息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15 / 23</a:t>
            </a:r>
          </a:p>
        </p:txBody>
      </p:sp>
      <p:pic>
        <p:nvPicPr>
          <p:cNvPr id="11" name="Picture 10" descr="permutation_null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15568"/>
            <a:ext cx="5669280" cy="363668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812280" y="1234440"/>
            <a:ext cx="4069080" cy="1463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12280" y="1234440"/>
            <a:ext cx="50292" cy="146304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76872" y="1325880"/>
            <a:ext cx="377647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真实 LLM pressure 的误差低于 500 次随机分配；同时 global pressure 也很强，说明主贡献是疫情事件层面的修正，cohort 排序是增量信息。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6872" y="1810512"/>
            <a:ext cx="3776472" cy="8138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Real LLM pressure beats random assignment, while the strong global baseline shows that the main signal is event-level correction.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12280" y="2971800"/>
            <a:ext cx="18288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8856" y="3044952"/>
            <a:ext cx="17556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可能被问到的问题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971800"/>
            <a:ext cx="25146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77655" y="3044952"/>
            <a:ext cx="24414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我们的回答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12280" y="3355848"/>
            <a:ext cx="1828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67144" y="3419856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rule 是否已经足够？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41080" y="3355848"/>
            <a:ext cx="25146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95944" y="3419856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它很强；LLM 排序提供增量价值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12280" y="3739896"/>
            <a:ext cx="1828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67144" y="3803904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是否用了 2022 标签？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3739896"/>
            <a:ext cx="25146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95944" y="3803904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输入排除目标值、权重和 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4123944"/>
            <a:ext cx="1828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67144" y="4187952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能否替代传统模型？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123944"/>
            <a:ext cx="25146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5944" y="4187952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不能；hybrid 明显更稳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12280" y="4507992"/>
            <a:ext cx="1828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67144" y="4572000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是否只是通用下调？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41080" y="4507992"/>
            <a:ext cx="25146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95944" y="4572000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pre-COVID placebo 中 full suppression 会过度修正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分组稳健性 / Equity-Aware Subgroup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比较不同家庭群体中的 MAE 改善与 worst-subgroup error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16 / 23</a:t>
            </a:r>
          </a:p>
        </p:txBody>
      </p:sp>
      <p:pic>
        <p:nvPicPr>
          <p:cNvPr id="11" name="Picture 10" descr="subgroup_gain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43000"/>
            <a:ext cx="6035040" cy="363640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995160" y="1261872"/>
            <a:ext cx="3886200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95160" y="1261872"/>
            <a:ext cx="50292" cy="14447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2" y="1353312"/>
            <a:ext cx="359359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分组结果显示，改进不只来自总体均值；worst-subgroup wMAE 从 8.38 降到 4.71，所有纳入分组均优于历史 XGBoost。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1837943"/>
            <a:ext cx="359359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Worst-subgroup wMAE drops from 8.38 to 4.71, and all evaluated subgroups improve over historical XGBoost.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2880360"/>
            <a:ext cx="16002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31736" y="2953512"/>
            <a:ext cx="15270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汇报时怎么讲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95360" y="2880360"/>
            <a:ext cx="242316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31936" y="2953512"/>
            <a:ext cx="2350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注意边界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95160" y="3264408"/>
            <a:ext cx="16002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0024" y="3328415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预测层面 equity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3264408"/>
            <a:ext cx="2423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50224" y="3328415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worst-subgroup error 下降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5160" y="3648456"/>
            <a:ext cx="1600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0024" y="3712463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注意表述边界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95360" y="3648456"/>
            <a:ext cx="2423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50224" y="3712463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不是因果公平性结论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95160" y="4032504"/>
            <a:ext cx="16002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50024" y="4096512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联系规划含义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95360" y="4032504"/>
            <a:ext cx="2423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50224" y="4096512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识别更难预测的家庭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误差洞察 / Error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主收益来自消除 post-pandemic over-prediction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17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170432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Exact rounded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17.7%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82112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82112" y="1170432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54.5%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practical tolerance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78424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78424" y="1170432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3 trips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71.2%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broad tolerance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4736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4736" y="1170432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R2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0.248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gated rule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2514600"/>
            <a:ext cx="21031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0796B"/>
                </a:solidFill>
                <a:latin typeface="Microsoft YaHei"/>
              </a:defRPr>
            </a:pPr>
            <a:r>
              <a:rPr sz="1050" b="1">
                <a:solidFill>
                  <a:srgbClr val="00796B"/>
                </a:solidFill>
                <a:latin typeface="Microsoft YaHei"/>
              </a:rPr>
              <a:t>Weighted bias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74796" y="2852928"/>
            <a:ext cx="13716" cy="21488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65068" y="5020056"/>
            <a:ext cx="219456" cy="1371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00" b="1">
                <a:solidFill>
                  <a:srgbClr val="64748B"/>
                </a:solidFill>
                <a:latin typeface="Microsoft YaHei"/>
              </a:defRPr>
            </a:pPr>
            <a:r>
              <a:rPr sz="700" b="1">
                <a:solidFill>
                  <a:srgbClr val="64748B"/>
                </a:solidFill>
                <a:latin typeface="Microsoft YaHei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2990088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74796" y="3017520"/>
            <a:ext cx="1967165" cy="1371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41962" y="2980944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+4.50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3429000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74796" y="3456432"/>
            <a:ext cx="1576177" cy="13716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0974" y="3419856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BE123C"/>
                </a:solidFill>
                <a:latin typeface="Microsoft YaHei"/>
              </a:defRPr>
            </a:pPr>
            <a:r>
              <a:rPr sz="75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3867911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74796" y="3895344"/>
            <a:ext cx="1463936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38733" y="3858768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EA580C"/>
                </a:solidFill>
                <a:latin typeface="Microsoft YaHei"/>
              </a:defRPr>
            </a:pPr>
            <a:r>
              <a:rPr sz="750" b="1">
                <a:solidFill>
                  <a:srgbClr val="EA580C"/>
                </a:solidFill>
                <a:latin typeface="Microsoft YaHei"/>
              </a:rPr>
              <a:t>+3.35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4306824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11613" y="4334256"/>
            <a:ext cx="163183" cy="1371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54413" y="4297680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5B21B6"/>
                </a:solidFill>
                <a:latin typeface="Microsoft YaHei"/>
              </a:defRPr>
            </a:pPr>
            <a:r>
              <a:rPr sz="750" b="1">
                <a:solidFill>
                  <a:srgbClr val="5B21B6"/>
                </a:solidFill>
                <a:latin typeface="Microsoft YaHei"/>
              </a:rPr>
              <a:t>-0.37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4745736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4724" y="4773168"/>
            <a:ext cx="10072" cy="1371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7524" y="4736592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198754"/>
                </a:solidFill>
                <a:latin typeface="Microsoft YaHei"/>
              </a:defRPr>
            </a:pPr>
            <a:r>
              <a:rPr sz="750" b="1">
                <a:solidFill>
                  <a:srgbClr val="198754"/>
                </a:solidFill>
                <a:latin typeface="Microsoft YaHei"/>
              </a:rPr>
              <a:t>-0.02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06440" y="2761488"/>
            <a:ext cx="25146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43016" y="2834640"/>
            <a:ext cx="2441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Observation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1040" y="2761488"/>
            <a:ext cx="27432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57615" y="2834640"/>
            <a:ext cx="26700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06440" y="3328416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61303" y="3392424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XGBoost: household signal + positive bias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21040" y="3328416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75904" y="3392424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history routine is too high for 2022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06440" y="3895344"/>
            <a:ext cx="2514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61303" y="3959352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LLM-only: direction useful, calibration weak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3895344"/>
            <a:ext cx="27432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75904" y="3959352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event semantics cannot replace household baseline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4462272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61303" y="4526280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Hybrid: bias close to zero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321040" y="4462272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75904" y="4526280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demand and event response are separated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的角色 / What the LLM Adds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LLM 提供事件压力，XGBoost 提供家庭基线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18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1170432"/>
            <a:ext cx="9464040" cy="40965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60720" y="1170432"/>
            <a:ext cx="10972" cy="40965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3218688"/>
            <a:ext cx="946404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" y="1828800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" y="3977639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0020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7335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64748B"/>
                </a:solidFill>
                <a:latin typeface="Microsoft YaHei"/>
              </a:defRPr>
            </a:pPr>
            <a:r>
              <a:rPr sz="919" b="1">
                <a:solidFill>
                  <a:srgbClr val="64748B"/>
                </a:solidFill>
                <a:latin typeface="Microsoft YaHei"/>
              </a:rPr>
              <a:t>Historical mean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neither household heterogeneity nor event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5.51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1111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5B21B6"/>
                </a:solidFill>
                <a:latin typeface="Microsoft YaHei"/>
              </a:defRPr>
            </a:pPr>
            <a:r>
              <a:rPr sz="919" b="1">
                <a:solidFill>
                  <a:srgbClr val="5B21B6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direction without household baseline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2.72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0020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7335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Ordinary XGBoost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grounding without pandemic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4.34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3796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111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Hybrid gated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baseline + event prior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" y="5577840"/>
            <a:ext cx="9555480" cy="4389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669280"/>
            <a:ext cx="91440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00" b="1">
                <a:solidFill>
                  <a:srgbClr val="EA580C"/>
                </a:solidFill>
                <a:latin typeface="Microsoft YaHei"/>
              </a:defRPr>
            </a:pPr>
            <a:r>
              <a:rPr sz="900" b="1">
                <a:solidFill>
                  <a:srgbClr val="EA580C"/>
                </a:solidFill>
                <a:latin typeface="Microsoft YaHei"/>
              </a:rPr>
              <a:t>汇报讲法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5605272"/>
            <a:ext cx="80467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LLM-only has direction but weaker calibration: wMAE 2.72 -&gt; 2.50; wBias -0.37 -&gt; -0.02.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综合行为输出 / Behavior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从出行次数扩展到方式结构和方式出行量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19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private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1051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4708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walk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7791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436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bike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05072" y="1298448"/>
            <a:ext cx="749808" cy="38404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4164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transit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0235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3892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taxi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362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other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1856231"/>
            <a:ext cx="29718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00" b="1">
                <a:solidFill>
                  <a:srgbClr val="64748B"/>
                </a:solidFill>
                <a:latin typeface="Microsoft YaHei"/>
              </a:defRPr>
            </a:pPr>
            <a:r>
              <a:rPr sz="900" b="1">
                <a:solidFill>
                  <a:srgbClr val="64748B"/>
                </a:solidFill>
                <a:latin typeface="Microsoft YaHei"/>
              </a:rPr>
              <a:t>household mode-share vector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" y="2487168"/>
            <a:ext cx="205740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2560320"/>
            <a:ext cx="19842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70632" y="2487168"/>
            <a:ext cx="10058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07208" y="2560320"/>
            <a:ext cx="932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weighted TV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76472" y="2487168"/>
            <a:ext cx="10058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13048" y="2560320"/>
            <a:ext cx="932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transit MAE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82312" y="2487168"/>
            <a:ext cx="1965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18888" y="2560320"/>
            <a:ext cx="1892807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2871216"/>
            <a:ext cx="2057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2935224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70632" y="2871216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25496" y="2935224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0.2008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76472" y="2871216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31335" y="2935224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0.0325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82312" y="2871216"/>
            <a:ext cx="1965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37176" y="2935224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mode pattern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3232" y="3255264"/>
            <a:ext cx="2057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8096" y="3319272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 + LLM prior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70632" y="3255264"/>
            <a:ext cx="1005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25496" y="3319272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0.1985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76472" y="3255264"/>
            <a:ext cx="1005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31335" y="3319272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0.0269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82312" y="3255264"/>
            <a:ext cx="1965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7176" y="3319272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transit correction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3232" y="3639312"/>
            <a:ext cx="2057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3703320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Improvement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70632" y="3639312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25496" y="3703320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1.1%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76472" y="3639312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31335" y="3703320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17.4%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82312" y="3639312"/>
            <a:ext cx="1965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37176" y="3703320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clearer on transit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720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720840" y="1261872"/>
            <a:ext cx="50292" cy="74980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48855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Mode-trip MAE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48855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3.28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48855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gated count × LLM mode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06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006840" y="1261872"/>
            <a:ext cx="5029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34856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Reduction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34856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32.3%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34856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traditional combo</a:t>
            </a:r>
          </a:p>
        </p:txBody>
      </p:sp>
      <p:pic>
        <p:nvPicPr>
          <p:cNvPr id="66" name="Picture 65" descr="mode_component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331720"/>
            <a:ext cx="4389120" cy="2792054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749808" y="5029200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9808" y="5029200"/>
            <a:ext cx="50292" cy="10789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" y="5120640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方式结构不是主要增益来源，但 transit share 明显改善；这与疫情期间公共交通规避机制一致。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4400" y="5573085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Mode composition gains are modest overall, but transit-share error improves in the direction suggested by pandemic transit avoidance.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出行目的扩展 / Purpose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第三个行为维度：为什么出行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20 / 23</a:t>
            </a:r>
          </a:p>
        </p:txBody>
      </p:sp>
      <p:pic>
        <p:nvPicPr>
          <p:cNvPr id="11" name="Picture 10" descr="purpose_distribution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078992"/>
            <a:ext cx="5257800" cy="263271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44768" y="1170432"/>
            <a:ext cx="205740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1243584"/>
            <a:ext cx="198424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02167" y="1170432"/>
            <a:ext cx="7772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3" y="1243584"/>
            <a:ext cx="7040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79408" y="1170432"/>
            <a:ext cx="12344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15984" y="1243584"/>
            <a:ext cx="11612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Component MAE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13848" y="1170432"/>
            <a:ext cx="132588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0424" y="1243584"/>
            <a:ext cx="125272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Role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682496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1" y="1746504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Traditional XGBoost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02167" y="1682496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1" y="1746504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0.566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79408" y="1682496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4272" y="1746504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13848" y="1682496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8712" y="1746504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strongest overall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2194560"/>
            <a:ext cx="205740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1" y="2258568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purpose prior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02167" y="2194560"/>
            <a:ext cx="7772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57031" y="2258568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79408" y="2194560"/>
            <a:ext cx="12344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34272" y="2258568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13848" y="2194560"/>
            <a:ext cx="132588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68712" y="2258568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directional components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4768" y="2706624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99631" y="2770632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purpose prior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02167" y="2706624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57031" y="2770632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79408" y="2706624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34272" y="2770632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13848" y="2706624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68712" y="2770632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shopping improves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" y="507492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5074920"/>
            <a:ext cx="50292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" y="5166359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结果说明综合目标已经扩展到“为什么出行”；但 LLM prior 目前不是整体最优，适合作为边界和未来工作，而不是主贡献。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" y="560892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Purpose composition broadens the behavior system, while also showing a clear limitation: event priors need stronger task-specific calibration.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扩展与泛化 / LLM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Batch prompting + event-generalizable priors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21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1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7,893 households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2022 rows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32257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6148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3463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1,327 cohorts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292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profiles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2569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460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5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89 batch prompts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batch size 15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2881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6772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7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JSON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916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priors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63193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70848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multi-output adapter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2816352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241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Request reduction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93.3%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1327 -&gt; 89 prompts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2044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520440" y="2816352"/>
            <a:ext cx="50292" cy="786384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4845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strength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4845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generalize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4845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event mechanisms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2648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26480" y="2816352"/>
            <a:ext cx="50292" cy="786384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9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Context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5449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frozen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5449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prospective event file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3977639"/>
            <a:ext cx="292608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0976" y="4050791"/>
            <a:ext cx="28529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风险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0" y="3977639"/>
            <a:ext cx="603504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77056" y="4050791"/>
            <a:ext cx="59618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控制方式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434840"/>
            <a:ext cx="2926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9264" y="44988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hallucination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40480" y="4434840"/>
            <a:ext cx="60350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95344" y="44988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schema + numeric range validation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0" y="4892040"/>
            <a:ext cx="2926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264" y="49560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target leakage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0" y="4892040"/>
            <a:ext cx="60350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95344" y="49560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exclude labels, weights, IDs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4400" y="5349240"/>
            <a:ext cx="2926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264" y="54132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request cost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840480" y="5349240"/>
            <a:ext cx="60350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95344" y="54132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batch cohort prompting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5806440"/>
            <a:ext cx="2926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9264" y="58704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tuning leakage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40480" y="5806440"/>
            <a:ext cx="60350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95344" y="58704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fixed no-label rule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0120" y="5989320"/>
            <a:ext cx="932688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的核心价值不是逐户预测，而是把“疫情/冲击机制”泛化到未标注 cohort，并可迁移到其他事件场景。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研究逻辑链 / Research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从问题定义到方法优势的完整闭环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22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078992"/>
            <a:ext cx="150876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152144"/>
            <a:ext cx="1435607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环节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67128" y="1078992"/>
            <a:ext cx="4800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3704" y="1152144"/>
            <a:ext cx="4727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怎么做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67728" y="1078992"/>
            <a:ext cx="3657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04304" y="1152144"/>
            <a:ext cx="3584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证据 / 结果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1645919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09928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问题定义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645919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21992" y="1709928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是疫情后恢复期，不是平滑跨年预测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67728" y="1645919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1709928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普通 XGBoost bias +3.61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2212848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276856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传统基线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67128" y="2212848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21992" y="2276856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用历史 NHTS 学 f_hist(X)，保留家庭属性差异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67728" y="2212848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22592" y="2276856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4.34，说明 household signal 有用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2779776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2843784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进入点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67128" y="2779776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21992" y="2843784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cohort profile -&gt; s_event，表达 remote work / transit avoidance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67728" y="2779776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2592" y="2843784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不输入 CNTTDHH、权重和 household ID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3346704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3410712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融合规则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67128" y="3346704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21992" y="3410712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ŷ = f_hist(X) × correction(s_event)，参数固定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67728" y="3346704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22592" y="3410712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2.50，bias -0.023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3913632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3977640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结果边界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67128" y="3913632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21992" y="3977640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主增益来自事件层面修正，mode 改善集中在 transit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67728" y="3913632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22592" y="3977640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不夸大成纯 LLM 或完整 mode-choice model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" y="4754880"/>
            <a:ext cx="9784080" cy="6858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4965192"/>
            <a:ext cx="11430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一句话故事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4882896"/>
            <a:ext cx="80467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传统模型负责“正常情况下谁会出行更多”，LLM 负责“疫情后哪些出行会被压低”，二者相乘得到 2022 的无标签修正预测。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Microsoft YaHei"/>
              </a:defRPr>
            </a:pPr>
            <a:r>
              <a:rPr sz="1750" b="1">
                <a:solidFill>
                  <a:srgbClr val="FFFFFF"/>
                </a:solidFill>
                <a:latin typeface="Microsoft YaHei"/>
              </a:rPr>
              <a:t>总结 /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CBD5E1"/>
                </a:solidFill>
                <a:latin typeface="Microsoft YaHei"/>
              </a:defRPr>
            </a:pPr>
            <a:r>
              <a:rPr sz="850" b="0">
                <a:solidFill>
                  <a:srgbClr val="CBD5E1"/>
                </a:solidFill>
                <a:latin typeface="Microsoft YaHei"/>
              </a:rPr>
              <a:t>传统出行基线 + 疫情事件修正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81944" y="173736"/>
            <a:ext cx="786384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CBD5E1"/>
                </a:solidFill>
                <a:latin typeface="Microsoft YaHei"/>
              </a:defRPr>
            </a:pPr>
            <a:r>
              <a:rPr sz="750" b="0">
                <a:solidFill>
                  <a:srgbClr val="CBD5E1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23 / 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325880"/>
            <a:ext cx="10195560" cy="20116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1581912"/>
            <a:ext cx="9601200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我们研究的不是“LLM 直接预测出行次数”，而是：</a:t>
            </a:r>
            <a:br/>
            <a:r>
              <a:rPr sz="1500" b="1">
                <a:solidFill>
                  <a:srgbClr val="FFFFFF"/>
                </a:solidFill>
                <a:latin typeface="Microsoft YaHei"/>
              </a:rPr>
              <a:t>当 2022 疫情后分布变化打破历史连续性时，能否用 LLM 的事件泛化能力，为传统 household travel model 提供无标签修正先验。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88620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20440" y="388620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4845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4845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845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388620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4 outputs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3252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32520" y="388620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053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role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053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adapter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053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standalone predictor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5559552"/>
            <a:ext cx="123444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CBD5E1"/>
                </a:solidFill>
                <a:latin typeface="Microsoft YaHei"/>
              </a:defRPr>
            </a:pPr>
            <a:r>
              <a:rPr sz="1200" b="1">
                <a:solidFill>
                  <a:srgbClr val="CBD5E1"/>
                </a:solidFill>
                <a:latin typeface="Microsoft YaHei"/>
              </a:rPr>
              <a:t>一句话总结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5486400"/>
            <a:ext cx="81381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用 NHTS 历史数据学习正常出行规律，用 LLM 事件先验泛化疫情冲击，并输出家庭层面的出行强度、方式结构和目的结构。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为什么不直接让 LLM 构建 2022 决策树？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Why not ask the LLM to build the 2022 decision tree directly?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已经实现为 baseline；方向有用，但数值校准弱于 hybrid adapter。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LLM rule tree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2.6019; wBias -0.4072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Pseudo-label tree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2.6040; still follows LLM belief labels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hybrid gated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Key issue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No target labels for split thresholds and leaf values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答法：LLM 可以生成 qualitative belief tree，但没有 2022 标签时无法学习真实 NHTS 的 split threshold 和 leaf value。我们的设计把数值预测锚定在历史 NHTS household baseline 上，只让 LLM 提供事件机制先验。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有没有使用 2022 标签或 retrospective leakage？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Did the pipeline use 2022 labels or retrospective leakage?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主方法不使用 2022 CNTTDHH 训练或校准；2022 只做最终 evaluation。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Main method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gated_trip_suppression_a1_d0p15 fixed before evaluation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inputs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Exclude HOUSEID, CNTTDHH, WTHHFIN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Leakage audit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LLM-facing files pass forbidden-column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Prospective context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prospective_event_context_2022 documents event assumptions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答法：LLM 输入是 cohort-level household profile 和泛化疫情事件语境，不含目标值、权重和 household ID。我们用 leakage audit、zero-shot baseline、placebo 和 fixed adapter 共同约束 no-label claim。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Global event prior 已经很强，LLM 还贡献什么？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If the global prior is strong, what does the LLM add?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主贡献应表述为 event-level correction；cohort ranking 是增量 refinement。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event prior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2.5223; wBias -0.7477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gated adapter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Pseudo-event ranked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best placebo wMAE 2.6274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Pseudo-event gated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best gated placebo wMAE 2.5610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答法：不能夸大成 LLM cohort ranking 独自贡献全部提升。更准确的说法是：LLM event semantics 给出 label-free event correction，gated cohort refinement 改善 calibration 和 robustness。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和 2025-2026 mobility foundation model 有什么区别？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How is this different from recent mobility foundation-model work?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最新工作多是 trajectory / flow / sensor forecasting；我们是 NHTS household survey 的 event adaptation。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Event-driven LLM mobility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ELLMob ICLR'26; CausalMob KDD'25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/ efficient LLM mobility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AgentMove NAACL'25; ELP-Mob GIS'25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Foundation model direction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UniMob KDD'25; STFM survey'25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Our unit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Household survey record, not trajectory or road node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答法：我们借用了 event-generalization 思路，但不声称训练 universal mobility foundation model。LLM 是 structured event-prior generator，数值需求预测仍由 NHTS 历史标签锚定。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Mode / purpose 是否已经解决？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Are mode and purpose choice solved?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没有。trip generation 是主贡献；mode/purpose 是 behavior-system extension。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Transit-share MAE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0.0325 -&gt; 0.0269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Mode-trip volume MAE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4.8467 -&gt; 3.2802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composition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Exploratory; LLM prior not overall best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Safe claim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Planning relevance, not solved full mode-choice model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答法：综合目标是预测 household behavior system，但最强结果仍是 post-pandemic trip generation。方式和目的模块说明可扩展到规划相关输出，也明确了未来工作边界。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这些指标怎么用一句话解释？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How should the metrics be interpreted?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wMAE 是加权平均误差，wBias 是系统性高估/低估，越接近 0 越好。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4.3377; wBias +3.6052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gated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2 trips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54.5% households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3 trips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71.2% households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答法：MAE 看单个家庭预测误差，bias 看总需求是否系统性偏高或偏低。我们的核心收益不是只降低误差，而是几乎消除了 2022 的系统性高估。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有没有 NHTS 之外的外部验证？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Do we have validation beyond NHTS?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有机制级外部验证；但没有 household-level external MAE，不能夸大。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ACS work from home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2019 5.7% -&gt; 2022 15.2%; supports remote-work prior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ACS public transit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2019 5.0% -&gt; 2022 3.1%; supports transit-avoidance prior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BTS daily mobility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Device trips/person is not a direct CNTTDHH label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Safe claim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External mechanism support + compatibility guardrail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答法：我们用 ACS 证明疫情后通勤机制确实发生了远程办公和公共交通下降；同时用 BTS 做 guardrail，说明 device mobility trips 不能直接当作 NHTS household trip-count 的外部标签。论文版还需要兼容的 household travel survey microdata。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9810</TotalTime>
  <Words>6896</Words>
  <Application>Microsoft Office PowerPoint</Application>
  <PresentationFormat>宽屏</PresentationFormat>
  <Paragraphs>762</Paragraphs>
  <Slides>35</Slides>
  <Notes>33</Notes>
  <HiddenSlides>1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52" baseType="lpstr">
      <vt:lpstr>Avenir</vt:lpstr>
      <vt:lpstr>ElsevierGulliver</vt:lpstr>
      <vt:lpstr>Inter</vt:lpstr>
      <vt:lpstr>SFMono-Regular</vt:lpstr>
      <vt:lpstr>Weibei SC Bold</vt:lpstr>
      <vt:lpstr>等线</vt:lpstr>
      <vt:lpstr>等线 Light</vt:lpstr>
      <vt:lpstr>华文细黑</vt:lpstr>
      <vt:lpstr>Microsoft yahei</vt:lpstr>
      <vt:lpstr>Microsoft yahei</vt:lpstr>
      <vt:lpstr>Microsoft yahei</vt:lpstr>
      <vt:lpstr>Arial</vt:lpstr>
      <vt:lpstr>Calibri</vt:lpstr>
      <vt:lpstr>Helvetica</vt:lpstr>
      <vt:lpstr>Times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lrving</dc:creator>
  <cp:lastModifiedBy>斑 宇智波</cp:lastModifiedBy>
  <cp:revision>32</cp:revision>
  <dcterms:created xsi:type="dcterms:W3CDTF">2023-11-10T13:11:20Z</dcterms:created>
  <dcterms:modified xsi:type="dcterms:W3CDTF">2026-06-09T15:18:45Z</dcterms:modified>
</cp:coreProperties>
</file>