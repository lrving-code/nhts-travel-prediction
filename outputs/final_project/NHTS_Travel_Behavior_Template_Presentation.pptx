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  <p:sldId id="287" r:id="rId5"/>
    <p:sldId id="28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3.xml"/><Relationship Id="rId5" Type="http://schemas.openxmlformats.org/officeDocument/2006/relationships/slide" Target="slides/slide32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 priors；蒸馏规则作为桥梁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5727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636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5727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636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5727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636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029967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0939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029967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0939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029967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0939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4871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5511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Evidence-grounded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24871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25511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AgentMob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4871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25511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fast path + low-confidence LLM reasoning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9443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0083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29443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0083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29443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0083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prompting 和调用压缩是必要工程约束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4015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" y="34655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79" y="34015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4655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015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1424" y="34655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8587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3922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79" y="38587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80944" y="3922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587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21424" y="3922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24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24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LLM supplies event mechanisms; the solver selects a planning operating point.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24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24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24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24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24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方法谱系 / Method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把 LLM 蒸馏路线并入同一条实验演化链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133856"/>
            <a:ext cx="1965960" cy="548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Data-only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历史数据拟合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4.338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+3.605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69464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6352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1133856"/>
            <a:ext cx="1965960" cy="5486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Pure LLM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事件方向可用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-0.373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818888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65776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5776" y="1133856"/>
            <a:ext cx="19659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LLM rule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零样本规则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2.602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75504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-0.407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068312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133856"/>
            <a:ext cx="1965960" cy="548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Rule +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少量历史校准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2.772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7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+0.463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317736" y="160020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64624" y="1133856"/>
            <a:ext cx="1965960" cy="107899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1133856"/>
            <a:ext cx="1965960" cy="5486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74351" y="1298448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Hybrid adapter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1" y="1581912"/>
            <a:ext cx="1755648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历史基线+事件修正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74351" y="1792224"/>
            <a:ext cx="1755648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wMAE 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4351" y="1984248"/>
            <a:ext cx="1755648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bias -0.023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2779776"/>
            <a:ext cx="141732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2852928"/>
            <a:ext cx="134416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阶段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3911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7568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核心假设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19472" y="2779776"/>
            <a:ext cx="288036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56048" y="2852928"/>
            <a:ext cx="2807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最适合回答的问题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99831" y="2779776"/>
            <a:ext cx="2971800" cy="42062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36407" y="2852928"/>
            <a:ext cx="28986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本项目结论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" y="3200400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264408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Data-only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3911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历史样本足够表达未来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19472" y="3200400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74336" y="3264408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常态年份迁移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99831" y="3200400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54696" y="3264408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出现系统性高估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" y="3621024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" y="3685032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Pure LLM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3911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397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预训练知识可直接预测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19472" y="3621024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74336" y="3685032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零样本方向判断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99831" y="3621024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54696" y="3685032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方向有用，数值校准不足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" y="4041648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6656" y="4105656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rule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3911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9397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把常识蒸馏为规则树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919472" y="4041648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74336" y="4105656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老师追问的零样本 baseline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99831" y="4041648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54696" y="4105656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2.602，弱于 hybrid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1792" y="4462272"/>
            <a:ext cx="141732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6656" y="4526280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history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3911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9397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用少量历史标签校准规则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9472" y="4462272"/>
            <a:ext cx="2880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74336" y="4526280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data-sparse / cold-start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99831" y="4462272"/>
            <a:ext cx="297180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54696" y="4526280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合理桥梁，但不是本任务最优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" y="4882896"/>
            <a:ext cx="141732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6656" y="4946904"/>
            <a:ext cx="130759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adapter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3911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9397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历史模型学 routine，LLM 学 event shift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19472" y="4882896"/>
            <a:ext cx="2880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74336" y="4946904"/>
            <a:ext cx="2770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目标年无标签疫情修正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99831" y="4882896"/>
            <a:ext cx="297180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854696" y="4946904"/>
            <a:ext cx="2862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2.502，bias 接近 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49808" y="5650992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49808" y="5650992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5742431"/>
            <a:ext cx="972007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整合口径：同学方案中的 LLM 规则蒸馏不是被否定，而是作为 data-sparse/cold-start 的中间路线；我们的主任务是 post-pandemic event shift，因此需要历史 household grounding。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6099048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rule-distillation route is a bridge for sparse-data settings; the main NHTS 2022 task still benefits from anchoring routine mobility in historical survey labels.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蒸馏与部署 / Distillation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从逐户调用转成 batch prior、规则适配和置信度回退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115568"/>
            <a:ext cx="1993392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BE123C"/>
                </a:solidFill>
                <a:latin typeface="Microsoft YaHei"/>
              </a:defRPr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逐户预测成本高；校准弱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60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16352" y="1115568"/>
            <a:ext cx="1993392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00796B"/>
                </a:solidFill>
                <a:latin typeface="Microsoft YaHei"/>
              </a:defRPr>
            </a:pPr>
            <a:r>
              <a:rPr sz="1150" b="1">
                <a:solidFill>
                  <a:srgbClr val="00796B"/>
                </a:solidFill>
                <a:latin typeface="Microsoft YaHei"/>
              </a:rPr>
              <a:t>Cohort 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02352" y="1115568"/>
            <a:ext cx="1993392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EA580C"/>
                </a:solidFill>
                <a:latin typeface="Microsoft YaHei"/>
              </a:defRPr>
            </a:pPr>
            <a:r>
              <a:rPr sz="1150" b="1">
                <a:solidFill>
                  <a:srgbClr val="EA580C"/>
                </a:solidFill>
                <a:latin typeface="Microsoft YaHei"/>
              </a:rPr>
              <a:t>Structured priors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JSON schema -&gt; event variables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2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88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1115568"/>
            <a:ext cx="1993392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198754"/>
                </a:solidFill>
                <a:latin typeface="Microsoft YaHei"/>
              </a:defRPr>
            </a:pPr>
            <a:r>
              <a:rPr sz="1150" b="1">
                <a:solidFill>
                  <a:srgbClr val="198754"/>
                </a:solidFill>
                <a:latin typeface="Microsoft YaHei"/>
              </a:rPr>
              <a:t>Rule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fixed no-label correction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18320" y="1554480"/>
            <a:ext cx="219456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4352" y="1115568"/>
            <a:ext cx="1993392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74352" y="1115568"/>
            <a:ext cx="1993392" cy="502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1298448"/>
            <a:ext cx="1773936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50" b="1">
                <a:solidFill>
                  <a:srgbClr val="5B21B6"/>
                </a:solidFill>
                <a:latin typeface="Microsoft YaHei"/>
              </a:defRPr>
            </a:pPr>
            <a:r>
              <a:rPr sz="1150" b="1">
                <a:solidFill>
                  <a:srgbClr val="5B21B6"/>
                </a:solidFill>
                <a:latin typeface="Microsoft YaHei"/>
              </a:rPr>
              <a:t>Confidence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581912"/>
            <a:ext cx="17373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rPr sz="1000" b="0">
                <a:solidFill>
                  <a:srgbClr val="64748B"/>
                </a:solidFill>
                <a:latin typeface="Microsoft YaHei"/>
              </a:rPr>
              <a:t>global fallback; online LLM optional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级疫情先验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distillation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把自然语言判断压缩成 s_event 和 fixed adapter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比直接 LLM 输出 CNTTDHH 更可审计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作为线上部署扩展，不进入主结果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 pandemic context 蒸馏成结构化 event priors；主实验预测阶段是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23 / 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24 / 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Same-alpha decomposition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wMAE; 77.8% subgroup-cell wins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Gate usage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cohort-specific pressure used for 17.5% weighted households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独自贡献全部提升。更准确的说法是：global event correction 是主体，LLM cohort prior 在差异足够大的家庭上提供 selective refinement，改善 calibration 和 subgroup robustness。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agentic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AgentMob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mobility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prior 很强时，cohort 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Same-alpha decomposition of global event correction and selective cohort refinement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B9</a:t>
            </a:r>
          </a:p>
        </p:txBody>
      </p:sp>
      <p:pic>
        <p:nvPicPr>
          <p:cNvPr id="11" name="Picture 10" descr="cohort_prior_value_top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97280"/>
            <a:ext cx="5897880" cy="365106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0372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03720" y="1143000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173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Same-alpha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0.0508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 lower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143000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Subgroup 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77.8%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cells vs global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1143000"/>
            <a:ext cx="123444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29800" y="1143000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57816" y="1216152"/>
            <a:ext cx="1014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Gate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7816" y="1389888"/>
            <a:ext cx="1014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17.5%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1700784"/>
            <a:ext cx="1014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HHs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148840"/>
            <a:ext cx="4160520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03720" y="2148840"/>
            <a:ext cx="50292" cy="12344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2240280"/>
            <a:ext cx="3867911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正确解释：global event correction 是主体，cohort-specific LLM pressure 只在差异足够大时启用，提供选择性校准增益。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2724912"/>
            <a:ext cx="3867911" cy="5852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safe claim is global event adaptation plus selective cohort refinement, not that cohort ranking explains the full gain.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703320"/>
            <a:ext cx="19202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0296" y="3776472"/>
            <a:ext cx="1847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703320"/>
            <a:ext cx="22402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0536" y="3776472"/>
            <a:ext cx="21671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Implication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087368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58583" y="4151376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087368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78824" y="4151376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0.0508 lower 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471416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8583" y="4535424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vs global-a1.25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23960" y="4471416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78824" y="4535424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0.0201 lower wMAE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03720" y="4855464"/>
            <a:ext cx="1920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8583" y="4919472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where it helps most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23960" y="4855464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78824" y="4919472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lower-income / zero-vehicle / no-worker cells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03720" y="5239512"/>
            <a:ext cx="1920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58583" y="5303520"/>
            <a:ext cx="1810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boundary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23960" y="5239512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78824" y="5303520"/>
            <a:ext cx="21305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some high-vehicle/high-income cells prefer global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