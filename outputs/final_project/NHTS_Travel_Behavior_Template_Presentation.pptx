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6"/>
    <p:sldId id="287" r:id="rId5"/>
    <p:sldId id="28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33.xml"/><Relationship Id="rId5" Type="http://schemas.openxmlformats.org/officeDocument/2006/relationships/slide" Target="slides/slide32.xml"/><Relationship Id="rId6" Type="http://schemas.openxmlformats.org/officeDocument/2006/relationships/slide" Target="slides/slide3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905256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面向时序迁移的家庭出行预测</a:t>
            </a:r>
            <a:br/>
            <a:r>
              <a:rPr sz="2400" b="1">
                <a:solidFill>
                  <a:srgbClr val="FFFFFF"/>
                </a:solidFill>
                <a:latin typeface="Microsoft YaHei"/>
              </a:rPr>
              <a:t>模拟选择器与大模型修正框架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932688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150" b="1">
                <a:solidFill>
                  <a:srgbClr val="CBD5E1"/>
                </a:solidFill>
                <a:latin typeface="Microsoft YaHei"/>
              </a:defRPr>
            </a:pPr>
            <a:r>
              <a:rPr sz="1150" b="1">
                <a:solidFill>
                  <a:srgbClr val="CBD5E1"/>
                </a:solidFill>
                <a:latin typeface="Microsoft YaHei"/>
              </a:rPr>
              <a:t>LLM-Guided Temporal Adaptation for Household Mobility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86968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prediction selector + LLM-corrected XGBoost；不使用目标年出行标签校准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NHTS 历史数据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目标年情境变化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temporal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模拟预测选择器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prediction selector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修正 XGBoost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corrected predictor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Behavior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3+ 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4805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目录 /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176272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10 分钟主线：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为什么目标年需要时序适应，LLM 如何提供可泛化的情境先验。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Background &amp;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时序迁移、移动不平等与相关研究缺口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Problem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家庭层面多输出 travel behavior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模拟预测选择器 + LLM-corrected XGBoost 的双分支框架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性能比较、Pareto 选择、置信区间、稳健性检验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出行强度、方式、目的与未来工作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目标年不是普通跨年预测 | Target-year shift is not ordinary transfer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170432"/>
            <a:ext cx="507492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43584"/>
            <a:ext cx="5001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6712" y="1170432"/>
            <a:ext cx="534924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3288" y="1243584"/>
            <a:ext cx="52760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1554480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618488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96712" y="1554480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5" y="1618488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as target-year behavioral regime shift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1938528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002536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6712" y="1938528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1575" y="2002536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2322576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386584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6712" y="2322576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5" y="2386584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2706624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2770632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706624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75" y="2770632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Pre-COVID bias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mean abs. wBias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核心问题：2022 的 weighted bias 远高于常规跨年验证；不使用 2022 标签调参时，能否用情境先验修正这种系统性高估。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context priors correct target-year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相关研究与缺口 / Related Work and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2025-2026: LLM mobility, causal events, and foundation models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15568"/>
            <a:ext cx="233172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188720"/>
            <a:ext cx="22585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最新方向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79" y="1115568"/>
            <a:ext cx="38404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188720"/>
            <a:ext cx="37673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2025-2026 代表线索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115568"/>
            <a:ext cx="42976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188720"/>
            <a:ext cx="42245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572768"/>
            <a:ext cx="23317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1636776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mobility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79" y="1572768"/>
            <a:ext cx="38404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1636776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572768"/>
            <a:ext cx="42976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1636776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把外部情境变化转成 label-free event priors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029967"/>
            <a:ext cx="23317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0939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mobility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2029967"/>
            <a:ext cx="38404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80944" y="20939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029967"/>
            <a:ext cx="4297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20939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直接 LLM 可做 baseline，但数值校准弱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487168"/>
            <a:ext cx="23317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25511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Evidence-grounded agents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2487168"/>
            <a:ext cx="38404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0944" y="25511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AgentMob 2026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487168"/>
            <a:ext cx="42976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25511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fast path + low-confidence LLM reasoning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2944368"/>
            <a:ext cx="23317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0083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Efficient LLM pipeline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79" y="2944368"/>
            <a:ext cx="38404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0083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ELP-Mob GIS'25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2944368"/>
            <a:ext cx="4297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0083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batch prompting 和调用压缩是必要工程约束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3401568"/>
            <a:ext cx="23317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" y="34655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Mobility foundation models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6079" y="3401568"/>
            <a:ext cx="38404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80944" y="34655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66560" y="3401568"/>
            <a:ext cx="42976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21424" y="34655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不训练大 FM；用轻量 adapter 处理 survey shift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3858768"/>
            <a:ext cx="23317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224" y="3922776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Planning evaluation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79" y="3858768"/>
            <a:ext cx="38404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80944" y="3922776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causal guardrails + multi-objective metrics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0" y="3858768"/>
            <a:ext cx="4297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21424" y="3922776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同时报告 accuracy、bias、equity、mode/purpose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2960" y="4800600"/>
            <a:ext cx="9875520" cy="7772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4128" y="504748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研究缺口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57400" y="4910328"/>
            <a:ext cx="8183879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缺口：已有工作多关注 trajectory / flow / sensor forecasting；NHTS household survey 的 target-year label-free temporal adaptation 仍需要一个可解释、可审计框架。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system，多种 linked outputs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target-year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7208" y="2761488"/>
            <a:ext cx="32004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834640"/>
            <a:ext cx="3127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7" y="2761488"/>
            <a:ext cx="2788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34640"/>
            <a:ext cx="2715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310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7208" y="3145536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3209544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7607" y="3145536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1" y="3209544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9652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5139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7208" y="3529584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2072" y="3593591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07607" y="3529584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62471" y="3593591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9652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139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share MAE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7208" y="3913632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2072" y="3977640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TRIPPURP -&gt; household purpose vector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07607" y="3913632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62471" y="3977640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Why households travel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9652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139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purpose MAE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7208" y="4297680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62072" y="4361688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predicted trips × mode share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7607" y="4297680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2471" y="4361688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9652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behavior：出行多少次、用什么方式、为什么出行、每种方式多少次。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target is a household behavior system: trip generation, mode composition, purpose composition, and derived mode-specific trip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方法谱系 / Method Spectrum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先把 selector branch 和 LLM-corrected XGBoost 串成一条线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133856"/>
            <a:ext cx="1965960" cy="548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BE123C"/>
                </a:solidFill>
                <a:latin typeface="Microsoft YaHei"/>
              </a:defRPr>
            </a:pPr>
            <a:r>
              <a:rPr sz="1150" b="1">
                <a:solidFill>
                  <a:srgbClr val="BE123C"/>
                </a:solidFill>
                <a:latin typeface="Microsoft YaHei"/>
              </a:rPr>
              <a:t>Data-only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历史数据拟合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4.338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+3.605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569464" y="160020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16352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16352" y="1133856"/>
            <a:ext cx="1965960" cy="5486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0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5B21B6"/>
                </a:solidFill>
                <a:latin typeface="Microsoft YaHei"/>
              </a:defRPr>
            </a:pPr>
            <a:r>
              <a:rPr sz="1150" b="1">
                <a:solidFill>
                  <a:srgbClr val="5B21B6"/>
                </a:solidFill>
                <a:latin typeface="Microsoft YaHei"/>
              </a:rPr>
              <a:t>Pure LLM prior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事件方向可用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2.718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-0.373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818888" y="160020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65776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65776" y="1133856"/>
            <a:ext cx="1965960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5504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EA580C"/>
                </a:solidFill>
                <a:latin typeface="Microsoft YaHei"/>
              </a:defRPr>
            </a:pPr>
            <a:r>
              <a:rPr sz="1150" b="1">
                <a:solidFill>
                  <a:srgbClr val="EA580C"/>
                </a:solidFill>
                <a:latin typeface="Microsoft YaHei"/>
              </a:rPr>
              <a:t>LLM rule tree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5504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零样本规则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75504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2.602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75504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-0.407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068312" y="160020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15200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0" y="1133856"/>
            <a:ext cx="1965960" cy="548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24927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00796B"/>
                </a:solidFill>
                <a:latin typeface="Microsoft YaHei"/>
              </a:defRPr>
            </a:pPr>
            <a:r>
              <a:rPr sz="1150" b="1">
                <a:solidFill>
                  <a:srgbClr val="00796B"/>
                </a:solidFill>
                <a:latin typeface="Microsoft YaHei"/>
              </a:rPr>
              <a:t>Rule + history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4927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少量历史校准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24927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2.772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7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+0.463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317736" y="160020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64624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64624" y="1133856"/>
            <a:ext cx="1965960" cy="54864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74351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198754"/>
                </a:solidFill>
                <a:latin typeface="Microsoft YaHei"/>
              </a:defRPr>
            </a:pPr>
            <a:r>
              <a:rPr sz="1150" b="1">
                <a:solidFill>
                  <a:srgbClr val="198754"/>
                </a:solidFill>
                <a:latin typeface="Microsoft YaHei"/>
              </a:rPr>
              <a:t>Hybrid adapter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4351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LLM 修正 XGBoost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74351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2.502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74351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-0.023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" y="2779776"/>
            <a:ext cx="1417320" cy="42062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2852928"/>
            <a:ext cx="134416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阶段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39112" y="2779776"/>
            <a:ext cx="2880360" cy="42062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75688" y="2852928"/>
            <a:ext cx="2807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核心假设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19472" y="2779776"/>
            <a:ext cx="2880360" cy="42062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56048" y="2852928"/>
            <a:ext cx="2807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最适合回答的问题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799831" y="2779776"/>
            <a:ext cx="2971800" cy="42062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36407" y="2852928"/>
            <a:ext cx="289864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本项目结论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" y="3200400"/>
            <a:ext cx="141732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6656" y="3264408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Data-only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039112" y="3200400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93976" y="3264408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历史样本足够表达未来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19472" y="3200400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74336" y="3264408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常态年份迁移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99831" y="3200400"/>
            <a:ext cx="297180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54696" y="3264408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出现系统性高估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1792" y="3621024"/>
            <a:ext cx="141732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76656" y="3685032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Pure LLM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39112" y="3621024"/>
            <a:ext cx="2880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093976" y="3685032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预训练知识可直接预测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19472" y="3621024"/>
            <a:ext cx="2880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974336" y="3685032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零样本方向判断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99831" y="3621024"/>
            <a:ext cx="297180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54696" y="3685032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方向有用，数值校准不足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1792" y="4041648"/>
            <a:ext cx="141732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76656" y="4105656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rule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039112" y="4041648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93976" y="4105656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把常识蒸馏为规则树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919472" y="4041648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74336" y="4105656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老师追问的零样本 baseline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99831" y="4041648"/>
            <a:ext cx="297180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854696" y="4105656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2.602，弱于 hybrid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1792" y="4462272"/>
            <a:ext cx="141732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6656" y="4526280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+ history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039112" y="4462272"/>
            <a:ext cx="2880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93976" y="4526280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用少量历史标签校准规则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919472" y="4462272"/>
            <a:ext cx="2880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74336" y="4526280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data-sparse / cold-start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799831" y="4462272"/>
            <a:ext cx="297180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854696" y="4526280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合理桥梁，但不是本任务最优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1792" y="4882896"/>
            <a:ext cx="141732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76656" y="4946904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adapter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039112" y="4882896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93976" y="4946904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历史模型学 routine，LLM 学 target-year shift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19472" y="4882896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74336" y="4946904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目标年无标签模型修正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99831" y="4882896"/>
            <a:ext cx="297180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854696" y="4946904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2.502，bias 接近 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49808" y="5650992"/>
            <a:ext cx="10012680" cy="6583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49808" y="5650992"/>
            <a:ext cx="50292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14400" y="5742431"/>
            <a:ext cx="9720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整合口径：模拟预测选择器负责 cold-start / sparse-data 条件下的快速候选预测；LLM-corrected XGBoost 负责有历史标签但目标年情境变化的主任务。二者是同一 temporal-adaptation framework 的两个分支。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14400" y="6099048"/>
            <a:ext cx="9720072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selector branch handles sparse-data simulation, while the correction branch anchors routine mobility in historical survey labels and adapts it with LLM context priors.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selector branch 处理冷启动，correction branch 处理目标年迁移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07899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Microsoft YaHei"/>
              </a:defRPr>
            </a:pPr>
            <a:r>
              <a:rPr sz="950" b="1">
                <a:solidFill>
                  <a:srgbClr val="2563EB"/>
                </a:solidFill>
                <a:latin typeface="Microsoft YaHei"/>
              </a:rPr>
              <a:t>Historical routine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2001 / 2009 / 2017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62072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same household schema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85231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learn f_hist(X)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359152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LLM context-prior / selector branch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Target-year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62072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756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context + rule signals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285231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6072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priors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59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+ selector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730752"/>
            <a:ext cx="699516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67912"/>
            <a:ext cx="20574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Two adaptation branches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03904"/>
            <a:ext cx="480060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215384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selector branch: LLM rules -&gt; confidence gate -&gt; optional 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507992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target-year labels enter only here: final evaluation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126480" y="1965960"/>
            <a:ext cx="146304" cy="56692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6126480" y="3255264"/>
            <a:ext cx="146304" cy="40233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749039"/>
            <a:ext cx="22860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Output behavior system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069080"/>
            <a:ext cx="1874519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4133088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Trip generation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52544"/>
            <a:ext cx="1691639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CNTTDHH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069080"/>
            <a:ext cx="14630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4133088"/>
            <a:ext cx="131673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Mode shares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4352544"/>
            <a:ext cx="128016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transit signal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99248" y="4187952"/>
            <a:ext cx="384048" cy="146304"/>
          </a:xfrm>
          <a:prstGeom prst="rightArrow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0" y="1234440"/>
            <a:ext cx="2788920" cy="23774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1417320"/>
            <a:ext cx="2331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BE123C"/>
                </a:solidFill>
                <a:latin typeface="Microsoft YaHei"/>
              </a:defRPr>
            </a:pPr>
            <a:r>
              <a:rPr sz="1050" b="1">
                <a:solidFill>
                  <a:srgbClr val="BE123C"/>
                </a:solidFill>
                <a:latin typeface="Microsoft YaHei"/>
              </a:rPr>
              <a:t>Leakage guardrails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禁止进入 LLM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8349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原因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CNTTDHH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0178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目标标签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6734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WTHHFIN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19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178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样本权重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HOUSEID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46919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0178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个体标识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情境先验 / LLM Context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描述生成结构化目标年响应变量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078992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52144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078992"/>
            <a:ext cx="406908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152144"/>
            <a:ext cx="39959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078992"/>
            <a:ext cx="3931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1152144"/>
            <a:ext cx="3858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463039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15270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463039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5496" y="152704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463039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152704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1847088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1911095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70632" y="1847088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5496" y="1911095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1847088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1911095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2311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2951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0632" y="2231136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2295144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39712" y="2231136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2295144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26151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26791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632" y="2615184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5496" y="2679191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2615184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679191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" y="29992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0632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2999232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25496" y="3063240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9712" y="2999232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3063240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33832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34472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0632" y="3383280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5496" y="344728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383280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344728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5896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9554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5896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13832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5896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3832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980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5896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13832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传统模型、selector、纯 LLM 与 hybrid correction 逐层比较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24128"/>
            <a:ext cx="1965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088136"/>
            <a:ext cx="1892807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1448" y="1024128"/>
            <a:ext cx="9144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8024" y="1088136"/>
            <a:ext cx="8412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传统基线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5848" y="1024128"/>
            <a:ext cx="822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92424" y="1088136"/>
            <a:ext cx="74980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8808" y="1024128"/>
            <a:ext cx="86868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15384" y="1088136"/>
            <a:ext cx="79552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目标年标签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7488" y="1024128"/>
            <a:ext cx="438912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84064" y="1088136"/>
            <a:ext cx="431596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6607" y="1024128"/>
            <a:ext cx="6858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3" y="1088136"/>
            <a:ext cx="6126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1380744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43560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1448" y="1380744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87168" y="143560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55848" y="1380744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1568" y="143560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78808" y="1380744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143560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47488" y="1380744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1" y="143560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36607" y="1380744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3560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1737360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179222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41448" y="1737360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87168" y="179222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1737360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01568" y="179222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78808" y="1737360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24528" y="179222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47488" y="1737360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1" y="179222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36607" y="1737360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179222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093976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214884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41448" y="2093976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87168" y="214884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55848" y="2093976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01568" y="214884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78808" y="2093976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24528" y="214884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47488" y="2093976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02351" y="214884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统一趋势修正，不区分情境机制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36607" y="2093976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1472" y="214884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2450592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250545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41448" y="2450592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87168" y="250545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55848" y="2450592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01568" y="250545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78808" y="2450592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24528" y="250545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47488" y="2450592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02351" y="250545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36607" y="2450592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91472" y="250545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5488" y="2807208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2862072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41448" y="2807208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87168" y="2862072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55848" y="2807208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01568" y="2862072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78808" y="2807208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24528" y="2862072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47488" y="2807208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02351" y="2862072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直接构建规则树，无数值校准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36607" y="2807208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91472" y="2862072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" y="3163824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" y="321868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41448" y="3163824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87168" y="321868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55848" y="3163824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401568" y="321868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78808" y="3163824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24528" y="321868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47488" y="3163824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02351" y="321868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规则 + 少量历史标签校准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436607" y="3163824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91472" y="321868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488" y="3520440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0352" y="357530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441448" y="3520440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87168" y="357530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55848" y="3520440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01568" y="357530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78808" y="3520440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24528" y="357530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47488" y="3520440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02351" y="357530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所有家庭使用同一目标年折减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36607" y="3520440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91472" y="357530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75488" y="3877056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0352" y="393192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441448" y="3877056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487168" y="393192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355848" y="3877056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401568" y="393192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78808" y="3877056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224528" y="393192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47488" y="3877056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102351" y="393192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436607" y="3877056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491472" y="393192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75488" y="4233672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0352" y="428853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441448" y="4233672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487168" y="428853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55848" y="4233672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401568" y="428853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178808" y="4233672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224528" y="428853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047488" y="4233672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102351" y="428853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36607" y="4233672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91472" y="428853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4360" y="4736592"/>
            <a:ext cx="338328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Microsoft YaHei"/>
              </a:defRPr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49808" y="4983480"/>
            <a:ext cx="10012680" cy="1042415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49808" y="4983480"/>
            <a:ext cx="50292" cy="1042415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5074920"/>
            <a:ext cx="9720072" cy="37526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对比逻辑：LLM 直接构树能给出事件方向，但缺少历史行为的数值锚点；小样本规则校准仍偏高估。主方法保留 household baseline，再用 LLM 事件先验做无标签修正。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5514197"/>
            <a:ext cx="9720072" cy="43854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household grounding, zero-shot rule priors, small historical calibration, and the final gated event adapter.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10185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15214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152144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09728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49618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54647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546479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49161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189052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194081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1940814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188595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28485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33514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335149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28028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67919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272948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2729484"/>
            <a:ext cx="1288744" cy="1554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26746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2563EB"/>
                </a:solidFill>
                <a:latin typeface="Microsoft YaHei"/>
              </a:defRPr>
            </a:pPr>
            <a:r>
              <a:rPr sz="800" b="1">
                <a:solidFill>
                  <a:srgbClr val="2563EB"/>
                </a:solidFill>
                <a:latin typeface="Microsoft YaHei"/>
              </a:rPr>
              <a:t>2.60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7352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12381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123819"/>
            <a:ext cx="1373131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306895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2.77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46786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351815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0" y="3518154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346329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386219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91248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3912489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385762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1078992"/>
            <a:ext cx="1874519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74536" y="1152144"/>
            <a:ext cx="180136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4905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7201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1078992"/>
            <a:ext cx="73152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1152144"/>
            <a:ext cx="6583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1463039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152704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030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1463039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13264" y="152704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1847088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92824" y="1911095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4.220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030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+3.487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1847088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1911095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-0.571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2231136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92824" y="2295144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248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29030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0" y="2231136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13264" y="2295144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2615184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92824" y="2679191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tree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6734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2.602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23544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9030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-0.407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0" y="2615184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13264" y="2679191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37960" y="2999232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92824" y="3063240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+ 500 hist.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1248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46734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2.772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9030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+0.463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058400" y="2999232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13264" y="3063240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37960" y="3383280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92824" y="344728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1248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46734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3544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29030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58400" y="3383280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113264" y="344728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47104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547104" y="3950208"/>
            <a:ext cx="50292" cy="65836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75120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75120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75120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641080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41080" y="3950208"/>
            <a:ext cx="50292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769096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69096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69096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GPU、zero-shot LLM rule tree 和少量历史校准规则都没有超过主方法；加入 gated event adapter 后，wMAE 降到 2.50，bias 接近 0。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main adapter outperforms stronger tabular, zero-shot rule-tree, and small-data calibration baselines while removing most systematic bias.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统计验证 /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用 household bootstrap 给主结果加不确定性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143000"/>
            <a:ext cx="24688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216152"/>
            <a:ext cx="239572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143000"/>
            <a:ext cx="160020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216152"/>
            <a:ext cx="152704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1143000"/>
            <a:ext cx="283464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216152"/>
            <a:ext cx="276148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673352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1737360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Baseline 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1673352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1737360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2312" y="1673352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1737360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[4.242, 4.431]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203704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267712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wMAE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203704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6976" y="2267712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2203704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2267712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[2.429, 2.581]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2734056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98063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734056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36976" y="2798063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82312" y="2734056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798063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[-0.130, +0.088]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3264408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3328415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264408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36976" y="3328415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3264408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7176" y="3328415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[52.6%, 55.3%]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123444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35240" y="1234440"/>
            <a:ext cx="50292" cy="8412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63256" y="130759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148132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1.84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1792224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[1.74, 1.93]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35240" y="233172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35240" y="2331720"/>
            <a:ext cx="50292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3256" y="240487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gain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57860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2889503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[3.36, 3.67]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475488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4754880"/>
            <a:ext cx="50292" cy="10515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846320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Bootstrap 结果说明：主方法的 MAE 改善和 bias 改善不是单个点估计的偶然波动，paired CI 保持为正。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28888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paired confidence intervals remain positive, supporting the robustness of the event-adaptation gain.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24</a:t>
            </a:r>
          </a:p>
        </p:txBody>
      </p:sp>
      <p:pic>
        <p:nvPicPr>
          <p:cNvPr id="11" name="Picture 10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supervised baseline keeps a clear positive shift.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852928"/>
            <a:ext cx="132588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3176" y="2926080"/>
            <a:ext cx="12527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852928"/>
            <a:ext cx="28346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926080"/>
            <a:ext cx="27614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3236976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3300984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236976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7344" y="3300984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3621024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3685032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621024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3685032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005072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41464" y="4069080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005072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4069080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389120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1464" y="4453128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389120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4453128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多目标选择 / Multi-Objective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从单一排行榜转向规划目标下的 operating point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24</a:t>
            </a:r>
          </a:p>
        </p:txBody>
      </p:sp>
      <p:pic>
        <p:nvPicPr>
          <p:cNvPr id="11" name="Picture 10" descr="trip_pareto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78992"/>
            <a:ext cx="5394960" cy="3300446"/>
          </a:xfrm>
          <a:prstGeom prst="rect">
            <a:avLst/>
          </a:prstGeom>
        </p:spPr>
      </p:pic>
      <p:pic>
        <p:nvPicPr>
          <p:cNvPr id="12" name="Picture 11" descr="behavior_system_impr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097280"/>
            <a:ext cx="5074920" cy="28658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4572000"/>
            <a:ext cx="15087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645152"/>
            <a:ext cx="14356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Preference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8568" y="4572000"/>
            <a:ext cx="1965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5144" y="4645152"/>
            <a:ext cx="18928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Selected method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|bias|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7568" y="4572000"/>
            <a:ext cx="822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4645152"/>
            <a:ext cx="74980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req.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965192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5029200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Calibration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58568" y="4965192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3432" y="5029200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87568" y="4965192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42432" y="5029200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5358384"/>
            <a:ext cx="15087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1" y="5422392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Balanced / 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58568" y="5358384"/>
            <a:ext cx="1965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13432" y="5422392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7568" y="5358384"/>
            <a:ext cx="822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2432" y="5422392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5751576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5815584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Low-cost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58568" y="5751576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13432" y="5815584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Global prior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2.553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1091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87568" y="5751576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5815584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60920" y="4736592"/>
            <a:ext cx="3749039" cy="9144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60920" y="4736592"/>
            <a:ext cx="50292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25512" y="4828031"/>
            <a:ext cx="3456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关键讲法：LLM 不是直接报一个答案，而是把事件机制转成候选修正；最终由规划目标选择 Pareto operating point。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5512" y="5221224"/>
            <a:ext cx="3456432" cy="3566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Key message: LLM supplies event mechanisms; the solver selects a planning operating point.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24</a:t>
            </a:r>
          </a:p>
        </p:txBody>
      </p:sp>
      <p:pic>
        <p:nvPicPr>
          <p:cNvPr id="11" name="Picture 10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2" name="Picture 11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传统监督模型误差分布整体偏正，说明它系统性高估 2022 出行；事件修正后误差更集中，容忍阈值内覆盖率更高。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traditional supervised baseline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情境影响异质性 / Event Heterogeneity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分层和先验相关性检验时序机制是否合理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24</a:t>
            </a:r>
          </a:p>
        </p:txBody>
      </p:sp>
      <p:pic>
        <p:nvPicPr>
          <p:cNvPr id="11" name="Picture 10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2" name="Picture 11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与目标年机制相符：高 pressure 组需要更强出行折减，remote work、transit avoidance 等先验之间也呈现可解释相关。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target-year mobility mechanisms.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24</a:t>
            </a:r>
          </a:p>
        </p:txBody>
      </p:sp>
      <p:pic>
        <p:nvPicPr>
          <p:cNvPr id="11" name="Picture 10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也很强，说明主贡献是目标年事件层面的修正，cohort 排序是增量信息。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971800"/>
            <a:ext cx="1828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3044952"/>
            <a:ext cx="1755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971800"/>
            <a:ext cx="25146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5" y="3044952"/>
            <a:ext cx="24414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3355848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7144" y="3419856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3355848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95944" y="3419856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3739896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67144" y="3803904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739896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803904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4123944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4187952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能否替代传统模型？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123944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4187952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4507992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67144" y="4572000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是否只是通用下调？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507992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95944" y="4572000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pre-COVID placebo 中 full suppression 会过度修正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分组稳健性 / Equity-Aware Subgroup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改善与 worst-subgroup error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24</a:t>
            </a:r>
          </a:p>
        </p:txBody>
      </p:sp>
      <p:pic>
        <p:nvPicPr>
          <p:cNvPr id="11" name="Picture 10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分组结果显示，改进不只来自总体均值；worst-subgroup wMAE 从 8.38 降到 4.71，所有纳入分组均优于历史 XGBoost。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Worst-subgroup wMAE drops from 8.38 to 4.71, and all evaluated subgroups improve over historical XGBoost.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80360"/>
            <a:ext cx="16002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1736" y="2953512"/>
            <a:ext cx="15270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880360"/>
            <a:ext cx="24231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1936" y="2953512"/>
            <a:ext cx="2350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3264408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3328415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预测层面 equity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264408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3328415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worst-subgroup error 下降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3648456"/>
            <a:ext cx="1600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0024" y="3712463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注意表述边界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3648456"/>
            <a:ext cx="2423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3712463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不是因果公平性结论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60" y="4032504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4096512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4032504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096512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识别更难预测的家庭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target-year over-prediction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R2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0.248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gated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2761488"/>
            <a:ext cx="25146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2834640"/>
            <a:ext cx="2441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761488"/>
            <a:ext cx="27432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5" y="2834640"/>
            <a:ext cx="26700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328416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1303" y="3392424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XGBoost: household signal + positive bias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328416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75904" y="3392424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history routine is too high for 2022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06440" y="3895344"/>
            <a:ext cx="2514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61303" y="3959352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LLM-only: direction useful, calibration weak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895344"/>
            <a:ext cx="27432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75904" y="3959352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event semantics cannot replace household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462272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61303" y="4526280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Hybrid: bias close to zero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21040" y="4462272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26280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demand and event response are separated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 selector signal 和 correction prior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19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has direction but weaker calibration: wMAE 2.72 -&gt; 2.50; wBias -0.37 -&gt; -0.02.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综合行为输出 / Behavior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从出行次数扩展到方式结构和方式出行量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20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487168"/>
            <a:ext cx="205740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560320"/>
            <a:ext cx="1984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647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2312" y="2487168"/>
            <a:ext cx="1965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2560320"/>
            <a:ext cx="189280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871216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2935224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7063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5496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647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1335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871216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7176" y="2935224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255264"/>
            <a:ext cx="2057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3319272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 + LLM prior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25496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7647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1335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3255264"/>
            <a:ext cx="1965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7176" y="3319272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transit correction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3639312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3703320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5496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7647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31335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82312" y="3639312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3703320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20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720840" y="1261872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48855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Mode-trip MAE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3.28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gated count × LLM mode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06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1261872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4856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Reduction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32.3%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4856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traditional combo</a:t>
            </a:r>
          </a:p>
        </p:txBody>
      </p:sp>
      <p:pic>
        <p:nvPicPr>
          <p:cNvPr id="66" name="Picture 65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31720"/>
            <a:ext cx="4389120" cy="279205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明显改善；这与目标年公共交通规避机制一致。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出行目的扩展 / Purpose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第三个行为维度：为什么出行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21 / 24</a:t>
            </a:r>
          </a:p>
        </p:txBody>
      </p:sp>
      <p:pic>
        <p:nvPicPr>
          <p:cNvPr id="11" name="Picture 10" descr="purpose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78992"/>
            <a:ext cx="5257800" cy="26327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170432"/>
            <a:ext cx="205740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243584"/>
            <a:ext cx="198424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7" y="1170432"/>
            <a:ext cx="7772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3" y="1243584"/>
            <a:ext cx="7040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170432"/>
            <a:ext cx="12344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243584"/>
            <a:ext cx="11612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Component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3848" y="1170432"/>
            <a:ext cx="132588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0424" y="1243584"/>
            <a:ext cx="125272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682496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746504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Traditional XGBoost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7" y="1682496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46504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1682496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1746504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13848" y="1682496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746504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strongest overall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194560"/>
            <a:ext cx="205740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2258568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purpose prior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02167" y="2194560"/>
            <a:ext cx="7772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2258568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194560"/>
            <a:ext cx="12344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58568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3848" y="2194560"/>
            <a:ext cx="132588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2258568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directional components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2706624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2770632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purpose prior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2706624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2770632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2706624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770632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13848" y="2706624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8712" y="2770632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shopping improves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07492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074920"/>
            <a:ext cx="50292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166359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结果说明综合目标已经扩展到“为什么出行”；但 LLM prior 目前不是整体最优，适合作为边界和未来工作，而不是主贡献。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" y="560892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Purpose composition broadens the behavior system, while also showing a clear limitation: event priors need stronger task-specific calibration.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蒸馏与部署 / Distillation &amp;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从逐户调用转成 batch prior、规则适配和置信度回退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22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115568"/>
            <a:ext cx="1993392" cy="5029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BE123C"/>
                </a:solidFill>
                <a:latin typeface="Microsoft YaHei"/>
              </a:defRPr>
            </a:pPr>
            <a:r>
              <a:rPr sz="1150" b="1">
                <a:solidFill>
                  <a:srgbClr val="BE123C"/>
                </a:solidFill>
                <a:latin typeface="Microsoft YaHei"/>
              </a:rPr>
              <a:t>Direct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逐户预测成本高；校准弱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560320" y="155448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16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16352" y="1115568"/>
            <a:ext cx="1993392" cy="502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00796B"/>
                </a:solidFill>
                <a:latin typeface="Microsoft YaHei"/>
              </a:defRPr>
            </a:pPr>
            <a:r>
              <a:rPr sz="1150" b="1">
                <a:solidFill>
                  <a:srgbClr val="00796B"/>
                </a:solidFill>
                <a:latin typeface="Microsoft YaHei"/>
              </a:rPr>
              <a:t>Cohort batch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4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1,327 cohorts -&gt; 89 prompts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46320" y="155448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02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02352" y="1115568"/>
            <a:ext cx="1993392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EA580C"/>
                </a:solidFill>
                <a:latin typeface="Microsoft YaHei"/>
              </a:defRPr>
            </a:pPr>
            <a:r>
              <a:rPr sz="1150" b="1">
                <a:solidFill>
                  <a:srgbClr val="EA580C"/>
                </a:solidFill>
                <a:latin typeface="Microsoft YaHei"/>
              </a:rPr>
              <a:t>Structured priors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JSON schema -&gt; event variables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32320" y="155448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88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1115568"/>
            <a:ext cx="1993392" cy="5029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79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198754"/>
                </a:solidFill>
                <a:latin typeface="Microsoft YaHei"/>
              </a:defRPr>
            </a:pPr>
            <a:r>
              <a:rPr sz="1150" b="1">
                <a:solidFill>
                  <a:srgbClr val="198754"/>
                </a:solidFill>
                <a:latin typeface="Microsoft YaHei"/>
              </a:rPr>
              <a:t>Rule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fixed no-label correction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18320" y="155448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74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74352" y="1115568"/>
            <a:ext cx="1993392" cy="5029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84080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5B21B6"/>
                </a:solidFill>
                <a:latin typeface="Microsoft YaHei"/>
              </a:defRPr>
            </a:pPr>
            <a:r>
              <a:rPr sz="1150" b="1">
                <a:solidFill>
                  <a:srgbClr val="5B21B6"/>
                </a:solidFill>
                <a:latin typeface="Microsoft YaHei"/>
              </a:rPr>
              <a:t>Confidence 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global fallback; online LLM optional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68680" y="2697480"/>
            <a:ext cx="50292" cy="7680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5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Household requests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5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-98.9%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5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7893 -&gt; 89 prompts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3756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37560" y="2697480"/>
            <a:ext cx="50292" cy="768096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65576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Batch 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65576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65576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stable JSON parsing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0644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806440" y="2697480"/>
            <a:ext cx="50292" cy="768096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34455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Main inference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34455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0 LLM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34455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adapter is deterministic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7532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75320" y="2697480"/>
            <a:ext cx="50292" cy="76809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03336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Optional fallback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03336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low-conf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03336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deployment extension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9808" y="381304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6384" y="388620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部署层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898648" y="3813048"/>
            <a:ext cx="37947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35224" y="3886200"/>
            <a:ext cx="37216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在本研究中的角色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93408" y="3813048"/>
            <a:ext cx="4114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29984" y="3886200"/>
            <a:ext cx="4041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为什么这样设计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419709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426110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Batch prior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898648" y="4197096"/>
            <a:ext cx="37947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953512" y="4261104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离线生成 cohort 级情境先验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3408" y="4197096"/>
            <a:ext cx="4114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48272" y="4261104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保留 LLM 泛化能力，避免逐户调用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9808" y="458114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4671" y="4645152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distillation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898648" y="4581144"/>
            <a:ext cx="37947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953512" y="4645152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把自然语言判断压缩成 s_event 和 fixed adapter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93408" y="4581144"/>
            <a:ext cx="4114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748272" y="4645152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比直接 LLM 输出 CNTTDHH 更可审计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49808" y="496519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4671" y="502920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 gate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898648" y="4965192"/>
            <a:ext cx="37947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953512" y="5029200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低置信 cohort 退回 global pressure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93408" y="4965192"/>
            <a:ext cx="4114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48272" y="5029200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主实验保持 no-label、可复现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49808" y="534924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1" y="54132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fallback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898648" y="5349240"/>
            <a:ext cx="37947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953512" y="5413248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作为线上部署扩展，不进入主结果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93408" y="5349240"/>
            <a:ext cx="4114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748272" y="5413248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有预算时处理边界样本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8680" y="5925312"/>
            <a:ext cx="1005840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汇报口径：LLM 不是每户都报答案，而是把目标年 context 蒸馏成结构化 priors 或 selector signals；主实验预测阶段是 deterministic adapter，低置信 LLM 回退属于可部署扩展。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23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078992"/>
            <a:ext cx="150876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52144"/>
            <a:ext cx="1435607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7128" y="1078992"/>
            <a:ext cx="4800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152144"/>
            <a:ext cx="4727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1078992"/>
            <a:ext cx="3657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4" y="1152144"/>
            <a:ext cx="3584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1645919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09928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645919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1992" y="1709928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是目标年情境变化，不是平滑跨年预测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1645919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1709928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212848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76856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2212848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2" y="2276856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67728" y="2212848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276856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779776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43784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67128" y="2779776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21992" y="2843784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779776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2843784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346704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410712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3346704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1992" y="3410712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67728" y="3346704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410712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913632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77640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67128" y="3913632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21992" y="3977640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67728" y="3913632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3977640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负责“目标年哪些出行会被压低”，二者相乘得到无标签修正预测。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模拟预测选择 + LLM 修正 XGBoost 的时序适应框架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24 / 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当目标年情境变化打破历史连续性时，能否用 LLM 的时序泛化能力，为传统 household travel model 提供无标签修正先验。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4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 NHTS 历史数据学习正常出行规律，用 LLM 情境先验泛化目标年变化，并输出家庭层面的出行强度、方式结构和目的结构。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为什么不直接让 LLM 构建 2022 决策树？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Why not ask the LLM to build the 2022 decision tree directly?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已经实现为 baseline；方向有用，但数值校准弱于 hybrid adapter。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rule tree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2.6019; wBias -0.4072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Pseudo-label tree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2.6040; still follows LLM belief labels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hybrid gated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Key issue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No target labels for split thresholds and leaf values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可以生成 qualitative belief tree，但没有 2022 标签时无法学习真实 NHTS 的 split threshold 和 leaf value。我们的设计把数值预测锚定在历史 NHTS household baseline 上，只让 LLM 提供事件机制先验。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有没有使用 2022 标签或 retrospective leakage？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Did the pipeline use 2022 labels or retrospective leakage?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主方法不使用 2022 CNTTDHH 训练或校准；2022 只做最终 evaluation。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Main method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gated_trip_suppression_a1_d0p15 fixed before 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inputs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HOUSEID, CNTTDHH, WTHHFIN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Leakage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LLM-facing files pass forbidden-column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Prospective context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prospective_event_context_2022 documents event assumptions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输入是 cohort-level household profile 和泛化目标年事件语境，不含目标值、权重和 household ID。我们用 leakage audit、zero-shot baseline、placebo 和 fixed adapter 共同约束 no-label claim。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Global event prior 已经很强，LLM 还贡献什么？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If the global prior is strong, what does the LLM add?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主贡献应表述为 event-level correction；cohort ranking 是增量 refinement。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event prior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2.5223; wBias -0.7477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 adapter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Same-alpha decomposition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0.0508 lower wMAE; 77.8% subgroup-cell wins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Gate usage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cohort-specific pressure used for 17.5% weighted households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" y="4279392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343400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Pseudo-event ranked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36592" y="4279392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91456" y="4343400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best placebo wMAE 2.6274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答法：不能夸大成 LLM cohort ranking 独自贡献全部提升。更准确的说法是：global event correction 是主体，LLM cohort prior 在差异足够大的家庭上提供 selective refinement，改善 calibration 和 subgroup robustness。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和 2025-2026 mobility foundation model 有什么区别？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is this different from recent mobility foundation-model work?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最新工作多是 trajectory / flow / sensor forecasting；我们是 NHTS household survey 的 event adaptation。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LLM mobility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/ agentic LLM mobility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NAACL'25; AgentMob 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Efficient LLM mobility 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ELP-Mob GIS'25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Foundation model direction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" y="4279392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343400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Our unit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36592" y="4279392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91456" y="4343400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survey record, not trajectory or road node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答法：我们借用了 event-generalization 思路，但不声称训练 universal mobility foundation model。LLM 是 structured event-prior generator，数值需求预测仍由 NHTS 历史标签锚定。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Mode / purpose 是否已经解决？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Are mode and purpose choice solved?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没有。trip generation 是主贡献；mode/purpose 是 behavior-system extension。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Transit-share MAE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0.0325 -&gt; 0.0269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Mode-trip volume MAE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4.8467 -&gt; 3.2802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Exploratory; LLM prior not overall best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Planning relevance, not solved full mode-choice model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答法：综合目标是预测 household behavior system，但最强结果仍是 target-year trip generation。方式和目的模块说明可扩展到规划相关输出，也明确了未来工作边界。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这些指标怎么用一句话解释？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should the metrics be interpreted?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wMAE 是加权平均误差，wBias 是系统性高估/低估，越接近 0 越好。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4.3377; wBias +3.6052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54.5% households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3 trips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71.2% households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答法：MAE 看单个家庭预测误差，bias 看总需求是否系统性偏高或偏低。我们的核心收益不是只降低误差，而是几乎消除了 2022 的系统性高估。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 NHTS 之外的外部验证？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Do we have validation beyond NHTS?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有机制级验证和 PSRC household microdata；但不是 NHTS 2022 的直接复刻。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work from home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5.7% -&gt; 2022 15.2%; supports remote-work prior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public transit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5.0% -&gt; 2022 3.1%; supports transit-avoidance prior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PSRC microdata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2017+2019-&gt;2023 wMAE 3.4271-&gt;3.2498; wBias +1.0532-&gt;+0.2605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External mechanism + recovery-transfer support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答法：我们用 ACS 证明目标年通勤机制确实发生了远程办公和公共交通下降；用 PSRC 独立 household microdata 做 recovery-transfer 验证；同时用 BTS 做 guardrail，说明 device mobility trips 不能直接当作 NHTS household trip-count 的外部标签。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规则蒸馏和低置信 LLM 回退怎么并入本方法？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do rule distillation and low-confidence LLM fallback fit into the method?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它们是同一条技术路线的部署层：LLM 先验被蒸馏成规则，低置信样本可选回退。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Distilled rule layer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priors -&gt; fixed event adapter, not per-household answers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Batch prompting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1,327 cohorts -&gt; 89 prompts with batch size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Reported experiment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No target-year labels; low-confidence uses global pressure fallback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Deployable extension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Online LLM fallback only for uncertain cohorts if cost allows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答法：可以把“LLM 规则蒸馏 + 置信度回退”理解为我们方法的工程化外壳。论文主结果为了避免 target-year leakage，使用离线 batch 先验和固定 adapter；如果未来做线上系统，可以在低置信 cohort 上再调用 LLM，而不是改变本文主实验口径。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Global prior 很强时，cohort LLM 还贡献什么？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Same-alpha decomposition of global event correction and selective cohort refinement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B9</a:t>
            </a:r>
          </a:p>
        </p:txBody>
      </p:sp>
      <p:pic>
        <p:nvPicPr>
          <p:cNvPr id="11" name="Picture 10" descr="cohort_prior_value_top_grou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97280"/>
            <a:ext cx="5897880" cy="365106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03720" y="1143000"/>
            <a:ext cx="123444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03720" y="1143000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31736" y="1216152"/>
            <a:ext cx="1014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Same-alpha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31736" y="1389888"/>
            <a:ext cx="1014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0.0508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31736" y="1700784"/>
            <a:ext cx="1014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wMAE lower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1143000"/>
            <a:ext cx="123444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60" y="1143000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94776" y="1216152"/>
            <a:ext cx="1014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Subgroup win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4776" y="1389888"/>
            <a:ext cx="1014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77.8%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4776" y="1700784"/>
            <a:ext cx="1014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cells vs global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9800" y="1143000"/>
            <a:ext cx="123444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29800" y="1143000"/>
            <a:ext cx="50292" cy="74980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57816" y="1216152"/>
            <a:ext cx="1014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Gate active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57816" y="1389888"/>
            <a:ext cx="1014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17.5%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57816" y="1700784"/>
            <a:ext cx="1014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HHs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3720" y="2148840"/>
            <a:ext cx="4160520" cy="12344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03720" y="2148840"/>
            <a:ext cx="50292" cy="12344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68312" y="2240280"/>
            <a:ext cx="3867911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正确解释：global event correction 是主体，cohort-specific LLM pressure 只在差异足够大时启用，提供选择性校准增益。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68312" y="2724912"/>
            <a:ext cx="3867911" cy="5852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safe claim is global event adaptation plus selective cohort refinement, not that cohort ranking explains the full gain.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03720" y="3703320"/>
            <a:ext cx="19202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0296" y="3776472"/>
            <a:ext cx="18470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3703320"/>
            <a:ext cx="224028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0536" y="3776472"/>
            <a:ext cx="21671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Implication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03720" y="4087368"/>
            <a:ext cx="1920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58583" y="4151376"/>
            <a:ext cx="1810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vs global-a1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23960" y="4087368"/>
            <a:ext cx="22402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78824" y="4151376"/>
            <a:ext cx="21305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0.0508 lower wMAE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03720" y="4471416"/>
            <a:ext cx="1920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58583" y="4535424"/>
            <a:ext cx="1810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vs global-a1.25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23960" y="4471416"/>
            <a:ext cx="22402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78824" y="4535424"/>
            <a:ext cx="21305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0.0201 lower wMAE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03720" y="4855464"/>
            <a:ext cx="1920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58583" y="4919472"/>
            <a:ext cx="1810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where it helps most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823960" y="4855464"/>
            <a:ext cx="22402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78824" y="4919472"/>
            <a:ext cx="21305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lower-income / zero-vehicle / no-worker cells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03720" y="5239512"/>
            <a:ext cx="1920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58583" y="5303520"/>
            <a:ext cx="1810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boundary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23960" y="5239512"/>
            <a:ext cx="22402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878824" y="5303520"/>
            <a:ext cx="21305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some high-vehicle/high-income cells prefer global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