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2D71"/>
    <a:srgbClr val="822370"/>
    <a:srgbClr val="59156B"/>
    <a:srgbClr val="812153"/>
    <a:srgbClr val="0033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06799F8-075E-4A3A-A7F6-7FBC6576F1A4}" styleName="主题样式 2 - 强调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216"/>
    <p:restoredTop sz="87611"/>
  </p:normalViewPr>
  <p:slideViewPr>
    <p:cSldViewPr snapToGrid="0">
      <p:cViewPr varScale="1">
        <p:scale>
          <a:sx n="69" d="100"/>
          <a:sy n="69" d="100"/>
        </p:scale>
        <p:origin x="8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7C9EA5-FFC8-914E-8FCA-A7534D56BDB4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7C717-45A6-3141-B281-E423F6A4A1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2782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3498C3-D54F-2DF0-7F6C-1B9AF4E412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AA32A8-846D-B4D2-587A-5AF89E887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DF113A-3AF1-A60E-0C1E-5D94E58DE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DAC0-CE62-D141-B832-686CBE4253BA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45AFD9-4E22-F4DD-0E0A-B568FE201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1A49AA-BD73-1626-CF55-95797BC97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BADA-1024-0545-A29F-910C83BB96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9474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923C81-B4F4-AE67-A990-8D68CC1C0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B56CAD-1703-340B-AA2A-D6FE89B72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CE8D7E-3D4A-5E1E-C664-8DAE368D1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DAC0-CE62-D141-B832-686CBE4253BA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DF0354-DAD3-1ED2-A3EA-829EA2A28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70C08E-E57D-5621-512B-98CB8A6C4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BADA-1024-0545-A29F-910C83BB96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96307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AFCAEF-33E4-C4BA-47CA-D86D636D0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DE1394-35DE-30A7-C3F0-D42EF6327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D0C23B-8B3D-39CF-2F7F-B7661D806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DAC0-CE62-D141-B832-686CBE4253BA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C6254B-D5DA-E555-1E3D-D0572D78B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CFAF2F-4286-8494-8BA1-3953EBB91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BADA-1024-0545-A29F-910C83BB96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3341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697836-44FE-148D-B4E6-69AAA72C7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029AB3-8B12-B414-CB0B-E0DC4050A7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0BCD0A2-02B2-C5BB-A27A-647C7F31A2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9B2010-FF3A-2EC4-6BF5-A4263AA1D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DAC0-CE62-D141-B832-686CBE4253BA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537D9D-C7C0-051E-9789-69823169E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AF71E1-6419-34DB-16D7-37627522E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BADA-1024-0545-A29F-910C83BB96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8206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28247B-C24A-C0D1-4474-91AF8B3BE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446941-472D-F7AF-33E6-69A5AE2FC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CE7BB1A-5AFE-5616-5CB0-CC0E870F34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1FAB0A6-A480-1DF9-6229-2C5AE53152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0CF117F-3F02-A468-4523-9541C3F841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50863CB-1B22-C361-F330-BF437FA7B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DAC0-CE62-D141-B832-686CBE4253BA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1631CB1-DCDD-BAF7-533A-438EF5202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B61FAEA-67A0-07BF-0AE0-F2E9D12FD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BADA-1024-0545-A29F-910C83BB96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05955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CF3D23-12E5-4FE1-2410-F9B4E586E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649DFA-CEE1-4EE9-E631-8EA8695D0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DAC0-CE62-D141-B832-686CBE4253BA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9638806-E19A-1D0C-3BBD-61CC2FF75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F7FC78C-AA00-43F7-42B0-A3A71DC21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BADA-1024-0545-A29F-910C83BB96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6123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1B3B159-E48A-C230-5F68-D4C9E6E7A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DAC0-CE62-D141-B832-686CBE4253BA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674C26E-FE58-8847-BCAA-826ED841A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B92021-DD8F-1E2F-FC7D-A926ADCEF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BADA-1024-0545-A29F-910C83BB96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505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FB012C-D2D8-A8B2-979D-DDEB5E328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2278AF-E913-D049-09D5-ED27D8C2B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CE38B4-FDD8-FB1F-F478-F9585CFB6B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52B11F-DE93-C6ED-AE88-6A2934A87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DAC0-CE62-D141-B832-686CBE4253BA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C3D0ED-E64B-E4EC-CA1C-FDC291B22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547D80-7489-4C54-228A-CC5D54478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BADA-1024-0545-A29F-910C83BB96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0760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3B61D0-68D4-774B-DDFC-371EC2FAE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0A16EC5-2B61-A2F9-8C22-E9C0728BEF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3897952-8CEB-D716-E25F-92ABBE2F30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4628F6-DC0D-1F1C-10C8-CC022BDD1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DAC0-CE62-D141-B832-686CBE4253BA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4BA56B-6D65-1C1D-1814-C4956BD68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9F3A70-1A12-46D3-8741-7C6EB9B14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BADA-1024-0545-A29F-910C83BB96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85739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CA8388-E75C-91D0-3494-45A24A896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382C16C-CAD8-5E55-36BB-39DDC05A6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DB5697-30DA-1FAB-7CDA-B8CAFEE4E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DAC0-CE62-D141-B832-686CBE4253BA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C0735D-6289-D301-6E7C-F9DB9FEB5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BD317E-DBD7-B38E-069E-BC2B2B6C2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BADA-1024-0545-A29F-910C83BB96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20242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DE36967-6EFD-2898-86C8-B768B0340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7EFE42D-5F60-C7C1-EAF6-446586C3DF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10EEEF-2B2A-90EA-003D-61BD0D760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8DAC0-CE62-D141-B832-686CBE4253BA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56FC1C-7D18-D347-F7BE-AEBC88002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18F0DE-F492-1F7A-367E-4676913D7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BADA-1024-0545-A29F-910C83BB96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109897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29813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研究问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46379" y="-2"/>
            <a:ext cx="1365649" cy="68580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A5A5A5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/>
              <a:ea typeface="微软雅黑" panose="020B0503020204020204" charset="-122"/>
              <a:cs typeface="+mn-cs"/>
              <a:sym typeface="Arial" panose="020B0604020202020204"/>
            </a:endParaRPr>
          </a:p>
        </p:txBody>
      </p:sp>
      <p:sp>
        <p:nvSpPr>
          <p:cNvPr id="9" name="TextBox 18"/>
          <p:cNvSpPr>
            <a:spLocks noChangeArrowheads="1"/>
          </p:cNvSpPr>
          <p:nvPr userDrawn="1"/>
        </p:nvSpPr>
        <p:spPr bwMode="auto">
          <a:xfrm>
            <a:off x="278834" y="421090"/>
            <a:ext cx="1100737" cy="1200262"/>
          </a:xfrm>
          <a:prstGeom prst="rect">
            <a:avLst/>
          </a:prstGeom>
          <a:noFill/>
          <a:ln>
            <a:noFill/>
          </a:ln>
        </p:spPr>
        <p:txBody>
          <a:bodyPr wrap="square" lIns="91374" tIns="45687" rIns="91374" bIns="45687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方正大黑简体" pitchFamily="65" charset="-122"/>
              </a:rPr>
              <a:t>模型算法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328060" y="5735781"/>
            <a:ext cx="1002283" cy="923617"/>
          </a:xfrm>
          <a:prstGeom prst="rect">
            <a:avLst/>
          </a:prstGeom>
          <a:noFill/>
          <a:ln w="53975">
            <a:solidFill>
              <a:schemeClr val="bg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04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" name="TextBox 18"/>
          <p:cNvSpPr>
            <a:spLocks noChangeArrowheads="1"/>
          </p:cNvSpPr>
          <p:nvPr userDrawn="1"/>
        </p:nvSpPr>
        <p:spPr bwMode="auto">
          <a:xfrm>
            <a:off x="367603" y="1621353"/>
            <a:ext cx="923196" cy="3986376"/>
          </a:xfrm>
          <a:prstGeom prst="rect">
            <a:avLst/>
          </a:prstGeom>
          <a:noFill/>
          <a:ln>
            <a:noFill/>
          </a:ln>
        </p:spPr>
        <p:txBody>
          <a:bodyPr vert="vert270" wrap="square" lIns="91374" tIns="45687" rIns="91374" bIns="45687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方正大黑简体" pitchFamily="65" charset="-122"/>
              </a:rPr>
              <a:t>MODEL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方正大黑简体" pitchFamily="65" charset="-122"/>
              </a:rPr>
              <a:t>ALGORITHM</a:t>
            </a:r>
          </a:p>
        </p:txBody>
      </p:sp>
      <p:cxnSp>
        <p:nvCxnSpPr>
          <p:cNvPr id="3" name="直线连接符 7"/>
          <p:cNvCxnSpPr/>
          <p:nvPr userDrawn="1"/>
        </p:nvCxnSpPr>
        <p:spPr>
          <a:xfrm>
            <a:off x="1505543" y="586296"/>
            <a:ext cx="10686457" cy="0"/>
          </a:xfrm>
          <a:prstGeom prst="line">
            <a:avLst/>
          </a:prstGeom>
          <a:ln w="47625"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" name="TextBox 12"/>
          <p:cNvSpPr txBox="1">
            <a:spLocks noChangeArrowheads="1"/>
          </p:cNvSpPr>
          <p:nvPr userDrawn="1"/>
        </p:nvSpPr>
        <p:spPr bwMode="auto">
          <a:xfrm>
            <a:off x="8710489" y="143606"/>
            <a:ext cx="4364233" cy="4368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08841" tIns="108000" rIns="432000" bIns="108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 w="12700">
                  <a:noFill/>
                  <a:prstDash val="solid"/>
                </a:ln>
                <a:solidFill>
                  <a:prstClr val="black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Weibei SC Bold"/>
                <a:ea typeface="微软雅黑" panose="020B0503020204020204" charset="-122"/>
                <a:cs typeface="Weibei SC Bold"/>
              </a:rPr>
              <a:t>网红绿地影响因素及其与环境绅士化关系探究</a:t>
            </a:r>
          </a:p>
        </p:txBody>
      </p:sp>
    </p:spTree>
    <p:extLst>
      <p:ext uri="{BB962C8B-B14F-4D97-AF65-F5344CB8AC3E}">
        <p14:creationId xmlns:p14="http://schemas.microsoft.com/office/powerpoint/2010/main" val="211522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F087FCD-4307-F0F2-D3BD-38D65778A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FF7AFB-CFCD-86FF-5E24-287E86B00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8EEC7E-945E-A690-7898-B1308AD699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8DAC0-CE62-D141-B832-686CBE4253BA}" type="datetimeFigureOut">
              <a:rPr kumimoji="1" lang="zh-CN" altLang="en-US" smtClean="0"/>
              <a:t>2026/6/9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B91929-D260-3310-FA98-F4DCA18BF3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959924-338A-6333-1869-40B137FFA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5BADA-1024-0545-A29F-910C83BB96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66218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A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771632" y="283464"/>
            <a:ext cx="9144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310896"/>
            <a:ext cx="841248" cy="5929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" y="713232"/>
            <a:ext cx="9052560" cy="8686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面向时序迁移的家庭出行预测</a:t>
            </a:r>
            <a:br/>
            <a:r>
              <a:rPr sz="2400" b="1">
                <a:solidFill>
                  <a:srgbClr val="FFFFFF"/>
                </a:solidFill>
                <a:latin typeface="Microsoft YaHei"/>
              </a:rPr>
              <a:t>模拟选择器与大模型修正框架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00784"/>
            <a:ext cx="932688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150" b="1">
                <a:solidFill>
                  <a:srgbClr val="CBD5E1"/>
                </a:solidFill>
                <a:latin typeface="Microsoft YaHei"/>
              </a:defRPr>
            </a:pPr>
            <a:r>
              <a:rPr sz="1150" b="1">
                <a:solidFill>
                  <a:srgbClr val="CBD5E1"/>
                </a:solidFill>
                <a:latin typeface="Microsoft YaHei"/>
              </a:rPr>
              <a:t>LLM-Guided Temporal Adaptation for Household Mobility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39112"/>
            <a:ext cx="8869680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icrosoft YaHei"/>
              </a:defRPr>
            </a:pPr>
            <a:r>
              <a:rPr sz="1000" b="0">
                <a:solidFill>
                  <a:srgbClr val="CBD5E1"/>
                </a:solidFill>
                <a:latin typeface="Microsoft YaHei"/>
              </a:rPr>
              <a:t>prediction selector + LLM-corrected XGBoost；目标年标签只用于最终评估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2057400" cy="640080"/>
          </a:xfrm>
          <a:prstGeom prst="roundRect">
            <a:avLst/>
          </a:prstGeom>
          <a:solidFill>
            <a:srgbClr val="1E405B"/>
          </a:solidFill>
          <a:ln w="9525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3127248"/>
            <a:ext cx="1911095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00796B"/>
                </a:solidFill>
                <a:latin typeface="Microsoft YaHei"/>
              </a:defRPr>
            </a:pPr>
            <a:r>
              <a:rPr sz="919" b="1">
                <a:solidFill>
                  <a:srgbClr val="00796B"/>
                </a:solidFill>
                <a:latin typeface="Microsoft YaHei"/>
              </a:rPr>
              <a:t>目标年迁移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46704"/>
            <a:ext cx="1874519" cy="30175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target-year shift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34640" y="3264408"/>
            <a:ext cx="438912" cy="16459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93008" y="3063240"/>
            <a:ext cx="2057400" cy="640080"/>
          </a:xfrm>
          <a:prstGeom prst="roundRect">
            <a:avLst/>
          </a:prstGeom>
          <a:solidFill>
            <a:srgbClr val="1E405B"/>
          </a:solidFill>
          <a:ln w="9525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3127248"/>
            <a:ext cx="1911095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00796B"/>
                </a:solidFill>
                <a:latin typeface="Microsoft YaHei"/>
              </a:defRPr>
            </a:pPr>
            <a:r>
              <a:rPr sz="919" b="1">
                <a:solidFill>
                  <a:srgbClr val="00796B"/>
                </a:solidFill>
                <a:latin typeface="Microsoft YaHei"/>
              </a:rPr>
              <a:t>模拟选择器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3346704"/>
            <a:ext cx="1874519" cy="30175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cold-start branch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596128" y="3264408"/>
            <a:ext cx="438912" cy="16459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54496" y="3063240"/>
            <a:ext cx="2057400" cy="640080"/>
          </a:xfrm>
          <a:prstGeom prst="roundRect">
            <a:avLst/>
          </a:prstGeom>
          <a:solidFill>
            <a:srgbClr val="1E405B"/>
          </a:solidFill>
          <a:ln w="9525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3127248"/>
            <a:ext cx="1911095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00796B"/>
                </a:solidFill>
                <a:latin typeface="Microsoft YaHei"/>
              </a:defRPr>
            </a:pPr>
            <a:r>
              <a:rPr sz="919" b="1">
                <a:solidFill>
                  <a:srgbClr val="00796B"/>
                </a:solidFill>
                <a:latin typeface="Microsoft YaHei"/>
              </a:rPr>
              <a:t>LLM 修正模型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3346704"/>
            <a:ext cx="1874519" cy="30175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correction branch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357616" y="3264408"/>
            <a:ext cx="438912" cy="16459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15984" y="3063240"/>
            <a:ext cx="2057400" cy="640080"/>
          </a:xfrm>
          <a:prstGeom prst="roundRect">
            <a:avLst/>
          </a:prstGeom>
          <a:solidFill>
            <a:srgbClr val="1E405B"/>
          </a:solidFill>
          <a:ln w="9525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9136" y="3127248"/>
            <a:ext cx="1911095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00796B"/>
                </a:solidFill>
                <a:latin typeface="Microsoft YaHei"/>
              </a:defRPr>
            </a:pPr>
            <a:r>
              <a:rPr sz="919" b="1">
                <a:solidFill>
                  <a:srgbClr val="00796B"/>
                </a:solidFill>
                <a:latin typeface="Microsoft YaHei"/>
              </a:rPr>
              <a:t>行为系统预测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3346704"/>
            <a:ext cx="1874519" cy="30175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trips / modes / purposes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617720"/>
            <a:ext cx="233172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8" y="4617720"/>
            <a:ext cx="5029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4690872"/>
            <a:ext cx="2112263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Trip-count MAE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864608"/>
            <a:ext cx="2112263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rPr sz="1600" b="1">
                <a:solidFill>
                  <a:srgbClr val="2563EB"/>
                </a:solidFill>
                <a:latin typeface="Microsoft YaHei"/>
              </a:rPr>
              <a:t>-42.3%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175504"/>
            <a:ext cx="2112263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vs ordinary XGBoost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64992" y="4617720"/>
            <a:ext cx="233172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64992" y="4617720"/>
            <a:ext cx="50292" cy="8229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93008" y="4690872"/>
            <a:ext cx="2112263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Weighted bias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93008" y="4864608"/>
            <a:ext cx="2112263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198754"/>
                </a:solidFill>
                <a:latin typeface="Microsoft YaHei"/>
              </a:defRPr>
            </a:pPr>
            <a:r>
              <a:rPr sz="1600" b="1">
                <a:solidFill>
                  <a:srgbClr val="198754"/>
                </a:solidFill>
                <a:latin typeface="Microsoft YaHei"/>
              </a:rPr>
              <a:t>-0.023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93008" y="5175504"/>
            <a:ext cx="2112263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nearly unbiased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80176" y="4617720"/>
            <a:ext cx="233172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80176" y="4617720"/>
            <a:ext cx="50292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08192" y="4690872"/>
            <a:ext cx="2112263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Selector role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08192" y="4864608"/>
            <a:ext cx="2112263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EA580C"/>
                </a:solidFill>
                <a:latin typeface="Microsoft YaHei"/>
              </a:defRPr>
            </a:pPr>
            <a:r>
              <a:rPr sz="1600" b="1">
                <a:solidFill>
                  <a:srgbClr val="EA580C"/>
                </a:solidFill>
                <a:latin typeface="Microsoft YaHei"/>
              </a:rPr>
              <a:t>fallback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08192" y="5175504"/>
            <a:ext cx="2112263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cold-start / sparse data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95360" y="4617720"/>
            <a:ext cx="233172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95360" y="4617720"/>
            <a:ext cx="50292" cy="8229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23376" y="4690872"/>
            <a:ext cx="2112263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Behavior scope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23376" y="4864608"/>
            <a:ext cx="2112263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5B21B6"/>
                </a:solidFill>
                <a:latin typeface="Microsoft YaHei"/>
              </a:defRPr>
            </a:pPr>
            <a:r>
              <a:rPr sz="1600" b="1">
                <a:solidFill>
                  <a:srgbClr val="5B21B6"/>
                </a:solidFill>
                <a:latin typeface="Microsoft YaHei"/>
              </a:rPr>
              <a:t>3+ outputs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23376" y="5175504"/>
            <a:ext cx="2112263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trips / modes / purposes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245352"/>
            <a:ext cx="448056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00" b="1">
                <a:solidFill>
                  <a:srgbClr val="CBD5E1"/>
                </a:solidFill>
                <a:latin typeface="Microsoft YaHei"/>
              </a:defRPr>
            </a:pPr>
            <a:r>
              <a:rPr sz="800" b="1">
                <a:solidFill>
                  <a:srgbClr val="CBD5E1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16768" y="6245352"/>
            <a:ext cx="77724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800" b="1">
                <a:solidFill>
                  <a:srgbClr val="CBD5E1"/>
                </a:solidFill>
                <a:latin typeface="Microsoft YaHei"/>
              </a:defRPr>
            </a:pPr>
            <a:r>
              <a:rPr sz="800" b="1">
                <a:solidFill>
                  <a:srgbClr val="CBD5E1"/>
                </a:solidFill>
                <a:latin typeface="Microsoft YaHei"/>
              </a:rPr>
              <a:t>01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汇报路径 / Talk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按一个问题组织，而不是按两套方案拼接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02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234440"/>
            <a:ext cx="1143000" cy="47548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1234440"/>
            <a:ext cx="50292" cy="475488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307592"/>
            <a:ext cx="92354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1481328"/>
            <a:ext cx="92354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00796B"/>
                </a:solidFill>
                <a:latin typeface="Microsoft YaHei"/>
              </a:defRPr>
            </a:pPr>
            <a:r>
              <a:rPr sz="1600" b="1">
                <a:solidFill>
                  <a:srgbClr val="00796B"/>
                </a:solidFill>
                <a:latin typeface="Microsoft YaHei"/>
              </a:rPr>
              <a:t>Why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1792224"/>
            <a:ext cx="92354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2103120" y="1307592"/>
            <a:ext cx="813816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目标年时序迁移为什么会让历史模型失效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1947672"/>
            <a:ext cx="1143000" cy="47548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1947672"/>
            <a:ext cx="50292" cy="475488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2020824"/>
            <a:ext cx="92354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2194560"/>
            <a:ext cx="92354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00796B"/>
                </a:solidFill>
                <a:latin typeface="Microsoft YaHei"/>
              </a:defRPr>
            </a:pPr>
            <a:r>
              <a:rPr sz="1600" b="1">
                <a:solidFill>
                  <a:srgbClr val="00796B"/>
                </a:solidFill>
                <a:latin typeface="Microsoft YaHei"/>
              </a:rPr>
              <a:t>What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505456"/>
            <a:ext cx="92354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2103120" y="2020824"/>
            <a:ext cx="813816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家庭出行行为系统：出行多少、怎么出行、为什么出行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2660904"/>
            <a:ext cx="1143000" cy="47548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8" y="2660904"/>
            <a:ext cx="50292" cy="475488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2734056"/>
            <a:ext cx="92354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2907792"/>
            <a:ext cx="92354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00796B"/>
                </a:solidFill>
                <a:latin typeface="Microsoft YaHei"/>
              </a:defRPr>
            </a:pPr>
            <a:r>
              <a:rPr sz="1600" b="1">
                <a:solidFill>
                  <a:srgbClr val="00796B"/>
                </a:solidFill>
                <a:latin typeface="Microsoft YaHei"/>
              </a:rPr>
              <a:t>How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3218688"/>
            <a:ext cx="92354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2103120" y="2734056"/>
            <a:ext cx="813816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selector branch + LLM-corrected XGBoost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3374136"/>
            <a:ext cx="1143000" cy="47548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9808" y="3374136"/>
            <a:ext cx="50292" cy="475488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" y="3447288"/>
            <a:ext cx="92354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" y="3621024"/>
            <a:ext cx="92354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00796B"/>
                </a:solidFill>
                <a:latin typeface="Microsoft YaHei"/>
              </a:defRPr>
            </a:pPr>
            <a:r>
              <a:rPr sz="1600" b="1">
                <a:solidFill>
                  <a:srgbClr val="00796B"/>
                </a:solidFill>
                <a:latin typeface="Microsoft YaHei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" y="3931920"/>
            <a:ext cx="92354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2103120" y="3447288"/>
            <a:ext cx="813816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主结果、统计验证、稳健性与多目标选择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9808" y="4087368"/>
            <a:ext cx="1143000" cy="47548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9808" y="4087368"/>
            <a:ext cx="50292" cy="475488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" y="4160520"/>
            <a:ext cx="92354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" y="4334256"/>
            <a:ext cx="92354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00796B"/>
                </a:solidFill>
                <a:latin typeface="Microsoft YaHei"/>
              </a:defRPr>
            </a:pPr>
            <a:r>
              <a:rPr sz="1600" b="1">
                <a:solidFill>
                  <a:srgbClr val="00796B"/>
                </a:solidFill>
                <a:latin typeface="Microsoft YaHei"/>
              </a:rPr>
              <a:t>Takeaway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" y="4645152"/>
            <a:ext cx="92354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2103120" y="4160520"/>
            <a:ext cx="813816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LLM 是情境先验和选择器，不是直接替代数值模型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715000"/>
            <a:ext cx="996696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讲法：同一个 temporal-adaptation 问题，需要两个模块；不是两份作业顺序拼接。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研究动机 /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目标年情境变化会破坏历史出行规律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03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234440"/>
            <a:ext cx="3291840" cy="11430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1234440"/>
            <a:ext cx="5029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325880"/>
            <a:ext cx="2999232" cy="411479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传统历史模型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1801368"/>
            <a:ext cx="2999232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Learns household routine mobility but misses target-year mechanisms.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1234440"/>
            <a:ext cx="3291840" cy="11430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07408" y="1234440"/>
            <a:ext cx="50292" cy="1143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325880"/>
            <a:ext cx="2999232" cy="411479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纯 LLM 预测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801368"/>
            <a:ext cx="2999232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Knows context direction but lacks NHTS numerical calibration.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1234440"/>
            <a:ext cx="3291840" cy="11430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3" y="1234440"/>
            <a:ext cx="50292" cy="114300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5" y="1325880"/>
            <a:ext cx="2999232" cy="411479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融合思路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1801368"/>
            <a:ext cx="2999232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Use LLM to guide adaptation: select when data are sparse; correct when history exists.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2971800"/>
            <a:ext cx="2331720" cy="8686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0120" y="2971800"/>
            <a:ext cx="50292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8136" y="3044952"/>
            <a:ext cx="2112263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Ordinary XGBoost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" y="3218688"/>
            <a:ext cx="2112263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rPr sz="1600" b="1">
                <a:solidFill>
                  <a:srgbClr val="2563EB"/>
                </a:solidFill>
                <a:latin typeface="Microsoft YaHei"/>
              </a:rPr>
              <a:t>4.338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" y="3529584"/>
            <a:ext cx="2112263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wBias +3.605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11880" y="2971800"/>
            <a:ext cx="2331720" cy="8686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11880" y="2971800"/>
            <a:ext cx="50292" cy="86868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39896" y="3044952"/>
            <a:ext cx="2112263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LLM-only pressure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39896" y="3218688"/>
            <a:ext cx="2112263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5B21B6"/>
                </a:solidFill>
                <a:latin typeface="Microsoft YaHei"/>
              </a:defRPr>
            </a:pPr>
            <a:r>
              <a:rPr sz="1600" b="1">
                <a:solidFill>
                  <a:srgbClr val="5B21B6"/>
                </a:solidFill>
                <a:latin typeface="Microsoft YaHei"/>
              </a:rPr>
              <a:t>2.718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39896" y="3529584"/>
            <a:ext cx="2112263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wBias -0.373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2971800"/>
            <a:ext cx="2331720" cy="8686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2971800"/>
            <a:ext cx="50292" cy="86868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91655" y="3044952"/>
            <a:ext cx="2112263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Hybrid gated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91655" y="3218688"/>
            <a:ext cx="2112263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198754"/>
                </a:solidFill>
                <a:latin typeface="Microsoft YaHei"/>
              </a:defRPr>
            </a:pPr>
            <a:r>
              <a:rPr sz="1600" b="1">
                <a:solidFill>
                  <a:srgbClr val="198754"/>
                </a:solidFill>
                <a:latin typeface="Microsoft YaHei"/>
              </a:rPr>
              <a:t>2.502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91655" y="3529584"/>
            <a:ext cx="2112263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wBias -0.023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572000"/>
            <a:ext cx="9966960" cy="3474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rPr sz="1400" b="1">
                <a:solidFill>
                  <a:srgbClr val="0F172A"/>
                </a:solidFill>
                <a:latin typeface="Microsoft YaHei"/>
              </a:rPr>
              <a:t>核心矛盾：历史模型有数值锚点但缺少新情境；LLM 有情境常识但校准弱。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问题定义 / Problem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核心不是单一 mode classification，而是 household behavior system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04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234440"/>
            <a:ext cx="2011680" cy="411480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1307592"/>
            <a:ext cx="1938528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70048" y="1234440"/>
            <a:ext cx="2743200" cy="411480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06624" y="1307592"/>
            <a:ext cx="2670048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Construction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13248" y="1234440"/>
            <a:ext cx="3017520" cy="411480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9824" y="1307592"/>
            <a:ext cx="2944368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Planning meaning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30768" y="1234440"/>
            <a:ext cx="2103120" cy="411480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4" y="1307592"/>
            <a:ext cx="2029967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Main metric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1645920"/>
            <a:ext cx="2011680" cy="4114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1709928"/>
            <a:ext cx="1901952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Trip generation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70048" y="1645920"/>
            <a:ext cx="2743200" cy="4114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24912" y="1709928"/>
            <a:ext cx="2633472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CNTTDHH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13248" y="1645920"/>
            <a:ext cx="3017520" cy="4114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68112" y="1709928"/>
            <a:ext cx="2907791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How much travel demand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30768" y="1645920"/>
            <a:ext cx="2103120" cy="4114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85632" y="1709928"/>
            <a:ext cx="1993391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weighted MAE / bias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2057400"/>
            <a:ext cx="2011680" cy="4114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2121408"/>
            <a:ext cx="1901952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Mode composition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70048" y="2057400"/>
            <a:ext cx="2743200" cy="4114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24912" y="2121408"/>
            <a:ext cx="2633472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TRPTRANS -&gt; share vector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13248" y="2057400"/>
            <a:ext cx="3017520" cy="4114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68112" y="2121408"/>
            <a:ext cx="2907791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How demand is distributed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30768" y="2057400"/>
            <a:ext cx="2103120" cy="4114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85632" y="2121408"/>
            <a:ext cx="1993391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TV / share MAE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2468880"/>
            <a:ext cx="2011680" cy="4114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2532888"/>
            <a:ext cx="1901952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Purpose composition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70048" y="2468880"/>
            <a:ext cx="2743200" cy="4114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24912" y="2532888"/>
            <a:ext cx="2633472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TRIPPURP -&gt; purpose vector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13248" y="2468880"/>
            <a:ext cx="3017520" cy="4114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68112" y="2532888"/>
            <a:ext cx="2907791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Why households travel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30768" y="2468880"/>
            <a:ext cx="2103120" cy="4114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85632" y="2532888"/>
            <a:ext cx="1993391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TV / purpose MAE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2880360"/>
            <a:ext cx="2011680" cy="4114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" y="2944368"/>
            <a:ext cx="1901952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Mode-specific trips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70048" y="2880360"/>
            <a:ext cx="2743200" cy="4114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24912" y="2944368"/>
            <a:ext cx="2633472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predicted trips × mode share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13248" y="2880360"/>
            <a:ext cx="3017520" cy="4114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68112" y="2944368"/>
            <a:ext cx="2907791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Trips by mode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30768" y="2880360"/>
            <a:ext cx="2103120" cy="4114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85632" y="2944368"/>
            <a:ext cx="1993391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derived MAE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主结果集中在 trip generation；mode/purpose 是行为系统扩展，不要把汇报讲成只做出行方式分类。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方法谱系 / Method Spectrum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把 0611 的两条路线提前合成一条演化链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05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298448"/>
            <a:ext cx="1847088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19" y="1362456"/>
            <a:ext cx="170078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2563EB"/>
                </a:solidFill>
                <a:latin typeface="Microsoft YaHei"/>
              </a:defRPr>
            </a:pPr>
            <a:r>
              <a:rPr sz="919" b="1">
                <a:solidFill>
                  <a:srgbClr val="2563EB"/>
                </a:solidFill>
                <a:latin typeface="Microsoft YaHei"/>
              </a:rPr>
              <a:t>Data-only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581912"/>
            <a:ext cx="1664208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历史拟合</a:t>
            </a:r>
            <a:br/>
            <a:r>
              <a:rPr sz="780" b="0">
                <a:solidFill>
                  <a:srgbClr val="64748B"/>
                </a:solidFill>
                <a:latin typeface="Microsoft YaHei"/>
              </a:rPr>
              <a:t>wMAE 4.338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560320" y="1536192"/>
            <a:ext cx="310896" cy="14630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98648" y="1298448"/>
            <a:ext cx="1847088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1362456"/>
            <a:ext cx="170078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5B21B6"/>
                </a:solidFill>
                <a:latin typeface="Microsoft YaHei"/>
              </a:defRPr>
            </a:pPr>
            <a:r>
              <a:rPr sz="919" b="1">
                <a:solidFill>
                  <a:srgbClr val="5B21B6"/>
                </a:solidFill>
                <a:latin typeface="Microsoft YaHei"/>
              </a:rPr>
              <a:t>Pure 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1581912"/>
            <a:ext cx="1664208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情境方向</a:t>
            </a:r>
            <a:br/>
            <a:r>
              <a:rPr sz="780" b="0">
                <a:solidFill>
                  <a:srgbClr val="64748B"/>
                </a:solidFill>
                <a:latin typeface="Microsoft YaHei"/>
              </a:rPr>
              <a:t>wMAE 2.718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00600" y="1536192"/>
            <a:ext cx="310896" cy="14630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38928" y="1298448"/>
            <a:ext cx="1847088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1362456"/>
            <a:ext cx="170078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EA580C"/>
                </a:solidFill>
                <a:latin typeface="Microsoft YaHei"/>
              </a:defRPr>
            </a:pPr>
            <a:r>
              <a:rPr sz="919" b="1">
                <a:solidFill>
                  <a:srgbClr val="EA580C"/>
                </a:solidFill>
                <a:latin typeface="Microsoft YaHei"/>
              </a:rPr>
              <a:t>LLM selector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1581912"/>
            <a:ext cx="1664208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冷启动选择器</a:t>
            </a:r>
            <a:br/>
            <a:r>
              <a:rPr sz="780" b="0">
                <a:solidFill>
                  <a:srgbClr val="64748B"/>
                </a:solidFill>
                <a:latin typeface="Microsoft YaHei"/>
              </a:rPr>
              <a:t>wMAE 2.602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040880" y="1536192"/>
            <a:ext cx="310896" cy="14630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79208" y="1298448"/>
            <a:ext cx="1847088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1362456"/>
            <a:ext cx="170078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00796B"/>
                </a:solidFill>
                <a:latin typeface="Microsoft YaHei"/>
              </a:defRPr>
            </a:pPr>
            <a:r>
              <a:rPr sz="919" b="1">
                <a:solidFill>
                  <a:srgbClr val="00796B"/>
                </a:solidFill>
                <a:latin typeface="Microsoft YaHei"/>
              </a:rPr>
              <a:t>Rule +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0648" y="1581912"/>
            <a:ext cx="1664208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少量历史校准</a:t>
            </a:r>
            <a:br/>
            <a:r>
              <a:rPr sz="780" b="0">
                <a:solidFill>
                  <a:srgbClr val="64748B"/>
                </a:solidFill>
                <a:latin typeface="Microsoft YaHei"/>
              </a:rPr>
              <a:t>wMAE 2.772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281160" y="1536192"/>
            <a:ext cx="310896" cy="14630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19488" y="1298448"/>
            <a:ext cx="1847088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1362456"/>
            <a:ext cx="170078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198754"/>
                </a:solidFill>
                <a:latin typeface="Microsoft YaHei"/>
              </a:defRPr>
            </a:pPr>
            <a:r>
              <a:rPr sz="919" b="1">
                <a:solidFill>
                  <a:srgbClr val="198754"/>
                </a:solidFill>
                <a:latin typeface="Microsoft YaHei"/>
              </a:rPr>
              <a:t>LLM-corrected XGB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0928" y="1581912"/>
            <a:ext cx="1664208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主方法</a:t>
            </a:r>
            <a:br/>
            <a:r>
              <a:rPr sz="780" b="0">
                <a:solidFill>
                  <a:srgbClr val="64748B"/>
                </a:solidFill>
                <a:latin typeface="Microsoft YaHei"/>
              </a:rPr>
              <a:t>wMAE 2.502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1560" y="2971800"/>
            <a:ext cx="2468880" cy="457200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8136" y="3044952"/>
            <a:ext cx="2395728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Branch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20440" y="2971800"/>
            <a:ext cx="3840480" cy="457200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57016" y="3044952"/>
            <a:ext cx="3767328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When it matters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60920" y="2971800"/>
            <a:ext cx="3840480" cy="457200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97496" y="3044952"/>
            <a:ext cx="3767328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Role in final story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1560" y="3429000"/>
            <a:ext cx="246888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06424" y="3493008"/>
            <a:ext cx="2359152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Prediction selector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20440" y="3429000"/>
            <a:ext cx="384048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75304" y="3493008"/>
            <a:ext cx="3730752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冷启动、数据稀疏、字段缺失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60920" y="3429000"/>
            <a:ext cx="384048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15784" y="3493008"/>
            <a:ext cx="3730752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从 LLM 蒸馏可执行规则，低置信样本回退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51560" y="3886200"/>
            <a:ext cx="246888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06424" y="3950208"/>
            <a:ext cx="2359152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LLM-corrected XGBoost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20440" y="3886200"/>
            <a:ext cx="384048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75304" y="3950208"/>
            <a:ext cx="3730752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有历史 NHTS，但目标年出现情境变化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60920" y="3886200"/>
            <a:ext cx="384048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15784" y="3950208"/>
            <a:ext cx="3730752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历史模型做数值锚点，LLM 做目标年修正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5394960"/>
            <a:ext cx="100584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rPr sz="1200" b="1">
                <a:solidFill>
                  <a:srgbClr val="BE123C"/>
                </a:solidFill>
                <a:latin typeface="Microsoft YaHei"/>
              </a:rPr>
              <a:t>这一页应替代 0611 原第 31 页的位置：先给全局框架，再讲细节。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统一框架 / Unified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同一输入进入两个互补分支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06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331720"/>
            <a:ext cx="205740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1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395727"/>
            <a:ext cx="1911095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112A42"/>
                </a:solidFill>
                <a:latin typeface="Microsoft YaHei"/>
              </a:defRPr>
            </a:pPr>
            <a:r>
              <a:rPr sz="919" b="1">
                <a:solidFill>
                  <a:srgbClr val="112A42"/>
                </a:solidFill>
                <a:latin typeface="Microsoft YaHei"/>
              </a:rPr>
              <a:t>Household 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615184"/>
            <a:ext cx="1874519" cy="3474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income, workers, vehicles,</a:t>
            </a:r>
            <a:br/>
            <a:r>
              <a:rPr sz="780" b="0">
                <a:solidFill>
                  <a:srgbClr val="64748B"/>
                </a:solidFill>
                <a:latin typeface="Microsoft YaHei"/>
              </a:rPr>
              <a:t>urban context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880360" y="2514600"/>
            <a:ext cx="502920" cy="16459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0" y="1234440"/>
            <a:ext cx="256032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1298448"/>
            <a:ext cx="2414015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EA580C"/>
                </a:solidFill>
                <a:latin typeface="Microsoft YaHei"/>
              </a:defRPr>
            </a:pPr>
            <a:r>
              <a:rPr sz="919" b="1">
                <a:solidFill>
                  <a:srgbClr val="EA580C"/>
                </a:solidFill>
                <a:latin typeface="Microsoft YaHei"/>
              </a:rPr>
              <a:t>Selector branch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1517904"/>
            <a:ext cx="2377439" cy="4846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LLM rule distillation</a:t>
            </a:r>
            <a:br/>
            <a:r>
              <a:rPr sz="780" b="0">
                <a:solidFill>
                  <a:srgbClr val="64748B"/>
                </a:solidFill>
                <a:latin typeface="Microsoft YaHei"/>
              </a:rPr>
              <a:t>confidence gate / fallback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3429000"/>
            <a:ext cx="256032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30752" y="3493008"/>
            <a:ext cx="2414015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198754"/>
                </a:solidFill>
                <a:latin typeface="Microsoft YaHei"/>
              </a:defRPr>
            </a:pPr>
            <a:r>
              <a:rPr sz="919" b="1">
                <a:solidFill>
                  <a:srgbClr val="198754"/>
                </a:solidFill>
                <a:latin typeface="Microsoft YaHei"/>
              </a:rPr>
              <a:t>Correction branch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712463"/>
            <a:ext cx="2377439" cy="4846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XGBoost baseline</a:t>
            </a:r>
            <a:br/>
            <a:r>
              <a:rPr sz="780" b="0">
                <a:solidFill>
                  <a:srgbClr val="64748B"/>
                </a:solidFill>
                <a:latin typeface="Microsoft YaHei"/>
              </a:rPr>
              <a:t>LLM context prior adapter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355080" y="1508760"/>
            <a:ext cx="566928" cy="16459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6355080" y="3703320"/>
            <a:ext cx="566928" cy="16459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78040" y="1234440"/>
            <a:ext cx="329184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51192" y="1298448"/>
            <a:ext cx="314553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EA580C"/>
                </a:solidFill>
                <a:latin typeface="Microsoft YaHei"/>
              </a:defRPr>
            </a:pPr>
            <a:r>
              <a:rPr sz="919" b="1">
                <a:solidFill>
                  <a:srgbClr val="EA580C"/>
                </a:solidFill>
                <a:latin typeface="Microsoft YaHei"/>
              </a:rPr>
              <a:t>Cold-start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79" y="1517904"/>
            <a:ext cx="3108960" cy="4846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fast simulated prediction</a:t>
            </a:r>
            <a:br/>
            <a:r>
              <a:rPr sz="780" b="0">
                <a:solidFill>
                  <a:srgbClr val="64748B"/>
                </a:solidFill>
                <a:latin typeface="Microsoft YaHei"/>
              </a:rPr>
              <a:t>when labels are sparse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78040" y="3429000"/>
            <a:ext cx="329184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51192" y="3493008"/>
            <a:ext cx="314553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198754"/>
                </a:solidFill>
                <a:latin typeface="Microsoft YaHei"/>
              </a:defRPr>
            </a:pPr>
            <a:r>
              <a:rPr sz="919" b="1">
                <a:solidFill>
                  <a:srgbClr val="198754"/>
                </a:solidFill>
                <a:latin typeface="Microsoft YaHei"/>
              </a:rPr>
              <a:t>Target-year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79" y="3712463"/>
            <a:ext cx="3108960" cy="4846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label-free corrected</a:t>
            </a:r>
            <a:br/>
            <a:r>
              <a:rPr sz="780" b="0">
                <a:solidFill>
                  <a:srgbClr val="64748B"/>
                </a:solidFill>
                <a:latin typeface="Microsoft YaHei"/>
              </a:rPr>
              <a:t>household behavior prediction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257800"/>
            <a:ext cx="10149840" cy="3474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讲法：selector 解决“没有足够历史标签怎么办”；corrector 解决“有历史标签但目标年变了怎么办”。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数据与无标签设定 / Data and No-Label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目标年标签只用于最终评估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07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325880"/>
            <a:ext cx="1874519" cy="73152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1325880"/>
            <a:ext cx="50292" cy="73152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5" y="1399032"/>
            <a:ext cx="1655063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2001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1572768"/>
            <a:ext cx="1655063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198754"/>
                </a:solidFill>
                <a:latin typeface="Microsoft YaHei"/>
              </a:defRPr>
            </a:pPr>
            <a:r>
              <a:rPr sz="1600" b="1">
                <a:solidFill>
                  <a:srgbClr val="198754"/>
                </a:solidFill>
                <a:latin typeface="Microsoft YaHei"/>
              </a:rPr>
              <a:t>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5" y="1883664"/>
            <a:ext cx="1655063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</a:p>
        </p:txBody>
      </p:sp>
      <p:sp>
        <p:nvSpPr>
          <p:cNvPr id="16" name="Right Arrow 15"/>
          <p:cNvSpPr/>
          <p:nvPr/>
        </p:nvSpPr>
        <p:spPr>
          <a:xfrm>
            <a:off x="2807208" y="1627632"/>
            <a:ext cx="329184" cy="13716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37560" y="1325880"/>
            <a:ext cx="1874519" cy="73152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7560" y="1325880"/>
            <a:ext cx="50292" cy="73152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65576" y="1399032"/>
            <a:ext cx="1655063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2009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5576" y="1572768"/>
            <a:ext cx="1655063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198754"/>
                </a:solidFill>
                <a:latin typeface="Microsoft YaHei"/>
              </a:defRPr>
            </a:pPr>
            <a:r>
              <a:rPr sz="1600" b="1">
                <a:solidFill>
                  <a:srgbClr val="198754"/>
                </a:solidFill>
                <a:latin typeface="Microsoft YaHei"/>
              </a:rPr>
              <a:t>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5576" y="1883664"/>
            <a:ext cx="1655063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</a:p>
        </p:txBody>
      </p:sp>
      <p:sp>
        <p:nvSpPr>
          <p:cNvPr id="22" name="Right Arrow 21"/>
          <p:cNvSpPr/>
          <p:nvPr/>
        </p:nvSpPr>
        <p:spPr>
          <a:xfrm>
            <a:off x="5276088" y="1627632"/>
            <a:ext cx="329184" cy="13716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06440" y="1325880"/>
            <a:ext cx="1874519" cy="73152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06440" y="1325880"/>
            <a:ext cx="50292" cy="73152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34456" y="1399032"/>
            <a:ext cx="1655063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2017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34456" y="1572768"/>
            <a:ext cx="1655063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198754"/>
                </a:solidFill>
                <a:latin typeface="Microsoft YaHei"/>
              </a:defRPr>
            </a:pPr>
            <a:r>
              <a:rPr sz="1600" b="1">
                <a:solidFill>
                  <a:srgbClr val="198754"/>
                </a:solidFill>
                <a:latin typeface="Microsoft YaHei"/>
              </a:rPr>
              <a:t>history + mode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34456" y="1883664"/>
            <a:ext cx="1655063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</a:p>
        </p:txBody>
      </p:sp>
      <p:sp>
        <p:nvSpPr>
          <p:cNvPr id="28" name="Right Arrow 27"/>
          <p:cNvSpPr/>
          <p:nvPr/>
        </p:nvSpPr>
        <p:spPr>
          <a:xfrm>
            <a:off x="7744968" y="1627632"/>
            <a:ext cx="329184" cy="13716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75320" y="1325880"/>
            <a:ext cx="1874519" cy="73152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75320" y="1325880"/>
            <a:ext cx="50292" cy="7315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03336" y="1399032"/>
            <a:ext cx="1655063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2022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03336" y="1572768"/>
            <a:ext cx="1655063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EA580C"/>
                </a:solidFill>
                <a:latin typeface="Microsoft YaHei"/>
              </a:defRPr>
            </a:pPr>
            <a:r>
              <a:rPr sz="1600" b="1">
                <a:solidFill>
                  <a:srgbClr val="EA580C"/>
                </a:solidFill>
                <a:latin typeface="Microsoft YaHei"/>
              </a:rPr>
              <a:t>target-year eval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03336" y="1883664"/>
            <a:ext cx="1655063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</a:p>
        </p:txBody>
      </p:sp>
      <p:sp>
        <p:nvSpPr>
          <p:cNvPr id="34" name="Rectangle 33"/>
          <p:cNvSpPr/>
          <p:nvPr/>
        </p:nvSpPr>
        <p:spPr>
          <a:xfrm>
            <a:off x="960120" y="2788920"/>
            <a:ext cx="3246120" cy="438912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6696" y="2862072"/>
            <a:ext cx="3172968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LLM branch allowed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06240" y="2788920"/>
            <a:ext cx="2926080" cy="438912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42816" y="2862072"/>
            <a:ext cx="2852928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LLM branch excluded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0" y="2788920"/>
            <a:ext cx="2926080" cy="438912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68896" y="2862072"/>
            <a:ext cx="2852928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Reason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0120" y="3227832"/>
            <a:ext cx="324612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4984" y="3291839"/>
            <a:ext cx="3136391" cy="31089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cohort profile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3227832"/>
            <a:ext cx="292608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61103" y="3291839"/>
            <a:ext cx="2816352" cy="31089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CNTTDHH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2320" y="3227832"/>
            <a:ext cx="292608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87183" y="3291839"/>
            <a:ext cx="2816352" cy="31089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target label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0120" y="3666744"/>
            <a:ext cx="3246120" cy="43891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4984" y="3730752"/>
            <a:ext cx="3136391" cy="31089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urban context / workers / vehicles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3666744"/>
            <a:ext cx="2926080" cy="43891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61103" y="3730752"/>
            <a:ext cx="2816352" cy="31089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WTHHFIN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32320" y="3666744"/>
            <a:ext cx="2926080" cy="43891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87183" y="3730752"/>
            <a:ext cx="2816352" cy="31089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survey weight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0120" y="4105656"/>
            <a:ext cx="324612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4984" y="4169664"/>
            <a:ext cx="3136391" cy="31089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generic target-year context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206240" y="4105656"/>
            <a:ext cx="292608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61103" y="4169664"/>
            <a:ext cx="2816352" cy="31089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HOUSEID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32320" y="4105656"/>
            <a:ext cx="2926080" cy="43891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87183" y="4169664"/>
            <a:ext cx="2816352" cy="31089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identifier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40" y="5074920"/>
            <a:ext cx="98755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No-label claim: 2022 outcomes do not train, calibrate, or prompt the LLM branch.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LLM 情境先验 / LLM Context Prior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LLM 输出机制变量，不直接输出出行次数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08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234440"/>
            <a:ext cx="2651760" cy="429768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1307592"/>
            <a:ext cx="2578608" cy="30175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LLM 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1234440"/>
            <a:ext cx="3840480" cy="429768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65576" y="1307592"/>
            <a:ext cx="3767328" cy="30175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变量含义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79" y="1234440"/>
            <a:ext cx="3931920" cy="429768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06055" y="1307592"/>
            <a:ext cx="3858768" cy="30175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模型位置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1664208"/>
            <a:ext cx="2651760" cy="4297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3" y="1728216"/>
            <a:ext cx="2542032" cy="30175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trip_suppression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1664208"/>
            <a:ext cx="3840480" cy="4297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83864" y="1728216"/>
            <a:ext cx="3730752" cy="30175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总体出行折减压力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9479" y="1664208"/>
            <a:ext cx="3931920" cy="4297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24344" y="1728216"/>
            <a:ext cx="3822191" cy="30175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correct total trips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093976"/>
            <a:ext cx="265176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3" y="2157984"/>
            <a:ext cx="2542032" cy="30175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remote_work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2093976"/>
            <a:ext cx="384048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83864" y="2157984"/>
            <a:ext cx="3730752" cy="30175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通勤被远程办公替代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69479" y="2093976"/>
            <a:ext cx="393192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24344" y="2157984"/>
            <a:ext cx="3822191" cy="30175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explain commute reduction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2523744"/>
            <a:ext cx="2651760" cy="4297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3" y="2587751"/>
            <a:ext cx="2542032" cy="30175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transit_avoidance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29000" y="2523744"/>
            <a:ext cx="3840480" cy="4297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83864" y="2587751"/>
            <a:ext cx="3730752" cy="30175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公共交通规避倾向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69479" y="2523744"/>
            <a:ext cx="3931920" cy="4297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24344" y="2587751"/>
            <a:ext cx="3822191" cy="30175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correct transit share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2953512"/>
            <a:ext cx="265176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3" y="3017520"/>
            <a:ext cx="2542032" cy="30175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delivery_substitution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29000" y="2953512"/>
            <a:ext cx="384048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83864" y="3017520"/>
            <a:ext cx="3730752" cy="30175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购物/服务线上替代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69479" y="2953512"/>
            <a:ext cx="393192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24344" y="3017520"/>
            <a:ext cx="3822191" cy="30175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explain non-work decline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3383279"/>
            <a:ext cx="2651760" cy="4297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3" y="3447287"/>
            <a:ext cx="2542032" cy="30175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recovery_sensitivity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29000" y="3383279"/>
            <a:ext cx="3840480" cy="4297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83864" y="3447287"/>
            <a:ext cx="3730752" cy="30175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恢复到常态出行能力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69479" y="3383279"/>
            <a:ext cx="3931920" cy="429768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24344" y="3447287"/>
            <a:ext cx="3822191" cy="30175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capture rebound heterogeneity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" y="5120640"/>
            <a:ext cx="100584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5B21B6"/>
                </a:solidFill>
                <a:latin typeface="Microsoft YaHei"/>
              </a:defRPr>
            </a:pPr>
            <a:r>
              <a:rPr sz="1200" b="1">
                <a:solidFill>
                  <a:srgbClr val="5B21B6"/>
                </a:solidFill>
                <a:latin typeface="Microsoft YaHei"/>
              </a:rPr>
              <a:t>LLM role = context prior generator / selector signal, not standalone numerical predictor.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对比体系 /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公平比较：传统、纯 LLM、selector、global prior、hybrid correction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09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078992"/>
            <a:ext cx="2148840" cy="393192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" y="1152144"/>
            <a:ext cx="2075688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Method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1078992"/>
            <a:ext cx="1143000" cy="393192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88336" y="1152144"/>
            <a:ext cx="1069848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History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4760" y="1078992"/>
            <a:ext cx="1143000" cy="393192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31336" y="1152144"/>
            <a:ext cx="1069848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LLM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59" y="1078992"/>
            <a:ext cx="1417320" cy="393192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74336" y="1152144"/>
            <a:ext cx="1344168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Target labels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1078992"/>
            <a:ext cx="3154680" cy="393192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6" y="1152144"/>
            <a:ext cx="3081528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Role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1078992"/>
            <a:ext cx="914400" cy="393192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46336" y="1152144"/>
            <a:ext cx="841248" cy="2651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wMAE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1472184"/>
            <a:ext cx="214884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7784" y="1536192"/>
            <a:ext cx="2039112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Ordinary XGBoost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1472184"/>
            <a:ext cx="114300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06624" y="1536192"/>
            <a:ext cx="1033271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Yes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94760" y="1472184"/>
            <a:ext cx="114300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9624" y="1536192"/>
            <a:ext cx="1033271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37759" y="1472184"/>
            <a:ext cx="141732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92623" y="1536192"/>
            <a:ext cx="1307592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No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1472184"/>
            <a:ext cx="315468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9944" y="1536192"/>
            <a:ext cx="3044952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historical routine only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09760" y="1472184"/>
            <a:ext cx="91440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64624" y="1536192"/>
            <a:ext cx="804672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4.34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1865376"/>
            <a:ext cx="214884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7784" y="1929384"/>
            <a:ext cx="2039112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LLM-only pressure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51760" y="1865376"/>
            <a:ext cx="114300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06624" y="1929384"/>
            <a:ext cx="1033271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94760" y="1865376"/>
            <a:ext cx="114300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9624" y="1929384"/>
            <a:ext cx="1033271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Yes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59" y="1865376"/>
            <a:ext cx="141732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92623" y="1929384"/>
            <a:ext cx="1307592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No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1865376"/>
            <a:ext cx="315468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1929384"/>
            <a:ext cx="3044952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context without calibration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09760" y="1865376"/>
            <a:ext cx="91440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64624" y="1929384"/>
            <a:ext cx="804672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2.72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2258568"/>
            <a:ext cx="214884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7784" y="2322575"/>
            <a:ext cx="2039112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Zero-shot rule tree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51760" y="2258568"/>
            <a:ext cx="114300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06624" y="2322575"/>
            <a:ext cx="1033271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No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794760" y="2258568"/>
            <a:ext cx="114300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9624" y="2322575"/>
            <a:ext cx="1033271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Yes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37759" y="2258568"/>
            <a:ext cx="141732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92623" y="2322575"/>
            <a:ext cx="1307592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No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55080" y="2258568"/>
            <a:ext cx="315468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9944" y="2322575"/>
            <a:ext cx="3044952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selector-style rule baseline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509760" y="2258568"/>
            <a:ext cx="91440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64624" y="2322575"/>
            <a:ext cx="804672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2.60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2651760"/>
            <a:ext cx="214884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7784" y="2715768"/>
            <a:ext cx="2039112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Rule + 500 history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651760" y="2651760"/>
            <a:ext cx="114300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06624" y="2715768"/>
            <a:ext cx="1033271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Yes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794760" y="2651760"/>
            <a:ext cx="114300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49624" y="2715768"/>
            <a:ext cx="1033271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Yes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937759" y="2651760"/>
            <a:ext cx="141732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992623" y="2715768"/>
            <a:ext cx="1307592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No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55080" y="2651760"/>
            <a:ext cx="315468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9944" y="2715768"/>
            <a:ext cx="3044952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small calibration bridge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09760" y="2651760"/>
            <a:ext cx="91440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564624" y="2715768"/>
            <a:ext cx="804672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2.77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2920" y="3044952"/>
            <a:ext cx="214884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57784" y="3108960"/>
            <a:ext cx="2039112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Global event rule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651760" y="3044952"/>
            <a:ext cx="114300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706624" y="3108960"/>
            <a:ext cx="1033271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Yes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94760" y="3044952"/>
            <a:ext cx="114300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849624" y="3108960"/>
            <a:ext cx="1033271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Global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937759" y="3044952"/>
            <a:ext cx="141732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992623" y="3108960"/>
            <a:ext cx="1307592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No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355080" y="3044952"/>
            <a:ext cx="315468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09944" y="3108960"/>
            <a:ext cx="3044952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low-cost target-year correction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509760" y="3044952"/>
            <a:ext cx="914400" cy="39319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564624" y="3108960"/>
            <a:ext cx="804672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2.52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02920" y="3438144"/>
            <a:ext cx="214884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57784" y="3502151"/>
            <a:ext cx="2039112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Hybrid gated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651760" y="3438144"/>
            <a:ext cx="114300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706624" y="3502151"/>
            <a:ext cx="1033271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Yes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794760" y="3438144"/>
            <a:ext cx="114300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849624" y="3502151"/>
            <a:ext cx="1033271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Yes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937759" y="3438144"/>
            <a:ext cx="141732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992623" y="3502151"/>
            <a:ext cx="1307592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No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355080" y="3438144"/>
            <a:ext cx="315468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409944" y="3502151"/>
            <a:ext cx="3044952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LLM-corrected XGBoost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509760" y="3438144"/>
            <a:ext cx="914400" cy="3931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564624" y="3502151"/>
            <a:ext cx="804672" cy="2651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2.50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60120" y="5349240"/>
            <a:ext cx="100584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150" b="1">
                <a:solidFill>
                  <a:srgbClr val="2563EB"/>
                </a:solidFill>
                <a:latin typeface="Microsoft YaHei"/>
              </a:defRPr>
            </a:pPr>
            <a:r>
              <a:rPr sz="1150" b="1">
                <a:solidFill>
                  <a:srgbClr val="2563EB"/>
                </a:solidFill>
                <a:latin typeface="Microsoft YaHei"/>
              </a:rPr>
              <a:t>把 selector branch 作为方法谱系中的 cold-start baseline；主 NHTS temporal-shift 结果看 hybrid correction。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主结果 / Main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LLM 修正 XGBoost 同时降低误差和系统性偏差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10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1115568"/>
            <a:ext cx="3474720" cy="411480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188720"/>
            <a:ext cx="3401568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Method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87952" y="1115568"/>
            <a:ext cx="1463040" cy="411480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24528" y="1188720"/>
            <a:ext cx="1389888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wMAE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50992" y="1115568"/>
            <a:ext cx="1463040" cy="411480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188720"/>
            <a:ext cx="1389888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wBias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14032" y="1115568"/>
            <a:ext cx="1463040" cy="411480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50608" y="1188720"/>
            <a:ext cx="1389888" cy="2834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wR2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1527048"/>
            <a:ext cx="3474720" cy="4114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1591056"/>
            <a:ext cx="3364991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Ordinary XGBoost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87952" y="1527048"/>
            <a:ext cx="1463040" cy="4114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42816" y="1591056"/>
            <a:ext cx="1353312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4.338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50992" y="1527048"/>
            <a:ext cx="1463040" cy="4114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1591056"/>
            <a:ext cx="1353312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+3.605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14032" y="1527048"/>
            <a:ext cx="1463040" cy="4114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68896" y="1591056"/>
            <a:ext cx="1353312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-0.637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1938528"/>
            <a:ext cx="3474720" cy="4114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2002536"/>
            <a:ext cx="3364991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CatBoost GPU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87952" y="1938528"/>
            <a:ext cx="1463040" cy="4114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42816" y="2002536"/>
            <a:ext cx="1353312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4.220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50992" y="1938528"/>
            <a:ext cx="1463040" cy="4114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05856" y="2002536"/>
            <a:ext cx="1353312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+3.487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14032" y="1938528"/>
            <a:ext cx="1463040" cy="4114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68896" y="2002536"/>
            <a:ext cx="1353312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-0.571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" y="2350008"/>
            <a:ext cx="3474720" cy="4114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2414016"/>
            <a:ext cx="3364991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LLM-only pressure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87952" y="2350008"/>
            <a:ext cx="1463040" cy="4114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42816" y="2414016"/>
            <a:ext cx="1353312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2.718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50992" y="2350008"/>
            <a:ext cx="1463040" cy="4114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05856" y="2414016"/>
            <a:ext cx="1353312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-0.373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14032" y="2350008"/>
            <a:ext cx="1463040" cy="4114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68896" y="2414016"/>
            <a:ext cx="1353312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0.079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" y="2761488"/>
            <a:ext cx="3474720" cy="4114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8096" y="2825496"/>
            <a:ext cx="3364991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Zero-shot rule tree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87952" y="2761488"/>
            <a:ext cx="1463040" cy="4114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42816" y="2825496"/>
            <a:ext cx="1353312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2.602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50992" y="2761488"/>
            <a:ext cx="1463040" cy="4114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05856" y="2825496"/>
            <a:ext cx="1353312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-0.407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14032" y="2761488"/>
            <a:ext cx="1463040" cy="4114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68896" y="2825496"/>
            <a:ext cx="1353312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0.151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3232" y="3172968"/>
            <a:ext cx="3474720" cy="4114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3236975"/>
            <a:ext cx="3364991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Rule + 500 history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87952" y="3172968"/>
            <a:ext cx="1463040" cy="4114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42816" y="3236975"/>
            <a:ext cx="1353312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2.772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50992" y="3172968"/>
            <a:ext cx="1463040" cy="4114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05856" y="3236975"/>
            <a:ext cx="1353312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+0.463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14032" y="3172968"/>
            <a:ext cx="1463040" cy="4114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68896" y="3236975"/>
            <a:ext cx="1353312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0.154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3232" y="3584448"/>
            <a:ext cx="3474720" cy="4114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8096" y="3648456"/>
            <a:ext cx="3364991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Hybrid gated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87952" y="3584448"/>
            <a:ext cx="1463040" cy="4114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42816" y="3648456"/>
            <a:ext cx="1353312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2.502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50992" y="3584448"/>
            <a:ext cx="1463040" cy="4114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705856" y="3648456"/>
            <a:ext cx="1353312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-0.023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14032" y="3584448"/>
            <a:ext cx="1463040" cy="4114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68896" y="3648456"/>
            <a:ext cx="1353312" cy="2834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0.248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321040" y="1234440"/>
            <a:ext cx="2423160" cy="8229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321040" y="1234440"/>
            <a:ext cx="50292" cy="8229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49056" y="1307592"/>
            <a:ext cx="220370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MAE reduction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49056" y="1481328"/>
            <a:ext cx="220370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198754"/>
                </a:solidFill>
                <a:latin typeface="Microsoft YaHei"/>
              </a:defRPr>
            </a:pPr>
            <a:r>
              <a:rPr sz="1600" b="1">
                <a:solidFill>
                  <a:srgbClr val="198754"/>
                </a:solidFill>
                <a:latin typeface="Microsoft YaHei"/>
              </a:rPr>
              <a:t>-42.3%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49056" y="1792224"/>
            <a:ext cx="220370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vs XGBoost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321040" y="2331720"/>
            <a:ext cx="2423160" cy="8229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321040" y="2331720"/>
            <a:ext cx="50292" cy="8229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449056" y="2404872"/>
            <a:ext cx="220370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Bias reduction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49056" y="2578608"/>
            <a:ext cx="220370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00796B"/>
                </a:solidFill>
                <a:latin typeface="Microsoft YaHei"/>
              </a:defRPr>
            </a:pPr>
            <a:r>
              <a:rPr sz="1600" b="1">
                <a:solidFill>
                  <a:srgbClr val="00796B"/>
                </a:solidFill>
                <a:latin typeface="Microsoft YaHei"/>
              </a:rPr>
              <a:t>-99.4%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49056" y="2889503"/>
            <a:ext cx="220370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absolute wBias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321040" y="3429000"/>
            <a:ext cx="2423160" cy="8229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321040" y="3429000"/>
            <a:ext cx="50292" cy="8229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49056" y="3502152"/>
            <a:ext cx="220370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Key claim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49056" y="3675887"/>
            <a:ext cx="220370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5B21B6"/>
                </a:solidFill>
                <a:latin typeface="Microsoft YaHei"/>
              </a:defRPr>
            </a:pPr>
            <a:r>
              <a:rPr sz="1600" b="1">
                <a:solidFill>
                  <a:srgbClr val="5B21B6"/>
                </a:solidFill>
                <a:latin typeface="Microsoft YaHei"/>
              </a:rPr>
              <a:t>hybrid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49056" y="3986784"/>
            <a:ext cx="220370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direction + calibration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4400" y="5349240"/>
            <a:ext cx="100584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结论：LLM 有情境方向，历史模型有数值锚点；二者分工后最好。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统计验证与稳健性 /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不是单个点估计，也不是随机 pressure 的偶然收益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11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234440"/>
            <a:ext cx="2148840" cy="502920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1307592"/>
            <a:ext cx="2075688" cy="3749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07208" y="1234440"/>
            <a:ext cx="4023360" cy="502920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43784" y="1307592"/>
            <a:ext cx="3950208" cy="3749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Evidence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30568" y="1234440"/>
            <a:ext cx="3840480" cy="502920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67144" y="1307592"/>
            <a:ext cx="3767328" cy="3749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Interpretation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1737360"/>
            <a:ext cx="214884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1801368"/>
            <a:ext cx="2039112" cy="3749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Bootstrap CI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07208" y="1737360"/>
            <a:ext cx="402336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62072" y="1801368"/>
            <a:ext cx="3913632" cy="3749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Hybrid wMAE 2.502 [2.429, 2.581]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30568" y="1737360"/>
            <a:ext cx="384048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85431" y="1801368"/>
            <a:ext cx="3730752" cy="3749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main gain is statistically stable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2240280"/>
            <a:ext cx="214884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2304288"/>
            <a:ext cx="2039112" cy="3749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Paired gain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07208" y="2240280"/>
            <a:ext cx="402336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62072" y="2304288"/>
            <a:ext cx="3913632" cy="3749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MAE gain 1.84, CI [1.74, 1.93]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30568" y="2240280"/>
            <a:ext cx="384048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5431" y="2304288"/>
            <a:ext cx="3730752" cy="3749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paired improvement remains positive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2743200"/>
            <a:ext cx="214884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2807208"/>
            <a:ext cx="2039112" cy="3749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Random pressure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07208" y="2743200"/>
            <a:ext cx="402336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62072" y="2807208"/>
            <a:ext cx="3913632" cy="3749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real LLM pressure beats 500 shuffles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30568" y="2743200"/>
            <a:ext cx="384048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85431" y="2807208"/>
            <a:ext cx="3730752" cy="3749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context prior is not arbitrary ranking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3246120"/>
            <a:ext cx="214884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3310128"/>
            <a:ext cx="2039112" cy="3749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Global prior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07208" y="3246120"/>
            <a:ext cx="402336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62072" y="3310128"/>
            <a:ext cx="3913632" cy="3749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global rule wMAE about 2.52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30568" y="3246120"/>
            <a:ext cx="384048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85431" y="3310128"/>
            <a:ext cx="3730752" cy="3749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event-level correction is strong baseline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303520"/>
            <a:ext cx="100584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rPr sz="1200" b="1">
                <a:solidFill>
                  <a:srgbClr val="BE123C"/>
                </a:solidFill>
                <a:latin typeface="Microsoft YaHei"/>
              </a:rPr>
              <a:t>谨慎表述：global correction 是主体，cohort-specific LLM ranking 是 selective refinement。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Selector Branch 怎么放 / How to Position the Selector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保留 0611 的贡献，但不要让它抢主线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12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143000"/>
            <a:ext cx="3246120" cy="11430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1143000"/>
            <a:ext cx="50292" cy="1143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234440"/>
            <a:ext cx="2953512" cy="411479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适用场景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1709928"/>
            <a:ext cx="2953512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Cold-start, sparse labels, missing fields, and fast simulation.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1143000"/>
            <a:ext cx="3246120" cy="11430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62272" y="1143000"/>
            <a:ext cx="50292" cy="1143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6864" y="1234440"/>
            <a:ext cx="2953512" cy="411479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方法机制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6864" y="1709928"/>
            <a:ext cx="2953512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LLM distills rules; confidence gate selects rule output or LLM fallback.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11312" y="1143000"/>
            <a:ext cx="3246120" cy="11430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11312" y="1143000"/>
            <a:ext cx="50292" cy="114300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5904" y="1234440"/>
            <a:ext cx="2953512" cy="411479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汇报角色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1709928"/>
            <a:ext cx="2953512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A bridge baseline and deployment module, not the final NHTS count winner.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3063240"/>
            <a:ext cx="2651760" cy="457200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" y="3136392"/>
            <a:ext cx="2578608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0611 branch result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11880" y="3063240"/>
            <a:ext cx="3291840" cy="457200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48456" y="3136392"/>
            <a:ext cx="3218688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Use in talk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03720" y="3063240"/>
            <a:ext cx="3840480" cy="457200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0296" y="3136392"/>
            <a:ext cx="3767328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Caveat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" y="3520440"/>
            <a:ext cx="265176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3584448"/>
            <a:ext cx="2542032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25% LLM fallback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11880" y="3520440"/>
            <a:ext cx="329184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66744" y="3584448"/>
            <a:ext cx="3182112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efficiency motivation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03720" y="3520440"/>
            <a:ext cx="384048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58583" y="3584448"/>
            <a:ext cx="3730752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do not mix into main 2022 count metric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" y="3977639"/>
            <a:ext cx="26517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4984" y="4041648"/>
            <a:ext cx="2542032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accuracy close to pure LLM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11880" y="3977639"/>
            <a:ext cx="329184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66744" y="4041648"/>
            <a:ext cx="3182112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cold-start evidence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03720" y="3977639"/>
            <a:ext cx="384048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58583" y="4041648"/>
            <a:ext cx="3730752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different metric from wMAE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0120" y="4434840"/>
            <a:ext cx="265176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4984" y="4498848"/>
            <a:ext cx="2542032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rule interpretability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11880" y="4434840"/>
            <a:ext cx="329184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66744" y="4498848"/>
            <a:ext cx="3182112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explainability module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03720" y="4434840"/>
            <a:ext cx="384048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58583" y="4498848"/>
            <a:ext cx="3730752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needs same-protocol validation later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LLM 的角色 / What the LLM Adds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不是直接替代模型，而是提供时序适应信号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13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234440"/>
            <a:ext cx="251460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298448"/>
            <a:ext cx="236829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2563EB"/>
                </a:solidFill>
                <a:latin typeface="Microsoft YaHei"/>
              </a:defRPr>
            </a:pPr>
            <a:r>
              <a:rPr sz="919" b="1">
                <a:solidFill>
                  <a:srgbClr val="2563EB"/>
                </a:solidFill>
                <a:latin typeface="Microsoft YaHei"/>
              </a:rPr>
              <a:t>Historical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517904"/>
            <a:ext cx="2331720" cy="4846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household grounding</a:t>
            </a:r>
            <a:br/>
            <a:r>
              <a:rPr sz="780" b="0">
                <a:solidFill>
                  <a:srgbClr val="64748B"/>
                </a:solidFill>
                <a:latin typeface="Microsoft YaHei"/>
              </a:rPr>
              <a:t>wMAE 4.34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30752" y="1234440"/>
            <a:ext cx="251460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03904" y="1298448"/>
            <a:ext cx="236829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5B21B6"/>
                </a:solidFill>
                <a:latin typeface="Microsoft YaHei"/>
              </a:defRPr>
            </a:pPr>
            <a:r>
              <a:rPr sz="919" b="1">
                <a:solidFill>
                  <a:srgbClr val="5B21B6"/>
                </a:solidFill>
                <a:latin typeface="Microsoft YaHei"/>
              </a:rPr>
              <a:t>Pure 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22191" y="1517904"/>
            <a:ext cx="2331720" cy="4846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context direction</a:t>
            </a:r>
            <a:br/>
            <a:r>
              <a:rPr sz="780" b="0">
                <a:solidFill>
                  <a:srgbClr val="64748B"/>
                </a:solidFill>
                <a:latin typeface="Microsoft YaHei"/>
              </a:rPr>
              <a:t>wMAE 2.72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84264" y="1234440"/>
            <a:ext cx="251460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57416" y="1298448"/>
            <a:ext cx="2368296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EA580C"/>
                </a:solidFill>
                <a:latin typeface="Microsoft YaHei"/>
              </a:defRPr>
            </a:pPr>
            <a:r>
              <a:rPr sz="919" b="1">
                <a:solidFill>
                  <a:srgbClr val="EA580C"/>
                </a:solidFill>
                <a:latin typeface="Microsoft YaHei"/>
              </a:rPr>
              <a:t>Selector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5703" y="1517904"/>
            <a:ext cx="2331720" cy="4846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rule / fallback</a:t>
            </a:r>
            <a:br/>
            <a:r>
              <a:rPr sz="780" b="0">
                <a:solidFill>
                  <a:srgbClr val="64748B"/>
                </a:solidFill>
                <a:latin typeface="Microsoft YaHei"/>
              </a:rPr>
              <a:t>cold-start module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234440"/>
            <a:ext cx="210312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8592" y="1298448"/>
            <a:ext cx="1956815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919" b="1">
                <a:solidFill>
                  <a:srgbClr val="198754"/>
                </a:solidFill>
                <a:latin typeface="Microsoft YaHei"/>
              </a:defRPr>
            </a:pPr>
            <a:r>
              <a:rPr sz="919" b="1">
                <a:solidFill>
                  <a:srgbClr val="198754"/>
                </a:solidFill>
                <a:latin typeface="Microsoft YaHei"/>
              </a:rPr>
              <a:t>Hybrid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1517904"/>
            <a:ext cx="1920239" cy="4846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780" b="0">
                <a:solidFill>
                  <a:srgbClr val="64748B"/>
                </a:solidFill>
                <a:latin typeface="Microsoft YaHei"/>
              </a:defRPr>
            </a:pPr>
            <a:r>
              <a:rPr sz="780" b="0">
                <a:solidFill>
                  <a:srgbClr val="64748B"/>
                </a:solidFill>
                <a:latin typeface="Microsoft YaHei"/>
              </a:rPr>
              <a:t>direction + calibration</a:t>
            </a:r>
            <a:br/>
            <a:r>
              <a:rPr sz="780" b="0">
                <a:solidFill>
                  <a:srgbClr val="64748B"/>
                </a:solidFill>
                <a:latin typeface="Microsoft YaHei"/>
              </a:rPr>
              <a:t>wMAE 2.50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3063240"/>
            <a:ext cx="4297680" cy="502920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" y="3136392"/>
            <a:ext cx="4224528" cy="3749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Failure mode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57800" y="3063240"/>
            <a:ext cx="5486400" cy="502920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94376" y="3136392"/>
            <a:ext cx="5413248" cy="3749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Why hybrid fixes 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" y="3566160"/>
            <a:ext cx="429768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4" y="3630168"/>
            <a:ext cx="4187952" cy="3749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XGBoost overpredicts target-year trips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57800" y="3566160"/>
            <a:ext cx="548640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12664" y="3630168"/>
            <a:ext cx="5376672" cy="3749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LLM prior adds target-year correction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" y="4069080"/>
            <a:ext cx="429768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4984" y="4133088"/>
            <a:ext cx="4187952" cy="3749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LLM-only has weak numerical calibration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57800" y="4069080"/>
            <a:ext cx="548640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12664" y="4133088"/>
            <a:ext cx="5376672" cy="3749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historical baseline anchors household scale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" y="4572000"/>
            <a:ext cx="429768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4984" y="4636008"/>
            <a:ext cx="4187952" cy="3749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Selector branch is efficient but cold-start oriented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57800" y="4572000"/>
            <a:ext cx="548640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12664" y="4636008"/>
            <a:ext cx="5376672" cy="3749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main task uses full historical grounding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行为系统扩展 / Behavior-System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不仅是 trip count，也能服务规划解释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14 /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1234440"/>
            <a:ext cx="2331720" cy="8229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1234440"/>
            <a:ext cx="50292" cy="8229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1307592"/>
            <a:ext cx="2112263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Mode TV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1481328"/>
            <a:ext cx="2112263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198754"/>
                </a:solidFill>
                <a:latin typeface="Microsoft YaHei"/>
              </a:defRPr>
            </a:pPr>
            <a:r>
              <a:rPr sz="1600" b="1">
                <a:solidFill>
                  <a:srgbClr val="198754"/>
                </a:solidFill>
                <a:latin typeface="Microsoft YaHei"/>
              </a:rPr>
              <a:t>0.201 -&gt; 0.199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1792224"/>
            <a:ext cx="2112263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XGB + transit prior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93008" y="1234440"/>
            <a:ext cx="2331720" cy="8229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93008" y="1234440"/>
            <a:ext cx="50292" cy="8229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1307592"/>
            <a:ext cx="2112263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Transit MAE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1024" y="1481328"/>
            <a:ext cx="2112263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00796B"/>
                </a:solidFill>
                <a:latin typeface="Microsoft YaHei"/>
              </a:defRPr>
            </a:pPr>
            <a:r>
              <a:rPr sz="1600" b="1">
                <a:solidFill>
                  <a:srgbClr val="00796B"/>
                </a:solidFill>
                <a:latin typeface="Microsoft YaHei"/>
              </a:rPr>
              <a:t>0.033 -&gt; 0.027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1024" y="1792224"/>
            <a:ext cx="2112263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mode correction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1234440"/>
            <a:ext cx="2331720" cy="8229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1234440"/>
            <a:ext cx="50292" cy="8229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1307592"/>
            <a:ext cx="2112263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Mode-trip MAE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2783" y="1481328"/>
            <a:ext cx="2112263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5B21B6"/>
                </a:solidFill>
                <a:latin typeface="Microsoft YaHei"/>
              </a:defRPr>
            </a:pPr>
            <a:r>
              <a:rPr sz="1600" b="1">
                <a:solidFill>
                  <a:srgbClr val="5B21B6"/>
                </a:solidFill>
                <a:latin typeface="Microsoft YaHei"/>
              </a:rPr>
              <a:t>3.28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3" y="1792224"/>
            <a:ext cx="2112263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count × mode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96528" y="1234440"/>
            <a:ext cx="2331720" cy="8229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96528" y="1234440"/>
            <a:ext cx="50292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24544" y="1307592"/>
            <a:ext cx="2112263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Purpose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24544" y="1481328"/>
            <a:ext cx="2112263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EA580C"/>
                </a:solidFill>
                <a:latin typeface="Microsoft YaHei"/>
              </a:defRPr>
            </a:pPr>
            <a:r>
              <a:rPr sz="1600" b="1">
                <a:solidFill>
                  <a:srgbClr val="EA580C"/>
                </a:solidFill>
                <a:latin typeface="Microsoft YaHei"/>
              </a:rPr>
              <a:t>exploratory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24544" y="1792224"/>
            <a:ext cx="2112263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future adapter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2971800"/>
            <a:ext cx="10058400" cy="4114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讲法：方式和目的模块说明框架可以扩展到规划相关输出；最强证据仍是 trip-generation temporal adaptation。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3886200"/>
            <a:ext cx="4206240" cy="457200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65376" y="3959352"/>
            <a:ext cx="4133087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Planning question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3886200"/>
            <a:ext cx="4206240" cy="457200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71616" y="3959352"/>
            <a:ext cx="4133087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Output used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0" y="4343400"/>
            <a:ext cx="420624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83664" y="4407408"/>
            <a:ext cx="4096511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总体交通需求是否下降？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4343400"/>
            <a:ext cx="420624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9903" y="4407408"/>
            <a:ext cx="4096511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trip generation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0" y="4800600"/>
            <a:ext cx="420624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83664" y="4864608"/>
            <a:ext cx="4096511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公共交通恢复是否不足？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4800600"/>
            <a:ext cx="420624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89903" y="4864608"/>
            <a:ext cx="4096511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mode share / transit share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0" y="5257800"/>
            <a:ext cx="420624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83664" y="5321808"/>
            <a:ext cx="4096511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哪些出行目的发生变化？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5257800"/>
            <a:ext cx="420624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89903" y="5321808"/>
            <a:ext cx="4096511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purpose composition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多目标选择 / Multi-Objective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把模型结果转成规划决策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15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4440" y="1463040"/>
            <a:ext cx="2468880" cy="502920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71016" y="1536192"/>
            <a:ext cx="2395728" cy="3749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Preference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3320" y="1463040"/>
            <a:ext cx="2560320" cy="502920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9896" y="1536192"/>
            <a:ext cx="2487168" cy="3749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Selected method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63040"/>
            <a:ext cx="1371600" cy="502920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1536192"/>
            <a:ext cx="1298448" cy="3749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wMAE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1463040"/>
            <a:ext cx="1371600" cy="502920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71815" y="1536192"/>
            <a:ext cx="1298448" cy="3749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|bias|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0" y="1463040"/>
            <a:ext cx="1371600" cy="502920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43415" y="1536192"/>
            <a:ext cx="1298448" cy="3749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LLM req.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34440" y="1965960"/>
            <a:ext cx="246888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9304" y="2029968"/>
            <a:ext cx="2359152" cy="3749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Calibration-first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03320" y="1965960"/>
            <a:ext cx="256032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58184" y="2029968"/>
            <a:ext cx="2450591" cy="3749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Gated LLM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965960"/>
            <a:ext cx="137160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18503" y="2029968"/>
            <a:ext cx="1261872" cy="3749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2.502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35240" y="1965960"/>
            <a:ext cx="137160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0104" y="2029968"/>
            <a:ext cx="1261872" cy="3749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0.023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40" y="1965960"/>
            <a:ext cx="137160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61704" y="2029968"/>
            <a:ext cx="1261872" cy="3749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89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34440" y="2468880"/>
            <a:ext cx="246888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9304" y="2532888"/>
            <a:ext cx="2359152" cy="3749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Balanced / main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03320" y="2468880"/>
            <a:ext cx="256032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58184" y="2532888"/>
            <a:ext cx="2450591" cy="3749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Gated LLM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468880"/>
            <a:ext cx="137160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18503" y="2532888"/>
            <a:ext cx="1261872" cy="3749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2.502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35240" y="2468880"/>
            <a:ext cx="137160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90104" y="2532888"/>
            <a:ext cx="1261872" cy="3749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0.023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06840" y="2468880"/>
            <a:ext cx="137160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61704" y="2532888"/>
            <a:ext cx="1261872" cy="3749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89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34440" y="2971800"/>
            <a:ext cx="246888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89304" y="3035808"/>
            <a:ext cx="2359152" cy="3749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Low-cost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03320" y="2971800"/>
            <a:ext cx="256032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58184" y="3035808"/>
            <a:ext cx="2450591" cy="3749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Global prior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2971800"/>
            <a:ext cx="137160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18503" y="3035808"/>
            <a:ext cx="1261872" cy="3749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2.553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35240" y="2971800"/>
            <a:ext cx="137160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90104" y="3035808"/>
            <a:ext cx="1261872" cy="3749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0.123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06840" y="2971800"/>
            <a:ext cx="137160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61704" y="3035808"/>
            <a:ext cx="1261872" cy="3749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" y="3886200"/>
            <a:ext cx="9875520" cy="5029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Microsoft YaHei"/>
              </a:defRPr>
            </a:pPr>
            <a:r>
              <a:rPr sz="1300" b="1">
                <a:solidFill>
                  <a:srgbClr val="2563EB"/>
                </a:solidFill>
                <a:latin typeface="Microsoft YaHei"/>
              </a:rPr>
              <a:t>不是只有一个最优模型：如果预算很低，global prior 是可解释低成本点；如果追求校准，gated hybrid 是主点。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边界与改进 /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主动讲清楚，避免被追问时被动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16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234440"/>
            <a:ext cx="2743200" cy="530352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1307592"/>
            <a:ext cx="2670048" cy="40233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Boundary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1234440"/>
            <a:ext cx="7132320" cy="530352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7016" y="1307592"/>
            <a:ext cx="7059168" cy="40233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Paper-safe wording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1764792"/>
            <a:ext cx="274320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3" y="1828800"/>
            <a:ext cx="2633472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Not causal effect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40" y="1764792"/>
            <a:ext cx="713232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75304" y="1828800"/>
            <a:ext cx="7022592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causal guardrails support mechanism plausibility, not COVID effect identification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295144"/>
            <a:ext cx="2743200" cy="53035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3" y="2359151"/>
            <a:ext cx="2633472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Not pure LLM superiority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2295144"/>
            <a:ext cx="7132320" cy="53035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75304" y="2359151"/>
            <a:ext cx="7022592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LLM-only remains less calibrated than hybrid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825496"/>
            <a:ext cx="274320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3" y="2889503"/>
            <a:ext cx="2633472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Selector branch protocol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0440" y="2825496"/>
            <a:ext cx="713232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75304" y="2889503"/>
            <a:ext cx="7022592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needs same-metric validation before becoming main result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3355848"/>
            <a:ext cx="2743200" cy="53035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3" y="3419856"/>
            <a:ext cx="2633472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Event context risk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0440" y="3355848"/>
            <a:ext cx="7132320" cy="53035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75304" y="3419856"/>
            <a:ext cx="7022592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future work: frozen RAG corpus / prospective event feeds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257800"/>
            <a:ext cx="100584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BE123C"/>
                </a:solidFill>
                <a:latin typeface="Microsoft YaHei"/>
              </a:defRPr>
            </a:pPr>
            <a:r>
              <a:rPr sz="1200" b="1">
                <a:solidFill>
                  <a:srgbClr val="BE123C"/>
                </a:solidFill>
                <a:latin typeface="Microsoft YaHei"/>
              </a:rPr>
              <a:t>这页可以只讲 30 秒，但必须保留：它让项目显得更像研究，而不是宣传。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A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CBD5E1"/>
                </a:solidFill>
                <a:latin typeface="Microsoft YaHei"/>
              </a:defRPr>
            </a:pPr>
            <a:r>
              <a:rPr sz="750" b="1">
                <a:solidFill>
                  <a:srgbClr val="CBD5E1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Microsoft YaHei"/>
              </a:defRPr>
            </a:pPr>
            <a:r>
              <a:rPr sz="1750" b="1">
                <a:solidFill>
                  <a:srgbClr val="FFFFFF"/>
                </a:solidFill>
                <a:latin typeface="Microsoft YaHei"/>
              </a:rPr>
              <a:t>总结 /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CBD5E1"/>
                </a:solidFill>
                <a:latin typeface="Microsoft YaHei"/>
              </a:defRPr>
            </a:pPr>
            <a:r>
              <a:rPr sz="850" b="0">
                <a:solidFill>
                  <a:srgbClr val="CBD5E1"/>
                </a:solidFill>
                <a:latin typeface="Microsoft YaHei"/>
              </a:rPr>
              <a:t>LLM-guided temporal adaptation, not direct LLM prediction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81944" y="173736"/>
            <a:ext cx="786384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CBD5E1"/>
                </a:solidFill>
                <a:latin typeface="Microsoft YaHei"/>
              </a:defRPr>
            </a:pPr>
            <a:r>
              <a:rPr sz="750" b="0">
                <a:solidFill>
                  <a:srgbClr val="CBD5E1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CBD5E1"/>
                </a:solidFill>
                <a:latin typeface="Microsoft YaHei"/>
              </a:defRPr>
            </a:pPr>
            <a:r>
              <a:rPr sz="750" b="1">
                <a:solidFill>
                  <a:srgbClr val="CBD5E1"/>
                </a:solidFill>
                <a:latin typeface="Microsoft YaHei"/>
              </a:rPr>
              <a:t>17 /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417320"/>
            <a:ext cx="9875520" cy="6583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当目标年情境变化打破历史连续性时，LLM 最适合作为情境先验和模拟选择器，帮助传统 household model 做时序适应。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2788920"/>
            <a:ext cx="25146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2788920"/>
            <a:ext cx="50292" cy="86868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71016" y="2862072"/>
            <a:ext cx="229514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71016" y="3035808"/>
            <a:ext cx="229514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198754"/>
                </a:solidFill>
                <a:latin typeface="Microsoft YaHei"/>
              </a:defRPr>
            </a:pPr>
            <a:r>
              <a:rPr sz="1600" b="1">
                <a:solidFill>
                  <a:srgbClr val="198754"/>
                </a:solidFill>
                <a:latin typeface="Microsoft YaHei"/>
              </a:rPr>
              <a:t>wMAE 2.502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1016" y="3346703"/>
            <a:ext cx="229514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hybrid gated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69080" y="2788920"/>
            <a:ext cx="25146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69080" y="2788920"/>
            <a:ext cx="50292" cy="86868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7096" y="2862072"/>
            <a:ext cx="229514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Calibration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7096" y="3035808"/>
            <a:ext cx="229514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00796B"/>
                </a:solidFill>
                <a:latin typeface="Microsoft YaHei"/>
              </a:defRPr>
            </a:pPr>
            <a:r>
              <a:rPr sz="1600" b="1">
                <a:solidFill>
                  <a:srgbClr val="00796B"/>
                </a:solidFill>
                <a:latin typeface="Microsoft YaHei"/>
              </a:rPr>
              <a:t>bias -0.023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97096" y="3346703"/>
            <a:ext cx="229514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near zero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95160" y="2788920"/>
            <a:ext cx="25146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95160" y="2788920"/>
            <a:ext cx="50292" cy="8686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23176" y="2862072"/>
            <a:ext cx="2295144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80" b="1">
                <a:solidFill>
                  <a:srgbClr val="64748B"/>
                </a:solidFill>
                <a:latin typeface="Microsoft YaHei"/>
              </a:defRPr>
            </a:pPr>
            <a:r>
              <a:rPr sz="780" b="1">
                <a:solidFill>
                  <a:srgbClr val="64748B"/>
                </a:solidFill>
                <a:latin typeface="Microsoft YaHei"/>
              </a:rPr>
              <a:t>Framework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3176" y="3035808"/>
            <a:ext cx="2295144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600" b="1">
                <a:solidFill>
                  <a:srgbClr val="EA580C"/>
                </a:solidFill>
                <a:latin typeface="Microsoft YaHei"/>
              </a:defRPr>
            </a:pPr>
            <a:r>
              <a:rPr sz="1600" b="1">
                <a:solidFill>
                  <a:srgbClr val="EA580C"/>
                </a:solidFill>
                <a:latin typeface="Microsoft YaHei"/>
              </a:rPr>
              <a:t>2 branches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23176" y="3346703"/>
            <a:ext cx="2295144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selector + corrector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617720"/>
            <a:ext cx="9601200" cy="4114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50" b="1">
                <a:solidFill>
                  <a:srgbClr val="CBD5E1"/>
                </a:solidFill>
                <a:latin typeface="Microsoft YaHei"/>
              </a:defRPr>
            </a:pPr>
            <a:r>
              <a:rPr sz="1250" b="1">
                <a:solidFill>
                  <a:srgbClr val="CBD5E1"/>
                </a:solidFill>
                <a:latin typeface="Microsoft YaHei"/>
              </a:rPr>
              <a:t>一句话回答老师：我们不是用 LLM 直接造预测，而是用 LLM 帮模型选择和修正，使它适应目标年的新情境。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09728"/>
            <a:ext cx="448056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Mobility Inequality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347472"/>
            <a:ext cx="50292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400" b="1">
                <a:solidFill>
                  <a:srgbClr val="00796B"/>
                </a:solidFill>
                <a:latin typeface="Microsoft YaHei"/>
              </a:defRPr>
            </a:pPr>
            <a:r>
              <a:rPr sz="1400" b="1">
                <a:solidFill>
                  <a:srgbClr val="00796B"/>
                </a:solidFill>
                <a:latin typeface="Microsoft YaHei"/>
              </a:rPr>
              <a:t>B1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46888"/>
            <a:ext cx="8412480" cy="32918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rPr sz="1750" b="1">
                <a:solidFill>
                  <a:srgbClr val="0F172A"/>
                </a:solidFill>
                <a:latin typeface="Microsoft YaHei"/>
              </a:rPr>
              <a:t>Backup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85216"/>
            <a:ext cx="8869680" cy="2286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rPr sz="850" b="0">
                <a:solidFill>
                  <a:srgbClr val="64748B"/>
                </a:solidFill>
                <a:latin typeface="Microsoft YaHei"/>
              </a:rPr>
              <a:t>0611 原稿中应转入 Q&amp;A 的内容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01168"/>
            <a:ext cx="713232" cy="5027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877824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6428232"/>
            <a:ext cx="11201400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57150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</a:rPr>
              <a:t>LLM-Guided Temporal Adaptation for Household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73952"/>
            <a:ext cx="914400" cy="1645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r">
              <a:defRPr sz="750" b="1">
                <a:solidFill>
                  <a:srgbClr val="64748B"/>
                </a:solidFill>
                <a:latin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</a:rPr>
              <a:t>18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1325880"/>
            <a:ext cx="2194560" cy="530352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399032"/>
            <a:ext cx="2121408" cy="40233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39" y="1325880"/>
            <a:ext cx="4114800" cy="530352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9815" y="1399032"/>
            <a:ext cx="4041648" cy="40233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Content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1325880"/>
            <a:ext cx="3657600" cy="530352"/>
          </a:xfrm>
          <a:prstGeom prst="rect">
            <a:avLst/>
          </a:prstGeom>
          <a:solidFill>
            <a:srgbClr val="11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14616" y="1399032"/>
            <a:ext cx="3584448" cy="40233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When to use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1856231"/>
            <a:ext cx="219456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1920239"/>
            <a:ext cx="2084831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Original 9-14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39" y="1856231"/>
            <a:ext cx="411480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18103" y="1920239"/>
            <a:ext cx="4005072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LLM rule extraction iterations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78040" y="1856231"/>
            <a:ext cx="365760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32904" y="1920239"/>
            <a:ext cx="3547872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问 selector 细节时讲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2386584"/>
            <a:ext cx="2194560" cy="53035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" y="2450591"/>
            <a:ext cx="2084831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Original 15-18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63239" y="2386584"/>
            <a:ext cx="4114800" cy="53035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18103" y="2450591"/>
            <a:ext cx="4005072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cold-start accuracy tables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8040" y="2386584"/>
            <a:ext cx="3657600" cy="53035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32904" y="2450591"/>
            <a:ext cx="3547872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问数据稀疏实验时讲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2916935"/>
            <a:ext cx="219456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" y="2980943"/>
            <a:ext cx="2084831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Original 26-30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63239" y="2916935"/>
            <a:ext cx="411480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18103" y="2980943"/>
            <a:ext cx="4005072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error / heterogeneity details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78040" y="2916935"/>
            <a:ext cx="3657600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32904" y="2980943"/>
            <a:ext cx="3547872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问稳健性和误差分布时讲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" y="3447287"/>
            <a:ext cx="2194560" cy="53035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" y="3511295"/>
            <a:ext cx="2084831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</a:rPr>
              <a:t>External checks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63239" y="3447287"/>
            <a:ext cx="4114800" cy="53035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18103" y="3511295"/>
            <a:ext cx="4005072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ACS / PSRC / BTS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78040" y="3447287"/>
            <a:ext cx="3657600" cy="53035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32904" y="3511295"/>
            <a:ext cx="3547872" cy="40233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问外部验证时讲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5120640"/>
            <a:ext cx="10058400" cy="3200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主讲只保留故事线，细节全部作为 backup，保证 10 分钟内讲清楚。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9810</TotalTime>
  <Words>6896</Words>
  <Application>Microsoft Office PowerPoint</Application>
  <PresentationFormat>宽屏</PresentationFormat>
  <Paragraphs>762</Paragraphs>
  <Slides>35</Slides>
  <Notes>33</Notes>
  <HiddenSlides>1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52" baseType="lpstr">
      <vt:lpstr>Avenir</vt:lpstr>
      <vt:lpstr>ElsevierGulliver</vt:lpstr>
      <vt:lpstr>Inter</vt:lpstr>
      <vt:lpstr>SFMono-Regular</vt:lpstr>
      <vt:lpstr>Weibei SC Bold</vt:lpstr>
      <vt:lpstr>等线</vt:lpstr>
      <vt:lpstr>等线 Light</vt:lpstr>
      <vt:lpstr>华文细黑</vt:lpstr>
      <vt:lpstr>Microsoft yahei</vt:lpstr>
      <vt:lpstr>Microsoft yahei</vt:lpstr>
      <vt:lpstr>Microsoft yahei</vt:lpstr>
      <vt:lpstr>Arial</vt:lpstr>
      <vt:lpstr>Calibri</vt:lpstr>
      <vt:lpstr>Helvetica</vt:lpstr>
      <vt:lpstr>Times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lrving</dc:creator>
  <cp:lastModifiedBy>斑 宇智波</cp:lastModifiedBy>
  <cp:revision>32</cp:revision>
  <dcterms:created xsi:type="dcterms:W3CDTF">2023-11-10T13:11:20Z</dcterms:created>
  <dcterms:modified xsi:type="dcterms:W3CDTF">2026-06-09T15:18:45Z</dcterms:modified>
</cp:coreProperties>
</file>