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1051560"/>
            <a:ext cx="1088136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200" b="1">
                <a:solidFill>
                  <a:srgbClr val="FFFFFF"/>
                </a:solidFill>
                <a:latin typeface="Microsoft YaHei"/>
              </a:defRPr>
            </a:pPr>
            <a:r>
              <a:t>Label-Free LLM Event Adaptation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2331720"/>
            <a:ext cx="99669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CBD5E1"/>
                </a:solidFill>
                <a:latin typeface="Microsoft YaHei"/>
              </a:defRPr>
            </a:pPr>
            <a:r>
              <a:t>Post-pandemic household travel prediction with no 2022 training labels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4160520"/>
            <a:ext cx="2468880" cy="11430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475569"/>
                </a:solidFill>
                <a:latin typeface="Microsoft YaHei"/>
              </a:defRPr>
            </a:pPr>
            <a:r>
              <a:t>Weighted MAE</a:t>
            </a:r>
          </a:p>
          <a:p>
            <a:pPr>
              <a:defRPr sz="2300" b="1">
                <a:solidFill>
                  <a:srgbClr val="3B82F6"/>
                </a:solidFill>
                <a:latin typeface="Microsoft YaHei"/>
              </a:defRPr>
            </a:pPr>
            <a:r>
              <a:t>-42.3%</a:t>
            </a:r>
          </a:p>
          <a:p>
            <a:pPr>
              <a:defRPr sz="800">
                <a:solidFill>
                  <a:srgbClr val="64748B"/>
                </a:solidFill>
                <a:latin typeface="Microsoft YaHei"/>
              </a:defRPr>
            </a:pPr>
            <a:r>
              <a:t>primary gated rule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520440" y="4160520"/>
            <a:ext cx="2468880" cy="11430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475569"/>
                </a:solidFill>
                <a:latin typeface="Microsoft YaHei"/>
              </a:defRPr>
            </a:pPr>
            <a:r>
              <a:t>Weighted Bias</a:t>
            </a:r>
          </a:p>
          <a:p>
            <a:pPr>
              <a:defRPr sz="2300" b="1">
                <a:solidFill>
                  <a:srgbClr val="16A34A"/>
                </a:solidFill>
                <a:latin typeface="Microsoft YaHei"/>
              </a:defRPr>
            </a:pPr>
            <a:r>
              <a:t>-99.4%</a:t>
            </a:r>
          </a:p>
          <a:p>
            <a:pPr>
              <a:defRPr sz="800">
                <a:solidFill>
                  <a:srgbClr val="64748B"/>
                </a:solidFill>
                <a:latin typeface="Microsoft YaHei"/>
              </a:defRPr>
            </a:pPr>
            <a:r>
              <a:t>gated absolute bias reduction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4160520"/>
            <a:ext cx="2468880" cy="11430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475569"/>
                </a:solidFill>
                <a:latin typeface="Microsoft YaHei"/>
              </a:defRPr>
            </a:pPr>
            <a:r>
              <a:t>LLM Requests</a:t>
            </a:r>
          </a:p>
          <a:p>
            <a:pPr>
              <a:defRPr sz="2300" b="1">
                <a:solidFill>
                  <a:srgbClr val="F97316"/>
                </a:solidFill>
                <a:latin typeface="Microsoft YaHei"/>
              </a:defRPr>
            </a:pPr>
            <a:r>
              <a:t>-83.2%</a:t>
            </a:r>
          </a:p>
          <a:p>
            <a:pPr>
              <a:defRPr sz="800">
                <a:solidFill>
                  <a:srgbClr val="64748B"/>
                </a:solidFill>
                <a:latin typeface="Microsoft YaHei"/>
              </a:defRPr>
            </a:pPr>
            <a:r>
              <a:t>cohort-level generation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46520"/>
            <a:ext cx="110642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NHTS 2022 Event Adaptation |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Microsoft YaHei"/>
              </a:defRPr>
            </a:pPr>
            <a:r>
              <a:t>Problem: 2022 breaks routine mobility continuity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446520"/>
            <a:ext cx="110642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NHTS 2022 Event Adaptation |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4937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1E293B"/>
                </a:solidFill>
                <a:latin typeface="Microsoft YaHei"/>
              </a:defRPr>
            </a:pPr>
            <a:r>
              <a:t>Pre-pandemic historical waves learn routine household mobility.</a:t>
            </a:r>
          </a:p>
          <a:p>
            <a:pPr>
              <a:spcAft>
                <a:spcPts val="800"/>
              </a:spcAft>
              <a:defRPr sz="2000">
                <a:solidFill>
                  <a:srgbClr val="1E293B"/>
                </a:solidFill>
                <a:latin typeface="Microsoft YaHei"/>
              </a:defRPr>
            </a:pPr>
            <a:r>
              <a:t>COVID-era recovery changed commuting, shopping, transit use, and discretionary activity.</a:t>
            </a:r>
          </a:p>
          <a:p>
            <a:pPr>
              <a:spcAft>
                <a:spcPts val="800"/>
              </a:spcAft>
              <a:defRPr sz="2000">
                <a:solidFill>
                  <a:srgbClr val="1E293B"/>
                </a:solidFill>
                <a:latin typeface="Microsoft YaHei"/>
              </a:defRPr>
            </a:pPr>
            <a:r>
              <a:t>The target is household daily trip count, evaluated on 7,893 2022 households.</a:t>
            </a:r>
          </a:p>
        </p:txBody>
      </p:sp>
      <p:pic>
        <p:nvPicPr>
          <p:cNvPr id="5" name="Picture 4" descr="metric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234440"/>
            <a:ext cx="5806440" cy="287163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Microsoft YaHei"/>
              </a:defRPr>
            </a:pPr>
            <a:r>
              <a:t>Research 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475569"/>
                </a:solidFill>
                <a:latin typeface="Microsoft YaHei"/>
              </a:defRPr>
            </a:pPr>
            <a:r>
              <a:t>Can event semantics repair 2022 prediction without target-year labels?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46520"/>
            <a:ext cx="110642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NHTS 2022 Event Adaptation |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417320"/>
            <a:ext cx="52120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>
                <a:solidFill>
                  <a:srgbClr val="1E293B"/>
                </a:solidFill>
                <a:latin typeface="Microsoft YaHei"/>
              </a:defRPr>
            </a:pPr>
            <a:r>
              <a:t>No 2022 CNTTDHH labels are used for training or calibration.</a:t>
            </a:r>
          </a:p>
          <a:p>
            <a:pPr>
              <a:spcAft>
                <a:spcPts val="800"/>
              </a:spcAft>
              <a:defRPr sz="2200">
                <a:solidFill>
                  <a:srgbClr val="1E293B"/>
                </a:solidFill>
                <a:latin typeface="Microsoft YaHei"/>
              </a:defRPr>
            </a:pPr>
            <a:r>
              <a:t>LLM is not used as a direct numerical predictor.</a:t>
            </a:r>
          </a:p>
          <a:p>
            <a:pPr>
              <a:spcAft>
                <a:spcPts val="800"/>
              </a:spcAft>
              <a:defRPr sz="2200">
                <a:solidFill>
                  <a:srgbClr val="1E293B"/>
                </a:solidFill>
                <a:latin typeface="Microsoft YaHei"/>
              </a:defRPr>
            </a:pPr>
            <a:r>
              <a:t>LLM generates structured pandemic-response priors for household cohorts.</a:t>
            </a:r>
          </a:p>
        </p:txBody>
      </p:sp>
      <p:pic>
        <p:nvPicPr>
          <p:cNvPr id="6" name="Picture 5" descr="method_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0" y="1417320"/>
            <a:ext cx="5760720" cy="236297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Microsoft YaHei"/>
              </a:defRPr>
            </a:pPr>
            <a:r>
              <a:t>Method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475569"/>
                </a:solidFill>
                <a:latin typeface="Microsoft YaHei"/>
              </a:defRPr>
            </a:pPr>
            <a:r>
              <a:t>Distill LLM event semantics into a lightweight correction rule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46520"/>
            <a:ext cx="110642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NHTS 2022 Event Adaptation | 4</a:t>
            </a:r>
          </a:p>
        </p:txBody>
      </p:sp>
      <p:pic>
        <p:nvPicPr>
          <p:cNvPr id="5" name="Picture 4" descr="method_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234440"/>
            <a:ext cx="10698480" cy="43883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54864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E293B"/>
                </a:solidFill>
                <a:latin typeface="Microsoft YaHei"/>
              </a:defRPr>
            </a:pPr>
            <a:r>
              <a:t>Final rule: prediction = routine prediction × clip(1 - alpha × event pressure, min_factor, 1)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Microsoft YaHei"/>
              </a:defRPr>
            </a:pPr>
            <a:r>
              <a:t>LLM event priors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475569"/>
                </a:solidFill>
                <a:latin typeface="Microsoft YaHei"/>
              </a:defRPr>
            </a:pPr>
            <a:r>
              <a:t>Cohort-level generation improves cost and auditability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46520"/>
            <a:ext cx="110642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NHTS 2022 Event Adaptation |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1E293B"/>
                </a:solidFill>
                <a:latin typeface="Microsoft YaHei"/>
              </a:defRPr>
            </a:pPr>
            <a:r>
              <a:t>1,327 cohort prompts cover 7,893 households.</a:t>
            </a:r>
          </a:p>
          <a:p>
            <a:pPr>
              <a:spcAft>
                <a:spcPts val="800"/>
              </a:spcAft>
              <a:defRPr sz="2100">
                <a:solidFill>
                  <a:srgbClr val="1E293B"/>
                </a:solidFill>
                <a:latin typeface="Microsoft YaHei"/>
              </a:defRPr>
            </a:pPr>
            <a:r>
              <a:t>Request reduction: 83.2%, about 5.95x fewer calls.</a:t>
            </a:r>
          </a:p>
          <a:p>
            <a:pPr>
              <a:spcAft>
                <a:spcPts val="800"/>
              </a:spcAft>
              <a:defRPr sz="2100">
                <a:solidFill>
                  <a:srgbClr val="1E293B"/>
                </a:solidFill>
                <a:latin typeface="Microsoft YaHei"/>
              </a:defRPr>
            </a:pPr>
            <a:r>
              <a:t>Primary useful feature: trip_suppression_risk.</a:t>
            </a:r>
          </a:p>
        </p:txBody>
      </p:sp>
      <p:pic>
        <p:nvPicPr>
          <p:cNvPr id="6" name="Picture 5" descr="event_pressure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0" y="1188720"/>
            <a:ext cx="5806440" cy="305805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Microsoft YaHei"/>
              </a:defRPr>
            </a:pPr>
            <a:r>
              <a:t>Main 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475569"/>
                </a:solidFill>
                <a:latin typeface="Microsoft YaHei"/>
              </a:defRPr>
            </a:pPr>
            <a:r>
              <a:t>Fixed gated LLM event prior sharply reduces household prediction error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46520"/>
            <a:ext cx="110642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NHTS 2022 Event Adaptation | 6</a:t>
            </a:r>
          </a:p>
        </p:txBody>
      </p:sp>
      <p:pic>
        <p:nvPicPr>
          <p:cNvPr id="5" name="Picture 4" descr="metric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143000"/>
            <a:ext cx="10881360" cy="538149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Microsoft YaHei"/>
              </a:defRPr>
            </a:pPr>
            <a:r>
              <a:t>Bias and distributional fit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475569"/>
                </a:solidFill>
                <a:latin typeface="Microsoft YaHei"/>
              </a:defRPr>
            </a:pPr>
            <a:r>
              <a:t>Gated correction is nearly unbiased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46520"/>
            <a:ext cx="110642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NHTS 2022 Event Adaptation | 7</a:t>
            </a:r>
          </a:p>
        </p:txBody>
      </p:sp>
      <p:pic>
        <p:nvPicPr>
          <p:cNvPr id="5" name="Picture 4" descr="bias_r2_trade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143000"/>
            <a:ext cx="10515600" cy="426655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Microsoft YaHei"/>
              </a:defRPr>
            </a:pPr>
            <a:r>
              <a:t>Household-level accuracy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475569"/>
                </a:solidFill>
                <a:latin typeface="Microsoft YaHei"/>
              </a:defRPr>
            </a:pPr>
            <a:r>
              <a:t>Interpret regression results with tolerance bands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46520"/>
            <a:ext cx="110642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NHTS 2022 Event Adaptation | 8</a:t>
            </a:r>
          </a:p>
        </p:txBody>
      </p:sp>
      <p:pic>
        <p:nvPicPr>
          <p:cNvPr id="5" name="Picture 4" descr="household_tolerance_accura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143000"/>
            <a:ext cx="10698480" cy="523662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97280" y="571500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E293B"/>
                </a:solidFill>
                <a:latin typeface="Microsoft YaHei"/>
              </a:defRPr>
            </a:pPr>
            <a:r>
              <a:t>Gated correction: MAE 2.47; 54.5% within ±2 trips; 71.2% within ±3 trips.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Microsoft YaHei"/>
              </a:defRPr>
            </a:pPr>
            <a:r>
              <a:t>Diagnostics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475569"/>
                </a:solidFill>
                <a:latin typeface="Microsoft YaHei"/>
              </a:defRPr>
            </a:pPr>
            <a:r>
              <a:t>Event-level downscaling is the main effect; cohort ranking adds local signal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46520"/>
            <a:ext cx="110642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NHTS 2022 Event Adaptation | 9</a:t>
            </a:r>
          </a:p>
        </p:txBody>
      </p:sp>
      <p:pic>
        <p:nvPicPr>
          <p:cNvPr id="5" name="Picture 4" descr="subgroup_llm_gai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143000"/>
            <a:ext cx="6400800" cy="31910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06640" y="1417320"/>
            <a:ext cx="3840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E293B"/>
                </a:solidFill>
                <a:latin typeface="Microsoft YaHei"/>
              </a:defRPr>
            </a:pPr>
            <a:r>
              <a:t>Global controls are strong: the pandemic shift is a broad event-level effect.</a:t>
            </a:r>
          </a:p>
          <a:p>
            <a:pPr>
              <a:spcAft>
                <a:spcPts val="800"/>
              </a:spcAft>
              <a:defRPr sz="1900">
                <a:solidFill>
                  <a:srgbClr val="1E293B"/>
                </a:solidFill>
                <a:latin typeface="Microsoft YaHei"/>
              </a:defRPr>
            </a:pPr>
            <a:r>
              <a:t>Random controls are weaker than LLM trip suppression.</a:t>
            </a:r>
          </a:p>
          <a:p>
            <a:pPr>
              <a:spcAft>
                <a:spcPts val="800"/>
              </a:spcAft>
              <a:defRPr sz="1900">
                <a:solidFill>
                  <a:srgbClr val="1E293B"/>
                </a:solidFill>
                <a:latin typeface="Microsoft YaHei"/>
              </a:defRPr>
            </a:pPr>
            <a:r>
              <a:t>Subgroup gains show where cohort-specific ranking adds value.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Microsoft YaHei"/>
              </a:defRPr>
            </a:pPr>
            <a:r>
              <a:t>Takeaway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475569"/>
                </a:solidFill>
                <a:latin typeface="Microsoft YaHei"/>
              </a:defRPr>
            </a:pPr>
            <a:r>
              <a:t>LLMs are useful as event-prior generators, not direct trip-count predictors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46520"/>
            <a:ext cx="110642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NHTS 2022 Event Adaptation |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417320"/>
            <a:ext cx="9875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300">
                <a:solidFill>
                  <a:srgbClr val="1E293B"/>
                </a:solidFill>
                <a:latin typeface="Microsoft YaHei"/>
              </a:defRPr>
            </a:pPr>
            <a:r>
              <a:t>Contribution: label-free event adaptation for post-pandemic travel demand.</a:t>
            </a:r>
          </a:p>
          <a:p>
            <a:pPr>
              <a:spcAft>
                <a:spcPts val="800"/>
              </a:spcAft>
              <a:defRPr sz="2300">
                <a:solidFill>
                  <a:srgbClr val="1E293B"/>
                </a:solidFill>
                <a:latin typeface="Microsoft YaHei"/>
              </a:defRPr>
            </a:pPr>
            <a:r>
              <a:t>Accuracy: primary weighted MAE reduction 42.3%; best-MAE sensitivity reduction 42.8%.</a:t>
            </a:r>
          </a:p>
          <a:p>
            <a:pPr>
              <a:spcAft>
                <a:spcPts val="800"/>
              </a:spcAft>
              <a:defRPr sz="2300">
                <a:solidFill>
                  <a:srgbClr val="1E293B"/>
                </a:solidFill>
                <a:latin typeface="Microsoft YaHei"/>
              </a:defRPr>
            </a:pPr>
            <a:r>
              <a:t>Bias: primary gated correction reduces absolute weighted bias by 99.4%.</a:t>
            </a:r>
          </a:p>
          <a:p>
            <a:pPr>
              <a:spcAft>
                <a:spcPts val="800"/>
              </a:spcAft>
              <a:defRPr sz="2300">
                <a:solidFill>
                  <a:srgbClr val="1E293B"/>
                </a:solidFill>
                <a:latin typeface="Microsoft YaHei"/>
              </a:defRPr>
            </a:pPr>
            <a:r>
              <a:t>Efficiency: cohort prompting reduces LLM requests by 83.2%.</a:t>
            </a:r>
          </a:p>
          <a:p>
            <a:pPr>
              <a:spcAft>
                <a:spcPts val="800"/>
              </a:spcAft>
              <a:defRPr sz="2300">
                <a:solidFill>
                  <a:srgbClr val="1E293B"/>
                </a:solidFill>
                <a:latin typeface="Microsoft YaHei"/>
              </a:defRPr>
            </a:pPr>
            <a:r>
              <a:t>Future work: stronger priors, external event context, and prospective validation.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