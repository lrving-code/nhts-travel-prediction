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Label-Free LLM Event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33172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BD5E1"/>
                </a:solidFill>
                <a:latin typeface="Microsoft YaHei"/>
              </a:defRPr>
            </a:pPr>
            <a:r>
              <a:t>Post-pandemic household travel prediction with no 2022 training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160520"/>
            <a:ext cx="246888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Weighted MAE</a:t>
            </a:r>
          </a:p>
          <a:p>
            <a:pPr>
              <a:defRPr sz="2300" b="1">
                <a:solidFill>
                  <a:srgbClr val="3B82F6"/>
                </a:solidFill>
                <a:latin typeface="Microsoft YaHei"/>
              </a:defRPr>
            </a:pPr>
            <a:r>
              <a:t>-42.8%</a:t>
            </a:r>
          </a:p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vs historical predictor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4160520"/>
            <a:ext cx="246888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Weighted Bias</a:t>
            </a:r>
          </a:p>
          <a:p>
            <a:pPr>
              <a:defRPr sz="2300" b="1">
                <a:solidFill>
                  <a:srgbClr val="16A34A"/>
                </a:solidFill>
                <a:latin typeface="Microsoft YaHei"/>
              </a:defRPr>
            </a:pPr>
            <a:r>
              <a:t>-85.0%</a:t>
            </a:r>
          </a:p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absolute bias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4160520"/>
            <a:ext cx="246888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LLM Requests</a:t>
            </a:r>
          </a:p>
          <a:p>
            <a:pPr>
              <a:defRPr sz="2300" b="1">
                <a:solidFill>
                  <a:srgbClr val="F97316"/>
                </a:solidFill>
                <a:latin typeface="Microsoft YaHei"/>
              </a:defRPr>
            </a:pPr>
            <a:r>
              <a:t>-83.2%</a:t>
            </a:r>
          </a:p>
          <a:p>
            <a:pPr>
              <a:defRPr sz="800">
                <a:solidFill>
                  <a:srgbClr val="64748B"/>
                </a:solidFill>
                <a:latin typeface="Microsoft YaHei"/>
              </a:defRPr>
            </a:pPr>
            <a:r>
              <a:t>cohort-level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Problem: 2022 breaks routine mobility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Microsoft YaHei"/>
              </a:defRPr>
            </a:pPr>
            <a:r>
              <a:t>Pre-pandemic historical waves learn routine household mobility.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Microsoft YaHei"/>
              </a:defRPr>
            </a:pPr>
            <a:r>
              <a:t>COVID-era recovery changed commuting, shopping, transit use, and discretionary activity.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Microsoft YaHei"/>
              </a:defRPr>
            </a:pPr>
            <a:r>
              <a:t>The target is household daily trip count, evaluated on 7,893 2022 households.</a:t>
            </a:r>
          </a:p>
        </p:txBody>
      </p:sp>
      <p:pic>
        <p:nvPicPr>
          <p:cNvPr id="5" name="Picture 4" descr="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5806440" cy="28716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Can event semantics repair 2022 prediction without target-year labels?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Microsoft YaHei"/>
              </a:defRPr>
            </a:pPr>
            <a:r>
              <a:t>No 2022 CNTTDHH labels are used for training or calibration.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Microsoft YaHei"/>
              </a:defRPr>
            </a:pPr>
            <a:r>
              <a:t>LLM is not used as a direct numerical predictor.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Microsoft YaHei"/>
              </a:defRPr>
            </a:pPr>
            <a:r>
              <a:t>LLM generates structured pandemic-response priors for household cohorts.</a:t>
            </a:r>
          </a:p>
        </p:txBody>
      </p:sp>
      <p:pic>
        <p:nvPicPr>
          <p:cNvPr id="6" name="Picture 5" descr="metho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17320"/>
            <a:ext cx="5760720" cy="2362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Method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Distill LLM event semantics into a lightweight correction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4</a:t>
            </a:r>
          </a:p>
        </p:txBody>
      </p:sp>
      <p:pic>
        <p:nvPicPr>
          <p:cNvPr id="5" name="Picture 4" descr="metho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98480" cy="4388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Microsoft YaHei"/>
              </a:defRPr>
            </a:pPr>
            <a:r>
              <a:t>Final rule: prediction = routine prediction × clip(1 - alpha × event pressure, min_factor,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LLM event priors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Cohort-level generation improves cost and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Microsoft YaHei"/>
              </a:defRPr>
            </a:pPr>
            <a:r>
              <a:t>1,327 cohort prompts cover 7,893 households.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Microsoft YaHei"/>
              </a:defRPr>
            </a:pPr>
            <a:r>
              <a:t>Request reduction: 83.2%, about 5.95x fewer calls.</a:t>
            </a:r>
          </a:p>
          <a:p>
            <a:pPr>
              <a:spcAft>
                <a:spcPts val="800"/>
              </a:spcAft>
              <a:defRPr sz="2100">
                <a:solidFill>
                  <a:srgbClr val="1E293B"/>
                </a:solidFill>
                <a:latin typeface="Microsoft YaHei"/>
              </a:defRPr>
            </a:pPr>
            <a:r>
              <a:t>Primary useful feature: trip_suppression_risk.</a:t>
            </a:r>
          </a:p>
        </p:txBody>
      </p:sp>
      <p:pic>
        <p:nvPicPr>
          <p:cNvPr id="6" name="Picture 5" descr="event_pressu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188720"/>
            <a:ext cx="5806440" cy="3058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LLM trip-suppression prior sharply reduces household prediction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6</a:t>
            </a:r>
          </a:p>
        </p:txBody>
      </p:sp>
      <p:pic>
        <p:nvPicPr>
          <p:cNvPr id="5" name="Picture 4" descr="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881360" cy="53814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Bias and distributional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Gated correction is nearly unbiased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7</a:t>
            </a:r>
          </a:p>
        </p:txBody>
      </p:sp>
      <p:pic>
        <p:nvPicPr>
          <p:cNvPr id="5" name="Picture 4" descr="bias_r2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10515600" cy="4266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Household-level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Interpret regression results with tolerance 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8</a:t>
            </a:r>
          </a:p>
        </p:txBody>
      </p:sp>
      <p:pic>
        <p:nvPicPr>
          <p:cNvPr id="5" name="Picture 4" descr="household_toleranc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10698480" cy="5236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715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Gated correction: MAE 2.47; 54.5% within ±2 trips; 71.2% within ±3 trips.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Event-level downscaling is the main effect; cohort ranking adds local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9</a:t>
            </a:r>
          </a:p>
        </p:txBody>
      </p:sp>
      <p:pic>
        <p:nvPicPr>
          <p:cNvPr id="5" name="Picture 4" descr="subgroup_llm_g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6400800" cy="31910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Microsoft YaHei"/>
              </a:defRPr>
            </a:pPr>
            <a:r>
              <a:t>Global controls are strong: the pandemic shift is a broad event-level effect.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Microsoft YaHei"/>
              </a:defRPr>
            </a:pPr>
            <a:r>
              <a:t>Random controls are weaker than LLM trip suppression.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  <a:latin typeface="Microsoft YaHei"/>
              </a:defRPr>
            </a:pPr>
            <a:r>
              <a:t>Subgroup gains show where cohort-specific ranking adds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LLMs are useful as event-prior generators, not direct trip-count predictors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NHTS 2022 Event Adaptation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E293B"/>
                </a:solidFill>
                <a:latin typeface="Microsoft YaHei"/>
              </a:defRPr>
            </a:pPr>
            <a:r>
              <a:t>Contribution: label-free event adaptation for post-pandemic travel demand.</a:t>
            </a:r>
          </a:p>
          <a:p>
            <a:pPr>
              <a:spcAft>
                <a:spcPts val="800"/>
              </a:spcAft>
              <a:defRPr sz="2300">
                <a:solidFill>
                  <a:srgbClr val="1E293B"/>
                </a:solidFill>
                <a:latin typeface="Microsoft YaHei"/>
              </a:defRPr>
            </a:pPr>
            <a:r>
              <a:t>Accuracy: weighted MAE reduction 42.8%; weighted RMSE reduction 31.2%.</a:t>
            </a:r>
          </a:p>
          <a:p>
            <a:pPr>
              <a:spcAft>
                <a:spcPts val="800"/>
              </a:spcAft>
              <a:defRPr sz="2300">
                <a:solidFill>
                  <a:srgbClr val="1E293B"/>
                </a:solidFill>
                <a:latin typeface="Microsoft YaHei"/>
              </a:defRPr>
            </a:pPr>
            <a:r>
              <a:t>Efficiency: cohort prompting reduces LLM requests by 83.2%.</a:t>
            </a:r>
          </a:p>
          <a:p>
            <a:pPr>
              <a:spcAft>
                <a:spcPts val="800"/>
              </a:spcAft>
              <a:defRPr sz="2300">
                <a:solidFill>
                  <a:srgbClr val="1E293B"/>
                </a:solidFill>
                <a:latin typeface="Microsoft YaHei"/>
              </a:defRPr>
            </a:pPr>
            <a:r>
              <a:t>Future work: stronger priors, external event context, and prospective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