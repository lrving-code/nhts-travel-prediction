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051560"/>
            <a:ext cx="108813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Microsoft YaHei"/>
              </a:defRPr>
            </a:pPr>
            <a:r>
              <a:t>Label-Free LLM Event Adaptation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331720"/>
            <a:ext cx="99669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CBD5E1"/>
                </a:solidFill>
                <a:latin typeface="Microsoft YaHei"/>
              </a:defRPr>
            </a:pPr>
            <a:r>
              <a:t>Post-pandemic household travel prediction with no 2022 training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4160520"/>
            <a:ext cx="2468880" cy="1143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Weighted MAE</a:t>
            </a:r>
          </a:p>
          <a:p>
            <a:pPr>
              <a:defRPr sz="2300" b="1">
                <a:solidFill>
                  <a:srgbClr val="3B82F6"/>
                </a:solidFill>
                <a:latin typeface="Microsoft YaHei"/>
              </a:defRPr>
            </a:pPr>
            <a:r>
              <a:t>-42.3%</a:t>
            </a:r>
          </a:p>
          <a:p>
            <a:pPr>
              <a:defRPr sz="800">
                <a:solidFill>
                  <a:srgbClr val="64748B"/>
                </a:solidFill>
                <a:latin typeface="Microsoft YaHei"/>
              </a:defRPr>
            </a:pPr>
            <a:r>
              <a:t>primary gated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40" y="4160520"/>
            <a:ext cx="2468880" cy="1143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Weighted Bias</a:t>
            </a:r>
          </a:p>
          <a:p>
            <a:pPr>
              <a:defRPr sz="2300" b="1">
                <a:solidFill>
                  <a:srgbClr val="16A34A"/>
                </a:solidFill>
                <a:latin typeface="Microsoft YaHei"/>
              </a:defRPr>
            </a:pPr>
            <a:r>
              <a:t>-99.4%</a:t>
            </a:r>
          </a:p>
          <a:p>
            <a:pPr>
              <a:defRPr sz="800">
                <a:solidFill>
                  <a:srgbClr val="64748B"/>
                </a:solidFill>
                <a:latin typeface="Microsoft YaHei"/>
              </a:defRPr>
            </a:pPr>
            <a:r>
              <a:t>gated absolute bias reduction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4160520"/>
            <a:ext cx="2468880" cy="1143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LLM Requests</a:t>
            </a:r>
          </a:p>
          <a:p>
            <a:pPr>
              <a:defRPr sz="2300" b="1">
                <a:solidFill>
                  <a:srgbClr val="F97316"/>
                </a:solidFill>
                <a:latin typeface="Microsoft YaHei"/>
              </a:defRPr>
            </a:pPr>
            <a:r>
              <a:t>-83.2%</a:t>
            </a:r>
          </a:p>
          <a:p>
            <a:pPr>
              <a:defRPr sz="800">
                <a:solidFill>
                  <a:srgbClr val="64748B"/>
                </a:solidFill>
                <a:latin typeface="Microsoft YaHei"/>
              </a:defRPr>
            </a:pPr>
            <a:r>
              <a:t>cohort-level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Problem: 2022 breaks routine mobility continuity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E293B"/>
                </a:solidFill>
                <a:latin typeface="Microsoft YaHei"/>
              </a:defRPr>
            </a:pPr>
            <a:r>
              <a:t>Pre-pandemic historical waves learn routine household mobility.</a:t>
            </a:r>
          </a:p>
          <a:p>
            <a:pPr>
              <a:spcAft>
                <a:spcPts val="800"/>
              </a:spcAft>
              <a:defRPr sz="2000">
                <a:solidFill>
                  <a:srgbClr val="1E293B"/>
                </a:solidFill>
                <a:latin typeface="Microsoft YaHei"/>
              </a:defRPr>
            </a:pPr>
            <a:r>
              <a:t>COVID-era recovery changed commuting, shopping, transit use, and discretionary activity.</a:t>
            </a:r>
          </a:p>
          <a:p>
            <a:pPr>
              <a:spcAft>
                <a:spcPts val="800"/>
              </a:spcAft>
              <a:defRPr sz="2000">
                <a:solidFill>
                  <a:srgbClr val="1E293B"/>
                </a:solidFill>
                <a:latin typeface="Microsoft YaHei"/>
              </a:defRPr>
            </a:pPr>
            <a:r>
              <a:t>The target is household daily trip count, evaluated on 7,893 2022 households.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806440" cy="28716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Research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Can event semantics repair 2022 prediction without target-year labels?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5212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E293B"/>
                </a:solidFill>
                <a:latin typeface="Microsoft YaHei"/>
              </a:defRPr>
            </a:pPr>
            <a:r>
              <a:t>No 2022 CNTTDHH labels are used for training or calibration.</a:t>
            </a:r>
          </a:p>
          <a:p>
            <a:pPr>
              <a:spcAft>
                <a:spcPts val="800"/>
              </a:spcAft>
              <a:defRPr sz="2200">
                <a:solidFill>
                  <a:srgbClr val="1E293B"/>
                </a:solidFill>
                <a:latin typeface="Microsoft YaHei"/>
              </a:defRPr>
            </a:pPr>
            <a:r>
              <a:t>LLM is not used as a direct numerical predictor.</a:t>
            </a:r>
          </a:p>
          <a:p>
            <a:pPr>
              <a:spcAft>
                <a:spcPts val="800"/>
              </a:spcAft>
              <a:defRPr sz="2200">
                <a:solidFill>
                  <a:srgbClr val="1E293B"/>
                </a:solidFill>
                <a:latin typeface="Microsoft YaHei"/>
              </a:defRPr>
            </a:pPr>
            <a:r>
              <a:t>LLM generates structured pandemic-response priors for household cohorts.</a:t>
            </a:r>
          </a:p>
        </p:txBody>
      </p:sp>
      <p:pic>
        <p:nvPicPr>
          <p:cNvPr id="6" name="Picture 5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17320"/>
            <a:ext cx="5760720" cy="23629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Method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Distill LLM event semantics into a lightweight correction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4</a:t>
            </a:r>
          </a:p>
        </p:txBody>
      </p:sp>
      <p:pic>
        <p:nvPicPr>
          <p:cNvPr id="5" name="Picture 4" descr="metho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234440"/>
            <a:ext cx="10698480" cy="4388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E293B"/>
                </a:solidFill>
                <a:latin typeface="Microsoft YaHei"/>
              </a:defRPr>
            </a:pPr>
            <a:r>
              <a:t>Final rule: prediction = routine prediction × clip(1 - alpha × event pressure, min_factor, 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LLM event priors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Cohort-level generation improves cost and auditability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E293B"/>
                </a:solidFill>
                <a:latin typeface="Microsoft YaHei"/>
              </a:defRPr>
            </a:pPr>
            <a:r>
              <a:t>1,327 cohort prompts cover 7,893 households.</a:t>
            </a:r>
          </a:p>
          <a:p>
            <a:pPr>
              <a:spcAft>
                <a:spcPts val="800"/>
              </a:spcAft>
              <a:defRPr sz="2100">
                <a:solidFill>
                  <a:srgbClr val="1E293B"/>
                </a:solidFill>
                <a:latin typeface="Microsoft YaHei"/>
              </a:defRPr>
            </a:pPr>
            <a:r>
              <a:t>Request reduction: 83.2%, about 5.95x fewer calls.</a:t>
            </a:r>
          </a:p>
          <a:p>
            <a:pPr>
              <a:spcAft>
                <a:spcPts val="800"/>
              </a:spcAft>
              <a:defRPr sz="2100">
                <a:solidFill>
                  <a:srgbClr val="1E293B"/>
                </a:solidFill>
                <a:latin typeface="Microsoft YaHei"/>
              </a:defRPr>
            </a:pPr>
            <a:r>
              <a:t>Primary useful feature: trip_suppression_risk.</a:t>
            </a:r>
          </a:p>
        </p:txBody>
      </p:sp>
      <p:pic>
        <p:nvPicPr>
          <p:cNvPr id="6" name="Picture 5" descr="event_pressu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188720"/>
            <a:ext cx="5806440" cy="30580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Main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Fixed gated LLM event prior sharply reduces household prediction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6</a:t>
            </a:r>
          </a:p>
        </p:txBody>
      </p:sp>
      <p:pic>
        <p:nvPicPr>
          <p:cNvPr id="5" name="Picture 4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43000"/>
            <a:ext cx="10881360" cy="538149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Bias and distributional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Gated correction is nearly unbiased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7</a:t>
            </a:r>
          </a:p>
        </p:txBody>
      </p:sp>
      <p:pic>
        <p:nvPicPr>
          <p:cNvPr id="5" name="Picture 4" descr="bias_r2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10515600" cy="42415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Household-level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Interpret regression results with tolerance 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8</a:t>
            </a:r>
          </a:p>
        </p:txBody>
      </p:sp>
      <p:pic>
        <p:nvPicPr>
          <p:cNvPr id="5" name="Picture 4" descr="household_tolerance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10698480" cy="52366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57150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E293B"/>
                </a:solidFill>
                <a:latin typeface="Microsoft YaHei"/>
              </a:defRPr>
            </a:pPr>
            <a:r>
              <a:t>Gated correction: MAE 2.47; 54.5% within ±2 trips; 71.2% within ±3 trips.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Event-level downscaling is the main effect; cohort ranking adds local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9</a:t>
            </a:r>
          </a:p>
        </p:txBody>
      </p:sp>
      <p:pic>
        <p:nvPicPr>
          <p:cNvPr id="5" name="Picture 4" descr="subgroup_llm_g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43000"/>
            <a:ext cx="6400800" cy="31910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417320"/>
            <a:ext cx="3840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Microsoft YaHei"/>
              </a:defRPr>
            </a:pPr>
            <a:r>
              <a:t>Global controls are strong: the pandemic shift is a broad event-level effect.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Microsoft YaHei"/>
              </a:defRPr>
            </a:pPr>
            <a:r>
              <a:t>Random controls are weaker than structured event adaptation.</a:t>
            </a:r>
          </a:p>
          <a:p>
            <a:pPr>
              <a:spcAft>
                <a:spcPts val="800"/>
              </a:spcAft>
              <a:defRPr sz="1900">
                <a:solidFill>
                  <a:srgbClr val="1E293B"/>
                </a:solidFill>
                <a:latin typeface="Microsoft YaHei"/>
              </a:defRPr>
            </a:pPr>
            <a:r>
              <a:t>Subgroup gains show where cohort-specific ranking adds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Microsoft YaHei"/>
              </a:defRPr>
            </a:pPr>
            <a: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icrosoft YaHei"/>
              </a:defRPr>
            </a:pPr>
            <a:r>
              <a:t>LLMs are useful as event-prior generators, not direct trip-count predictors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46520"/>
            <a:ext cx="110642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NHTS 2022 Event Adaptation |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875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Contribution: label-free event adaptation for post-pandemic travel demand.</a:t>
            </a:r>
          </a:p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Accuracy: primary weighted MAE reduction 42.3%; near-zero weighted bias.</a:t>
            </a:r>
          </a:p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Bias: primary gated correction reduces absolute weighted bias by 99.4%.</a:t>
            </a:r>
          </a:p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Efficiency: cohort prompting reduces LLM requests by 83.2%.</a:t>
            </a:r>
          </a:p>
          <a:p>
            <a:pPr>
              <a:spcAft>
                <a:spcPts val="800"/>
              </a:spcAft>
              <a:defRPr sz="2300">
                <a:solidFill>
                  <a:srgbClr val="1E293B"/>
                </a:solidFill>
                <a:latin typeface="Microsoft YaHei"/>
              </a:defRPr>
            </a:pPr>
            <a:r>
              <a:t>Future work: stronger priors, external event context, and prospective validation.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