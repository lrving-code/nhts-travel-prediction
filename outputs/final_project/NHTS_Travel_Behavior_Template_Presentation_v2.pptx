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2D71"/>
    <a:srgbClr val="822370"/>
    <a:srgbClr val="59156B"/>
    <a:srgbClr val="812153"/>
    <a:srgbClr val="0033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16"/>
    <p:restoredTop sz="87611"/>
  </p:normalViewPr>
  <p:slideViewPr>
    <p:cSldViewPr snapToGrid="0">
      <p:cViewPr varScale="1">
        <p:scale>
          <a:sx n="69" d="100"/>
          <a:sy n="69" d="100"/>
        </p:scale>
        <p:origin x="8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C9EA5-FFC8-914E-8FCA-A7534D56BDB4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7C717-45A6-3141-B281-E423F6A4A1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782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3498C3-D54F-2DF0-7F6C-1B9AF4E41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AA32A8-846D-B4D2-587A-5AF89E88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F113A-3AF1-A60E-0C1E-5D94E58DE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5AFD9-4E22-F4DD-0E0A-B568FE201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1A49AA-BD73-1626-CF55-95797BC9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9474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23C81-B4F4-AE67-A990-8D68CC1C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B56CAD-1703-340B-AA2A-D6FE89B72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CE8D7E-3D4A-5E1E-C664-8DAE368D1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DF0354-DAD3-1ED2-A3EA-829EA2A2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70C08E-E57D-5621-512B-98CB8A6C4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6307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FCAEF-33E4-C4BA-47CA-D86D636D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DE1394-35DE-30A7-C3F0-D42EF6327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D0C23B-8B3D-39CF-2F7F-B7661D806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C6254B-D5DA-E555-1E3D-D0572D78B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FAF2F-4286-8494-8BA1-3953EBB9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334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97836-44FE-148D-B4E6-69AAA72C7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029AB3-8B12-B414-CB0B-E0DC4050A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BCD0A2-02B2-C5BB-A27A-647C7F31A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9B2010-FF3A-2EC4-6BF5-A4263AA1D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537D9D-C7C0-051E-9789-69823169E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AF71E1-6419-34DB-16D7-37627522E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20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28247B-C24A-C0D1-4474-91AF8B3BE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446941-472D-F7AF-33E6-69A5AE2FC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E7BB1A-5AFE-5616-5CB0-CC0E870F3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FAB0A6-A480-1DF9-6229-2C5AE5315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CF117F-3F02-A468-4523-9541C3F841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50863CB-1B22-C361-F330-BF437FA7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1631CB1-DCDD-BAF7-533A-438EF520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61FAEA-67A0-07BF-0AE0-F2E9D12FD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595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CF3D23-12E5-4FE1-2410-F9B4E586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649DFA-CEE1-4EE9-E631-8EA8695D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638806-E19A-1D0C-3BBD-61CC2FF75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7FC78C-AA00-43F7-42B0-A3A71DC2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6123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B3B159-E48A-C230-5F68-D4C9E6E7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74C26E-FE58-8847-BCAA-826ED841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92021-DD8F-1E2F-FC7D-A926ADCEF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505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FB012C-D2D8-A8B2-979D-DDEB5E32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2278AF-E913-D049-09D5-ED27D8C2B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CE38B4-FDD8-FB1F-F478-F9585CFB6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52B11F-DE93-C6ED-AE88-6A2934A8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C3D0ED-E64B-E4EC-CA1C-FDC291B2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547D80-7489-4C54-228A-CC5D5447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0760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B61D0-68D4-774B-DDFC-371EC2FAE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0A16EC5-2B61-A2F9-8C22-E9C0728BE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897952-8CEB-D716-E25F-92ABBE2F3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4628F6-DC0D-1F1C-10C8-CC022BDD1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4BA56B-6D65-1C1D-1814-C4956BD68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9F3A70-1A12-46D3-8741-7C6EB9B14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573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A8388-E75C-91D0-3494-45A24A896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82C16C-CAD8-5E55-36BB-39DDC05A6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DB5697-30DA-1FAB-7CDA-B8CAFEE4E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C0735D-6289-D301-6E7C-F9DB9FEB5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D317E-DBD7-B38E-069E-BC2B2B6C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0242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E36967-6EFD-2898-86C8-B768B0340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EFE42D-5F60-C7C1-EAF6-446586C3D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10EEEF-2B2A-90EA-003D-61BD0D76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56FC1C-7D18-D347-F7BE-AEBC8800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18F0DE-F492-1F7A-367E-4676913D7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0989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9813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研究问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46379" y="-2"/>
            <a:ext cx="1365649" cy="68580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  <p:sp>
        <p:nvSpPr>
          <p:cNvPr id="9" name="TextBox 18"/>
          <p:cNvSpPr>
            <a:spLocks noChangeArrowheads="1"/>
          </p:cNvSpPr>
          <p:nvPr userDrawn="1"/>
        </p:nvSpPr>
        <p:spPr bwMode="auto">
          <a:xfrm>
            <a:off x="278834" y="421090"/>
            <a:ext cx="1100737" cy="1200262"/>
          </a:xfrm>
          <a:prstGeom prst="rect">
            <a:avLst/>
          </a:prstGeom>
          <a:noFill/>
          <a:ln>
            <a:noFill/>
          </a:ln>
        </p:spPr>
        <p:txBody>
          <a:bodyPr wrap="square" lIns="91374" tIns="45687" rIns="91374" bIns="45687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方正大黑简体" pitchFamily="65" charset="-122"/>
              </a:rPr>
              <a:t>模型算法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328060" y="5735781"/>
            <a:ext cx="1002283" cy="923617"/>
          </a:xfrm>
          <a:prstGeom prst="rect">
            <a:avLst/>
          </a:prstGeom>
          <a:noFill/>
          <a:ln w="53975">
            <a:solidFill>
              <a:schemeClr val="bg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04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TextBox 18"/>
          <p:cNvSpPr>
            <a:spLocks noChangeArrowheads="1"/>
          </p:cNvSpPr>
          <p:nvPr userDrawn="1"/>
        </p:nvSpPr>
        <p:spPr bwMode="auto">
          <a:xfrm>
            <a:off x="367603" y="1621353"/>
            <a:ext cx="923196" cy="3986376"/>
          </a:xfrm>
          <a:prstGeom prst="rect">
            <a:avLst/>
          </a:prstGeom>
          <a:noFill/>
          <a:ln>
            <a:noFill/>
          </a:ln>
        </p:spPr>
        <p:txBody>
          <a:bodyPr vert="vert270" wrap="square" lIns="91374" tIns="45687" rIns="91374" bIns="45687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方正大黑简体" pitchFamily="65" charset="-122"/>
              </a:rPr>
              <a:t>MODEL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方正大黑简体" pitchFamily="65" charset="-122"/>
              </a:rPr>
              <a:t>ALGORITHM</a:t>
            </a:r>
          </a:p>
        </p:txBody>
      </p:sp>
      <p:cxnSp>
        <p:nvCxnSpPr>
          <p:cNvPr id="3" name="直线连接符 7"/>
          <p:cNvCxnSpPr/>
          <p:nvPr userDrawn="1"/>
        </p:nvCxnSpPr>
        <p:spPr>
          <a:xfrm>
            <a:off x="1505543" y="586296"/>
            <a:ext cx="10686457" cy="0"/>
          </a:xfrm>
          <a:prstGeom prst="line">
            <a:avLst/>
          </a:prstGeom>
          <a:ln w="47625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TextBox 12"/>
          <p:cNvSpPr txBox="1">
            <a:spLocks noChangeArrowheads="1"/>
          </p:cNvSpPr>
          <p:nvPr userDrawn="1"/>
        </p:nvSpPr>
        <p:spPr bwMode="auto">
          <a:xfrm>
            <a:off x="8710489" y="143606"/>
            <a:ext cx="4364233" cy="4368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8841" tIns="108000" rIns="432000" bIns="108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 w="12700">
                  <a:noFill/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Weibei SC Bold"/>
                <a:ea typeface="微软雅黑" panose="020B0503020204020204" charset="-122"/>
                <a:cs typeface="Weibei SC Bold"/>
              </a:rPr>
              <a:t>网红绿地影响因素及其与环境绅士化关系探究</a:t>
            </a:r>
          </a:p>
        </p:txBody>
      </p:sp>
    </p:spTree>
    <p:extLst>
      <p:ext uri="{BB962C8B-B14F-4D97-AF65-F5344CB8AC3E}">
        <p14:creationId xmlns:p14="http://schemas.microsoft.com/office/powerpoint/2010/main" val="211522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F087FCD-4307-F0F2-D3BD-38D65778A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FF7AFB-CFCD-86FF-5E24-287E86B00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8EEC7E-945E-A690-7898-B1308AD69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B91929-D260-3310-FA98-F4DCA18BF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959924-338A-6333-1869-40B137FFA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6218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71632" y="283464"/>
            <a:ext cx="9144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310896"/>
            <a:ext cx="841248" cy="5929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713232"/>
            <a:ext cx="8778240" cy="8686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基于 NHTS 与 LLM 事件先验的</a:t>
            </a:r>
            <a:br/>
            <a:r>
              <a:rPr sz="2500" b="1">
                <a:solidFill>
                  <a:srgbClr val="FFFFFF"/>
                </a:solidFill>
                <a:latin typeface="Microsoft YaHei"/>
              </a:rPr>
              <a:t>疫情感知家庭出行行为预测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00784"/>
            <a:ext cx="768096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50" b="1">
                <a:solidFill>
                  <a:srgbClr val="CBD5E1"/>
                </a:solidFill>
                <a:latin typeface="Microsoft YaHei"/>
              </a:defRPr>
            </a:pPr>
            <a:r>
              <a:rPr sz="1250" b="1">
                <a:solidFill>
                  <a:srgbClr val="CBD5E1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804672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icrosoft YaHei"/>
              </a:defRPr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LLM event priors for label-free adaptation under post-pandemic shift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1088136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2057400" cy="640080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127248"/>
            <a:ext cx="191109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历史 NHTS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46704"/>
            <a:ext cx="1874519" cy="3017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routine mobility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834640" y="3264408"/>
            <a:ext cx="43891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93008" y="3063240"/>
            <a:ext cx="2057400" cy="640080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3127248"/>
            <a:ext cx="191109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2022 疫情冲击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346704"/>
            <a:ext cx="1874519" cy="3017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event-driven shift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596128" y="3264408"/>
            <a:ext cx="43891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54496" y="3063240"/>
            <a:ext cx="2057400" cy="640080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3127248"/>
            <a:ext cx="191109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LLM 事件先验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346704"/>
            <a:ext cx="1874519" cy="3017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semantic adapter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357616" y="3264408"/>
            <a:ext cx="43891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15984" y="3063240"/>
            <a:ext cx="2057400" cy="640080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3127248"/>
            <a:ext cx="191109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家庭出行行为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346704"/>
            <a:ext cx="1874519" cy="3017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trips + modes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617720"/>
            <a:ext cx="23317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4617720"/>
            <a:ext cx="5029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69087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Trip-count MAE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86460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-42.3%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517550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vs ordinary XGBoost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64992" y="4617720"/>
            <a:ext cx="23317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64992" y="4617720"/>
            <a:ext cx="50292" cy="8229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469087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Weighted bias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486460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-0.023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517550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nearly unbiased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80176" y="4617720"/>
            <a:ext cx="23317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0176" y="4617720"/>
            <a:ext cx="50292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08192" y="469087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Within 2 trips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486460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Microsoft YaHei"/>
              </a:defRPr>
            </a:pPr>
            <a:r>
              <a:rPr sz="1600" b="1">
                <a:solidFill>
                  <a:srgbClr val="EA580C"/>
                </a:solidFill>
                <a:latin typeface="Microsoft YaHei"/>
              </a:rPr>
              <a:t>54.5%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8192" y="517550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household tolerance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95360" y="4617720"/>
            <a:ext cx="23317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95360" y="4617720"/>
            <a:ext cx="50292" cy="8229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23376" y="469087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Transit MAE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3376" y="486460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5B21B6"/>
                </a:solidFill>
                <a:latin typeface="Microsoft YaHei"/>
              </a:defRPr>
            </a:pPr>
            <a:r>
              <a:rPr sz="1600" b="1">
                <a:solidFill>
                  <a:srgbClr val="5B21B6"/>
                </a:solidFill>
                <a:latin typeface="Microsoft YaHei"/>
              </a:rPr>
              <a:t>-17.4%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3376" y="517550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mode signal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245352"/>
            <a:ext cx="42062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CBD5E1"/>
                </a:solidFill>
                <a:latin typeface="Microsoft YaHei"/>
              </a:defRPr>
            </a:pPr>
            <a:r>
              <a:rPr sz="800" b="1">
                <a:solidFill>
                  <a:srgbClr val="CBD5E1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16768" y="6245352"/>
            <a:ext cx="7772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CBD5E1"/>
                </a:solidFill>
                <a:latin typeface="Microsoft YaHei"/>
              </a:defRPr>
            </a:pPr>
            <a:r>
              <a:rPr sz="800" b="1">
                <a:solidFill>
                  <a:srgbClr val="CBD5E1"/>
                </a:solidFill>
                <a:latin typeface="Microsoft YaHei"/>
              </a:rP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00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汇报结构 /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从研究问题到技术路线，再到结果解释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02 /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325880"/>
            <a:ext cx="2834640" cy="429768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240280"/>
            <a:ext cx="192024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2176272" cy="7498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Microsoft YaHei"/>
              </a:defRPr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一条主线：</a:t>
            </a:r>
            <a:br/>
            <a:r>
              <a:rPr sz="1000" b="0">
                <a:solidFill>
                  <a:srgbClr val="CBD5E1"/>
                </a:solidFill>
                <a:latin typeface="Microsoft YaHei"/>
              </a:rPr>
              <a:t>2022 不是普通预测年，而是疫情后事件冲击下的 label-free adaptation。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7328" y="1207008"/>
            <a:ext cx="457200" cy="45720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1280160"/>
            <a:ext cx="36576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1225296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Research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1463040"/>
            <a:ext cx="62179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为什么传统 cross-year transfer 会失效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1737360"/>
            <a:ext cx="6766560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67328" y="2066543"/>
            <a:ext cx="457200" cy="45720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3048" y="2139696"/>
            <a:ext cx="36576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2084831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Data and target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2322576"/>
            <a:ext cx="62179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家庭层面预测：出行次数 + 方式结构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596896"/>
            <a:ext cx="6766560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767328" y="2926080"/>
            <a:ext cx="457200" cy="45720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3048" y="2999232"/>
            <a:ext cx="36576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2944368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Method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3182112"/>
            <a:ext cx="62179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historical routine predictor + LLM event prior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3456432"/>
            <a:ext cx="6766560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67328" y="3785615"/>
            <a:ext cx="457200" cy="45720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13048" y="3858768"/>
            <a:ext cx="36576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3803903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Evaluation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4041648"/>
            <a:ext cx="62179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不使用 2022 标签校准的对比体系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4315968"/>
            <a:ext cx="6766560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767328" y="4645152"/>
            <a:ext cx="457200" cy="45720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13048" y="4718304"/>
            <a:ext cx="36576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4663440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Insights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4901184"/>
            <a:ext cx="62179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准确率提升来自哪里，LLM 的真实角色是什么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5175504"/>
            <a:ext cx="6766560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研究问题 / 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2022 不是普通跨年预测 | 2022 is not an ordinary transfer year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03 /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1170432"/>
            <a:ext cx="5074920" cy="34747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207008"/>
            <a:ext cx="5001768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icrosoft YaHei"/>
              </a:defRPr>
            </a:pPr>
            <a:r>
              <a:rPr sz="830" b="1">
                <a:solidFill>
                  <a:srgbClr val="FFFFFF"/>
                </a:solidFill>
                <a:latin typeface="Microsoft YaHei"/>
              </a:rPr>
              <a:t>Traditional framing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70432"/>
            <a:ext cx="5349240" cy="34747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33288" y="1207008"/>
            <a:ext cx="5276088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icrosoft YaHei"/>
              </a:defRPr>
            </a:pPr>
            <a:r>
              <a:rPr sz="830" b="1">
                <a:solidFill>
                  <a:srgbClr val="FFFFFF"/>
                </a:solidFill>
                <a:latin typeface="Microsoft YaHei"/>
              </a:rPr>
              <a:t>Event-driven framing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1517904"/>
            <a:ext cx="507492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1549908"/>
            <a:ext cx="498348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2017 -&gt; 2022 as smooth temporal transfer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96712" y="1517904"/>
            <a:ext cx="534924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1" y="1549908"/>
            <a:ext cx="525780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2022 as post-pandemic behavioral regime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1865376"/>
            <a:ext cx="507492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1897380"/>
            <a:ext cx="498348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Covariates explain most household differences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96712" y="1865376"/>
            <a:ext cx="534924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42431" y="1897380"/>
            <a:ext cx="525780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Household covariates miss remote work / transit avoidance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2212848"/>
            <a:ext cx="507492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244852"/>
            <a:ext cx="498348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Model failure means weak tabular learner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96712" y="2212848"/>
            <a:ext cx="534924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1" y="2244852"/>
            <a:ext cx="525780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Model failure reveals unobserved event mechanisms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2560320"/>
            <a:ext cx="507492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2592324"/>
            <a:ext cx="498348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Tune on target labels if available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96712" y="2560320"/>
            <a:ext cx="534924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2431" y="2592324"/>
            <a:ext cx="525780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Use no 2022 labels for training/calibration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343400"/>
            <a:ext cx="237744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343400"/>
            <a:ext cx="50292" cy="786384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416552"/>
            <a:ext cx="21579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Ordinary XGBoost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4590288"/>
            <a:ext cx="21579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BE123C"/>
                </a:solidFill>
                <a:latin typeface="Microsoft YaHei"/>
              </a:defRPr>
            </a:pPr>
            <a:r>
              <a:rPr sz="1600" b="1">
                <a:solidFill>
                  <a:srgbClr val="BE123C"/>
                </a:solidFill>
                <a:latin typeface="Microsoft YaHei"/>
              </a:rPr>
              <a:t>4.34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4901184"/>
            <a:ext cx="21579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weighted MAE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73552" y="4343400"/>
            <a:ext cx="237744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73552" y="4343400"/>
            <a:ext cx="50292" cy="786384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01568" y="4416552"/>
            <a:ext cx="21579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Systematic bias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1568" y="4590288"/>
            <a:ext cx="21579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BE123C"/>
                </a:solidFill>
                <a:latin typeface="Microsoft YaHei"/>
              </a:defRPr>
            </a:pPr>
            <a:r>
              <a:rPr sz="1600" b="1">
                <a:solidFill>
                  <a:srgbClr val="BE123C"/>
                </a:solidFill>
                <a:latin typeface="Microsoft YaHei"/>
              </a:rPr>
              <a:t>+3.61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01568" y="4901184"/>
            <a:ext cx="21579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over-predicts trips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88736" y="4343400"/>
            <a:ext cx="237744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88736" y="4343400"/>
            <a:ext cx="50292" cy="78638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16752" y="4416552"/>
            <a:ext cx="21579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Target labels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16752" y="4590288"/>
            <a:ext cx="21579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00796B"/>
                </a:solidFill>
                <a:latin typeface="Microsoft YaHei"/>
              </a:defRPr>
            </a:pPr>
            <a:r>
              <a:rPr sz="1600" b="1">
                <a:solidFill>
                  <a:srgbClr val="00796B"/>
                </a:solidFill>
                <a:latin typeface="Microsoft YaHei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16752" y="4901184"/>
            <a:ext cx="21579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used for calibration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03920" y="4343400"/>
            <a:ext cx="237744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03920" y="4343400"/>
            <a:ext cx="50292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31936" y="4416552"/>
            <a:ext cx="21579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Research target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31936" y="4590288"/>
            <a:ext cx="21579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adapt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31936" y="4901184"/>
            <a:ext cx="21579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not just fit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8" y="5394960"/>
            <a:ext cx="10012680" cy="71323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9808" y="5394960"/>
            <a:ext cx="50292" cy="71323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" y="5486400"/>
            <a:ext cx="9720072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核心问题：历史 household travel model 在 2022 会系统性高估出行，因此我们研究 label-free event adaptation，而不是单纯调参。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5788152"/>
            <a:ext cx="972007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Core question: can structured LLM event priors repair post-pandemic shift without using 2022 target labels for calibration?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数据与目标 / Data and Target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一个 household behavior system，三个 linked outputs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04 / 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389888"/>
            <a:ext cx="914400" cy="50292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81328"/>
            <a:ext cx="768096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47672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history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737360" y="1572768"/>
            <a:ext cx="658368" cy="14630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08960" y="1389888"/>
            <a:ext cx="914400" cy="50292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82112" y="1481328"/>
            <a:ext cx="768096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2009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1947672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history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60520" y="1572768"/>
            <a:ext cx="658368" cy="14630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32120" y="1389888"/>
            <a:ext cx="914400" cy="50292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05272" y="1481328"/>
            <a:ext cx="768096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2017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1947672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history + mode base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583679" y="1572768"/>
            <a:ext cx="658368" cy="14630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5279" y="1389888"/>
            <a:ext cx="914400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481328"/>
            <a:ext cx="768096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1947672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post-pandemic eval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761488"/>
            <a:ext cx="214884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2798064"/>
            <a:ext cx="207568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icrosoft YaHei"/>
              </a:defRPr>
            </a:pPr>
            <a:r>
              <a:rPr sz="830" b="1">
                <a:solidFill>
                  <a:srgbClr val="FFFFFF"/>
                </a:solidFill>
                <a:latin typeface="Microsoft YaHei"/>
              </a:rPr>
              <a:t>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07208" y="2761488"/>
            <a:ext cx="320040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43784" y="2798064"/>
            <a:ext cx="312724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icrosoft YaHei"/>
              </a:defRPr>
            </a:pPr>
            <a:r>
              <a:rPr sz="830" b="1">
                <a:solidFill>
                  <a:srgbClr val="FFFFFF"/>
                </a:solidFill>
                <a:latin typeface="Microsoft YaHei"/>
              </a:rPr>
              <a:t>Construction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07607" y="2761488"/>
            <a:ext cx="278892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44183" y="2798064"/>
            <a:ext cx="271576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icrosoft YaHei"/>
              </a:defRPr>
            </a:pPr>
            <a:r>
              <a:rPr sz="830" b="1">
                <a:solidFill>
                  <a:srgbClr val="FFFFFF"/>
                </a:solidFill>
                <a:latin typeface="Microsoft YaHei"/>
              </a:rPr>
              <a:t>Planning meaning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96528" y="2761488"/>
            <a:ext cx="214884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2798064"/>
            <a:ext cx="207568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icrosoft YaHei"/>
              </a:defRPr>
            </a:pPr>
            <a:r>
              <a:rPr sz="830" b="1">
                <a:solidFill>
                  <a:srgbClr val="FFFFFF"/>
                </a:solidFill>
                <a:latin typeface="Microsoft YaHei"/>
              </a:rPr>
              <a:t>Main metric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145536"/>
            <a:ext cx="2148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3177540"/>
            <a:ext cx="2057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Trip generation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07208" y="3145536"/>
            <a:ext cx="32004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52928" y="3177540"/>
            <a:ext cx="31089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CNTTDHH at household level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07607" y="3145536"/>
            <a:ext cx="27889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53327" y="3177540"/>
            <a:ext cx="2697479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How much travel demand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96528" y="3145536"/>
            <a:ext cx="2148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2248" y="3177540"/>
            <a:ext cx="2057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weighted MAE / bias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3529584"/>
            <a:ext cx="2148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" y="3561588"/>
            <a:ext cx="2057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Mode composition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07208" y="3529584"/>
            <a:ext cx="32004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52928" y="3561588"/>
            <a:ext cx="31089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TRPTRANS -&gt; household share vector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07607" y="3529584"/>
            <a:ext cx="27889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53327" y="3561588"/>
            <a:ext cx="2697479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How demand is distributed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96528" y="3529584"/>
            <a:ext cx="2148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42248" y="3561588"/>
            <a:ext cx="2057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TV distance / share MAE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3913632"/>
            <a:ext cx="2148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" y="3945636"/>
            <a:ext cx="2057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Mode-specific trips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07208" y="3913632"/>
            <a:ext cx="32004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52928" y="3945636"/>
            <a:ext cx="31089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predicted trips x predicted mode share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07607" y="3913632"/>
            <a:ext cx="27889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53327" y="3945636"/>
            <a:ext cx="2697479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Trips by mode for planning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796528" y="3913632"/>
            <a:ext cx="2148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42248" y="3945636"/>
            <a:ext cx="2057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derived output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9808" y="5138928"/>
            <a:ext cx="10012680" cy="71323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49808" y="5138928"/>
            <a:ext cx="50292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230368"/>
            <a:ext cx="9720072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目标不是只预测 CNTTDHH，而是构造 household travel behavior：出行多少次、用什么方式、每种方式多少次。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5532120"/>
            <a:ext cx="972007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prediction target is a household behavior system: trip generation, mode composition, and derived mode-specific trip 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技术路线 / Technical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Routine predictor + LLM event prior + fixed no-label adapter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05 /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399032"/>
            <a:ext cx="14173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</a:rPr>
              <a:t>Historical routine lane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1536192"/>
            <a:ext cx="9098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48840" y="123444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21992" y="1298448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2563EB"/>
                </a:solidFill>
                <a:latin typeface="Microsoft YaHei"/>
              </a:defRPr>
            </a:pPr>
            <a:r>
              <a:rPr sz="919" b="1">
                <a:solidFill>
                  <a:srgbClr val="2563EB"/>
                </a:solidFill>
                <a:latin typeface="Microsoft YaHei"/>
              </a:rPr>
              <a:t>NHTS 2001/09/17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151790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pre-2022 labels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325112" y="1453896"/>
            <a:ext cx="411480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0" y="123444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1298448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2563EB"/>
                </a:solidFill>
                <a:latin typeface="Microsoft YaHei"/>
              </a:defRPr>
            </a:pPr>
            <a:r>
              <a:rPr sz="919" b="1">
                <a:solidFill>
                  <a:srgbClr val="2563EB"/>
                </a:solidFill>
                <a:latin typeface="Microsoft YaHei"/>
              </a:rPr>
              <a:t>Feature harmonization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51790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stable household covariates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05472" y="1453896"/>
            <a:ext cx="411480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09560" y="123444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2" y="1298448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2563EB"/>
                </a:solidFill>
                <a:latin typeface="Microsoft YaHei"/>
              </a:defRPr>
            </a:pPr>
            <a:r>
              <a:rPr sz="919" b="1">
                <a:solidFill>
                  <a:srgbClr val="2563EB"/>
                </a:solidFill>
                <a:latin typeface="Microsoft YaHei"/>
              </a:rPr>
              <a:t>XGBoost CUDA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151790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f_hist(X)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2953512"/>
            <a:ext cx="14173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00" b="1">
                <a:solidFill>
                  <a:srgbClr val="EA580C"/>
                </a:solidFill>
                <a:latin typeface="Microsoft YaHei"/>
              </a:defRPr>
            </a:pPr>
            <a:r>
              <a:rPr sz="900" b="1">
                <a:solidFill>
                  <a:srgbClr val="EA580C"/>
                </a:solidFill>
                <a:latin typeface="Microsoft YaHei"/>
              </a:rPr>
              <a:t>LLM event lane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3090672"/>
            <a:ext cx="9098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148840" y="278892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21992" y="2852927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2022 household profiles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307238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cohort aggregation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325112" y="3008376"/>
            <a:ext cx="411480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0" y="278892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02352" y="2852927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GPT-5.5 prompts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07238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structured event reasoning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205472" y="3008376"/>
            <a:ext cx="411480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909560" y="278892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82712" y="2852927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Event priors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07238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trip suppression / transit avoidance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4507992"/>
            <a:ext cx="14173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00" b="1">
                <a:solidFill>
                  <a:srgbClr val="198754"/>
                </a:solidFill>
                <a:latin typeface="Microsoft YaHei"/>
              </a:defRPr>
            </a:pPr>
            <a:r>
              <a:rPr sz="900" b="1">
                <a:solidFill>
                  <a:srgbClr val="198754"/>
                </a:solidFill>
                <a:latin typeface="Microsoft YaHei"/>
              </a:rPr>
              <a:t>No-label adapter lane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4645152"/>
            <a:ext cx="9098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148840" y="434340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21992" y="4407408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198754"/>
                </a:solidFill>
                <a:latin typeface="Microsoft YaHei"/>
              </a:defRPr>
            </a:pPr>
            <a:r>
              <a:rPr sz="919" b="1">
                <a:solidFill>
                  <a:srgbClr val="198754"/>
                </a:solidFill>
                <a:latin typeface="Microsoft YaHei"/>
              </a:rPr>
              <a:t>Fixed correction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462686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no 2022 label tuning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4325112" y="4562856"/>
            <a:ext cx="411480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29200" y="434340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02352" y="4407408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198754"/>
                </a:solidFill>
                <a:latin typeface="Microsoft YaHei"/>
              </a:defRPr>
            </a:pPr>
            <a:r>
              <a:rPr sz="919" b="1">
                <a:solidFill>
                  <a:srgbClr val="198754"/>
                </a:solidFill>
                <a:latin typeface="Microsoft YaHei"/>
              </a:rPr>
              <a:t>Predicted behavior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462686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trip count + mode shares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7205472" y="4562856"/>
            <a:ext cx="411480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909560" y="434340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82712" y="4407408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198754"/>
                </a:solidFill>
                <a:latin typeface="Microsoft YaHei"/>
              </a:defRPr>
            </a:pPr>
            <a:r>
              <a:rPr sz="919" b="1">
                <a:solidFill>
                  <a:srgbClr val="198754"/>
                </a:solidFill>
                <a:latin typeface="Microsoft YaHei"/>
              </a:rPr>
              <a:t>Final evaluation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462686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2022 labels only here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" y="5559552"/>
            <a:ext cx="10378440" cy="4572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6112" y="5641848"/>
            <a:ext cx="10058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00" b="1">
                <a:solidFill>
                  <a:srgbClr val="00796B"/>
                </a:solidFill>
                <a:latin typeface="Microsoft YaHei"/>
              </a:defRPr>
            </a:pPr>
            <a:r>
              <a:rPr sz="900" b="1">
                <a:solidFill>
                  <a:srgbClr val="00796B"/>
                </a:solidFill>
                <a:latin typeface="Microsoft YaHei"/>
              </a:rPr>
              <a:t>Core rule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74519" y="5614416"/>
            <a:ext cx="868680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rPr sz="1150" b="1">
                <a:solidFill>
                  <a:srgbClr val="0F172A"/>
                </a:solidFill>
                <a:latin typeface="Microsoft YaHei"/>
              </a:rPr>
              <a:t>prediction = historical routine prediction x clip(1 - alpha x event_pressure, min_factor, 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LLM 事件先验 / LLM Event Prior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约束 LLM 解释 event response，而不是直接预测标签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06 /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1078992"/>
            <a:ext cx="2148840" cy="329184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115568"/>
            <a:ext cx="207568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</a:rPr>
              <a:t>Prior field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0632" y="1078992"/>
            <a:ext cx="4069080" cy="329184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7208" y="1115568"/>
            <a:ext cx="399592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</a:rPr>
              <a:t>Interpretation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39712" y="1078992"/>
            <a:ext cx="3931920" cy="329184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1115568"/>
            <a:ext cx="385876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</a:rPr>
              <a:t>Expected 2022 effect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1408176"/>
            <a:ext cx="214884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1440180"/>
            <a:ext cx="205740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trip_suppression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70632" y="1408176"/>
            <a:ext cx="406908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16352" y="1440180"/>
            <a:ext cx="397764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overall travel reduction pressure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39712" y="1408176"/>
            <a:ext cx="393192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1440180"/>
            <a:ext cx="384048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lower total trip count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1737360"/>
            <a:ext cx="214884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1769363"/>
            <a:ext cx="205740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remote_work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70632" y="1737360"/>
            <a:ext cx="40690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16352" y="1769363"/>
            <a:ext cx="397764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work-trip substitution probability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39712" y="1737360"/>
            <a:ext cx="393192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5432" y="1769363"/>
            <a:ext cx="384048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fewer commute-related trips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2066543"/>
            <a:ext cx="214884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2098548"/>
            <a:ext cx="205740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transit_avoidance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70632" y="2066543"/>
            <a:ext cx="406908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16352" y="2098548"/>
            <a:ext cx="397764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public-transit perceived risk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39712" y="2066543"/>
            <a:ext cx="393192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85432" y="2098548"/>
            <a:ext cx="384048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lower transit share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" y="2395728"/>
            <a:ext cx="214884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2427732"/>
            <a:ext cx="205740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delivery_substitution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70632" y="2395728"/>
            <a:ext cx="40690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16352" y="2427732"/>
            <a:ext cx="397764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online replacement of shopping trips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39712" y="2395728"/>
            <a:ext cx="393192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85432" y="2427732"/>
            <a:ext cx="384048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fewer discretionary trips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2724911"/>
            <a:ext cx="214884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2756915"/>
            <a:ext cx="205740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recovery_sensitivity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70632" y="2724911"/>
            <a:ext cx="406908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16352" y="2756915"/>
            <a:ext cx="397764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ability to return to routine mobility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39712" y="2724911"/>
            <a:ext cx="393192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85432" y="2756915"/>
            <a:ext cx="384048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heterogeneous rebound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" y="3054096"/>
            <a:ext cx="214884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" y="3086100"/>
            <a:ext cx="205740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confidence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70632" y="3054096"/>
            <a:ext cx="40690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16352" y="3086100"/>
            <a:ext cx="397764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LLM self-reported certainty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39712" y="3054096"/>
            <a:ext cx="393192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85432" y="3086100"/>
            <a:ext cx="384048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audit / filtering signal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8" y="4434840"/>
            <a:ext cx="4709160" cy="310896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471416"/>
            <a:ext cx="463600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rPr sz="819" b="1">
                <a:solidFill>
                  <a:srgbClr val="FFFFFF"/>
                </a:solidFill>
                <a:latin typeface="Microsoft YaHei"/>
              </a:rPr>
              <a:t>Allowed in prompt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58968" y="4434840"/>
            <a:ext cx="4709160" cy="310896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95544" y="4471416"/>
            <a:ext cx="463600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rPr sz="819" b="1">
                <a:solidFill>
                  <a:srgbClr val="FFFFFF"/>
                </a:solidFill>
                <a:latin typeface="Microsoft YaHei"/>
              </a:rPr>
              <a:t>Excluded to avoid leakage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8" y="4745736"/>
            <a:ext cx="47091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5528" y="4777740"/>
            <a:ext cx="46177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cohort-level household profile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58968" y="4745736"/>
            <a:ext cx="47091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04688" y="4777740"/>
            <a:ext cx="46177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CNTTDHH / trip count label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9808" y="5056631"/>
            <a:ext cx="470916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5528" y="5088636"/>
            <a:ext cx="46177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urban context, vehicles, workers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58968" y="5056631"/>
            <a:ext cx="470916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04688" y="5088636"/>
            <a:ext cx="46177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sample weights and household IDs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9808" y="5367527"/>
            <a:ext cx="47091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5528" y="5399531"/>
            <a:ext cx="46177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generic 2022 pandemic context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58968" y="5367527"/>
            <a:ext cx="47091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04688" y="5399531"/>
            <a:ext cx="46177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aggregate target-year outcomes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5779008"/>
            <a:ext cx="14173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50" b="1">
                <a:solidFill>
                  <a:srgbClr val="EA580C"/>
                </a:solidFill>
                <a:latin typeface="Microsoft YaHei"/>
              </a:defRPr>
            </a:pPr>
            <a:r>
              <a:rPr sz="950" b="1">
                <a:solidFill>
                  <a:srgbClr val="EA580C"/>
                </a:solidFill>
                <a:latin typeface="Microsoft YaHei"/>
              </a:rPr>
              <a:t>Design implication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40280" y="5742432"/>
            <a:ext cx="804672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50" b="1">
                <a:solidFill>
                  <a:srgbClr val="0F172A"/>
                </a:solidFill>
                <a:latin typeface="Microsoft YaHei"/>
              </a:defRPr>
            </a:pPr>
            <a:r>
              <a:rPr sz="950" b="1">
                <a:solidFill>
                  <a:srgbClr val="0F172A"/>
                </a:solidFill>
                <a:latin typeface="Microsoft YaHei"/>
              </a:rPr>
              <a:t>The LLM contributes event semantics; the historical model keeps household-level numerical grounding.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对比设计 / Evaluation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Every baseline answers a different design question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07 /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097280"/>
            <a:ext cx="1874519" cy="31089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133856"/>
            <a:ext cx="1801367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Microsoft YaHei"/>
              </a:defRPr>
            </a:pPr>
            <a:r>
              <a:rPr sz="740" b="1">
                <a:solidFill>
                  <a:srgbClr val="FFFFFF"/>
                </a:solidFill>
                <a:latin typeface="Microsoft YaHei"/>
              </a:rPr>
              <a:t>Method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0008" y="1097280"/>
            <a:ext cx="1143000" cy="31089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6584" y="1133856"/>
            <a:ext cx="10698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Microsoft YaHei"/>
              </a:defRPr>
            </a:pPr>
            <a:r>
              <a:rPr sz="740" b="1">
                <a:solidFill>
                  <a:srgbClr val="FFFFFF"/>
                </a:solidFill>
                <a:latin typeface="Microsoft YaHei"/>
              </a:rPr>
              <a:t>pre-2022 labels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1097280"/>
            <a:ext cx="914400" cy="31089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1133856"/>
            <a:ext cx="8412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Microsoft YaHei"/>
              </a:defRPr>
            </a:pPr>
            <a:r>
              <a:rPr sz="740" b="1">
                <a:solidFill>
                  <a:srgbClr val="FFFFFF"/>
                </a:solidFill>
                <a:latin typeface="Microsoft YaHei"/>
              </a:rPr>
              <a:t>LLM prior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1097280"/>
            <a:ext cx="960120" cy="31089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4" y="1133856"/>
            <a:ext cx="88696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Microsoft YaHei"/>
              </a:defRPr>
            </a:pPr>
            <a:r>
              <a:rPr sz="740" b="1">
                <a:solidFill>
                  <a:srgbClr val="FFFFFF"/>
                </a:solidFill>
                <a:latin typeface="Microsoft YaHei"/>
              </a:rPr>
              <a:t>2022 labels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67527" y="1097280"/>
            <a:ext cx="3657600" cy="31089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4103" y="1133856"/>
            <a:ext cx="35844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Microsoft YaHei"/>
              </a:defRPr>
            </a:pPr>
            <a:r>
              <a:rPr sz="740" b="1">
                <a:solidFill>
                  <a:srgbClr val="FFFFFF"/>
                </a:solidFill>
                <a:latin typeface="Microsoft YaHei"/>
              </a:rPr>
              <a:t>Role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5128" y="1097280"/>
            <a:ext cx="822960" cy="31089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1703" y="1133856"/>
            <a:ext cx="74980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Microsoft YaHei"/>
              </a:defRPr>
            </a:pPr>
            <a:r>
              <a:rPr sz="740" b="1">
                <a:solidFill>
                  <a:srgbClr val="FFFFFF"/>
                </a:solidFill>
                <a:latin typeface="Microsoft YaHei"/>
              </a:rPr>
              <a:t>wMAE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1408176"/>
            <a:ext cx="1874519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1440180"/>
            <a:ext cx="178307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rPr sz="740" b="1">
                <a:solidFill>
                  <a:srgbClr val="0F172A"/>
                </a:solidFill>
                <a:latin typeface="Microsoft YaHei"/>
              </a:rPr>
              <a:t>Historical mean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1408176"/>
            <a:ext cx="11430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95727" y="1440180"/>
            <a:ext cx="10515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93008" y="1408176"/>
            <a:ext cx="9144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38727" y="1440180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8" y="1408176"/>
            <a:ext cx="96012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3128" y="1440180"/>
            <a:ext cx="868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67527" y="1408176"/>
            <a:ext cx="36576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13247" y="1440180"/>
            <a:ext cx="35661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naive historical level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25128" y="1408176"/>
            <a:ext cx="8229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0848" y="1440180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5.51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" y="1719072"/>
            <a:ext cx="1874519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1751075"/>
            <a:ext cx="178307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rPr sz="740" b="1">
                <a:solidFill>
                  <a:srgbClr val="0F172A"/>
                </a:solidFill>
                <a:latin typeface="Microsoft YaHei"/>
              </a:rPr>
              <a:t>Ordinary XGBoost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1719072"/>
            <a:ext cx="11430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95727" y="1751075"/>
            <a:ext cx="10515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3008" y="1719072"/>
            <a:ext cx="9144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38727" y="1751075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07408" y="1719072"/>
            <a:ext cx="96012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53128" y="1751075"/>
            <a:ext cx="868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67527" y="1719072"/>
            <a:ext cx="36576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13247" y="1751075"/>
            <a:ext cx="35661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routine transfer baseline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25128" y="1719072"/>
            <a:ext cx="82296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70848" y="1751075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4.34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488" y="2029967"/>
            <a:ext cx="1874519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" y="2061972"/>
            <a:ext cx="178307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rPr sz="740" b="1">
                <a:solidFill>
                  <a:srgbClr val="0F172A"/>
                </a:solidFill>
                <a:latin typeface="Microsoft YaHei"/>
              </a:rPr>
              <a:t>Trend / indicator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50008" y="2029967"/>
            <a:ext cx="11430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95727" y="2061972"/>
            <a:ext cx="10515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93008" y="2029967"/>
            <a:ext cx="9144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38727" y="2061972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07408" y="2029967"/>
            <a:ext cx="96012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53128" y="2061972"/>
            <a:ext cx="868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67527" y="2029967"/>
            <a:ext cx="36576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7" y="2061972"/>
            <a:ext cx="35661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simple non-semantic shift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25128" y="2029967"/>
            <a:ext cx="8229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70848" y="2061972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4.15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5488" y="2340864"/>
            <a:ext cx="1874519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1208" y="2372868"/>
            <a:ext cx="178307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rPr sz="740" b="1">
                <a:solidFill>
                  <a:srgbClr val="0F172A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50008" y="2340864"/>
            <a:ext cx="11430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95727" y="2372868"/>
            <a:ext cx="10515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93008" y="2340864"/>
            <a:ext cx="9144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538727" y="2372868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07408" y="2340864"/>
            <a:ext cx="96012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53128" y="2372868"/>
            <a:ext cx="868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67527" y="2340864"/>
            <a:ext cx="36576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13247" y="2372868"/>
            <a:ext cx="35661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event direction without baseline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025128" y="2340864"/>
            <a:ext cx="82296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70848" y="2372868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2.72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5488" y="2651760"/>
            <a:ext cx="1874519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208" y="2683764"/>
            <a:ext cx="178307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rPr sz="740" b="1">
                <a:solidFill>
                  <a:srgbClr val="0F172A"/>
                </a:solidFill>
                <a:latin typeface="Microsoft YaHei"/>
              </a:rPr>
              <a:t>Global event rule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50008" y="2651760"/>
            <a:ext cx="11430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395727" y="2683764"/>
            <a:ext cx="10515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493008" y="2651760"/>
            <a:ext cx="9144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38727" y="2683764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07408" y="2651760"/>
            <a:ext cx="96012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53128" y="2683764"/>
            <a:ext cx="868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367527" y="2651760"/>
            <a:ext cx="36576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13247" y="2683764"/>
            <a:ext cx="35661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common pandemic downscaling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25128" y="2651760"/>
            <a:ext cx="8229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70848" y="2683764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2.52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5488" y="2962656"/>
            <a:ext cx="1874519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1208" y="2994660"/>
            <a:ext cx="178307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rPr sz="740" b="1">
                <a:solidFill>
                  <a:srgbClr val="0F172A"/>
                </a:solidFill>
                <a:latin typeface="Microsoft YaHei"/>
              </a:rPr>
              <a:t>Random pressure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350008" y="2962656"/>
            <a:ext cx="11430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395727" y="2994660"/>
            <a:ext cx="10515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493008" y="2962656"/>
            <a:ext cx="9144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538727" y="2994660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407408" y="2962656"/>
            <a:ext cx="96012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453128" y="2994660"/>
            <a:ext cx="868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367527" y="2962656"/>
            <a:ext cx="36576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13247" y="2994660"/>
            <a:ext cx="35661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placebo heterogeneity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25128" y="2962656"/>
            <a:ext cx="82296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070848" y="2994660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2.65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75488" y="3273552"/>
            <a:ext cx="1874519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1208" y="3305556"/>
            <a:ext cx="178307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rPr sz="740" b="1">
                <a:solidFill>
                  <a:srgbClr val="0F172A"/>
                </a:solidFill>
                <a:latin typeface="Microsoft YaHei"/>
              </a:rPr>
              <a:t>Hybrid gated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50008" y="3273552"/>
            <a:ext cx="11430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395727" y="3305556"/>
            <a:ext cx="10515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493008" y="3273552"/>
            <a:ext cx="9144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538727" y="3305556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07408" y="3273552"/>
            <a:ext cx="96012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453128" y="3305556"/>
            <a:ext cx="868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367527" y="3273552"/>
            <a:ext cx="36576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413247" y="3305556"/>
            <a:ext cx="35661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proposed semantic adapter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025128" y="3273552"/>
            <a:ext cx="8229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070848" y="3305556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2.50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49808" y="5413248"/>
            <a:ext cx="10012680" cy="6583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49808" y="5413248"/>
            <a:ext cx="50292" cy="65836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14400" y="5504688"/>
            <a:ext cx="9720072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公平性原则：2022 标签只用于最后 evaluation，主方法使用固定 no-label 参数，避免把测试年标签隐含用于调参。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4400" y="5806440"/>
            <a:ext cx="9720072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Fairness rule: 2022 labels are held out until final evaluation; the primary method uses fixed parameters rather than target-year calibration.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主结果 / Main Trip-Count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Hybrid adapters reduce error while controlling bias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08 /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56716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Historical mean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207008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1207008"/>
            <a:ext cx="2729917" cy="1554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152144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Microsoft YaHei"/>
              </a:defRPr>
            </a:pPr>
            <a:r>
              <a:rPr sz="800" b="1">
                <a:solidFill>
                  <a:srgbClr val="64748B"/>
                </a:solidFill>
                <a:latin typeface="Microsoft YaHei"/>
              </a:rPr>
              <a:t>5.51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656588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Ordinary XGBoost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1706880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1706880"/>
            <a:ext cx="2148456" cy="155448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1652016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BE123C"/>
                </a:solidFill>
                <a:latin typeface="Microsoft YaHei"/>
              </a:defRPr>
            </a:pPr>
            <a:r>
              <a:rPr sz="800" b="1">
                <a:solidFill>
                  <a:srgbClr val="BE123C"/>
                </a:solidFill>
                <a:latin typeface="Microsoft YaHei"/>
              </a:rPr>
              <a:t>4.34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156459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Trend / indicator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206752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2206752"/>
            <a:ext cx="2055717" cy="1554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2151887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EA580C"/>
                </a:solidFill>
                <a:latin typeface="Microsoft YaHei"/>
              </a:defRPr>
            </a:pPr>
            <a:r>
              <a:rPr sz="800" b="1">
                <a:solidFill>
                  <a:srgbClr val="EA580C"/>
                </a:solidFill>
                <a:latin typeface="Microsoft YaHei"/>
              </a:rPr>
              <a:t>4.15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656332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706624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0" y="2706624"/>
            <a:ext cx="1345984" cy="15544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265176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5B21B6"/>
                </a:solidFill>
                <a:latin typeface="Microsoft YaHei"/>
              </a:defRPr>
            </a:pPr>
            <a:r>
              <a:rPr sz="800" b="1">
                <a:solidFill>
                  <a:srgbClr val="5B21B6"/>
                </a:solidFill>
                <a:latin typeface="Microsoft YaHei"/>
              </a:rPr>
              <a:t>2.72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156204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Global event rule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206496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0" y="3206496"/>
            <a:ext cx="1249310" cy="1554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3151632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00796B"/>
                </a:solidFill>
                <a:latin typeface="Microsoft YaHei"/>
              </a:defRPr>
            </a:pPr>
            <a:r>
              <a:rPr sz="800" b="1">
                <a:solidFill>
                  <a:srgbClr val="00796B"/>
                </a:solidFill>
                <a:latin typeface="Microsoft YaHei"/>
              </a:rPr>
              <a:t>2.52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656076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Hybrid gated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3706368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0" y="3706368"/>
            <a:ext cx="1239379" cy="1554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3651504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198754"/>
                </a:solidFill>
                <a:latin typeface="Microsoft YaHei"/>
              </a:defRPr>
            </a:pPr>
            <a:r>
              <a:rPr sz="800" b="1">
                <a:solidFill>
                  <a:srgbClr val="198754"/>
                </a:solidFill>
                <a:latin typeface="Microsoft YaHei"/>
              </a:rPr>
              <a:t>2.50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1170432"/>
            <a:ext cx="1874519" cy="34747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74536" y="1207008"/>
            <a:ext cx="1801367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icrosoft YaHei"/>
              </a:defRPr>
            </a:pPr>
            <a:r>
              <a:rPr sz="780" b="1">
                <a:solidFill>
                  <a:srgbClr val="FFFFFF"/>
                </a:solidFill>
                <a:latin typeface="Microsoft YaHei"/>
              </a:rPr>
              <a:t>Method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1170432"/>
            <a:ext cx="822960" cy="34747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5" y="1207008"/>
            <a:ext cx="749808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icrosoft YaHei"/>
              </a:defRPr>
            </a:pPr>
            <a:r>
              <a:rPr sz="780" b="1">
                <a:solidFill>
                  <a:srgbClr val="FFFFFF"/>
                </a:solidFill>
                <a:latin typeface="Microsoft YaHei"/>
              </a:rPr>
              <a:t>wMAE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1170432"/>
            <a:ext cx="822960" cy="34747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72015" y="1207008"/>
            <a:ext cx="749808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icrosoft YaHei"/>
              </a:defRPr>
            </a:pPr>
            <a:r>
              <a:rPr sz="780" b="1">
                <a:solidFill>
                  <a:srgbClr val="FFFFFF"/>
                </a:solidFill>
                <a:latin typeface="Microsoft YaHei"/>
              </a:rPr>
              <a:t>wBias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0" y="1170432"/>
            <a:ext cx="731520" cy="34747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94976" y="1207008"/>
            <a:ext cx="658368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icrosoft YaHei"/>
              </a:defRPr>
            </a:pPr>
            <a:r>
              <a:rPr sz="780" b="1">
                <a:solidFill>
                  <a:srgbClr val="FFFFFF"/>
                </a:solidFill>
                <a:latin typeface="Microsoft YaHei"/>
              </a:rPr>
              <a:t>wR2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1517904"/>
            <a:ext cx="1874519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1549908"/>
            <a:ext cx="178307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0F172A"/>
                </a:solidFill>
                <a:latin typeface="Microsoft YaHei"/>
              </a:defRPr>
            </a:pPr>
            <a:r>
              <a:rPr sz="780" b="1">
                <a:solidFill>
                  <a:srgbClr val="0F172A"/>
                </a:solidFill>
                <a:latin typeface="Microsoft YaHei"/>
              </a:rPr>
              <a:t>Ordinary XGBoost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1517904"/>
            <a:ext cx="8229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1549908"/>
            <a:ext cx="73152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4.338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1517904"/>
            <a:ext cx="8229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1549908"/>
            <a:ext cx="73152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+3.605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58400" y="1517904"/>
            <a:ext cx="73152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04120" y="1549908"/>
            <a:ext cx="64008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-0.637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60" y="1865376"/>
            <a:ext cx="1874519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1897380"/>
            <a:ext cx="178307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0F172A"/>
                </a:solidFill>
                <a:latin typeface="Microsoft YaHei"/>
              </a:defRPr>
            </a:pPr>
            <a:r>
              <a:rPr sz="780" b="1">
                <a:solidFill>
                  <a:srgbClr val="0F172A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1865376"/>
            <a:ext cx="8229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58200" y="1897380"/>
            <a:ext cx="73152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2.718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1865376"/>
            <a:ext cx="8229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1897380"/>
            <a:ext cx="73152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-0.373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58400" y="1865376"/>
            <a:ext cx="73152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04120" y="1897380"/>
            <a:ext cx="64008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0.079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37960" y="2212848"/>
            <a:ext cx="1874519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2244852"/>
            <a:ext cx="178307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0F172A"/>
                </a:solidFill>
                <a:latin typeface="Microsoft YaHei"/>
              </a:defRPr>
            </a:pPr>
            <a:r>
              <a:rPr sz="780" b="1">
                <a:solidFill>
                  <a:srgbClr val="0F172A"/>
                </a:solidFill>
                <a:latin typeface="Microsoft YaHei"/>
              </a:rPr>
              <a:t>Hybrid gated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2212848"/>
            <a:ext cx="8229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58200" y="2244852"/>
            <a:ext cx="73152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2.502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35440" y="2212848"/>
            <a:ext cx="8229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81160" y="2244852"/>
            <a:ext cx="73152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-0.023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58400" y="2212848"/>
            <a:ext cx="73152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04120" y="2244852"/>
            <a:ext cx="64008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0.248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47104" y="3035808"/>
            <a:ext cx="1874519" cy="74980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47104" y="3035808"/>
            <a:ext cx="50292" cy="74980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108960"/>
            <a:ext cx="16550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MAE reduction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75120" y="3282696"/>
            <a:ext cx="16550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-42.3%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75120" y="3593591"/>
            <a:ext cx="16550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primary vs XGBoost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641080" y="3035808"/>
            <a:ext cx="1874519" cy="74980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641080" y="3035808"/>
            <a:ext cx="5029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69096" y="3108960"/>
            <a:ext cx="16550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Bias reduction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69096" y="3282696"/>
            <a:ext cx="16550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-99.4%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69096" y="3593591"/>
            <a:ext cx="16550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absolute weighted bias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49808" y="4892040"/>
            <a:ext cx="10012680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9808" y="4892040"/>
            <a:ext cx="50292" cy="7498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4400" y="4983479"/>
            <a:ext cx="9720072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结果主线：普通 XGBoost 学到的是正常时期出行强度，所以 2022 明显高估；LLM prior 提供缺失的疫情方向。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" y="5285231"/>
            <a:ext cx="972007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Main insight: the historical model transfers routine mobility into a post-pandemic year, while the LLM prior supplies the missing event direction.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06A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准确率-偏差权衡 / Accuracy-Bias Tradeoff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论文图1：主方法同时降低误差和系统性偏差 | Paper-style Figure 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09 / 19</a:t>
            </a:r>
          </a:p>
        </p:txBody>
      </p:sp>
      <p:pic>
        <p:nvPicPr>
          <p:cNvPr id="12" name="Picture 11" descr="mae_bias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70432"/>
            <a:ext cx="6172200" cy="362812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086600" y="1298448"/>
            <a:ext cx="3749039" cy="117043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1298448"/>
            <a:ext cx="50292" cy="117043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51192" y="1389888"/>
            <a:ext cx="3456432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这张图要讲的不是“哪个点最低”这么简单，而是说明我们的方法同时移动到低 MAE 和低 bias 的区域。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192" y="1691639"/>
            <a:ext cx="3456432" cy="7315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proposed adapter improves the accuracy-bias Pareto position instead of only trading one metric for another.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2852928"/>
            <a:ext cx="1325880" cy="34747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3176" y="2889504"/>
            <a:ext cx="1252728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icrosoft YaHei"/>
              </a:defRPr>
            </a:pPr>
            <a:r>
              <a:rPr sz="830" b="1">
                <a:solidFill>
                  <a:srgbClr val="FFFFFF"/>
                </a:solidFill>
                <a:latin typeface="Microsoft YaHei"/>
              </a:rPr>
              <a:t>Reading guide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2852928"/>
            <a:ext cx="2834640" cy="34747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5" y="2889504"/>
            <a:ext cx="2761488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icrosoft YaHei"/>
              </a:defRPr>
            </a:pPr>
            <a:r>
              <a:rPr sz="830" b="1">
                <a:solidFill>
                  <a:srgbClr val="FFFFFF"/>
                </a:solidFill>
                <a:latin typeface="Microsoft YaHei"/>
              </a:rPr>
              <a:t>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3200400"/>
            <a:ext cx="13258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3232404"/>
            <a:ext cx="123443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x-axis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3200400"/>
            <a:ext cx="283464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3232404"/>
            <a:ext cx="274320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closer to zero means lower systematic shift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3547872"/>
            <a:ext cx="132588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3579876"/>
            <a:ext cx="123443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y-axis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3547872"/>
            <a:ext cx="283464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579876"/>
            <a:ext cx="274320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lower means smaller household trip-count error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6600" y="3895344"/>
            <a:ext cx="13258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3927348"/>
            <a:ext cx="123443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point size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3895344"/>
            <a:ext cx="283464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927348"/>
            <a:ext cx="274320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weighted RMSE, reflecting large-error risk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4242816"/>
            <a:ext cx="132588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4274820"/>
            <a:ext cx="123443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hybrid gated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4242816"/>
            <a:ext cx="283464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4274820"/>
            <a:ext cx="274320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near the lower-left region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06B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误差分布与容忍度 / Error Distribution and Tolerance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论文图2：从平均误差走向 household-level 可解释准确率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10 / 19</a:t>
            </a:r>
          </a:p>
        </p:txBody>
      </p:sp>
      <p:pic>
        <p:nvPicPr>
          <p:cNvPr id="12" name="Picture 11" descr="erro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5349240" cy="3305411"/>
          </a:xfrm>
          <a:prstGeom prst="rect">
            <a:avLst/>
          </a:prstGeom>
        </p:spPr>
      </p:pic>
      <p:pic>
        <p:nvPicPr>
          <p:cNvPr id="13" name="Picture 12" descr="tolerance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97280"/>
            <a:ext cx="5166360" cy="33312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77240" y="5230368"/>
            <a:ext cx="10012680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230368"/>
            <a:ext cx="50292" cy="7498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321807"/>
            <a:ext cx="9720072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左图说明历史模型的误差分布明显向正方向偏移；右图说明 hybrid 方法在不同容忍阈值下都有更高的家庭覆盖率。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623559"/>
            <a:ext cx="972007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distributional view explains why weighted MAE improves, while the tolerance curve translates the result into household-level prediction usability.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事件异质性 / Event Heterogeneity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论文图3：LLM prior 是否真的在表达疫情机制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11 / 19</a:t>
            </a:r>
          </a:p>
        </p:txBody>
      </p:sp>
      <p:pic>
        <p:nvPicPr>
          <p:cNvPr id="12" name="Picture 11" descr="pressure_quintile_g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5349240" cy="3550665"/>
          </a:xfrm>
          <a:prstGeom prst="rect">
            <a:avLst/>
          </a:prstGeom>
        </p:spPr>
      </p:pic>
      <p:pic>
        <p:nvPicPr>
          <p:cNvPr id="13" name="Picture 12" descr="event_prior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033271"/>
            <a:ext cx="4526280" cy="399277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77240" y="5376672"/>
            <a:ext cx="10012680" cy="6583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376672"/>
            <a:ext cx="50292" cy="65836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468112"/>
            <a:ext cx="9720072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这页的故事是：LLM event pressure 不是装饰变量。它在不同 pressure strata 中都能带来修正，并且内部 prior 之间有可解释的相关结构。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769864"/>
            <a:ext cx="9720072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event-prior structure is auditable: pressure-stratified gains and prior correlations show semantic consistency rather than arbitrary numerical fitting.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07A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对抗性审计 / Adversarial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主动回应审稿人最可能质疑的地方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12 / 19</a:t>
            </a:r>
          </a:p>
        </p:txBody>
      </p:sp>
      <p:pic>
        <p:nvPicPr>
          <p:cNvPr id="12" name="Picture 11" descr="permutation_null_m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15568"/>
            <a:ext cx="5669280" cy="356078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12280" y="1234440"/>
            <a:ext cx="4069080" cy="129844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1234440"/>
            <a:ext cx="50292" cy="1298448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1325880"/>
            <a:ext cx="3776472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审计结论：真实 LLM cohort pressure 明显优于 500 次随机置换，但 global event pressure 本身也很强，所以不能把贡献夸大成强个体化 LLM 预测。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1627632"/>
            <a:ext cx="3776472" cy="8595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Audit verdict: cohort-specific LLM pressure beats permutation controls, but global event downscaling explains much of the gain; the defensible claim is label-free event adaptation.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2971800"/>
            <a:ext cx="1828800" cy="365760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48856" y="3008376"/>
            <a:ext cx="175564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rPr sz="819" b="1">
                <a:solidFill>
                  <a:srgbClr val="FFFFFF"/>
                </a:solidFill>
                <a:latin typeface="Microsoft YaHei"/>
              </a:rPr>
              <a:t>Reviewer concern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2971800"/>
            <a:ext cx="2514600" cy="365760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77655" y="3008376"/>
            <a:ext cx="244144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rPr sz="819" b="1">
                <a:solidFill>
                  <a:srgbClr val="FFFFFF"/>
                </a:solidFill>
                <a:latin typeface="Microsoft YaHei"/>
              </a:rPr>
              <a:t>Answer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3337560"/>
            <a:ext cx="182880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369564"/>
            <a:ext cx="1737360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Is global rule enough?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3337560"/>
            <a:ext cx="251460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3369564"/>
            <a:ext cx="2423160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Strong baseline; LLM ranking adds incremental value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80" y="3703320"/>
            <a:ext cx="182880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3735324"/>
            <a:ext cx="1737360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Is it label leakage?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3703320"/>
            <a:ext cx="251460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3735324"/>
            <a:ext cx="2423160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LLM inputs exclude target, weights, and IDs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4069080"/>
            <a:ext cx="182880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101084"/>
            <a:ext cx="1737360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Can LLM replace model?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4069080"/>
            <a:ext cx="251460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4101084"/>
            <a:ext cx="2423160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No; hybrid beats LLM-only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12280" y="4434840"/>
            <a:ext cx="182880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4466844"/>
            <a:ext cx="1737360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Is mode solved?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1080" y="4434840"/>
            <a:ext cx="251460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4466844"/>
            <a:ext cx="2423160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No; transit-specific extension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07B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分组鲁棒性 / Subgroup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论文图4：哪些家庭群体从事件修正中获益更多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13 / 19</a:t>
            </a:r>
          </a:p>
        </p:txBody>
      </p:sp>
      <p:pic>
        <p:nvPicPr>
          <p:cNvPr id="12" name="Picture 11" descr="subgroup_gain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43000"/>
            <a:ext cx="6035040" cy="363640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95160" y="1261872"/>
            <a:ext cx="3886200" cy="12070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95160" y="1261872"/>
            <a:ext cx="50292" cy="120700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9752" y="1353312"/>
            <a:ext cx="3593592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这张图用于回答老师可能会问的 fairness / heterogeneity 问题：提升不是只来自一个总体均值，而是在多个 household subgroup 中都能观察到。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1655063"/>
            <a:ext cx="3593592" cy="7680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subgroup view reframes the result as heterogeneous adaptation, which is more convincing than only reporting one aggregate test-set metric.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2880360"/>
            <a:ext cx="160020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31736" y="2916936"/>
            <a:ext cx="152704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rPr sz="850" b="1">
                <a:solidFill>
                  <a:srgbClr val="FFFFFF"/>
                </a:solidFill>
                <a:latin typeface="Microsoft YaHei"/>
              </a:rPr>
              <a:t>How to present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2880360"/>
            <a:ext cx="242316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31936" y="2916936"/>
            <a:ext cx="235000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rPr sz="850" b="1">
                <a:solidFill>
                  <a:srgbClr val="FFFFFF"/>
                </a:solidFill>
                <a:latin typeface="Microsoft YaHei"/>
              </a:rPr>
              <a:t>Caveat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3264408"/>
            <a:ext cx="16002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3296412"/>
            <a:ext cx="15087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Microsoft YaHei"/>
              </a:defRPr>
            </a:pPr>
            <a:r>
              <a:rPr sz="850" b="1">
                <a:solidFill>
                  <a:srgbClr val="0F172A"/>
                </a:solidFill>
                <a:latin typeface="Microsoft YaHei"/>
              </a:rPr>
              <a:t>Use it as diagnostic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3264408"/>
            <a:ext cx="24231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296412"/>
            <a:ext cx="233172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0F172A"/>
                </a:solidFill>
                <a:latin typeface="Microsoft YaHei"/>
              </a:defRPr>
            </a:pPr>
            <a:r>
              <a:rPr sz="850" b="0">
                <a:solidFill>
                  <a:srgbClr val="0F172A"/>
                </a:solidFill>
                <a:latin typeface="Microsoft YaHei"/>
              </a:rPr>
              <a:t>not a causal subgroup claim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5160" y="3648456"/>
            <a:ext cx="16002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3680459"/>
            <a:ext cx="15087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Microsoft YaHei"/>
              </a:defRPr>
            </a:pPr>
            <a:r>
              <a:rPr sz="850" b="1">
                <a:solidFill>
                  <a:srgbClr val="0F172A"/>
                </a:solidFill>
                <a:latin typeface="Microsoft YaHei"/>
              </a:rPr>
              <a:t>Focus on broad gain pattern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3648456"/>
            <a:ext cx="242316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3680459"/>
            <a:ext cx="233172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0F172A"/>
                </a:solidFill>
                <a:latin typeface="Microsoft YaHei"/>
              </a:defRPr>
            </a:pPr>
            <a:r>
              <a:rPr sz="850" b="0">
                <a:solidFill>
                  <a:srgbClr val="0F172A"/>
                </a:solidFill>
                <a:latin typeface="Microsoft YaHei"/>
              </a:rPr>
              <a:t>codes need explanation in appendix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4032504"/>
            <a:ext cx="16002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4064508"/>
            <a:ext cx="15087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Microsoft YaHei"/>
              </a:defRPr>
            </a:pPr>
            <a:r>
              <a:rPr sz="850" b="1">
                <a:solidFill>
                  <a:srgbClr val="0F172A"/>
                </a:solidFill>
                <a:latin typeface="Microsoft YaHei"/>
              </a:rPr>
              <a:t>Connect to planning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5360" y="4032504"/>
            <a:ext cx="24231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4064508"/>
            <a:ext cx="233172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0F172A"/>
                </a:solidFill>
                <a:latin typeface="Microsoft YaHei"/>
              </a:defRPr>
            </a:pPr>
            <a:r>
              <a:rPr sz="850" b="0">
                <a:solidFill>
                  <a:srgbClr val="0F172A"/>
                </a:solidFill>
                <a:latin typeface="Microsoft YaHei"/>
              </a:rPr>
              <a:t>which household segments are harder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误差洞察 / Error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主收益来自消除 post-pandemic over-prediction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14 / 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170432"/>
            <a:ext cx="224028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170432"/>
            <a:ext cx="5029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1243584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Exact rounded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1417320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17.7%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1728216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household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82112" y="1170432"/>
            <a:ext cx="224028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82112" y="1170432"/>
            <a:ext cx="50292" cy="8229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0128" y="1243584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Within 2 trips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417320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54.5%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1728216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practical tolerance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78424" y="1170432"/>
            <a:ext cx="224028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78424" y="1170432"/>
            <a:ext cx="50292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1243584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Within 3 trips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1417320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Microsoft YaHei"/>
              </a:defRPr>
            </a:pPr>
            <a:r>
              <a:rPr sz="1600" b="1">
                <a:solidFill>
                  <a:srgbClr val="EA580C"/>
                </a:solidFill>
                <a:latin typeface="Microsoft YaHei"/>
              </a:rPr>
              <a:t>71.2%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1728216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broad tolerance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4736" y="1170432"/>
            <a:ext cx="224028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74736" y="1170432"/>
            <a:ext cx="50292" cy="8229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1243584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Best sensitivity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1417320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5B21B6"/>
                </a:solidFill>
                <a:latin typeface="Microsoft YaHei"/>
              </a:defRPr>
            </a:pPr>
            <a:r>
              <a:rPr sz="1600" b="1">
                <a:solidFill>
                  <a:srgbClr val="5B21B6"/>
                </a:solidFill>
                <a:latin typeface="Microsoft YaHei"/>
              </a:rPr>
              <a:t>2.482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1728216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wMAE, not main claim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2514600"/>
            <a:ext cx="21031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1">
                <a:solidFill>
                  <a:srgbClr val="00796B"/>
                </a:solidFill>
                <a:latin typeface="Microsoft YaHei"/>
              </a:defRPr>
            </a:pPr>
            <a:r>
              <a:rPr sz="1050" b="1">
                <a:solidFill>
                  <a:srgbClr val="00796B"/>
                </a:solidFill>
                <a:latin typeface="Microsoft YaHei"/>
              </a:rPr>
              <a:t>Weighted bias comparison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74796" y="2852928"/>
            <a:ext cx="13716" cy="21488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65068" y="5020056"/>
            <a:ext cx="219456" cy="137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  <a:latin typeface="Microsoft YaHei"/>
              </a:defRPr>
            </a:pPr>
            <a:r>
              <a:rPr sz="700" b="1">
                <a:solidFill>
                  <a:srgbClr val="64748B"/>
                </a:solidFill>
                <a:latin typeface="Microsoft YaHei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2990088"/>
            <a:ext cx="14173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Microsoft YaHei"/>
              </a:defRPr>
            </a:pPr>
            <a:r>
              <a:rPr sz="750" b="0">
                <a:solidFill>
                  <a:srgbClr val="0F172A"/>
                </a:solidFill>
                <a:latin typeface="Microsoft YaHei"/>
              </a:rPr>
              <a:t>Historical mean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74796" y="3017520"/>
            <a:ext cx="1967165" cy="1371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41962" y="2980944"/>
            <a:ext cx="457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+4.50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3429000"/>
            <a:ext cx="14173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Microsoft YaHei"/>
              </a:defRPr>
            </a:pPr>
            <a:r>
              <a:rPr sz="750" b="0">
                <a:solidFill>
                  <a:srgbClr val="0F172A"/>
                </a:solidFill>
                <a:latin typeface="Microsoft YaHei"/>
              </a:rPr>
              <a:t>Ordinary XGBoost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74796" y="3456432"/>
            <a:ext cx="1576177" cy="1371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0974" y="3419856"/>
            <a:ext cx="457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BE123C"/>
                </a:solidFill>
                <a:latin typeface="Microsoft YaHei"/>
              </a:defRPr>
            </a:pPr>
            <a:r>
              <a:rPr sz="750" b="1">
                <a:solidFill>
                  <a:srgbClr val="BE123C"/>
                </a:solidFill>
                <a:latin typeface="Microsoft YaHei"/>
              </a:rPr>
              <a:t>+3.61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3867911"/>
            <a:ext cx="14173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Microsoft YaHei"/>
              </a:defRPr>
            </a:pPr>
            <a:r>
              <a:rPr sz="750" b="0">
                <a:solidFill>
                  <a:srgbClr val="0F172A"/>
                </a:solidFill>
                <a:latin typeface="Microsoft YaHei"/>
              </a:rPr>
              <a:t>Trend / indicator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74796" y="3895344"/>
            <a:ext cx="1463936" cy="137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38733" y="3858768"/>
            <a:ext cx="457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EA580C"/>
                </a:solidFill>
                <a:latin typeface="Microsoft YaHei"/>
              </a:defRPr>
            </a:pPr>
            <a:r>
              <a:rPr sz="750" b="1">
                <a:solidFill>
                  <a:srgbClr val="EA580C"/>
                </a:solidFill>
                <a:latin typeface="Microsoft YaHei"/>
              </a:rPr>
              <a:t>+3.35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4306824"/>
            <a:ext cx="14173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Microsoft YaHei"/>
              </a:defRPr>
            </a:pPr>
            <a:r>
              <a:rPr sz="750" b="0">
                <a:solidFill>
                  <a:srgbClr val="0F172A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1613" y="4334256"/>
            <a:ext cx="163183" cy="1371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54413" y="4297680"/>
            <a:ext cx="457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5B21B6"/>
                </a:solidFill>
                <a:latin typeface="Microsoft YaHei"/>
              </a:defRPr>
            </a:pPr>
            <a:r>
              <a:rPr sz="750" b="1">
                <a:solidFill>
                  <a:srgbClr val="5B21B6"/>
                </a:solidFill>
                <a:latin typeface="Microsoft YaHei"/>
              </a:rPr>
              <a:t>-0.37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4745736"/>
            <a:ext cx="14173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Microsoft YaHei"/>
              </a:defRPr>
            </a:pPr>
            <a:r>
              <a:rPr sz="750" b="0">
                <a:solidFill>
                  <a:srgbClr val="0F172A"/>
                </a:solidFill>
                <a:latin typeface="Microsoft YaHei"/>
              </a:rPr>
              <a:t>Hybrid gated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4724" y="4773168"/>
            <a:ext cx="10072" cy="1371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7524" y="4736592"/>
            <a:ext cx="457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198754"/>
                </a:solidFill>
                <a:latin typeface="Microsoft YaHei"/>
              </a:defRPr>
            </a:pPr>
            <a:r>
              <a:rPr sz="750" b="1">
                <a:solidFill>
                  <a:srgbClr val="198754"/>
                </a:solidFill>
                <a:latin typeface="Microsoft YaHei"/>
              </a:rPr>
              <a:t>-0.02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761488"/>
            <a:ext cx="224028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25896" y="2798064"/>
            <a:ext cx="216712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rPr sz="800" b="1">
                <a:solidFill>
                  <a:srgbClr val="FFFFFF"/>
                </a:solidFill>
                <a:latin typeface="Microsoft YaHei"/>
              </a:rPr>
              <a:t>Observation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2761488"/>
            <a:ext cx="283464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66175" y="2798064"/>
            <a:ext cx="276148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rPr sz="800" b="1">
                <a:solidFill>
                  <a:srgbClr val="FFFFFF"/>
                </a:solidFill>
                <a:latin typeface="Microsoft YaHei"/>
              </a:rPr>
              <a:t>Interpretation for paper story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89320" y="3145536"/>
            <a:ext cx="22402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0" y="3177540"/>
            <a:ext cx="214884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rPr sz="800" b="1">
                <a:solidFill>
                  <a:srgbClr val="0F172A"/>
                </a:solidFill>
                <a:latin typeface="Microsoft YaHei"/>
              </a:rPr>
              <a:t>XGBoost has strong household signal but positive bias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3145536"/>
            <a:ext cx="28346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5320" y="3177540"/>
            <a:ext cx="27432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routine mobility from history is too high for 2022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89320" y="3529584"/>
            <a:ext cx="224028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5040" y="3561588"/>
            <a:ext cx="214884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rPr sz="800" b="1">
                <a:solidFill>
                  <a:srgbClr val="0F172A"/>
                </a:solidFill>
                <a:latin typeface="Microsoft YaHei"/>
              </a:rPr>
              <a:t>LLM-only improves direction but lacks calibration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0" y="3529584"/>
            <a:ext cx="28346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75320" y="3561588"/>
            <a:ext cx="27432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event semantics alone cannot replace household baseline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89320" y="3913632"/>
            <a:ext cx="22402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35040" y="3945636"/>
            <a:ext cx="214884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rPr sz="800" b="1">
                <a:solidFill>
                  <a:srgbClr val="0F172A"/>
                </a:solidFill>
                <a:latin typeface="Microsoft YaHei"/>
              </a:rPr>
              <a:t>Hybrid gated is nearly unbiased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3913632"/>
            <a:ext cx="28346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75320" y="3945636"/>
            <a:ext cx="27432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separating routine demand and event response is the key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LLM 的角色 / What the LLM Adds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事件方向有用，但需要和 household baseline 结合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15 /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1170432"/>
            <a:ext cx="9464040" cy="40965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1170432"/>
            <a:ext cx="10972" cy="409651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3218688"/>
            <a:ext cx="946404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932688"/>
            <a:ext cx="219456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Microsoft YaHei"/>
              </a:defRPr>
            </a:pPr>
            <a:r>
              <a:rPr sz="800" b="1">
                <a:solidFill>
                  <a:srgbClr val="64748B"/>
                </a:solidFill>
                <a:latin typeface="Microsoft YaHei"/>
              </a:rPr>
              <a:t>low event semantics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932688"/>
            <a:ext cx="219456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Microsoft YaHei"/>
              </a:defRPr>
            </a:pPr>
            <a:r>
              <a:rPr sz="800" b="1">
                <a:solidFill>
                  <a:srgbClr val="64748B"/>
                </a:solidFill>
                <a:latin typeface="Microsoft YaHei"/>
              </a:rPr>
              <a:t>high event semantics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1828800"/>
            <a:ext cx="685800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64748B"/>
                </a:solidFill>
                <a:latin typeface="Microsoft YaHei"/>
              </a:defRPr>
            </a:pPr>
            <a:r>
              <a:rPr sz="800" b="1">
                <a:solidFill>
                  <a:srgbClr val="64748B"/>
                </a:solidFill>
                <a:latin typeface="Microsoft YaHei"/>
              </a:rPr>
              <a:t>weak household grounding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" y="3977639"/>
            <a:ext cx="685800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64748B"/>
                </a:solidFill>
                <a:latin typeface="Microsoft YaHei"/>
              </a:defRPr>
            </a:pPr>
            <a:r>
              <a:rPr sz="800" b="1">
                <a:solidFill>
                  <a:srgbClr val="64748B"/>
                </a:solidFill>
                <a:latin typeface="Microsoft YaHei"/>
              </a:rPr>
              <a:t>strong household grounding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0200" y="1664208"/>
            <a:ext cx="310896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73352" y="1728216"/>
            <a:ext cx="296265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64748B"/>
                </a:solidFill>
                <a:latin typeface="Microsoft YaHei"/>
              </a:defRPr>
            </a:pPr>
            <a:r>
              <a:rPr sz="919" b="1">
                <a:solidFill>
                  <a:srgbClr val="64748B"/>
                </a:solidFill>
                <a:latin typeface="Microsoft YaHei"/>
              </a:rPr>
              <a:t>Historical mean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1947672"/>
            <a:ext cx="2926079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neither household heterogeneity nor event semantics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5.51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1664208"/>
            <a:ext cx="310896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1728216"/>
            <a:ext cx="296265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5B21B6"/>
                </a:solidFill>
                <a:latin typeface="Microsoft YaHei"/>
              </a:defRPr>
            </a:pPr>
            <a:r>
              <a:rPr sz="919" b="1">
                <a:solidFill>
                  <a:srgbClr val="5B21B6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947672"/>
            <a:ext cx="2926079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event direction without household baseline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2.72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00200" y="3749039"/>
            <a:ext cx="310896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73352" y="3813048"/>
            <a:ext cx="296265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BE123C"/>
                </a:solidFill>
                <a:latin typeface="Microsoft YaHei"/>
              </a:defRPr>
            </a:pPr>
            <a:r>
              <a:rPr sz="919" b="1">
                <a:solidFill>
                  <a:srgbClr val="BE123C"/>
                </a:solidFill>
                <a:latin typeface="Microsoft YaHei"/>
              </a:rPr>
              <a:t>Ordinary XGBoost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032503"/>
            <a:ext cx="2926079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household grounding without pandemic semantics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4.34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749039"/>
            <a:ext cx="310896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3813048"/>
            <a:ext cx="296265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198754"/>
                </a:solidFill>
                <a:latin typeface="Microsoft YaHei"/>
              </a:defRPr>
            </a:pPr>
            <a:r>
              <a:rPr sz="919" b="1">
                <a:solidFill>
                  <a:srgbClr val="198754"/>
                </a:solidFill>
                <a:latin typeface="Microsoft YaHei"/>
              </a:rPr>
              <a:t>Hybrid gated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032503"/>
            <a:ext cx="2926079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household baseline + event prior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2.50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5577840"/>
            <a:ext cx="9555480" cy="43891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12344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00" b="1">
                <a:solidFill>
                  <a:srgbClr val="EA580C"/>
                </a:solidFill>
                <a:latin typeface="Microsoft YaHei"/>
              </a:defRPr>
            </a:pPr>
            <a:r>
              <a:rPr sz="900" b="1">
                <a:solidFill>
                  <a:srgbClr val="EA580C"/>
                </a:solidFill>
                <a:latin typeface="Microsoft YaHei"/>
              </a:rPr>
              <a:t>Paper sentence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9152" y="5623560"/>
            <a:ext cx="7726679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19" b="1">
                <a:solidFill>
                  <a:srgbClr val="0F172A"/>
                </a:solidFill>
                <a:latin typeface="Microsoft YaHei"/>
              </a:defRPr>
            </a:pPr>
            <a:r>
              <a:rPr sz="919" b="1">
                <a:solidFill>
                  <a:srgbClr val="0F172A"/>
                </a:solidFill>
                <a:latin typeface="Microsoft YaHei"/>
              </a:rPr>
              <a:t>LLM is not a black-box travel model; it is a semantic event adapter for rare temporal shocks.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方式结构扩展 / Mode Composition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同一个事件先验也能解释 transit-specific shift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16 / 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298448"/>
            <a:ext cx="74980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private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10512" y="1298448"/>
            <a:ext cx="74980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4708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walk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1298448"/>
            <a:ext cx="74980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436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bike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05072" y="1298448"/>
            <a:ext cx="749808" cy="38404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164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transit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02352" y="1298448"/>
            <a:ext cx="74980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taxi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1298448"/>
            <a:ext cx="74980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other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1856231"/>
            <a:ext cx="29718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Microsoft YaHei"/>
              </a:defRPr>
            </a:pPr>
            <a:r>
              <a:rPr sz="900" b="1">
                <a:solidFill>
                  <a:srgbClr val="64748B"/>
                </a:solidFill>
                <a:latin typeface="Microsoft YaHei"/>
              </a:rPr>
              <a:t>household mode-share vector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2487168"/>
            <a:ext cx="205740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2523744"/>
            <a:ext cx="198424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rPr sz="800" b="1">
                <a:solidFill>
                  <a:srgbClr val="FFFFFF"/>
                </a:solidFill>
                <a:latin typeface="Microsoft YaHei"/>
              </a:rPr>
              <a:t>Method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70632" y="2487168"/>
            <a:ext cx="100584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07208" y="2523744"/>
            <a:ext cx="93268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rPr sz="800" b="1">
                <a:solidFill>
                  <a:srgbClr val="FFFFFF"/>
                </a:solidFill>
                <a:latin typeface="Microsoft YaHei"/>
              </a:rPr>
              <a:t>weighted TV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76472" y="2487168"/>
            <a:ext cx="100584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13048" y="2523744"/>
            <a:ext cx="93268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rPr sz="800" b="1">
                <a:solidFill>
                  <a:srgbClr val="FFFFFF"/>
                </a:solidFill>
                <a:latin typeface="Microsoft YaHei"/>
              </a:rPr>
              <a:t>transit MAE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82312" y="2487168"/>
            <a:ext cx="196596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18888" y="2523744"/>
            <a:ext cx="1892807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rPr sz="800" b="1">
                <a:solidFill>
                  <a:srgbClr val="FFFFFF"/>
                </a:solidFill>
                <a:latin typeface="Microsoft YaHei"/>
              </a:rPr>
              <a:t>Interpretation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2871216"/>
            <a:ext cx="20574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2903220"/>
            <a:ext cx="19659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rPr sz="800" b="1">
                <a:solidFill>
                  <a:srgbClr val="0F172A"/>
                </a:solidFill>
                <a:latin typeface="Microsoft YaHei"/>
              </a:rPr>
              <a:t>Historical XGBoost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70632" y="2871216"/>
            <a:ext cx="1005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16352" y="2903220"/>
            <a:ext cx="914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0.2008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76472" y="2871216"/>
            <a:ext cx="1005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22191" y="2903220"/>
            <a:ext cx="914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0.0325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82312" y="2871216"/>
            <a:ext cx="19659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28032" y="2903220"/>
            <a:ext cx="1874519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routine mode pattern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" y="3255264"/>
            <a:ext cx="20574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3287268"/>
            <a:ext cx="19659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rPr sz="800" b="1">
                <a:solidFill>
                  <a:srgbClr val="0F172A"/>
                </a:solidFill>
                <a:latin typeface="Microsoft YaHei"/>
              </a:rPr>
              <a:t>XGBoost + LLM transit prior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70632" y="3255264"/>
            <a:ext cx="1005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16352" y="3287268"/>
            <a:ext cx="914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0.1985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76472" y="3255264"/>
            <a:ext cx="1005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22191" y="3287268"/>
            <a:ext cx="914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0.0269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82312" y="3255264"/>
            <a:ext cx="196596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28032" y="3287268"/>
            <a:ext cx="1874519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event-aware transit correction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" y="3639312"/>
            <a:ext cx="20574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" y="3671316"/>
            <a:ext cx="19659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rPr sz="800" b="1">
                <a:solidFill>
                  <a:srgbClr val="0F172A"/>
                </a:solidFill>
                <a:latin typeface="Microsoft YaHei"/>
              </a:rPr>
              <a:t>Improvement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70632" y="3639312"/>
            <a:ext cx="1005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16352" y="3671316"/>
            <a:ext cx="914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1.1%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76472" y="3639312"/>
            <a:ext cx="1005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22191" y="3671316"/>
            <a:ext cx="914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17.4%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82312" y="3639312"/>
            <a:ext cx="19659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28032" y="3671316"/>
            <a:ext cx="1874519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clearer on transit</a:t>
            </a:r>
          </a:p>
        </p:txBody>
      </p:sp>
      <p:pic>
        <p:nvPicPr>
          <p:cNvPr id="57" name="Picture 56" descr="mode_component_m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225296"/>
            <a:ext cx="4389120" cy="2722296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749808" y="5138928"/>
            <a:ext cx="10012680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49808" y="5138928"/>
            <a:ext cx="50292" cy="7498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5230368"/>
            <a:ext cx="9720072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方式结构的总体提升不如出行次数大，但 transit component 明显改善，正好对应疫情期间公共交通规避这个机制。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532120"/>
            <a:ext cx="972007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Mode composition is a weaker but useful extension: transit-share improvement supports the semantic validity of the COVID event prior.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可扩展性与审计 / Scalability and Auditability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Cohort prompting makes LLM use measurable and reviewable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17 / 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16002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1481328"/>
            <a:ext cx="145389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7,893 households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700784"/>
            <a:ext cx="141732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2022 rows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322576" y="1664208"/>
            <a:ext cx="292608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61487" y="1417320"/>
            <a:ext cx="16002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39" y="1481328"/>
            <a:ext cx="145389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1,327 cohorts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7" y="1700784"/>
            <a:ext cx="141732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aggregated profiles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425696" y="1664208"/>
            <a:ext cx="292608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64607" y="1417320"/>
            <a:ext cx="16002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59" y="1481328"/>
            <a:ext cx="145389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15 concurrency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7" y="1700784"/>
            <a:ext cx="141732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full generation setting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528816" y="1664208"/>
            <a:ext cx="292608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67727" y="1417320"/>
            <a:ext cx="16002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79" y="1481328"/>
            <a:ext cx="145389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validated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7" y="1700784"/>
            <a:ext cx="141732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normalized priors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631936" y="1664208"/>
            <a:ext cx="292608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70848" y="1417320"/>
            <a:ext cx="16002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1481328"/>
            <a:ext cx="145389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fixed adapter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1700784"/>
            <a:ext cx="141732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reproducible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816352"/>
            <a:ext cx="219456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2816352"/>
            <a:ext cx="50292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" y="2889504"/>
            <a:ext cx="197510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Request reduction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" y="3063240"/>
            <a:ext cx="197510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83.2%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" y="3374136"/>
            <a:ext cx="197510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5.95x fewer prompts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20440" y="2816352"/>
            <a:ext cx="219456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20440" y="2816352"/>
            <a:ext cx="50292" cy="786384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48456" y="2889504"/>
            <a:ext cx="197510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Invalid records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48456" y="3063240"/>
            <a:ext cx="197510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48456" y="3374136"/>
            <a:ext cx="197510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after validation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2816352"/>
            <a:ext cx="219456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2816352"/>
            <a:ext cx="50292" cy="78638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54496" y="2889504"/>
            <a:ext cx="197510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Re-runnable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54496" y="3063240"/>
            <a:ext cx="197510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5B21B6"/>
                </a:solidFill>
                <a:latin typeface="Microsoft YaHei"/>
              </a:defRPr>
            </a:pPr>
            <a:r>
              <a:rPr sz="1600" b="1">
                <a:solidFill>
                  <a:srgbClr val="5B21B6"/>
                </a:solidFill>
                <a:latin typeface="Microsoft YaHei"/>
              </a:rPr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4496" y="3374136"/>
            <a:ext cx="197510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fixed adapter rule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4160520"/>
            <a:ext cx="2926080" cy="320040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" y="4197096"/>
            <a:ext cx="2852928" cy="246887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</a:rPr>
              <a:t>Risk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4160520"/>
            <a:ext cx="6035040" cy="320040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77056" y="4197096"/>
            <a:ext cx="5961888" cy="246887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</a:rPr>
              <a:t>Control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4480559"/>
            <a:ext cx="2926080" cy="3200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" y="4512564"/>
            <a:ext cx="2834640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LLM hallucination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0" y="4480559"/>
            <a:ext cx="6035040" cy="3200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86200" y="4512564"/>
            <a:ext cx="5943600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structured schema + numeric range validation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4800600"/>
            <a:ext cx="292608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" y="4832604"/>
            <a:ext cx="2834640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target leakage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0480" y="4800600"/>
            <a:ext cx="603504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86200" y="4832604"/>
            <a:ext cx="5943600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no target labels / weights / household IDs in prompt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5120640"/>
            <a:ext cx="2926080" cy="3200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0120" y="5152644"/>
            <a:ext cx="2834640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cost explosion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0" y="5120640"/>
            <a:ext cx="6035040" cy="3200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86200" y="5152644"/>
            <a:ext cx="5943600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cohort-level prompting instead of per-household prompting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5440679"/>
            <a:ext cx="292608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0120" y="5472683"/>
            <a:ext cx="2834640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unreproducible tuning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40480" y="5440679"/>
            <a:ext cx="603504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86200" y="5472683"/>
            <a:ext cx="5943600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main rule uses fixed no-label parameters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学术故事 / Academic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From a course project to a defensible paper narrative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18 /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078992"/>
            <a:ext cx="3017520" cy="3931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1115568"/>
            <a:ext cx="2944368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rPr sz="819" b="1">
                <a:solidFill>
                  <a:srgbClr val="FFFFFF"/>
                </a:solidFill>
                <a:latin typeface="Microsoft YaHei"/>
              </a:rPr>
              <a:t>Contribution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1078992"/>
            <a:ext cx="6858000" cy="3931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3" y="1115568"/>
            <a:ext cx="6784848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rPr sz="819" b="1">
                <a:solidFill>
                  <a:srgbClr val="FFFFFF"/>
                </a:solidFill>
                <a:latin typeface="Microsoft YaHei"/>
              </a:rPr>
              <a:t>Why it matters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472184"/>
            <a:ext cx="301752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1504187"/>
            <a:ext cx="2926079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Event-driven temporal adaptation framing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1472184"/>
            <a:ext cx="685800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7" y="1504187"/>
            <a:ext cx="67665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turns 2022 prediction into a distribution-shift research problem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1865376"/>
            <a:ext cx="301752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1897380"/>
            <a:ext cx="2926079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LLM as event-prior generator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75887" y="1865376"/>
            <a:ext cx="685800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21607" y="1897380"/>
            <a:ext cx="67665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uses LLM generalization without asking it to hallucinate exact labels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2258568"/>
            <a:ext cx="301752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2290572"/>
            <a:ext cx="2926079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Label-free hybrid adapter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2258568"/>
            <a:ext cx="685800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21607" y="2290572"/>
            <a:ext cx="67665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separates routine travel demand from pandemic response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2651760"/>
            <a:ext cx="301752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2683764"/>
            <a:ext cx="2926079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Behavior-system output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2651760"/>
            <a:ext cx="685800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21607" y="2683764"/>
            <a:ext cx="67665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covers both trip generation and mode composition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005072"/>
            <a:ext cx="3017520" cy="3931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041648"/>
            <a:ext cx="2944368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</a:rPr>
              <a:t>Current limitation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75887" y="4005072"/>
            <a:ext cx="6858000" cy="3931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12463" y="4041648"/>
            <a:ext cx="6784848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</a:rPr>
              <a:t>How to discuss it honestly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398264"/>
            <a:ext cx="301752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4430268"/>
            <a:ext cx="2926079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Cohort heterogeneity gain is smaller than global event downscaling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75887" y="4398264"/>
            <a:ext cx="685800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21607" y="4430268"/>
            <a:ext cx="67665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the strongest signal is event-level trip suppression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791456"/>
            <a:ext cx="301752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" y="4823460"/>
            <a:ext cx="2926079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Mode-composition gain is concentrated in transit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75887" y="4791456"/>
            <a:ext cx="685800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7" y="4823460"/>
            <a:ext cx="67665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this is expected because transit avoidance is the clearest COVID channel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184648"/>
            <a:ext cx="301752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" y="5216652"/>
            <a:ext cx="2926079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No prospective external event feed yet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75887" y="5184648"/>
            <a:ext cx="685800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21607" y="5216652"/>
            <a:ext cx="67665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future work can use news/mobility indices available before survey release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CBD5E1"/>
                </a:solidFill>
                <a:latin typeface="Microsoft YaHei"/>
              </a:defRPr>
            </a:pPr>
            <a:r>
              <a:rPr sz="750" b="1">
                <a:solidFill>
                  <a:srgbClr val="CBD5E1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</a:rPr>
              <a:t>总结 / Final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CBD5E1"/>
                </a:solidFill>
                <a:latin typeface="Microsoft YaHei"/>
              </a:defRPr>
            </a:pPr>
            <a:r>
              <a:rPr sz="850" b="0">
                <a:solidFill>
                  <a:srgbClr val="CBD5E1"/>
                </a:solidFill>
                <a:latin typeface="Microsoft YaHei"/>
              </a:rPr>
              <a:t>A clean story: routine mobility + event semantics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81944" y="173736"/>
            <a:ext cx="786384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CBD5E1"/>
                </a:solidFill>
                <a:latin typeface="Microsoft YaHei"/>
              </a:defRPr>
            </a:pPr>
            <a:r>
              <a:rPr sz="750" b="0">
                <a:solidFill>
                  <a:srgbClr val="CBD5E1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CBD5E1"/>
                </a:solidFill>
                <a:latin typeface="Microsoft YaHei"/>
              </a:defRPr>
            </a:pPr>
            <a:r>
              <a:rPr sz="750" b="1">
                <a:solidFill>
                  <a:srgbClr val="CBD5E1"/>
                </a:solidFill>
                <a:latin typeface="Microsoft YaHei"/>
              </a:rPr>
              <a:t>19 / 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325880"/>
            <a:ext cx="10195560" cy="2011680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1581912"/>
            <a:ext cx="9601200" cy="8229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我们研究的不是“LLM 直接预测出行次数”，而是：</a:t>
            </a:r>
            <a:br/>
            <a:r>
              <a:rPr sz="1500" b="1">
                <a:solidFill>
                  <a:srgbClr val="FFFFFF"/>
                </a:solidFill>
                <a:latin typeface="Microsoft YaHei"/>
              </a:rPr>
              <a:t>当 2022 疫情后分布变化打破历史连续性时，能否用 LLM 的事件泛化能力，为传统 household travel model 提供无标签修正先验。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86200"/>
            <a:ext cx="22402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886200"/>
            <a:ext cx="5029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959352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" y="4133087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-42.3%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" y="4443984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weighted MAE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3886200"/>
            <a:ext cx="22402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20440" y="3886200"/>
            <a:ext cx="50292" cy="8229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3959352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Bias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456" y="4133087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-0.023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48456" y="4443984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weighted bias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86200"/>
            <a:ext cx="22402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886200"/>
            <a:ext cx="50292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3959352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4133087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Microsoft YaHei"/>
              </a:defRPr>
            </a:pPr>
            <a:r>
              <a:rPr sz="1600" b="1">
                <a:solidFill>
                  <a:srgbClr val="EA580C"/>
                </a:solidFill>
                <a:latin typeface="Microsoft YaHei"/>
              </a:rPr>
              <a:t>2 tasks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4443984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trip count + modes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20" y="3886200"/>
            <a:ext cx="22402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32520" y="3886200"/>
            <a:ext cx="50292" cy="8229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0536" y="3959352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LLM role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0536" y="4133087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5B21B6"/>
                </a:solidFill>
                <a:latin typeface="Microsoft YaHei"/>
              </a:defRPr>
            </a:pPr>
            <a:r>
              <a:rPr sz="1600" b="1">
                <a:solidFill>
                  <a:srgbClr val="5B21B6"/>
                </a:solidFill>
                <a:latin typeface="Microsoft YaHei"/>
              </a:rPr>
              <a:t>adapter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0536" y="4443984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not standalone predictor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559552"/>
            <a:ext cx="20574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50" b="1">
                <a:solidFill>
                  <a:srgbClr val="CBD5E1"/>
                </a:solidFill>
                <a:latin typeface="Microsoft YaHei"/>
              </a:defRPr>
            </a:pPr>
            <a:r>
              <a:rPr sz="950" b="1">
                <a:solidFill>
                  <a:srgbClr val="CBD5E1"/>
                </a:solidFill>
                <a:latin typeface="Microsoft YaHei"/>
              </a:rPr>
              <a:t>Suggested one-sentence claim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5504688"/>
            <a:ext cx="786384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LLM event priors enable label-free adaptation of household travel behavior prediction under rare post-pandemic temporal shift.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9810</TotalTime>
  <Words>6896</Words>
  <Application>Microsoft Office PowerPoint</Application>
  <PresentationFormat>宽屏</PresentationFormat>
  <Paragraphs>762</Paragraphs>
  <Slides>35</Slides>
  <Notes>33</Notes>
  <HiddenSlides>1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2" baseType="lpstr">
      <vt:lpstr>Avenir</vt:lpstr>
      <vt:lpstr>ElsevierGulliver</vt:lpstr>
      <vt:lpstr>Inter</vt:lpstr>
      <vt:lpstr>SFMono-Regular</vt:lpstr>
      <vt:lpstr>Weibei SC Bold</vt:lpstr>
      <vt:lpstr>等线</vt:lpstr>
      <vt:lpstr>等线 Light</vt:lpstr>
      <vt:lpstr>华文细黑</vt:lpstr>
      <vt:lpstr>Microsoft yahei</vt:lpstr>
      <vt:lpstr>Microsoft yahei</vt:lpstr>
      <vt:lpstr>Microsoft yahei</vt:lpstr>
      <vt:lpstr>Arial</vt:lpstr>
      <vt:lpstr>Calibri</vt:lpstr>
      <vt:lpstr>Helvetica</vt:lpstr>
      <vt:lpstr>Times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lrving</dc:creator>
  <cp:lastModifiedBy>斑 宇智波</cp:lastModifiedBy>
  <cp:revision>32</cp:revision>
  <dcterms:created xsi:type="dcterms:W3CDTF">2023-11-10T13:11:20Z</dcterms:created>
  <dcterms:modified xsi:type="dcterms:W3CDTF">2026-06-09T15:18:45Z</dcterms:modified>
</cp:coreProperties>
</file>