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0.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11.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2.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3" r:id="rId3"/>
    <p:sldMasterId id="2147483666" r:id="rId4"/>
    <p:sldMasterId id="2147483669" r:id="rId5"/>
    <p:sldMasterId id="2147483672" r:id="rId6"/>
    <p:sldMasterId id="2147483675" r:id="rId7"/>
  </p:sldMasterIdLst>
  <p:notesMasterIdLst>
    <p:notesMasterId r:id="rId46"/>
  </p:notesMasterIdLst>
  <p:sldIdLst>
    <p:sldId id="277" r:id="rId8"/>
    <p:sldId id="257" r:id="rId9"/>
    <p:sldId id="258" r:id="rId10"/>
    <p:sldId id="259" r:id="rId11"/>
    <p:sldId id="260" r:id="rId12"/>
    <p:sldId id="331" r:id="rId13"/>
    <p:sldId id="320" r:id="rId14"/>
    <p:sldId id="264" r:id="rId15"/>
    <p:sldId id="263" r:id="rId16"/>
    <p:sldId id="332" r:id="rId17"/>
    <p:sldId id="333" r:id="rId18"/>
    <p:sldId id="334" r:id="rId19"/>
    <p:sldId id="323" r:id="rId20"/>
    <p:sldId id="265" r:id="rId21"/>
    <p:sldId id="266" r:id="rId22"/>
    <p:sldId id="267" r:id="rId23"/>
    <p:sldId id="268" r:id="rId24"/>
    <p:sldId id="269" r:id="rId25"/>
    <p:sldId id="270" r:id="rId26"/>
    <p:sldId id="271" r:id="rId27"/>
    <p:sldId id="272" r:id="rId28"/>
    <p:sldId id="321" r:id="rId29"/>
    <p:sldId id="303" r:id="rId30"/>
    <p:sldId id="335" r:id="rId31"/>
    <p:sldId id="322" r:id="rId32"/>
    <p:sldId id="290" r:id="rId33"/>
    <p:sldId id="304" r:id="rId34"/>
    <p:sldId id="306" r:id="rId35"/>
    <p:sldId id="307" r:id="rId36"/>
    <p:sldId id="308" r:id="rId37"/>
    <p:sldId id="309" r:id="rId38"/>
    <p:sldId id="311" r:id="rId39"/>
    <p:sldId id="312" r:id="rId40"/>
    <p:sldId id="313" r:id="rId41"/>
    <p:sldId id="314" r:id="rId42"/>
    <p:sldId id="330" r:id="rId43"/>
    <p:sldId id="328" r:id="rId44"/>
    <p:sldId id="276" r:id="rId4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B3E08645-611D-4DF1-BBCC-3D12E874F917}">
          <p14:sldIdLst>
            <p14:sldId id="277"/>
            <p14:sldId id="257"/>
          </p14:sldIdLst>
        </p14:section>
        <p14:section name="1-2 研究背景-相关工作" id="{9AA0CA39-3C36-4C94-A4D4-15D6E82330F3}">
          <p14:sldIdLst>
            <p14:sldId id="258"/>
            <p14:sldId id="259"/>
            <p14:sldId id="260"/>
            <p14:sldId id="331"/>
          </p14:sldIdLst>
        </p14:section>
        <p14:section name="3 研究目的" id="{1B0A84C2-9493-9342-9B02-61E61F72F619}">
          <p14:sldIdLst>
            <p14:sldId id="320"/>
          </p14:sldIdLst>
        </p14:section>
        <p14:section name="4 问题定义" id="{D469B0BB-2571-4508-B7B6-724AC8114ECF}">
          <p14:sldIdLst>
            <p14:sldId id="264"/>
            <p14:sldId id="263"/>
            <p14:sldId id="332"/>
            <p14:sldId id="333"/>
            <p14:sldId id="334"/>
          </p14:sldIdLst>
        </p14:section>
        <p14:section name="方案一" id="{E11EF8EB-7523-4069-8CE4-3AE3C1E5FF27}">
          <p14:sldIdLst>
            <p14:sldId id="323"/>
            <p14:sldId id="265"/>
            <p14:sldId id="266"/>
            <p14:sldId id="267"/>
            <p14:sldId id="268"/>
            <p14:sldId id="269"/>
            <p14:sldId id="270"/>
            <p14:sldId id="271"/>
            <p14:sldId id="272"/>
          </p14:sldIdLst>
        </p14:section>
        <p14:section name="方案二" id="{3AB64A78-C5F8-430F-B0D7-E805F64724F2}">
          <p14:sldIdLst>
            <p14:sldId id="321"/>
            <p14:sldId id="303"/>
            <p14:sldId id="335"/>
            <p14:sldId id="322"/>
            <p14:sldId id="290"/>
            <p14:sldId id="304"/>
            <p14:sldId id="306"/>
            <p14:sldId id="307"/>
            <p14:sldId id="308"/>
            <p14:sldId id="309"/>
            <p14:sldId id="311"/>
            <p14:sldId id="312"/>
            <p14:sldId id="313"/>
            <p14:sldId id="314"/>
          </p14:sldIdLst>
        </p14:section>
        <p14:section name="6 总结展望" id="{32294796-8BB6-4AA6-94F5-27A3B1844EC7}">
          <p14:sldIdLst>
            <p14:sldId id="330"/>
            <p14:sldId id="328"/>
            <p14:sldId id="276"/>
          </p14:sldIdLst>
        </p14:section>
      </p14:sectionLst>
    </p:ext>
    <p:ext uri="{EFAFB233-063F-42B5-8137-9DF3F51BA10A}">
      <p15:sldGuideLst xmlns:p15="http://schemas.microsoft.com/office/powerpoint/2012/main">
        <p15:guide id="1" orient="horz" pos="1694" userDrawn="1">
          <p15:clr>
            <a:srgbClr val="747775"/>
          </p15:clr>
        </p15:guide>
        <p15:guide id="2" pos="287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C8A"/>
    <a:srgbClr val="40E0D1"/>
    <a:srgbClr val="40E0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73"/>
    <p:restoredTop sz="96195"/>
  </p:normalViewPr>
  <p:slideViewPr>
    <p:cSldViewPr snapToGrid="0" showGuides="1">
      <p:cViewPr>
        <p:scale>
          <a:sx n="105" d="100"/>
          <a:sy n="105" d="100"/>
        </p:scale>
        <p:origin x="680" y="1192"/>
      </p:cViewPr>
      <p:guideLst>
        <p:guide orient="horz" pos="1694"/>
        <p:guide pos="28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将介绍研究的背景和动机。接着，阐述我们提出的创新方法。然后，详细说明实验设计。之后，分享方案实现过程中的技术挑战。第五部分是核心，展示我们的实验结果与分析。最后，对整个研究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研究背景。社会模拟是理解复杂社会系统的关键方法。传统方法依赖数据拟合，但存在依赖强假设、缺乏常识和泛化能力弱等缺陷。而大模型的出现带来了新机遇，它强大的先验知识和推理能力，为更真实的个体行为模拟提供了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直接使用大模型进行社会模拟面临着严峻的效率和成本瓶颈。想象一下，模拟一个城市的数百万人，每一次决策都需要一次API调用，这将导致巨大的时间和经济成本。因此，我们研究的核心目标，就是在保留大模型强大能力的同时，解决这个效率与成本的难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我们之前，业界已经探索了一些优化手段，如请求批处理、提示词优化和模型蒸馏。但这些方法都未能从根本上解决问题，它们只是优化了调用方式，计算总量并未减少，当模拟规模极大时，成本瓶颈依然存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4217-114B-C1D3-0F8B-759BBFF4C2A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FC307A-F2F3-D772-1237-B9BAA43C8B5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ABC00DC-1EED-0B98-9A27-4DFB3EE02B0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DE0711D-2EA2-0544-C148-FEF1C2BFE27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0822E05-F909-8FAD-1A25-D6586B13390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我们之前，业界已经探索了一些优化手段，如请求批处理、提示词优化和模型蒸馏。但这些方法都未能从根本上解决问题，它们只是优化了调用方式，计算总量并未减少，当模拟规模极大时，成本瓶颈依然存在。</a:t>
            </a:r>
          </a:p>
        </p:txBody>
      </p:sp>
      <p:sp>
        <p:nvSpPr>
          <p:cNvPr id="6" name="Footer Placeholder 5">
            <a:extLst>
              <a:ext uri="{FF2B5EF4-FFF2-40B4-BE49-F238E27FC236}">
                <a16:creationId xmlns:a16="http://schemas.microsoft.com/office/drawing/2014/main" id="{2EF41764-E7A5-C36E-83AC-A7E77C9178B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FC31694-F64A-5098-7026-9C335262567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99922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择了一个经典的社会模拟任务——出行方式预测。数据集采用了权威的美国国家家庭出行调查数据，并且我们同时使用了2017年和2022年两个版本，后者包含了疫情相关变量，这为我们检验模型的泛化能力提供了绝佳的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实验设计部分。我们的实验主要围绕三个核心问题展开：第一，对比三种方法在不同条件下的预测性能；第二，验证我们的混合模型是否能在保证准确性的同时提升效率；第三，检验大模型及其蒸馏方法在处理数据稀疏、缺失等现实问题时的独特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11C96-B090-FE8A-EC61-0F62985E680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D5A57-B267-FBBA-3810-8A27B021C35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400AB51-CC54-D7A9-A291-81CB7EEF1BF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5219954-A133-075B-D937-E88F900EA3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AA0E8B6-8769-E889-9119-612917A5BEF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a:extLst>
              <a:ext uri="{FF2B5EF4-FFF2-40B4-BE49-F238E27FC236}">
                <a16:creationId xmlns:a16="http://schemas.microsoft.com/office/drawing/2014/main" id="{FE85DAF9-FAB6-F117-F7BE-F353FE881C4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16914EF-43D9-09E5-C903-92B5EF48884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05880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948EF-2ED2-123F-0D46-C93D5FAF50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AEF922-0647-C9AE-03E6-A495B01AF11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DEB48AC-364C-52D7-6A3A-F61098A0BDE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160C214-5B9B-2805-BD7A-34EE761301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5206C5D-7EF7-E144-6B0A-49787BCA3D2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a:extLst>
              <a:ext uri="{FF2B5EF4-FFF2-40B4-BE49-F238E27FC236}">
                <a16:creationId xmlns:a16="http://schemas.microsoft.com/office/drawing/2014/main" id="{E4883821-D17D-5AE4-8A43-61AE1E55654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011D1FB-C9F5-A645-D929-04368985EC1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43944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3C71C-428A-7121-FCD5-6548C7EB5AC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572411-3637-783A-84C2-2DE4B9D43EF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C2C9D26-FBD0-D7CA-3FAC-B2CD7415CB5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2E9E1C0-54F9-BDFE-2236-597EC25C305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6DA69B1-12D7-5AE1-E52C-B27DAC8581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a:extLst>
              <a:ext uri="{FF2B5EF4-FFF2-40B4-BE49-F238E27FC236}">
                <a16:creationId xmlns:a16="http://schemas.microsoft.com/office/drawing/2014/main" id="{E774897C-D94E-DFDC-2719-6A697E901F8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EC0D875-0693-21D0-8579-E47E3B5D0DB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74730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从根本上解决效率问题，我们提出了一种混合预测框架。它的核心思想很简单：让大模型教我们规则，我们用规则快速预测，只有遇到难题时才去请教大模型。这个框架包含四个步骤：首先，通过知识蒸馏从大模型中提取决策规则；然后，用这些规则进行快速预测；接着，评估预测的置信度；最后，根据置信度动态决定是直接采用规则结果，还是回退调用大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全面评估模型性能，我们设计了三个挑战性场景。场景一模拟数据稀疏，检验模型的少样本学习能力。场景二模拟字段缺失，检验模型利用先验知识弥补信息不足的能力。场景三模拟新增变量，检验模型对新环境的适应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在实验实现过程中，我们首先克服了数据预处理的三大挑战：通过字段映射解决了两年数据不统一的问题；通过人工与算法结合筛选了高价值特征；并通过类别合并简化了预测任务。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规则构建是本研究的核心难点。我们的探索并非一帆风顺。最初，我们尝试直接提取IF-THEN规则，但发现规则过于简单，覆盖率极低。接着，我们尝试特征加权评分，但这种方法忽略了特征之间的复杂关联。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于是我们进行了第三次改进，引入了决定性规则和衍生特征，效果显著提升，但出现了新问题——预测结果总是偏向私家车。最终，我们通过引入行和均衡与列和均衡两个约束，成功解决了偏向问题，得到了我们最终的规则构建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在混合框架中，置信度评估是关键。通过动态调整置信度阈值，我们成功地将大模型的调用率控制在了25%左右。这意味着四分之三的预测任务都由轻量级的规则系统完成，极大地提升了效率。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来看实验结果。在数据稀疏场景下，我们可以看到，传统模型A的准确率随样本量增加而提升。纯大模型B的零样本表现并不理想。而我们的混合模型C，仅用500条样本，其准确率就已经接近甚至超过了纯大模型，证明了我们蒸馏方法的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在字段缺失场景下，传统模型A的准确率出现了暴跌。而基于大模型的方案B和C，准确率几乎没有变化。这强有力地证明了大模型的先验知识能够有效弥补信息缺失，这是它在现实世界中非常宝贵的优势。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新增变量场景，也就是模拟疫情影响时，传统模型A无法理解新变量，准确率下降。纯大模型B的准确率下降最明显，说明它的“知识”与现实有偏差。而我们的混合模型C，表现显著优于纯大模型，这说明通过少量真实数据蒸馏出的规则，能有效校准大模型的先验知识，使其适应性更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综合以上实验结果，我们得出四点结论。第一，数据为王，在数据充足时传统方法效果最好。第二，大模型在数据不足或缺失的现实场景中具有不可替代的优势。第三，我们的混合模型兼顾了效率和可解释性。最后，我们也发现了核心挑战，即大模型的先验知识与现实数据存在偏差，这是未来需要解决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我的汇报到此结束，感谢各位的聆听。欢迎大家提问交流。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BA38DAC0-CE62-D141-B832-686CBE4253BA}" type="datetimeFigureOut">
              <a:rPr kumimoji="1" lang="zh-CN" altLang="en-US" smtClean="0"/>
              <a:t>2026/6/10</a:t>
            </a:fld>
            <a:endParaRPr kumimoji="1" lang="zh-CN" altLang="en-US"/>
          </a:p>
        </p:txBody>
      </p:sp>
      <p:sp>
        <p:nvSpPr>
          <p:cNvPr id="3" name="页脚占位符 2"/>
          <p:cNvSpPr>
            <a:spLocks noGrp="1"/>
          </p:cNvSpPr>
          <p:nvPr>
            <p:ph type="ftr" sz="quarter" idx="11"/>
          </p:nvPr>
        </p:nvSpPr>
        <p:spPr>
          <a:xfrm>
            <a:off x="4038600" y="6356350"/>
            <a:ext cx="4114800" cy="365125"/>
          </a:xfr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1245BADA-1024-0545-A29F-910C83BB960C}"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image" Target="../media/image1.jpe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alphaModFix amt="18000"/>
            <a:lum/>
          </a:blip>
          <a:srcRect/>
          <a:stretch>
            <a:fillRect/>
          </a:stretch>
        </a:blip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4">
            <a:alphaModFix amt="18000"/>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notesSlide" Target="../notesSlides/notesSlide3.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12.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5.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4.sv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7.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image" Target="../media/image3.jpeg"/><Relationship Id="rId30"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notesSlide" Target="../notesSlides/notesSlide5.xml"/><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12.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tags" Target="../tags/tag49.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18" Type="http://schemas.openxmlformats.org/officeDocument/2006/relationships/tags" Target="../tags/tag73.xml"/><Relationship Id="rId26" Type="http://schemas.openxmlformats.org/officeDocument/2006/relationships/notesSlide" Target="../notesSlides/notesSlide12.xml"/><Relationship Id="rId3" Type="http://schemas.openxmlformats.org/officeDocument/2006/relationships/tags" Target="../tags/tag58.xml"/><Relationship Id="rId21" Type="http://schemas.openxmlformats.org/officeDocument/2006/relationships/tags" Target="../tags/tag76.xml"/><Relationship Id="rId7" Type="http://schemas.openxmlformats.org/officeDocument/2006/relationships/tags" Target="../tags/tag62.xml"/><Relationship Id="rId12" Type="http://schemas.openxmlformats.org/officeDocument/2006/relationships/tags" Target="../tags/tag67.xml"/><Relationship Id="rId17" Type="http://schemas.openxmlformats.org/officeDocument/2006/relationships/tags" Target="../tags/tag72.xml"/><Relationship Id="rId25" Type="http://schemas.openxmlformats.org/officeDocument/2006/relationships/slideLayout" Target="../slideLayouts/slideLayout12.xml"/><Relationship Id="rId2" Type="http://schemas.openxmlformats.org/officeDocument/2006/relationships/tags" Target="../tags/tag57.xml"/><Relationship Id="rId16" Type="http://schemas.openxmlformats.org/officeDocument/2006/relationships/tags" Target="../tags/tag71.xml"/><Relationship Id="rId20" Type="http://schemas.openxmlformats.org/officeDocument/2006/relationships/tags" Target="../tags/tag75.xml"/><Relationship Id="rId29" Type="http://schemas.openxmlformats.org/officeDocument/2006/relationships/image" Target="../media/image18.svg"/><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24" Type="http://schemas.openxmlformats.org/officeDocument/2006/relationships/tags" Target="../tags/tag79.xml"/><Relationship Id="rId5" Type="http://schemas.openxmlformats.org/officeDocument/2006/relationships/tags" Target="../tags/tag60.xml"/><Relationship Id="rId15" Type="http://schemas.openxmlformats.org/officeDocument/2006/relationships/tags" Target="../tags/tag70.xml"/><Relationship Id="rId23" Type="http://schemas.openxmlformats.org/officeDocument/2006/relationships/tags" Target="../tags/tag78.xml"/><Relationship Id="rId28" Type="http://schemas.openxmlformats.org/officeDocument/2006/relationships/image" Target="../media/image17.svg"/><Relationship Id="rId10" Type="http://schemas.openxmlformats.org/officeDocument/2006/relationships/tags" Target="../tags/tag65.xml"/><Relationship Id="rId19" Type="http://schemas.openxmlformats.org/officeDocument/2006/relationships/tags" Target="../tags/tag74.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tags" Target="../tags/tag69.xml"/><Relationship Id="rId22" Type="http://schemas.openxmlformats.org/officeDocument/2006/relationships/tags" Target="../tags/tag77.xml"/><Relationship Id="rId27" Type="http://schemas.openxmlformats.org/officeDocument/2006/relationships/image" Target="../media/image16.svg"/><Relationship Id="rId30" Type="http://schemas.openxmlformats.org/officeDocument/2006/relationships/image" Target="../media/image19.svg"/></Relationships>
</file>

<file path=ppt/slides/_rels/slide14.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tags" Target="../tags/tag97.xml"/><Relationship Id="rId26" Type="http://schemas.openxmlformats.org/officeDocument/2006/relationships/image" Target="../media/image22.svg"/><Relationship Id="rId3" Type="http://schemas.openxmlformats.org/officeDocument/2006/relationships/tags" Target="../tags/tag82.xml"/><Relationship Id="rId21" Type="http://schemas.openxmlformats.org/officeDocument/2006/relationships/tags" Target="../tags/tag100.xml"/><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tags" Target="../tags/tag96.xml"/><Relationship Id="rId25" Type="http://schemas.openxmlformats.org/officeDocument/2006/relationships/image" Target="../media/image21.svg"/><Relationship Id="rId2" Type="http://schemas.openxmlformats.org/officeDocument/2006/relationships/tags" Target="../tags/tag81.xml"/><Relationship Id="rId16" Type="http://schemas.openxmlformats.org/officeDocument/2006/relationships/tags" Target="../tags/tag95.xml"/><Relationship Id="rId20" Type="http://schemas.openxmlformats.org/officeDocument/2006/relationships/tags" Target="../tags/tag99.xml"/><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24" Type="http://schemas.openxmlformats.org/officeDocument/2006/relationships/image" Target="../media/image20.svg"/><Relationship Id="rId5" Type="http://schemas.openxmlformats.org/officeDocument/2006/relationships/tags" Target="../tags/tag84.xml"/><Relationship Id="rId15" Type="http://schemas.openxmlformats.org/officeDocument/2006/relationships/tags" Target="../tags/tag94.xml"/><Relationship Id="rId23" Type="http://schemas.openxmlformats.org/officeDocument/2006/relationships/notesSlide" Target="../notesSlides/notesSlide13.xml"/><Relationship Id="rId10" Type="http://schemas.openxmlformats.org/officeDocument/2006/relationships/tags" Target="../tags/tag89.xml"/><Relationship Id="rId19" Type="http://schemas.openxmlformats.org/officeDocument/2006/relationships/tags" Target="../tags/tag98.xml"/><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tags" Target="../tags/tag93.xml"/><Relationship Id="rId22"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9.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6.svg"/><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8.svg"/></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1.svg"/><Relationship Id="rId4" Type="http://schemas.openxmlformats.org/officeDocument/2006/relationships/image" Target="../media/image30.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tags" Target="../tags/tag113.xml"/><Relationship Id="rId18" Type="http://schemas.openxmlformats.org/officeDocument/2006/relationships/tags" Target="../tags/tag118.xml"/><Relationship Id="rId26" Type="http://schemas.openxmlformats.org/officeDocument/2006/relationships/image" Target="../media/image32.png"/><Relationship Id="rId3" Type="http://schemas.openxmlformats.org/officeDocument/2006/relationships/tags" Target="../tags/tag103.xml"/><Relationship Id="rId21" Type="http://schemas.openxmlformats.org/officeDocument/2006/relationships/tags" Target="../tags/tag121.xml"/><Relationship Id="rId7" Type="http://schemas.openxmlformats.org/officeDocument/2006/relationships/tags" Target="../tags/tag107.xml"/><Relationship Id="rId12" Type="http://schemas.openxmlformats.org/officeDocument/2006/relationships/tags" Target="../tags/tag112.xml"/><Relationship Id="rId17" Type="http://schemas.openxmlformats.org/officeDocument/2006/relationships/tags" Target="../tags/tag117.xml"/><Relationship Id="rId25" Type="http://schemas.openxmlformats.org/officeDocument/2006/relationships/slideLayout" Target="../slideLayouts/slideLayout13.xml"/><Relationship Id="rId2" Type="http://schemas.openxmlformats.org/officeDocument/2006/relationships/tags" Target="../tags/tag102.xml"/><Relationship Id="rId16" Type="http://schemas.openxmlformats.org/officeDocument/2006/relationships/tags" Target="../tags/tag116.xml"/><Relationship Id="rId20" Type="http://schemas.openxmlformats.org/officeDocument/2006/relationships/tags" Target="../tags/tag120.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tags" Target="../tags/tag111.xml"/><Relationship Id="rId24" Type="http://schemas.openxmlformats.org/officeDocument/2006/relationships/tags" Target="../tags/tag124.xml"/><Relationship Id="rId5" Type="http://schemas.openxmlformats.org/officeDocument/2006/relationships/tags" Target="../tags/tag105.xml"/><Relationship Id="rId15" Type="http://schemas.openxmlformats.org/officeDocument/2006/relationships/tags" Target="../tags/tag115.xml"/><Relationship Id="rId23" Type="http://schemas.openxmlformats.org/officeDocument/2006/relationships/tags" Target="../tags/tag123.xml"/><Relationship Id="rId10" Type="http://schemas.openxmlformats.org/officeDocument/2006/relationships/tags" Target="../tags/tag110.xml"/><Relationship Id="rId19" Type="http://schemas.openxmlformats.org/officeDocument/2006/relationships/tags" Target="../tags/tag119.xml"/><Relationship Id="rId4" Type="http://schemas.openxmlformats.org/officeDocument/2006/relationships/tags" Target="../tags/tag104.xml"/><Relationship Id="rId9" Type="http://schemas.openxmlformats.org/officeDocument/2006/relationships/tags" Target="../tags/tag109.xml"/><Relationship Id="rId14" Type="http://schemas.openxmlformats.org/officeDocument/2006/relationships/tags" Target="../tags/tag114.xml"/><Relationship Id="rId22" Type="http://schemas.openxmlformats.org/officeDocument/2006/relationships/tags" Target="../tags/tag12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tags" Target="../tags/tag127.xml"/><Relationship Id="rId7" Type="http://schemas.openxmlformats.org/officeDocument/2006/relationships/image" Target="../media/image40.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39.png"/><Relationship Id="rId5" Type="http://schemas.openxmlformats.org/officeDocument/2006/relationships/slideLayout" Target="../slideLayouts/slideLayout13.xml"/><Relationship Id="rId4" Type="http://schemas.openxmlformats.org/officeDocument/2006/relationships/tags" Target="../tags/tag1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tags" Target="../tags/tag141.xml"/><Relationship Id="rId3" Type="http://schemas.openxmlformats.org/officeDocument/2006/relationships/tags" Target="../tags/tag131.xml"/><Relationship Id="rId7" Type="http://schemas.openxmlformats.org/officeDocument/2006/relationships/tags" Target="../tags/tag135.xml"/><Relationship Id="rId12" Type="http://schemas.openxmlformats.org/officeDocument/2006/relationships/tags" Target="../tags/tag140.xml"/><Relationship Id="rId2" Type="http://schemas.openxmlformats.org/officeDocument/2006/relationships/tags" Target="../tags/tag130.xml"/><Relationship Id="rId16" Type="http://schemas.openxmlformats.org/officeDocument/2006/relationships/slideLayout" Target="../slideLayouts/slideLayout13.xml"/><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tags" Target="../tags/tag139.xml"/><Relationship Id="rId5" Type="http://schemas.openxmlformats.org/officeDocument/2006/relationships/tags" Target="../tags/tag133.xml"/><Relationship Id="rId15" Type="http://schemas.openxmlformats.org/officeDocument/2006/relationships/tags" Target="../tags/tag143.xml"/><Relationship Id="rId10" Type="http://schemas.openxmlformats.org/officeDocument/2006/relationships/tags" Target="../tags/tag138.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tags" Target="../tags/tag14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21.xml"/><Relationship Id="rId1" Type="http://schemas.openxmlformats.org/officeDocument/2006/relationships/slideLayout" Target="../slideLayouts/slideLayout2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37.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a:fillRect/>
          </a:stretch>
        </p:blipFill>
        <p:spPr>
          <a:xfrm>
            <a:off x="0" y="0"/>
            <a:ext cx="12268200" cy="6858635"/>
          </a:xfrm>
          <a:prstGeom prst="rect">
            <a:avLst/>
          </a:prstGeom>
        </p:spPr>
      </p:pic>
      <p:sp>
        <p:nvSpPr>
          <p:cNvPr id="11" name="AutoShape 3"/>
          <p:cNvSpPr/>
          <p:nvPr/>
        </p:nvSpPr>
        <p:spPr>
          <a:xfrm>
            <a:off x="508000" y="2794000"/>
            <a:ext cx="11176000" cy="889000"/>
          </a:xfrm>
          <a:prstGeom prst="rect">
            <a:avLst/>
          </a:prstGeom>
          <a:noFill/>
          <a:ln w="12700" cap="flat" cmpd="sng">
            <a:noFill/>
            <a:prstDash val="solid"/>
            <a:round/>
          </a:ln>
        </p:spPr>
        <p:txBody>
          <a:bodyPr vert="horz" wrap="square" lIns="0" tIns="0" rIns="0" bIns="0" rtlCol="0" anchor="ctr" anchorCtr="0"/>
          <a:lstStyle/>
          <a:p>
            <a:pPr marL="0" marR="0" lvl="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en-US" sz="4800" b="1" dirty="0" err="1">
                <a:solidFill>
                  <a:srgbClr val="FFFFFF"/>
                </a:solidFill>
                <a:latin typeface="Noto Sans SC" panose="020B0200000000000000" charset="-122"/>
                <a:ea typeface="Noto Sans SC" panose="020B0200000000000000" charset="-122"/>
                <a:cs typeface="Noto Sans SC" panose="020B0200000000000000" charset="-122"/>
              </a:rPr>
              <a:t>针对</a:t>
            </a:r>
            <a:r>
              <a:rPr kumimoji="0" lang="en-US" sz="4800" b="1" i="0" u="none" strike="noStrike" kern="0" cap="none" spc="0" normalizeH="0" baseline="0" noProof="0" dirty="0" err="1">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Arial" panose="020B0604020202020204"/>
              </a:rPr>
              <a:t>时序迁移的家庭出行行为预测</a:t>
            </a:r>
            <a:r>
              <a:rPr kumimoji="0" lang="en-US" sz="4800" b="1" i="0" u="none" strike="noStrike" kern="0" cap="none" spc="0" normalizeH="0" baseline="0" noProof="0" dirty="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Arial" panose="020B0604020202020204"/>
              </a:rPr>
              <a:t>：</a:t>
            </a:r>
          </a:p>
          <a:p>
            <a:pPr lvl="0" algn="ctr">
              <a:lnSpc>
                <a:spcPct val="125000"/>
              </a:lnSpc>
              <a:defRPr/>
            </a:pPr>
            <a:r>
              <a:rPr kumimoji="0" lang="en-US" sz="4000" b="1" i="0" u="none" strike="noStrike" kern="0" cap="none" spc="0" normalizeH="0" baseline="0" noProof="0" dirty="0" err="1">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Arial" panose="020B0604020202020204"/>
              </a:rPr>
              <a:t>LLM辅助的</a:t>
            </a:r>
            <a:r>
              <a:rPr lang="zh-CN" altLang="en-US" sz="4000" b="1" dirty="0">
                <a:solidFill>
                  <a:srgbClr val="FFFFFF"/>
                </a:solidFill>
                <a:latin typeface="Noto Sans SC" panose="020B0200000000000000" charset="-122"/>
                <a:ea typeface="Noto Sans SC" panose="020B0200000000000000" charset="-122"/>
                <a:cs typeface="Noto Sans SC" panose="020B0200000000000000" charset="-122"/>
              </a:rPr>
              <a:t>规则构建</a:t>
            </a:r>
            <a:r>
              <a:rPr kumimoji="0" lang="en-US" sz="4000" b="1" i="0" u="none" strike="noStrike" kern="0" cap="none" spc="0" normalizeH="0" baseline="0" noProof="0" dirty="0" err="1">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Arial" panose="020B0604020202020204"/>
              </a:rPr>
              <a:t>与模型修正</a:t>
            </a:r>
            <a:endParaRPr kumimoji="0" lang="en-US" sz="4000" b="1" i="0" u="none" strike="noStrike" kern="0" cap="none" spc="0" normalizeH="0" baseline="0" noProof="0" dirty="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Arial" panose="020B0604020202020204"/>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cxnSp>
        <p:nvCxnSpPr>
          <p:cNvPr id="3" name="Connector 3"/>
          <p:cNvCxnSpPr/>
          <p:nvPr/>
        </p:nvCxnSpPr>
        <p:spPr>
          <a:xfrm rot="-4092">
            <a:off x="762004" y="1517650"/>
            <a:ext cx="10668000" cy="12700"/>
          </a:xfrm>
          <a:prstGeom prst="line">
            <a:avLst/>
          </a:prstGeom>
          <a:solidFill>
            <a:srgbClr val="DEE0E3">
              <a:alpha val="100000"/>
            </a:srgbClr>
          </a:solidFill>
          <a:ln w="12700" cap="flat" cmpd="sng">
            <a:solidFill>
              <a:srgbClr val="40E0D0">
                <a:alpha val="50000"/>
              </a:srgbClr>
            </a:solidFill>
            <a:prstDash val="solid"/>
            <a:round/>
            <a:headEnd type="none" w="med" len="med"/>
            <a:tailEnd type="none" w="med" len="med"/>
          </a:ln>
        </p:spPr>
      </p:cxnSp>
      <p:sp>
        <p:nvSpPr>
          <p:cNvPr id="64" name="AutoShape 4"/>
          <p:cNvSpPr/>
          <p:nvPr/>
        </p:nvSpPr>
        <p:spPr>
          <a:xfrm>
            <a:off x="762000" y="19050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65" name="AutoShape 5"/>
          <p:cNvSpPr/>
          <p:nvPr/>
        </p:nvSpPr>
        <p:spPr>
          <a:xfrm>
            <a:off x="762000" y="1905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6" name="AutoShape 6"/>
          <p:cNvSpPr/>
          <p:nvPr/>
        </p:nvSpPr>
        <p:spPr>
          <a:xfrm>
            <a:off x="1143000" y="225425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dirty="0"/>
          </a:p>
        </p:txBody>
      </p:sp>
      <p:cxnSp>
        <p:nvCxnSpPr>
          <p:cNvPr id="67" name="Connector 7"/>
          <p:cNvCxnSpPr/>
          <p:nvPr/>
        </p:nvCxnSpPr>
        <p:spPr>
          <a:xfrm rot="5354166">
            <a:off x="1428750" y="25019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68" name="AutoShape 8"/>
          <p:cNvSpPr/>
          <p:nvPr/>
        </p:nvSpPr>
        <p:spPr>
          <a:xfrm>
            <a:off x="2095500" y="20066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100" dirty="0"/>
          </a:p>
          <a:p>
            <a:pPr marL="0" indent="0" algn="l">
              <a:lnSpc>
                <a:spcPct val="117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剖析传统模拟方法局限，探讨大模型驱动模拟的突破点与核心挑战，明确本研究动机与待解决的关键问题</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69" name="AutoShape 9"/>
          <p:cNvSpPr/>
          <p:nvPr/>
        </p:nvSpPr>
        <p:spPr>
          <a:xfrm>
            <a:off x="762000" y="34290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70" name="AutoShape 10"/>
          <p:cNvSpPr/>
          <p:nvPr/>
        </p:nvSpPr>
        <p:spPr>
          <a:xfrm>
            <a:off x="762000" y="3429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1" name="AutoShape 11"/>
          <p:cNvSpPr/>
          <p:nvPr/>
        </p:nvSpPr>
        <p:spPr>
          <a:xfrm>
            <a:off x="1134917" y="377825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dirty="0"/>
          </a:p>
        </p:txBody>
      </p:sp>
      <p:cxnSp>
        <p:nvCxnSpPr>
          <p:cNvPr id="72" name="Connector 12"/>
          <p:cNvCxnSpPr/>
          <p:nvPr/>
        </p:nvCxnSpPr>
        <p:spPr>
          <a:xfrm rot="5354166">
            <a:off x="1428750" y="40259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73" name="AutoShape 13"/>
          <p:cNvSpPr/>
          <p:nvPr/>
        </p:nvSpPr>
        <p:spPr>
          <a:xfrm>
            <a:off x="2095500" y="35306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相关工作</a:t>
            </a:r>
            <a:endParaRPr lang="en-US" sz="1100" dirty="0"/>
          </a:p>
          <a:p>
            <a:pPr marL="0" indent="0" algn="l">
              <a:lnSpc>
                <a:spcPct val="117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梳理LLM驱动模拟的演进脉络，对比现有研究成果</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本研究创新</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性</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与学术价值</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74" name="AutoShape 14"/>
          <p:cNvSpPr/>
          <p:nvPr/>
        </p:nvSpPr>
        <p:spPr>
          <a:xfrm>
            <a:off x="762000" y="48895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75" name="AutoShape 15"/>
          <p:cNvSpPr/>
          <p:nvPr/>
        </p:nvSpPr>
        <p:spPr>
          <a:xfrm>
            <a:off x="762000" y="48895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6" name="AutoShape 16"/>
          <p:cNvSpPr/>
          <p:nvPr/>
        </p:nvSpPr>
        <p:spPr>
          <a:xfrm>
            <a:off x="1155699" y="523875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dirty="0"/>
          </a:p>
        </p:txBody>
      </p:sp>
      <p:cxnSp>
        <p:nvCxnSpPr>
          <p:cNvPr id="77" name="Connector 17"/>
          <p:cNvCxnSpPr/>
          <p:nvPr/>
        </p:nvCxnSpPr>
        <p:spPr>
          <a:xfrm rot="5354166">
            <a:off x="1428750" y="54864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78" name="AutoShape 18"/>
          <p:cNvSpPr/>
          <p:nvPr/>
        </p:nvSpPr>
        <p:spPr>
          <a:xfrm>
            <a:off x="2095500" y="49911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a:t>
            </a:r>
            <a:endParaRPr lang="en-US" sz="1100" dirty="0"/>
          </a:p>
          <a:p>
            <a:pPr marL="0" indent="0" algn="l">
              <a:lnSpc>
                <a:spcPct val="117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明确实验目标</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和实验场景</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合理的结果</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评估体系</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79" name="AutoShape 19"/>
          <p:cNvSpPr/>
          <p:nvPr/>
        </p:nvSpPr>
        <p:spPr>
          <a:xfrm>
            <a:off x="6350000" y="19050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80" name="AutoShape 20"/>
          <p:cNvSpPr/>
          <p:nvPr/>
        </p:nvSpPr>
        <p:spPr>
          <a:xfrm>
            <a:off x="6350000" y="1905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1" name="AutoShape 21"/>
          <p:cNvSpPr/>
          <p:nvPr/>
        </p:nvSpPr>
        <p:spPr>
          <a:xfrm>
            <a:off x="6743699" y="225425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dirty="0"/>
          </a:p>
        </p:txBody>
      </p:sp>
      <p:cxnSp>
        <p:nvCxnSpPr>
          <p:cNvPr id="82" name="Connector 22"/>
          <p:cNvCxnSpPr/>
          <p:nvPr/>
        </p:nvCxnSpPr>
        <p:spPr>
          <a:xfrm rot="5354166">
            <a:off x="7016750" y="25019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3" name="AutoShape 23"/>
          <p:cNvSpPr/>
          <p:nvPr/>
        </p:nvSpPr>
        <p:spPr>
          <a:xfrm>
            <a:off x="7683500" y="20066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t>
            </a:r>
            <a:r>
              <a:rPr lang="zh-CN" altLang="en-US" sz="16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endParaRPr lang="en-US" sz="1100" dirty="0"/>
          </a:p>
          <a:p>
            <a:pPr marL="0" indent="0" algn="l">
              <a:lnSpc>
                <a:spcPct val="117000"/>
              </a:lnSpc>
            </a:pP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基于大模型知识蒸馏</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人类行为预测方法</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详细阐述规则生成逻辑与多维赋分机制的实现细节</a:t>
            </a: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4" name="AutoShape 24"/>
          <p:cNvSpPr/>
          <p:nvPr/>
        </p:nvSpPr>
        <p:spPr>
          <a:xfrm>
            <a:off x="6350000" y="34290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85" name="AutoShape 25"/>
          <p:cNvSpPr/>
          <p:nvPr/>
        </p:nvSpPr>
        <p:spPr>
          <a:xfrm>
            <a:off x="6350000" y="3429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6" name="AutoShape 26"/>
          <p:cNvSpPr/>
          <p:nvPr/>
        </p:nvSpPr>
        <p:spPr>
          <a:xfrm>
            <a:off x="6743699" y="37846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dirty="0"/>
          </a:p>
        </p:txBody>
      </p:sp>
      <p:cxnSp>
        <p:nvCxnSpPr>
          <p:cNvPr id="87" name="Connector 27"/>
          <p:cNvCxnSpPr/>
          <p:nvPr/>
        </p:nvCxnSpPr>
        <p:spPr>
          <a:xfrm rot="5354166">
            <a:off x="7016750" y="40259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8" name="AutoShape 28"/>
          <p:cNvSpPr/>
          <p:nvPr/>
        </p:nvSpPr>
        <p:spPr>
          <a:xfrm>
            <a:off x="7683500" y="35306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结果讨论</a:t>
            </a:r>
            <a:endParaRPr lang="en-US" sz="1100" dirty="0"/>
          </a:p>
          <a:p>
            <a:pPr marL="0" indent="0" algn="l">
              <a:lnSpc>
                <a:spcPct val="117000"/>
              </a:lnSpc>
            </a:pPr>
            <a:r>
              <a:rPr lang="zh-CN" altLang="en-US" sz="12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分析对比</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对方案表现进行评估与讨论</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89" name="AutoShape 29"/>
          <p:cNvSpPr/>
          <p:nvPr/>
        </p:nvSpPr>
        <p:spPr>
          <a:xfrm>
            <a:off x="6350000" y="4889500"/>
            <a:ext cx="5207000" cy="1206500"/>
          </a:xfrm>
          <a:prstGeom prst="roundRect">
            <a:avLst>
              <a:gd name="adj" fmla="val 0"/>
            </a:avLst>
          </a:prstGeom>
          <a:solidFill>
            <a:srgbClr val="FFFFFF">
              <a:alpha val="7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90" name="AutoShape 30"/>
          <p:cNvSpPr/>
          <p:nvPr/>
        </p:nvSpPr>
        <p:spPr>
          <a:xfrm>
            <a:off x="6350000" y="48895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1" name="AutoShape 31"/>
          <p:cNvSpPr/>
          <p:nvPr/>
        </p:nvSpPr>
        <p:spPr>
          <a:xfrm>
            <a:off x="6747163" y="523875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dirty="0"/>
          </a:p>
        </p:txBody>
      </p:sp>
      <p:cxnSp>
        <p:nvCxnSpPr>
          <p:cNvPr id="92" name="Connector 32"/>
          <p:cNvCxnSpPr/>
          <p:nvPr/>
        </p:nvCxnSpPr>
        <p:spPr>
          <a:xfrm rot="5354166">
            <a:off x="7016750" y="5486442"/>
            <a:ext cx="952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93" name="AutoShape 33"/>
          <p:cNvSpPr/>
          <p:nvPr/>
        </p:nvSpPr>
        <p:spPr>
          <a:xfrm>
            <a:off x="7683500" y="4991100"/>
            <a:ext cx="368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zh-CN" altLang="en-US" sz="1600" b="1"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展望</a:t>
            </a:r>
            <a:endParaRPr lang="en-US" sz="1100" dirty="0"/>
          </a:p>
          <a:p>
            <a:pPr marL="0" indent="0" algn="l">
              <a:lnSpc>
                <a:spcPct val="117000"/>
              </a:lnSpc>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总结研究核心结论与适用场景，反思当前方案的不足，</a:t>
            </a:r>
            <a:r>
              <a:rPr lang="en-US" altLang="zh-CN"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针对性</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提出改进建议，规划未来研究方向</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a:t>
            </a:r>
            <a:r>
              <a:rPr lang="zh-CN" alt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a:t>
            </a:r>
            <a:endParaRPr lang="en-US" sz="1100" dirty="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25400" cap="flat" cmpd="sng">
            <a:solidFill>
              <a:srgbClr val="40E0D0">
                <a:alpha val="50000"/>
              </a:srgbClr>
            </a:solidFill>
            <a:prstDash val="solid"/>
            <a:round/>
            <a:headEnd type="none" w="lg" len="lg"/>
            <a:tailEnd type="none" w="lg" len="lg"/>
          </a:ln>
        </p:spPr>
      </p:cxnSp>
      <p:pic>
        <p:nvPicPr>
          <p:cNvPr id="18" name="Picture 4"/>
          <p:cNvPicPr>
            <a:picLocks noChangeAspect="1"/>
          </p:cNvPicPr>
          <p:nvPr/>
        </p:nvPicPr>
        <p:blipFill>
          <a:blip r:embed="rId27"/>
          <a:srcRect t="1851" b="1851"/>
          <a:stretch>
            <a:fillRect/>
          </a:stretch>
        </p:blipFill>
        <p:spPr>
          <a:xfrm>
            <a:off x="762000" y="1905000"/>
            <a:ext cx="4572000" cy="3302000"/>
          </a:xfrm>
          <a:prstGeom prst="rect">
            <a:avLst/>
          </a:prstGeom>
          <a:noFill/>
          <a:ln w="25400" cap="flat" cmpd="sng">
            <a:solidFill>
              <a:srgbClr val="22C55E">
                <a:alpha val="50000"/>
              </a:srgbClr>
            </a:solidFill>
            <a:prstDash val="solid"/>
            <a:round/>
          </a:ln>
        </p:spPr>
      </p:pic>
      <p:sp>
        <p:nvSpPr>
          <p:cNvPr id="19" name="AutoShape 5"/>
          <p:cNvSpPr/>
          <p:nvPr/>
        </p:nvSpPr>
        <p:spPr>
          <a:xfrm>
            <a:off x="762000" y="5461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预测模型在面对复杂、动态的城市交通环境时，因架构固化、依赖静态历史数据，难以适配实时变化的出行特征，逐渐暴露出显著的应用瓶颈</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20" name="Connector 6"/>
          <p:cNvCxnSpPr/>
          <p:nvPr/>
        </p:nvCxnSpPr>
        <p:spPr>
          <a:xfrm rot="5390450">
            <a:off x="3429000" y="4057659"/>
            <a:ext cx="45720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21" name="AutoShape 7"/>
          <p:cNvSpPr/>
          <p:nvPr>
            <p:custDataLst>
              <p:tags r:id="rId1"/>
            </p:custDataLst>
          </p:nvPr>
        </p:nvSpPr>
        <p:spPr>
          <a:xfrm>
            <a:off x="5905500" y="1905000"/>
            <a:ext cx="2857500" cy="2095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2" name="AutoShape 8"/>
          <p:cNvSpPr/>
          <p:nvPr>
            <p:custDataLst>
              <p:tags r:id="rId2"/>
            </p:custDataLst>
          </p:nvPr>
        </p:nvSpPr>
        <p:spPr>
          <a:xfrm>
            <a:off x="5905500" y="1905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9"/>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6096000" y="2032000"/>
            <a:ext cx="304800" cy="304800"/>
          </a:xfrm>
          <a:prstGeom prst="rect">
            <a:avLst/>
          </a:prstGeom>
        </p:spPr>
      </p:pic>
      <p:sp>
        <p:nvSpPr>
          <p:cNvPr id="24" name="AutoShape 10"/>
          <p:cNvSpPr/>
          <p:nvPr>
            <p:custDataLst>
              <p:tags r:id="rId4"/>
            </p:custDataLst>
          </p:nvPr>
        </p:nvSpPr>
        <p:spPr>
          <a:xfrm>
            <a:off x="6477000" y="20066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数据依赖严重</a:t>
            </a:r>
            <a:endParaRPr lang="en-US" sz="1100"/>
          </a:p>
        </p:txBody>
      </p:sp>
      <p:cxnSp>
        <p:nvCxnSpPr>
          <p:cNvPr id="25" name="Connector 11"/>
          <p:cNvCxnSpPr/>
          <p:nvPr>
            <p:custDataLst>
              <p:tags r:id="rId5"/>
            </p:custDataLst>
          </p:nvPr>
        </p:nvCxnSpPr>
        <p:spPr>
          <a:xfrm rot="-17629">
            <a:off x="6096016" y="2533650"/>
            <a:ext cx="2476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6" name="AutoShape 12"/>
          <p:cNvSpPr/>
          <p:nvPr>
            <p:custDataLst>
              <p:tags r:id="rId6"/>
            </p:custDataLst>
          </p:nvPr>
        </p:nvSpPr>
        <p:spPr>
          <a:xfrm>
            <a:off x="6096000" y="2667000"/>
            <a:ext cx="2540000" cy="12065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高度依赖大量高质量标注数据</a:t>
            </a:r>
            <a:r>
              <a:rPr lang="en-US" altLang="zh-CN" sz="1200"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，无法应对数据稀疏场景</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，缺乏数据支撑极易导致模型失效</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7" name="AutoShape 13"/>
          <p:cNvSpPr/>
          <p:nvPr>
            <p:custDataLst>
              <p:tags r:id="rId7"/>
            </p:custDataLst>
          </p:nvPr>
        </p:nvSpPr>
        <p:spPr>
          <a:xfrm>
            <a:off x="8890000" y="1905000"/>
            <a:ext cx="2857500" cy="2095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8" name="AutoShape 14"/>
          <p:cNvSpPr/>
          <p:nvPr>
            <p:custDataLst>
              <p:tags r:id="rId8"/>
            </p:custDataLst>
          </p:nvPr>
        </p:nvSpPr>
        <p:spPr>
          <a:xfrm>
            <a:off x="8890000" y="1905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9" name="Picture 15"/>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080500" y="2032000"/>
            <a:ext cx="304800" cy="304800"/>
          </a:xfrm>
          <a:prstGeom prst="rect">
            <a:avLst/>
          </a:prstGeom>
        </p:spPr>
      </p:pic>
      <p:sp>
        <p:nvSpPr>
          <p:cNvPr id="30" name="AutoShape 16"/>
          <p:cNvSpPr/>
          <p:nvPr>
            <p:custDataLst>
              <p:tags r:id="rId10"/>
            </p:custDataLst>
          </p:nvPr>
        </p:nvSpPr>
        <p:spPr>
          <a:xfrm>
            <a:off x="9461500" y="20066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模型鲁棒性差</a:t>
            </a:r>
            <a:endParaRPr lang="en-US" sz="1100"/>
          </a:p>
        </p:txBody>
      </p:sp>
      <p:cxnSp>
        <p:nvCxnSpPr>
          <p:cNvPr id="31" name="Connector 17"/>
          <p:cNvCxnSpPr/>
          <p:nvPr>
            <p:custDataLst>
              <p:tags r:id="rId11"/>
            </p:custDataLst>
          </p:nvPr>
        </p:nvCxnSpPr>
        <p:spPr>
          <a:xfrm rot="-17629">
            <a:off x="9080516" y="2533650"/>
            <a:ext cx="2476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2" name="AutoShape 18"/>
          <p:cNvSpPr/>
          <p:nvPr>
            <p:custDataLst>
              <p:tags r:id="rId12"/>
            </p:custDataLst>
          </p:nvPr>
        </p:nvSpPr>
        <p:spPr>
          <a:xfrm>
            <a:off x="9080500" y="2667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对数据噪声、缺失值或分布偏移极度敏感。当</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数据中关键字段缺失或样本分布异常时，模型预测准确率会出现断崖式下降</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3" name="AutoShape 19"/>
          <p:cNvSpPr/>
          <p:nvPr>
            <p:custDataLst>
              <p:tags r:id="rId13"/>
            </p:custDataLst>
          </p:nvPr>
        </p:nvSpPr>
        <p:spPr>
          <a:xfrm>
            <a:off x="5905500" y="4191000"/>
            <a:ext cx="2857500" cy="2095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34" name="AutoShape 20"/>
          <p:cNvSpPr/>
          <p:nvPr>
            <p:custDataLst>
              <p:tags r:id="rId14"/>
            </p:custDataLst>
          </p:nvPr>
        </p:nvSpPr>
        <p:spPr>
          <a:xfrm>
            <a:off x="5905500" y="419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21"/>
          <p:cNvPicPr>
            <a:picLocks noChangeAspect="1"/>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096000" y="4318000"/>
            <a:ext cx="304800" cy="304800"/>
          </a:xfrm>
          <a:prstGeom prst="rect">
            <a:avLst/>
          </a:prstGeom>
        </p:spPr>
      </p:pic>
      <p:sp>
        <p:nvSpPr>
          <p:cNvPr id="36" name="AutoShape 22"/>
          <p:cNvSpPr/>
          <p:nvPr>
            <p:custDataLst>
              <p:tags r:id="rId16"/>
            </p:custDataLst>
          </p:nvPr>
        </p:nvSpPr>
        <p:spPr>
          <a:xfrm>
            <a:off x="6477000" y="42926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场景泛化能力弱</a:t>
            </a:r>
            <a:endParaRPr lang="en-US" sz="1100"/>
          </a:p>
        </p:txBody>
      </p:sp>
      <p:cxnSp>
        <p:nvCxnSpPr>
          <p:cNvPr id="37" name="Connector 23"/>
          <p:cNvCxnSpPr/>
          <p:nvPr>
            <p:custDataLst>
              <p:tags r:id="rId17"/>
            </p:custDataLst>
          </p:nvPr>
        </p:nvCxnSpPr>
        <p:spPr>
          <a:xfrm rot="-17629">
            <a:off x="6096016" y="4819650"/>
            <a:ext cx="2476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8" name="AutoShape 24"/>
          <p:cNvSpPr/>
          <p:nvPr>
            <p:custDataLst>
              <p:tags r:id="rId18"/>
            </p:custDataLst>
          </p:nvPr>
        </p:nvSpPr>
        <p:spPr>
          <a:xfrm>
            <a:off x="6096000" y="4953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城市间的地理结构、人口特征和</a:t>
            </a:r>
            <a:r>
              <a:rPr lang="zh-CN" alt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习惯差异巨大，在单一城市训练的模型难以直接迁移应用到其他城市，需要大量重复的适配工作</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9" name="AutoShape 25"/>
          <p:cNvSpPr/>
          <p:nvPr>
            <p:custDataLst>
              <p:tags r:id="rId19"/>
            </p:custDataLst>
          </p:nvPr>
        </p:nvSpPr>
        <p:spPr>
          <a:xfrm>
            <a:off x="8890000" y="4191000"/>
            <a:ext cx="2857500" cy="2095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40" name="AutoShape 26"/>
          <p:cNvSpPr/>
          <p:nvPr>
            <p:custDataLst>
              <p:tags r:id="rId20"/>
            </p:custDataLst>
          </p:nvPr>
        </p:nvSpPr>
        <p:spPr>
          <a:xfrm>
            <a:off x="8890000" y="419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1" name="Picture 27"/>
          <p:cNvPicPr>
            <a:picLocks noChangeAspect="1"/>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080500" y="4318000"/>
            <a:ext cx="304800" cy="304800"/>
          </a:xfrm>
          <a:prstGeom prst="rect">
            <a:avLst/>
          </a:prstGeom>
        </p:spPr>
      </p:pic>
      <p:sp>
        <p:nvSpPr>
          <p:cNvPr id="42" name="AutoShape 28"/>
          <p:cNvSpPr/>
          <p:nvPr>
            <p:custDataLst>
              <p:tags r:id="rId22"/>
            </p:custDataLst>
          </p:nvPr>
        </p:nvSpPr>
        <p:spPr>
          <a:xfrm>
            <a:off x="9461500" y="42926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决策可解释性不足</a:t>
            </a:r>
            <a:endParaRPr lang="en-US" sz="1100" dirty="0"/>
          </a:p>
        </p:txBody>
      </p:sp>
      <p:cxnSp>
        <p:nvCxnSpPr>
          <p:cNvPr id="43" name="Connector 29"/>
          <p:cNvCxnSpPr/>
          <p:nvPr>
            <p:custDataLst>
              <p:tags r:id="rId23"/>
            </p:custDataLst>
          </p:nvPr>
        </p:nvCxnSpPr>
        <p:spPr>
          <a:xfrm rot="-17629">
            <a:off x="9080516" y="4819650"/>
            <a:ext cx="24765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44" name="AutoShape 30"/>
          <p:cNvSpPr/>
          <p:nvPr>
            <p:custDataLst>
              <p:tags r:id="rId24"/>
            </p:custDataLst>
          </p:nvPr>
        </p:nvSpPr>
        <p:spPr>
          <a:xfrm>
            <a:off x="9080500" y="4953000"/>
            <a:ext cx="254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复杂模型多被视为“</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黑箱</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决策逻辑不透明。管理者无法得知输出结果的内在依据，难以基于模型结论制定科学、精准的政策</a:t>
            </a:r>
            <a:r>
              <a:rPr lang="en-US" sz="12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45" name="文本框 44"/>
          <p:cNvSpPr txBox="1"/>
          <p:nvPr/>
        </p:nvSpPr>
        <p:spPr>
          <a:xfrm>
            <a:off x="7857425" y="314956"/>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r>
              <a:rPr lang="en-US" altLang="zh-CN" sz="2400" dirty="0" err="1">
                <a:sym typeface="Noto Sans SC" panose="020B0200000000000000" charset="-122"/>
              </a:rPr>
              <a:t>传统</a:t>
            </a:r>
            <a:r>
              <a:rPr lang="zh-CN" altLang="en-US" sz="2400" dirty="0">
                <a:sym typeface="Noto Sans SC" panose="020B0200000000000000" charset="-122"/>
              </a:rPr>
              <a:t>行为预测</a:t>
            </a:r>
            <a:r>
              <a:rPr lang="en-US" altLang="zh-CN" sz="2400" dirty="0" err="1">
                <a:sym typeface="Noto Sans SC" panose="020B0200000000000000" charset="-122"/>
              </a:rPr>
              <a:t>方法的局限</a:t>
            </a:r>
            <a:r>
              <a:rPr lang="zh-CN" altLang="en-US" sz="2400" dirty="0">
                <a:sym typeface="Noto Sans SC" panose="020B0200000000000000" charset="-122"/>
              </a:rPr>
              <a:t>性</a:t>
            </a:r>
            <a:endParaRPr lang="zh-CN" altLang="en-US" sz="2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100" dirty="0"/>
          </a:p>
        </p:txBody>
      </p:sp>
      <p:sp>
        <p:nvSpPr>
          <p:cNvPr id="3"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4"/>
          <p:cNvSpPr/>
          <p:nvPr/>
        </p:nvSpPr>
        <p:spPr>
          <a:xfrm>
            <a:off x="762000" y="1905000"/>
            <a:ext cx="5207000" cy="1143000"/>
          </a:xfrm>
          <a:prstGeom prst="roundRect">
            <a:avLst>
              <a:gd name="adj" fmla="val 0"/>
            </a:avLst>
          </a:prstGeom>
          <a:solidFill>
            <a:srgbClr val="FFFFFF">
              <a:alpha val="7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22"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95500"/>
            <a:ext cx="406400" cy="406400"/>
          </a:xfrm>
          <a:prstGeom prst="rect">
            <a:avLst/>
          </a:prstGeom>
        </p:spPr>
      </p:pic>
      <p:sp>
        <p:nvSpPr>
          <p:cNvPr id="23" name="AutoShape 6"/>
          <p:cNvSpPr/>
          <p:nvPr/>
        </p:nvSpPr>
        <p:spPr>
          <a:xfrm>
            <a:off x="1524000" y="2032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零样本</a:t>
            </a:r>
            <a:r>
              <a:rPr lang="en-US" sz="16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少样本泛化能力</a:t>
            </a:r>
            <a:endParaRPr lang="en-US" sz="1100" dirty="0"/>
          </a:p>
          <a:p>
            <a:pPr marL="0" indent="0" algn="l">
              <a:lnSpc>
                <a:spcPct val="108000"/>
              </a:lnSpc>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摆脱对特定领域标注数据的依赖</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无需专门训练即可</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作出</a:t>
            </a:r>
            <a:r>
              <a:rPr lang="en-US" altLang="zh-CN"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a:t>
            </a:r>
            <a:r>
              <a:rPr lang="en-US" altLang="zh-CN"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大幅拓宽模型在各类社会场景中的适用边界</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7"/>
          <p:cNvSpPr/>
          <p:nvPr/>
        </p:nvSpPr>
        <p:spPr>
          <a:xfrm>
            <a:off x="762000" y="3429000"/>
            <a:ext cx="5207000" cy="1143000"/>
          </a:xfrm>
          <a:prstGeom prst="roundRect">
            <a:avLst>
              <a:gd name="adj" fmla="val 0"/>
            </a:avLst>
          </a:prstGeom>
          <a:solidFill>
            <a:srgbClr val="FFFFFF">
              <a:alpha val="7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25"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619500"/>
            <a:ext cx="406400" cy="406400"/>
          </a:xfrm>
          <a:prstGeom prst="rect">
            <a:avLst/>
          </a:prstGeom>
        </p:spPr>
      </p:pic>
      <p:sp>
        <p:nvSpPr>
          <p:cNvPr id="26" name="AutoShape 9"/>
          <p:cNvSpPr/>
          <p:nvPr/>
        </p:nvSpPr>
        <p:spPr>
          <a:xfrm>
            <a:off x="1524000" y="3556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强大的常识推理与认知能力</a:t>
            </a:r>
            <a:endParaRPr lang="en-US" sz="1100" dirty="0"/>
          </a:p>
          <a:p>
            <a:pPr marL="0" indent="0" algn="l">
              <a:lnSpc>
                <a:spcPct val="108000"/>
              </a:lnSpc>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能理解复杂上下文，有效还原真实社会运行逻辑</a:t>
            </a:r>
            <a:r>
              <a:rPr lang="en-US" altLang="zh-CN"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，例如</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a:t>
            </a:r>
            <a:r>
              <a:rPr lang="en-US" altLang="zh-CN"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推断“恶劣天气下人们更倾向选择私家车</a:t>
            </a:r>
            <a:r>
              <a:rPr lang="en-US" altLang="zh-CN"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27" name="AutoShape 10"/>
          <p:cNvSpPr/>
          <p:nvPr/>
        </p:nvSpPr>
        <p:spPr>
          <a:xfrm>
            <a:off x="762000" y="4953000"/>
            <a:ext cx="5207000" cy="1143000"/>
          </a:xfrm>
          <a:prstGeom prst="roundRect">
            <a:avLst>
              <a:gd name="adj" fmla="val 0"/>
            </a:avLst>
          </a:prstGeom>
          <a:solidFill>
            <a:srgbClr val="FFFFFF">
              <a:alpha val="7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28"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143500"/>
            <a:ext cx="406400" cy="406400"/>
          </a:xfrm>
          <a:prstGeom prst="rect">
            <a:avLst/>
          </a:prstGeom>
        </p:spPr>
      </p:pic>
      <p:sp>
        <p:nvSpPr>
          <p:cNvPr id="29" name="AutoShape 12"/>
          <p:cNvSpPr/>
          <p:nvPr/>
        </p:nvSpPr>
        <p:spPr>
          <a:xfrm>
            <a:off x="1524000" y="50800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spcAft>
                <a:spcPts val="600"/>
              </a:spcAft>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自然语言交互与高可解释性</a:t>
            </a:r>
            <a:endParaRPr lang="en-US" sz="1100" dirty="0"/>
          </a:p>
          <a:p>
            <a:pPr marL="0" indent="0" algn="l">
              <a:lnSpc>
                <a:spcPct val="108000"/>
              </a:lnSpc>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以自然语言作为输入输出接口，不仅简化人机交互流程</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也</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让模型的决策过程透明化，增强模拟结果可信度</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cxnSp>
        <p:nvCxnSpPr>
          <p:cNvPr id="30" name="Connector 13"/>
          <p:cNvCxnSpPr/>
          <p:nvPr/>
        </p:nvCxnSpPr>
        <p:spPr>
          <a:xfrm rot="5390177">
            <a:off x="4064000" y="4121159"/>
            <a:ext cx="4445000" cy="12700"/>
          </a:xfrm>
          <a:prstGeom prst="straightConnector1">
            <a:avLst/>
          </a:prstGeom>
          <a:solidFill>
            <a:srgbClr val="DEE0E3">
              <a:alpha val="100000"/>
            </a:srgbClr>
          </a:solidFill>
          <a:ln w="12700" cap="flat" cmpd="sng">
            <a:solidFill>
              <a:srgbClr val="1F2937">
                <a:alpha val="15000"/>
              </a:srgbClr>
            </a:solidFill>
            <a:prstDash val="dash"/>
            <a:round/>
            <a:headEnd type="none" w="med" len="med"/>
            <a:tailEnd type="none" w="med" len="med"/>
          </a:ln>
        </p:spPr>
      </p:cxnSp>
      <p:pic>
        <p:nvPicPr>
          <p:cNvPr id="31" name="Picture 14"/>
          <p:cNvPicPr>
            <a:picLocks noChangeAspect="1"/>
          </p:cNvPicPr>
          <p:nvPr/>
        </p:nvPicPr>
        <p:blipFill>
          <a:blip r:embed="rId6"/>
          <a:srcRect t="13532" b="13532"/>
          <a:stretch>
            <a:fillRect/>
          </a:stretch>
        </p:blipFill>
        <p:spPr>
          <a:xfrm>
            <a:off x="6477000" y="1905000"/>
            <a:ext cx="4953000" cy="2032000"/>
          </a:xfrm>
          <a:prstGeom prst="rect">
            <a:avLst/>
          </a:prstGeom>
          <a:noFill/>
          <a:ln w="25400" cap="flat" cmpd="sng">
            <a:solidFill>
              <a:srgbClr val="22C55E">
                <a:alpha val="60000"/>
              </a:srgbClr>
            </a:solidFill>
            <a:prstDash val="solid"/>
            <a:round/>
          </a:ln>
        </p:spPr>
      </p:pic>
      <p:sp>
        <p:nvSpPr>
          <p:cNvPr id="32" name="AutoShape 15"/>
          <p:cNvSpPr/>
          <p:nvPr/>
        </p:nvSpPr>
        <p:spPr>
          <a:xfrm>
            <a:off x="6477000" y="4191000"/>
            <a:ext cx="2413000" cy="1206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16"/>
          <p:cNvSpPr/>
          <p:nvPr/>
        </p:nvSpPr>
        <p:spPr>
          <a:xfrm>
            <a:off x="6604000" y="433849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~6 秒</a:t>
            </a:r>
            <a:endParaRPr lang="en-US" sz="1100" dirty="0"/>
          </a:p>
          <a:p>
            <a:pPr marL="0" indent="0" algn="l">
              <a:lnSpc>
                <a:spcPct val="100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单次预测推理的基础耗时，频繁调用将产生极高的计算开销</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4" name="AutoShape 17"/>
          <p:cNvSpPr/>
          <p:nvPr/>
        </p:nvSpPr>
        <p:spPr>
          <a:xfrm>
            <a:off x="9017000" y="4191000"/>
            <a:ext cx="2413000" cy="1206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18"/>
          <p:cNvSpPr/>
          <p:nvPr/>
        </p:nvSpPr>
        <p:spPr>
          <a:xfrm>
            <a:off x="9201150" y="4245990"/>
            <a:ext cx="2095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290 天</a:t>
            </a:r>
            <a:endParaRPr lang="en-US" sz="1100" dirty="0"/>
          </a:p>
          <a:p>
            <a:pPr marL="0" indent="0" algn="l">
              <a:lnSpc>
                <a:spcPct val="100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模拟千万人口</a:t>
            </a:r>
            <a:r>
              <a:rPr lang="zh-CN" alt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a:t>
            </a: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总估算耗时，效率完全不可接受</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36" name="AutoShape 19"/>
          <p:cNvSpPr/>
          <p:nvPr/>
        </p:nvSpPr>
        <p:spPr>
          <a:xfrm>
            <a:off x="6477000" y="5651500"/>
            <a:ext cx="4953000" cy="825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20"/>
          <p:cNvSpPr/>
          <p:nvPr/>
        </p:nvSpPr>
        <p:spPr>
          <a:xfrm>
            <a:off x="6604000" y="57531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直接应用原生LLM进行大规模社会模拟，在时间与算力成本上均难以承受，探索轻量化、高效化替代方案</a:t>
            </a:r>
            <a:r>
              <a:rPr lang="zh-CN" altLang="en-US" sz="13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势在必行</a:t>
            </a:r>
            <a:r>
              <a:rPr lang="en-US" sz="13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55" name="文本框 54"/>
          <p:cNvSpPr txBox="1"/>
          <p:nvPr/>
        </p:nvSpPr>
        <p:spPr>
          <a:xfrm>
            <a:off x="7539925" y="314956"/>
            <a:ext cx="42075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r>
              <a:rPr lang="zh-CN" altLang="en-US" sz="2400" dirty="0">
                <a:sym typeface="Noto Sans SC" panose="020B0200000000000000" charset="-122"/>
              </a:rPr>
              <a:t>大模型预测方法的突破与挑战</a:t>
            </a:r>
            <a:endParaRPr lang="zh-CN" altLang="en-US" sz="2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相关工作</a:t>
            </a:r>
            <a:endParaRPr lang="en-US" sz="1100" dirty="0"/>
          </a:p>
        </p:txBody>
      </p:sp>
      <p:sp>
        <p:nvSpPr>
          <p:cNvPr id="4" name="AutoShape 4"/>
          <p:cNvSpPr/>
          <p:nvPr>
            <p:custDataLst>
              <p:tags r:id="rId1"/>
            </p:custDataLst>
          </p:nvPr>
        </p:nvSpPr>
        <p:spPr>
          <a:xfrm>
            <a:off x="762000" y="1905000"/>
            <a:ext cx="3429000" cy="2921000"/>
          </a:xfrm>
          <a:prstGeom prst="roundRect">
            <a:avLst>
              <a:gd name="adj" fmla="val 0"/>
            </a:avLst>
          </a:prstGeom>
          <a:solidFill>
            <a:srgbClr val="FFFFFF">
              <a:alpha val="60000"/>
            </a:srgbClr>
          </a:solidFill>
          <a:ln w="12700" cap="flat" cmpd="sng">
            <a:solidFill>
              <a:srgbClr val="40E0D0">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62000" y="1905000"/>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952500" y="2095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请求批处理</a:t>
            </a:r>
            <a:endParaRPr lang="en-US" sz="1100"/>
          </a:p>
        </p:txBody>
      </p:sp>
      <p:cxnSp>
        <p:nvCxnSpPr>
          <p:cNvPr id="7" name="Connector 7"/>
          <p:cNvCxnSpPr/>
          <p:nvPr>
            <p:custDataLst>
              <p:tags r:id="rId4"/>
            </p:custDataLst>
          </p:nvPr>
        </p:nvCxnSpPr>
        <p:spPr>
          <a:xfrm rot="-14323">
            <a:off x="952513" y="2597150"/>
            <a:ext cx="304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8" name="AutoShape 8"/>
          <p:cNvSpPr/>
          <p:nvPr>
            <p:custDataLst>
              <p:tags r:id="rId5"/>
            </p:custDataLst>
          </p:nvPr>
        </p:nvSpPr>
        <p:spPr>
          <a:xfrm>
            <a:off x="952500" y="2794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4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将多个独立请求打包合并，一次性发送至模型，从而大幅减少网络通信往返次数与开销</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9" name="AutoShape 9"/>
          <p:cNvSpPr/>
          <p:nvPr>
            <p:custDataLst>
              <p:tags r:id="rId6"/>
            </p:custDataLst>
          </p:nvPr>
        </p:nvSpPr>
        <p:spPr>
          <a:xfrm>
            <a:off x="952500" y="3937000"/>
            <a:ext cx="3048000" cy="762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1079500" y="4000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计算总量并未实质减少，且依赖请求的并行性，无法有效应用于强依赖的串行决策场景。</a:t>
            </a:r>
            <a:endParaRPr lang="en-US" sz="1100"/>
          </a:p>
        </p:txBody>
      </p:sp>
      <p:sp>
        <p:nvSpPr>
          <p:cNvPr id="11" name="AutoShape 11"/>
          <p:cNvSpPr/>
          <p:nvPr>
            <p:custDataLst>
              <p:tags r:id="rId8"/>
            </p:custDataLst>
          </p:nvPr>
        </p:nvSpPr>
        <p:spPr>
          <a:xfrm>
            <a:off x="4381500" y="1905000"/>
            <a:ext cx="3429000" cy="2921000"/>
          </a:xfrm>
          <a:prstGeom prst="roundRect">
            <a:avLst>
              <a:gd name="adj" fmla="val 0"/>
            </a:avLst>
          </a:prstGeom>
          <a:solidFill>
            <a:srgbClr val="FFFFFF">
              <a:alpha val="60000"/>
            </a:srgbClr>
          </a:solidFill>
          <a:ln w="12700" cap="flat" cmpd="sng">
            <a:solidFill>
              <a:srgbClr val="40E0D0">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9"/>
            </p:custDataLst>
          </p:nvPr>
        </p:nvSpPr>
        <p:spPr>
          <a:xfrm>
            <a:off x="4381500" y="1905000"/>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custDataLst>
              <p:tags r:id="rId10"/>
            </p:custDataLst>
          </p:nvPr>
        </p:nvSpPr>
        <p:spPr>
          <a:xfrm>
            <a:off x="4572000" y="2095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提示词优化</a:t>
            </a:r>
            <a:endParaRPr lang="en-US" sz="1100"/>
          </a:p>
        </p:txBody>
      </p:sp>
      <p:cxnSp>
        <p:nvCxnSpPr>
          <p:cNvPr id="14" name="Connector 14"/>
          <p:cNvCxnSpPr/>
          <p:nvPr>
            <p:custDataLst>
              <p:tags r:id="rId11"/>
            </p:custDataLst>
          </p:nvPr>
        </p:nvCxnSpPr>
        <p:spPr>
          <a:xfrm rot="-14323">
            <a:off x="4572013" y="2597150"/>
            <a:ext cx="304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5" name="AutoShape 15"/>
          <p:cNvSpPr/>
          <p:nvPr>
            <p:custDataLst>
              <p:tags r:id="rId12"/>
            </p:custDataLst>
          </p:nvPr>
        </p:nvSpPr>
        <p:spPr>
          <a:xfrm>
            <a:off x="4572000" y="2794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通过精炼指令、移除冗余信息、规范格式等方式，减少单次请求发送的Token数量以节省成本。</a:t>
            </a:r>
            <a:endParaRPr lang="en-US" sz="1100"/>
          </a:p>
        </p:txBody>
      </p:sp>
      <p:sp>
        <p:nvSpPr>
          <p:cNvPr id="16" name="AutoShape 16"/>
          <p:cNvSpPr/>
          <p:nvPr>
            <p:custDataLst>
              <p:tags r:id="rId13"/>
            </p:custDataLst>
          </p:nvPr>
        </p:nvSpPr>
        <p:spPr>
          <a:xfrm>
            <a:off x="4572000" y="3937000"/>
            <a:ext cx="3048000" cy="762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custDataLst>
              <p:tags r:id="rId14"/>
            </p:custDataLst>
          </p:nvPr>
        </p:nvSpPr>
        <p:spPr>
          <a:xfrm>
            <a:off x="4699000" y="4000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优化空间有限，过度压缩提示词可能导致指令模糊，反而降低模型输出的准确率与可用性。</a:t>
            </a:r>
            <a:endParaRPr lang="en-US" sz="1100"/>
          </a:p>
        </p:txBody>
      </p:sp>
      <p:sp>
        <p:nvSpPr>
          <p:cNvPr id="18" name="AutoShape 18"/>
          <p:cNvSpPr/>
          <p:nvPr>
            <p:custDataLst>
              <p:tags r:id="rId15"/>
            </p:custDataLst>
          </p:nvPr>
        </p:nvSpPr>
        <p:spPr>
          <a:xfrm>
            <a:off x="8001000" y="1905000"/>
            <a:ext cx="3429000" cy="2921000"/>
          </a:xfrm>
          <a:prstGeom prst="roundRect">
            <a:avLst>
              <a:gd name="adj" fmla="val 0"/>
            </a:avLst>
          </a:prstGeom>
          <a:solidFill>
            <a:srgbClr val="FFFFFF">
              <a:alpha val="60000"/>
            </a:srgbClr>
          </a:solidFill>
          <a:ln w="12700" cap="flat" cmpd="sng">
            <a:solidFill>
              <a:srgbClr val="40E0D0">
                <a:alpha val="50000"/>
              </a:srgbClr>
            </a:solidFill>
            <a:prstDash val="solid"/>
            <a:round/>
          </a:ln>
        </p:spPr>
        <p:txBody>
          <a:bodyPr vert="horz" wrap="square" lIns="63500" tIns="63500" rIns="63500" bIns="63500" rtlCol="0" anchor="ctr"/>
          <a:lstStyle/>
          <a:p>
            <a:pPr algn="ctr">
              <a:defRPr/>
            </a:pPr>
            <a:endParaRPr/>
          </a:p>
        </p:txBody>
      </p:sp>
      <p:sp>
        <p:nvSpPr>
          <p:cNvPr id="19" name="AutoShape 19"/>
          <p:cNvSpPr/>
          <p:nvPr>
            <p:custDataLst>
              <p:tags r:id="rId16"/>
            </p:custDataLst>
          </p:nvPr>
        </p:nvSpPr>
        <p:spPr>
          <a:xfrm>
            <a:off x="8001000" y="1905000"/>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custDataLst>
              <p:tags r:id="rId17"/>
            </p:custDataLst>
          </p:nvPr>
        </p:nvSpPr>
        <p:spPr>
          <a:xfrm>
            <a:off x="8191500" y="20955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模型量化与蒸馏</a:t>
            </a:r>
            <a:endParaRPr lang="en-US" sz="1100"/>
          </a:p>
        </p:txBody>
      </p:sp>
      <p:cxnSp>
        <p:nvCxnSpPr>
          <p:cNvPr id="21" name="Connector 21"/>
          <p:cNvCxnSpPr/>
          <p:nvPr>
            <p:custDataLst>
              <p:tags r:id="rId18"/>
            </p:custDataLst>
          </p:nvPr>
        </p:nvCxnSpPr>
        <p:spPr>
          <a:xfrm rot="-14323">
            <a:off x="8191513" y="2597150"/>
            <a:ext cx="304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2" name="AutoShape 22"/>
          <p:cNvSpPr/>
          <p:nvPr>
            <p:custDataLst>
              <p:tags r:id="rId19"/>
            </p:custDataLst>
          </p:nvPr>
        </p:nvSpPr>
        <p:spPr>
          <a:xfrm>
            <a:off x="8191500" y="27940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利用大模型作为教师模型，训练更小、更快的学生模型，或通过降低参数精度来提升推理速度。</a:t>
            </a:r>
            <a:endParaRPr lang="en-US" sz="1100"/>
          </a:p>
        </p:txBody>
      </p:sp>
      <p:sp>
        <p:nvSpPr>
          <p:cNvPr id="23" name="AutoShape 23"/>
          <p:cNvSpPr/>
          <p:nvPr>
            <p:custDataLst>
              <p:tags r:id="rId20"/>
            </p:custDataLst>
          </p:nvPr>
        </p:nvSpPr>
        <p:spPr>
          <a:xfrm>
            <a:off x="8191500" y="3937000"/>
            <a:ext cx="3048000" cy="762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custDataLst>
              <p:tags r:id="rId21"/>
            </p:custDataLst>
          </p:nvPr>
        </p:nvSpPr>
        <p:spPr>
          <a:xfrm>
            <a:off x="8318500" y="4000500"/>
            <a:ext cx="279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需大量标注数据，小模型存在性能损失，且模型结构固定，难以随业务动态更新迭代。</a:t>
            </a:r>
            <a:endParaRPr lang="en-US" sz="1100"/>
          </a:p>
        </p:txBody>
      </p:sp>
      <p:sp>
        <p:nvSpPr>
          <p:cNvPr id="25" name="AutoShape 25"/>
          <p:cNvSpPr/>
          <p:nvPr/>
        </p:nvSpPr>
        <p:spPr>
          <a:xfrm>
            <a:off x="762000" y="5334000"/>
            <a:ext cx="10668000" cy="1079500"/>
          </a:xfrm>
          <a:prstGeom prst="roundRect">
            <a:avLst>
              <a:gd name="adj" fmla="val 0"/>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62000" y="5334000"/>
            <a:ext cx="76200" cy="1079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016000" y="5461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上述优化手段均未摆脱“必须调用模型”这一核心环节，仅在调用方式上进行局部改良。当模拟规模达到海量级别时，计算成本的线性增长依然无法避免，这构成了当前技术路线难以逾越的天花板。</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8F27-A0CA-6AAD-206B-5221C7C23EE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A324BC9-3A6A-1CD0-DEEA-B0268A2F5288}"/>
              </a:ext>
            </a:extLst>
          </p:cNvPr>
          <p:cNvSpPr>
            <a:spLocks noGrp="1" noRot="1" noMove="1" noResize="1" noEditPoints="1" noAdjustHandles="1" noChangeArrowheads="1" noChangeShapeType="1"/>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a:extLst>
              <a:ext uri="{FF2B5EF4-FFF2-40B4-BE49-F238E27FC236}">
                <a16:creationId xmlns:a16="http://schemas.microsoft.com/office/drawing/2014/main" id="{0BB11FF1-F991-0427-8808-ED1E23672539}"/>
              </a:ext>
            </a:extLst>
          </p:cNvPr>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相关工作</a:t>
            </a:r>
            <a:endParaRPr lang="en-US" sz="1100" dirty="0"/>
          </a:p>
        </p:txBody>
      </p:sp>
      <p:sp>
        <p:nvSpPr>
          <p:cNvPr id="28" name="Rectangle 10">
            <a:extLst>
              <a:ext uri="{FF2B5EF4-FFF2-40B4-BE49-F238E27FC236}">
                <a16:creationId xmlns:a16="http://schemas.microsoft.com/office/drawing/2014/main" id="{8EB5A51C-EF27-E677-3882-17A09C79C310}"/>
              </a:ext>
            </a:extLst>
          </p:cNvPr>
          <p:cNvSpPr/>
          <p:nvPr/>
        </p:nvSpPr>
        <p:spPr>
          <a:xfrm>
            <a:off x="594360" y="1760728"/>
            <a:ext cx="2331720" cy="457200"/>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11">
            <a:extLst>
              <a:ext uri="{FF2B5EF4-FFF2-40B4-BE49-F238E27FC236}">
                <a16:creationId xmlns:a16="http://schemas.microsoft.com/office/drawing/2014/main" id="{86408F4A-55CB-43C6-CDC6-D8F5AA6FC99C}"/>
              </a:ext>
            </a:extLst>
          </p:cNvPr>
          <p:cNvSpPr txBox="1"/>
          <p:nvPr/>
        </p:nvSpPr>
        <p:spPr>
          <a:xfrm>
            <a:off x="630936" y="1896905"/>
            <a:ext cx="225856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b="1" dirty="0" err="1">
                <a:solidFill>
                  <a:schemeClr val="tx1"/>
                </a:solidFill>
                <a:latin typeface="Microsoft YaHei"/>
              </a:rPr>
              <a:t>最新方向</a:t>
            </a:r>
            <a:endParaRPr sz="1200" b="1" dirty="0">
              <a:solidFill>
                <a:schemeClr val="tx1"/>
              </a:solidFill>
              <a:latin typeface="Microsoft YaHei"/>
            </a:endParaRPr>
          </a:p>
        </p:txBody>
      </p:sp>
      <p:sp>
        <p:nvSpPr>
          <p:cNvPr id="30" name="Rectangle 12">
            <a:extLst>
              <a:ext uri="{FF2B5EF4-FFF2-40B4-BE49-F238E27FC236}">
                <a16:creationId xmlns:a16="http://schemas.microsoft.com/office/drawing/2014/main" id="{D82FF486-0F81-063D-F341-B22611508E7E}"/>
              </a:ext>
            </a:extLst>
          </p:cNvPr>
          <p:cNvSpPr/>
          <p:nvPr/>
        </p:nvSpPr>
        <p:spPr>
          <a:xfrm>
            <a:off x="2926079" y="1760728"/>
            <a:ext cx="3840480" cy="457200"/>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13">
            <a:extLst>
              <a:ext uri="{FF2B5EF4-FFF2-40B4-BE49-F238E27FC236}">
                <a16:creationId xmlns:a16="http://schemas.microsoft.com/office/drawing/2014/main" id="{B4D3132E-7694-DDE7-8B33-E9658518B94C}"/>
              </a:ext>
            </a:extLst>
          </p:cNvPr>
          <p:cNvSpPr txBox="1"/>
          <p:nvPr/>
        </p:nvSpPr>
        <p:spPr>
          <a:xfrm>
            <a:off x="2962656" y="1896905"/>
            <a:ext cx="376732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lang="zh-CN" altLang="en-US" sz="1200" b="1" dirty="0">
                <a:solidFill>
                  <a:schemeClr val="tx1"/>
                </a:solidFill>
                <a:latin typeface="Microsoft YaHei"/>
              </a:rPr>
              <a:t>近两年相关工作</a:t>
            </a:r>
            <a:endParaRPr sz="1200" b="1" dirty="0">
              <a:solidFill>
                <a:schemeClr val="tx1"/>
              </a:solidFill>
              <a:latin typeface="Microsoft YaHei"/>
            </a:endParaRPr>
          </a:p>
        </p:txBody>
      </p:sp>
      <p:sp>
        <p:nvSpPr>
          <p:cNvPr id="32" name="Rectangle 14">
            <a:extLst>
              <a:ext uri="{FF2B5EF4-FFF2-40B4-BE49-F238E27FC236}">
                <a16:creationId xmlns:a16="http://schemas.microsoft.com/office/drawing/2014/main" id="{481058E1-34C1-40F5-DCA2-D449D59BB275}"/>
              </a:ext>
            </a:extLst>
          </p:cNvPr>
          <p:cNvSpPr/>
          <p:nvPr/>
        </p:nvSpPr>
        <p:spPr>
          <a:xfrm>
            <a:off x="6766560" y="1760728"/>
            <a:ext cx="4297680" cy="457200"/>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15">
            <a:extLst>
              <a:ext uri="{FF2B5EF4-FFF2-40B4-BE49-F238E27FC236}">
                <a16:creationId xmlns:a16="http://schemas.microsoft.com/office/drawing/2014/main" id="{F3D33474-D0B5-4079-4A1D-56A13DF3B83E}"/>
              </a:ext>
            </a:extLst>
          </p:cNvPr>
          <p:cNvSpPr txBox="1"/>
          <p:nvPr/>
        </p:nvSpPr>
        <p:spPr>
          <a:xfrm>
            <a:off x="6803136" y="1896905"/>
            <a:ext cx="422452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lang="zh-CN" altLang="en-US" sz="1200" b="1" dirty="0">
                <a:solidFill>
                  <a:schemeClr val="tx1"/>
                </a:solidFill>
                <a:latin typeface="Microsoft YaHei"/>
              </a:rPr>
              <a:t>对于本项目的启发</a:t>
            </a:r>
            <a:endParaRPr sz="1200" b="1" dirty="0">
              <a:solidFill>
                <a:schemeClr val="tx1"/>
              </a:solidFill>
              <a:latin typeface="Microsoft YaHei"/>
            </a:endParaRPr>
          </a:p>
        </p:txBody>
      </p:sp>
      <p:sp>
        <p:nvSpPr>
          <p:cNvPr id="34" name="Rectangle 16">
            <a:extLst>
              <a:ext uri="{FF2B5EF4-FFF2-40B4-BE49-F238E27FC236}">
                <a16:creationId xmlns:a16="http://schemas.microsoft.com/office/drawing/2014/main" id="{C2F5D621-2190-F299-ADA4-51043749B3D1}"/>
              </a:ext>
            </a:extLst>
          </p:cNvPr>
          <p:cNvSpPr/>
          <p:nvPr/>
        </p:nvSpPr>
        <p:spPr>
          <a:xfrm>
            <a:off x="594360" y="2217928"/>
            <a:ext cx="233172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18">
            <a:extLst>
              <a:ext uri="{FF2B5EF4-FFF2-40B4-BE49-F238E27FC236}">
                <a16:creationId xmlns:a16="http://schemas.microsoft.com/office/drawing/2014/main" id="{49166A6D-E259-A3FF-B149-8C6E8CA659DE}"/>
              </a:ext>
            </a:extLst>
          </p:cNvPr>
          <p:cNvSpPr/>
          <p:nvPr/>
        </p:nvSpPr>
        <p:spPr>
          <a:xfrm>
            <a:off x="2926079" y="2217928"/>
            <a:ext cx="38404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20">
            <a:extLst>
              <a:ext uri="{FF2B5EF4-FFF2-40B4-BE49-F238E27FC236}">
                <a16:creationId xmlns:a16="http://schemas.microsoft.com/office/drawing/2014/main" id="{140FA8A3-1D7F-D681-0552-77D6C815A27A}"/>
              </a:ext>
            </a:extLst>
          </p:cNvPr>
          <p:cNvSpPr/>
          <p:nvPr/>
        </p:nvSpPr>
        <p:spPr>
          <a:xfrm>
            <a:off x="6766560" y="2217928"/>
            <a:ext cx="42976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22">
            <a:extLst>
              <a:ext uri="{FF2B5EF4-FFF2-40B4-BE49-F238E27FC236}">
                <a16:creationId xmlns:a16="http://schemas.microsoft.com/office/drawing/2014/main" id="{237234C5-F92B-FFB7-754D-E67B995D18B2}"/>
              </a:ext>
            </a:extLst>
          </p:cNvPr>
          <p:cNvSpPr/>
          <p:nvPr/>
        </p:nvSpPr>
        <p:spPr>
          <a:xfrm>
            <a:off x="594360" y="2675127"/>
            <a:ext cx="233172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24">
            <a:extLst>
              <a:ext uri="{FF2B5EF4-FFF2-40B4-BE49-F238E27FC236}">
                <a16:creationId xmlns:a16="http://schemas.microsoft.com/office/drawing/2014/main" id="{14CF3066-FE79-8ECD-8C11-0E713212B4C7}"/>
              </a:ext>
            </a:extLst>
          </p:cNvPr>
          <p:cNvSpPr/>
          <p:nvPr/>
        </p:nvSpPr>
        <p:spPr>
          <a:xfrm>
            <a:off x="2926079" y="2675127"/>
            <a:ext cx="38404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26">
            <a:extLst>
              <a:ext uri="{FF2B5EF4-FFF2-40B4-BE49-F238E27FC236}">
                <a16:creationId xmlns:a16="http://schemas.microsoft.com/office/drawing/2014/main" id="{3B4053B8-35DE-8BBF-F29E-6F0879023E7A}"/>
              </a:ext>
            </a:extLst>
          </p:cNvPr>
          <p:cNvSpPr/>
          <p:nvPr/>
        </p:nvSpPr>
        <p:spPr>
          <a:xfrm>
            <a:off x="6766560" y="2675127"/>
            <a:ext cx="42976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28">
            <a:extLst>
              <a:ext uri="{FF2B5EF4-FFF2-40B4-BE49-F238E27FC236}">
                <a16:creationId xmlns:a16="http://schemas.microsoft.com/office/drawing/2014/main" id="{C0BD5FAB-8B03-4783-A6CF-40A6BD6E9DFB}"/>
              </a:ext>
            </a:extLst>
          </p:cNvPr>
          <p:cNvSpPr/>
          <p:nvPr/>
        </p:nvSpPr>
        <p:spPr>
          <a:xfrm>
            <a:off x="594360" y="3132328"/>
            <a:ext cx="233172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30">
            <a:extLst>
              <a:ext uri="{FF2B5EF4-FFF2-40B4-BE49-F238E27FC236}">
                <a16:creationId xmlns:a16="http://schemas.microsoft.com/office/drawing/2014/main" id="{0FECB39F-18BE-37CD-C835-6D5301E29555}"/>
              </a:ext>
            </a:extLst>
          </p:cNvPr>
          <p:cNvSpPr/>
          <p:nvPr/>
        </p:nvSpPr>
        <p:spPr>
          <a:xfrm>
            <a:off x="2926079" y="3132328"/>
            <a:ext cx="38404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32">
            <a:extLst>
              <a:ext uri="{FF2B5EF4-FFF2-40B4-BE49-F238E27FC236}">
                <a16:creationId xmlns:a16="http://schemas.microsoft.com/office/drawing/2014/main" id="{9CA9225D-7706-E438-D996-DD0916A8D01F}"/>
              </a:ext>
            </a:extLst>
          </p:cNvPr>
          <p:cNvSpPr/>
          <p:nvPr/>
        </p:nvSpPr>
        <p:spPr>
          <a:xfrm>
            <a:off x="6766560" y="3132328"/>
            <a:ext cx="42976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34">
            <a:extLst>
              <a:ext uri="{FF2B5EF4-FFF2-40B4-BE49-F238E27FC236}">
                <a16:creationId xmlns:a16="http://schemas.microsoft.com/office/drawing/2014/main" id="{78DB6AFA-424A-9804-138A-FEE9AC9FC455}"/>
              </a:ext>
            </a:extLst>
          </p:cNvPr>
          <p:cNvSpPr/>
          <p:nvPr/>
        </p:nvSpPr>
        <p:spPr>
          <a:xfrm>
            <a:off x="594360" y="3589528"/>
            <a:ext cx="233172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36">
            <a:extLst>
              <a:ext uri="{FF2B5EF4-FFF2-40B4-BE49-F238E27FC236}">
                <a16:creationId xmlns:a16="http://schemas.microsoft.com/office/drawing/2014/main" id="{58814CE2-5CDF-1BF5-A1F5-B4BE9B40AB96}"/>
              </a:ext>
            </a:extLst>
          </p:cNvPr>
          <p:cNvSpPr/>
          <p:nvPr/>
        </p:nvSpPr>
        <p:spPr>
          <a:xfrm>
            <a:off x="2926079" y="3589528"/>
            <a:ext cx="38404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38">
            <a:extLst>
              <a:ext uri="{FF2B5EF4-FFF2-40B4-BE49-F238E27FC236}">
                <a16:creationId xmlns:a16="http://schemas.microsoft.com/office/drawing/2014/main" id="{AA7790DD-CF8B-1B69-8849-D4ABFCD9326C}"/>
              </a:ext>
            </a:extLst>
          </p:cNvPr>
          <p:cNvSpPr/>
          <p:nvPr/>
        </p:nvSpPr>
        <p:spPr>
          <a:xfrm>
            <a:off x="6766560" y="3589528"/>
            <a:ext cx="42976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40">
            <a:extLst>
              <a:ext uri="{FF2B5EF4-FFF2-40B4-BE49-F238E27FC236}">
                <a16:creationId xmlns:a16="http://schemas.microsoft.com/office/drawing/2014/main" id="{40800702-F2AD-181C-581E-710513DB0611}"/>
              </a:ext>
            </a:extLst>
          </p:cNvPr>
          <p:cNvSpPr/>
          <p:nvPr/>
        </p:nvSpPr>
        <p:spPr>
          <a:xfrm>
            <a:off x="594360" y="4046728"/>
            <a:ext cx="233172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42">
            <a:extLst>
              <a:ext uri="{FF2B5EF4-FFF2-40B4-BE49-F238E27FC236}">
                <a16:creationId xmlns:a16="http://schemas.microsoft.com/office/drawing/2014/main" id="{A6C8509C-88D3-0F81-A811-7622A154F560}"/>
              </a:ext>
            </a:extLst>
          </p:cNvPr>
          <p:cNvSpPr/>
          <p:nvPr/>
        </p:nvSpPr>
        <p:spPr>
          <a:xfrm>
            <a:off x="2926079" y="4046728"/>
            <a:ext cx="38404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44">
            <a:extLst>
              <a:ext uri="{FF2B5EF4-FFF2-40B4-BE49-F238E27FC236}">
                <a16:creationId xmlns:a16="http://schemas.microsoft.com/office/drawing/2014/main" id="{19213F36-AF95-FAFF-CBF8-7FBE723B149E}"/>
              </a:ext>
            </a:extLst>
          </p:cNvPr>
          <p:cNvSpPr/>
          <p:nvPr/>
        </p:nvSpPr>
        <p:spPr>
          <a:xfrm>
            <a:off x="6766560" y="4046728"/>
            <a:ext cx="4297680" cy="457200"/>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46">
            <a:extLst>
              <a:ext uri="{FF2B5EF4-FFF2-40B4-BE49-F238E27FC236}">
                <a16:creationId xmlns:a16="http://schemas.microsoft.com/office/drawing/2014/main" id="{4314DABD-545A-81A0-9A4B-34057323493E}"/>
              </a:ext>
            </a:extLst>
          </p:cNvPr>
          <p:cNvSpPr/>
          <p:nvPr/>
        </p:nvSpPr>
        <p:spPr>
          <a:xfrm>
            <a:off x="594360" y="4503928"/>
            <a:ext cx="233172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8" name="组合 77">
            <a:extLst>
              <a:ext uri="{FF2B5EF4-FFF2-40B4-BE49-F238E27FC236}">
                <a16:creationId xmlns:a16="http://schemas.microsoft.com/office/drawing/2014/main" id="{3CC5B926-5A2C-607A-D320-E1FF9B7D6B3D}"/>
              </a:ext>
            </a:extLst>
          </p:cNvPr>
          <p:cNvGrpSpPr/>
          <p:nvPr/>
        </p:nvGrpSpPr>
        <p:grpSpPr>
          <a:xfrm>
            <a:off x="649224" y="2281936"/>
            <a:ext cx="2221991" cy="2489133"/>
            <a:chOff x="649224" y="2281936"/>
            <a:chExt cx="2221991" cy="2489133"/>
          </a:xfrm>
        </p:grpSpPr>
        <p:sp>
          <p:nvSpPr>
            <p:cNvPr id="35" name="TextBox 17">
              <a:extLst>
                <a:ext uri="{FF2B5EF4-FFF2-40B4-BE49-F238E27FC236}">
                  <a16:creationId xmlns:a16="http://schemas.microsoft.com/office/drawing/2014/main" id="{F033EA10-1456-FFC0-5F2C-AF2D6C406112}"/>
                </a:ext>
              </a:extLst>
            </p:cNvPr>
            <p:cNvSpPr txBox="1"/>
            <p:nvPr/>
          </p:nvSpPr>
          <p:spPr>
            <a:xfrm>
              <a:off x="649224" y="2281936"/>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dirty="0">
                  <a:solidFill>
                    <a:srgbClr val="0F172A"/>
                  </a:solidFill>
                  <a:latin typeface="Microsoft YaHei"/>
                </a:rPr>
                <a:t>Event-driven mobility</a:t>
              </a:r>
            </a:p>
          </p:txBody>
        </p:sp>
        <p:sp>
          <p:nvSpPr>
            <p:cNvPr id="41" name="TextBox 23">
              <a:extLst>
                <a:ext uri="{FF2B5EF4-FFF2-40B4-BE49-F238E27FC236}">
                  <a16:creationId xmlns:a16="http://schemas.microsoft.com/office/drawing/2014/main" id="{F22889E6-8A5B-1687-BD33-935E8C564252}"/>
                </a:ext>
              </a:extLst>
            </p:cNvPr>
            <p:cNvSpPr txBox="1"/>
            <p:nvPr/>
          </p:nvSpPr>
          <p:spPr>
            <a:xfrm>
              <a:off x="649224" y="2739135"/>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a:solidFill>
                    <a:srgbClr val="0F172A"/>
                  </a:solidFill>
                  <a:latin typeface="Microsoft YaHei"/>
                </a:rPr>
                <a:t>Zero-shot LLM mobility</a:t>
              </a:r>
            </a:p>
          </p:txBody>
        </p:sp>
        <p:sp>
          <p:nvSpPr>
            <p:cNvPr id="47" name="TextBox 29">
              <a:extLst>
                <a:ext uri="{FF2B5EF4-FFF2-40B4-BE49-F238E27FC236}">
                  <a16:creationId xmlns:a16="http://schemas.microsoft.com/office/drawing/2014/main" id="{638311CF-E2AC-6CA0-44BE-D8491A26A7DF}"/>
                </a:ext>
              </a:extLst>
            </p:cNvPr>
            <p:cNvSpPr txBox="1"/>
            <p:nvPr/>
          </p:nvSpPr>
          <p:spPr>
            <a:xfrm>
              <a:off x="649224" y="3196335"/>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dirty="0">
                  <a:solidFill>
                    <a:srgbClr val="0F172A"/>
                  </a:solidFill>
                  <a:latin typeface="Microsoft YaHei"/>
                </a:rPr>
                <a:t>Evidence-grounded agents</a:t>
              </a:r>
            </a:p>
          </p:txBody>
        </p:sp>
        <p:sp>
          <p:nvSpPr>
            <p:cNvPr id="53" name="TextBox 35">
              <a:extLst>
                <a:ext uri="{FF2B5EF4-FFF2-40B4-BE49-F238E27FC236}">
                  <a16:creationId xmlns:a16="http://schemas.microsoft.com/office/drawing/2014/main" id="{7FEA427B-E0CE-2874-8973-34D349FD37E6}"/>
                </a:ext>
              </a:extLst>
            </p:cNvPr>
            <p:cNvSpPr txBox="1"/>
            <p:nvPr/>
          </p:nvSpPr>
          <p:spPr>
            <a:xfrm>
              <a:off x="649224" y="3653535"/>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a:solidFill>
                    <a:srgbClr val="0F172A"/>
                  </a:solidFill>
                  <a:latin typeface="Microsoft YaHei"/>
                </a:rPr>
                <a:t>Efficient LLM pipeline</a:t>
              </a:r>
            </a:p>
          </p:txBody>
        </p:sp>
        <p:sp>
          <p:nvSpPr>
            <p:cNvPr id="59" name="TextBox 41">
              <a:extLst>
                <a:ext uri="{FF2B5EF4-FFF2-40B4-BE49-F238E27FC236}">
                  <a16:creationId xmlns:a16="http://schemas.microsoft.com/office/drawing/2014/main" id="{A9C5FBB7-B460-F71C-A683-C091330ACBDA}"/>
                </a:ext>
              </a:extLst>
            </p:cNvPr>
            <p:cNvSpPr txBox="1"/>
            <p:nvPr/>
          </p:nvSpPr>
          <p:spPr>
            <a:xfrm>
              <a:off x="649224" y="4110735"/>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a:solidFill>
                    <a:srgbClr val="0F172A"/>
                  </a:solidFill>
                  <a:latin typeface="Microsoft YaHei"/>
                </a:rPr>
                <a:t>Mobility foundation models</a:t>
              </a:r>
            </a:p>
          </p:txBody>
        </p:sp>
        <p:sp>
          <p:nvSpPr>
            <p:cNvPr id="65" name="TextBox 47">
              <a:extLst>
                <a:ext uri="{FF2B5EF4-FFF2-40B4-BE49-F238E27FC236}">
                  <a16:creationId xmlns:a16="http://schemas.microsoft.com/office/drawing/2014/main" id="{B26CCCA5-F0E1-4CF2-5FD6-8644874DB72D}"/>
                </a:ext>
              </a:extLst>
            </p:cNvPr>
            <p:cNvSpPr txBox="1"/>
            <p:nvPr/>
          </p:nvSpPr>
          <p:spPr>
            <a:xfrm>
              <a:off x="649224" y="4567936"/>
              <a:ext cx="2221991"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b="1">
                  <a:solidFill>
                    <a:srgbClr val="0F172A"/>
                  </a:solidFill>
                  <a:latin typeface="Microsoft YaHei"/>
                </a:rPr>
                <a:t>Planning evaluation</a:t>
              </a:r>
            </a:p>
          </p:txBody>
        </p:sp>
      </p:grpSp>
      <p:sp>
        <p:nvSpPr>
          <p:cNvPr id="66" name="Rectangle 48">
            <a:extLst>
              <a:ext uri="{FF2B5EF4-FFF2-40B4-BE49-F238E27FC236}">
                <a16:creationId xmlns:a16="http://schemas.microsoft.com/office/drawing/2014/main" id="{331FD159-229C-F933-6E91-059A3F8B5025}"/>
              </a:ext>
            </a:extLst>
          </p:cNvPr>
          <p:cNvSpPr/>
          <p:nvPr/>
        </p:nvSpPr>
        <p:spPr>
          <a:xfrm>
            <a:off x="2926079" y="4503928"/>
            <a:ext cx="38404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50">
            <a:extLst>
              <a:ext uri="{FF2B5EF4-FFF2-40B4-BE49-F238E27FC236}">
                <a16:creationId xmlns:a16="http://schemas.microsoft.com/office/drawing/2014/main" id="{CB79A061-76B7-E038-07F5-D8B7F54D4F83}"/>
              </a:ext>
            </a:extLst>
          </p:cNvPr>
          <p:cNvSpPr/>
          <p:nvPr/>
        </p:nvSpPr>
        <p:spPr>
          <a:xfrm>
            <a:off x="6766560" y="4503928"/>
            <a:ext cx="4297680" cy="45720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7" name="组合 76">
            <a:extLst>
              <a:ext uri="{FF2B5EF4-FFF2-40B4-BE49-F238E27FC236}">
                <a16:creationId xmlns:a16="http://schemas.microsoft.com/office/drawing/2014/main" id="{08AF6F8E-70C2-B327-ADD4-9054983121E3}"/>
              </a:ext>
            </a:extLst>
          </p:cNvPr>
          <p:cNvGrpSpPr/>
          <p:nvPr/>
        </p:nvGrpSpPr>
        <p:grpSpPr>
          <a:xfrm>
            <a:off x="2980944" y="2281936"/>
            <a:ext cx="8028432" cy="2489133"/>
            <a:chOff x="2980944" y="2281936"/>
            <a:chExt cx="8028432" cy="2489133"/>
          </a:xfrm>
        </p:grpSpPr>
        <p:sp>
          <p:nvSpPr>
            <p:cNvPr id="37" name="TextBox 19">
              <a:extLst>
                <a:ext uri="{FF2B5EF4-FFF2-40B4-BE49-F238E27FC236}">
                  <a16:creationId xmlns:a16="http://schemas.microsoft.com/office/drawing/2014/main" id="{9CD22975-CB0B-F863-E9BC-4DFC5EF0124C}"/>
                </a:ext>
              </a:extLst>
            </p:cNvPr>
            <p:cNvSpPr txBox="1"/>
            <p:nvPr/>
          </p:nvSpPr>
          <p:spPr>
            <a:xfrm>
              <a:off x="2980944" y="2281936"/>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err="1">
                  <a:solidFill>
                    <a:srgbClr val="0F172A"/>
                  </a:solidFill>
                  <a:latin typeface="Microsoft YaHei"/>
                </a:rPr>
                <a:t>ELLMob</a:t>
              </a:r>
              <a:r>
                <a:rPr b="0" dirty="0">
                  <a:solidFill>
                    <a:srgbClr val="0F172A"/>
                  </a:solidFill>
                  <a:latin typeface="Microsoft YaHei"/>
                </a:rPr>
                <a:t> ICLR'26; </a:t>
              </a:r>
              <a:r>
                <a:rPr b="0" dirty="0" err="1">
                  <a:solidFill>
                    <a:srgbClr val="0F172A"/>
                  </a:solidFill>
                  <a:latin typeface="Microsoft YaHei"/>
                </a:rPr>
                <a:t>CausalMob</a:t>
              </a:r>
              <a:r>
                <a:rPr b="0" dirty="0">
                  <a:solidFill>
                    <a:srgbClr val="0F172A"/>
                  </a:solidFill>
                  <a:latin typeface="Microsoft YaHei"/>
                </a:rPr>
                <a:t> KDD'25</a:t>
              </a:r>
            </a:p>
          </p:txBody>
        </p:sp>
        <p:sp>
          <p:nvSpPr>
            <p:cNvPr id="39" name="TextBox 21">
              <a:extLst>
                <a:ext uri="{FF2B5EF4-FFF2-40B4-BE49-F238E27FC236}">
                  <a16:creationId xmlns:a16="http://schemas.microsoft.com/office/drawing/2014/main" id="{D1137F89-D22C-8254-BCF7-968D1EBDAA25}"/>
                </a:ext>
              </a:extLst>
            </p:cNvPr>
            <p:cNvSpPr txBox="1"/>
            <p:nvPr/>
          </p:nvSpPr>
          <p:spPr>
            <a:xfrm>
              <a:off x="6821424" y="2281936"/>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err="1">
                  <a:solidFill>
                    <a:srgbClr val="0F172A"/>
                  </a:solidFill>
                  <a:latin typeface="Microsoft YaHei"/>
                </a:rPr>
                <a:t>把外部情境变化转成</a:t>
              </a:r>
              <a:r>
                <a:rPr b="0" dirty="0">
                  <a:solidFill>
                    <a:srgbClr val="0F172A"/>
                  </a:solidFill>
                  <a:latin typeface="Microsoft YaHei"/>
                </a:rPr>
                <a:t> label-free event priors</a:t>
              </a:r>
            </a:p>
          </p:txBody>
        </p:sp>
        <p:sp>
          <p:nvSpPr>
            <p:cNvPr id="43" name="TextBox 25">
              <a:extLst>
                <a:ext uri="{FF2B5EF4-FFF2-40B4-BE49-F238E27FC236}">
                  <a16:creationId xmlns:a16="http://schemas.microsoft.com/office/drawing/2014/main" id="{B42BF8FB-ECB6-BA0B-7981-22E71D37E772}"/>
                </a:ext>
              </a:extLst>
            </p:cNvPr>
            <p:cNvSpPr txBox="1"/>
            <p:nvPr/>
          </p:nvSpPr>
          <p:spPr>
            <a:xfrm>
              <a:off x="2980944" y="2739135"/>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err="1">
                  <a:solidFill>
                    <a:srgbClr val="0F172A"/>
                  </a:solidFill>
                  <a:latin typeface="Microsoft YaHei"/>
                </a:rPr>
                <a:t>AgentMove</a:t>
              </a:r>
              <a:r>
                <a:rPr b="0" dirty="0">
                  <a:solidFill>
                    <a:srgbClr val="0F172A"/>
                  </a:solidFill>
                  <a:latin typeface="Microsoft YaHei"/>
                </a:rPr>
                <a:t> NAACL'25</a:t>
              </a:r>
            </a:p>
          </p:txBody>
        </p:sp>
        <p:sp>
          <p:nvSpPr>
            <p:cNvPr id="45" name="TextBox 27">
              <a:extLst>
                <a:ext uri="{FF2B5EF4-FFF2-40B4-BE49-F238E27FC236}">
                  <a16:creationId xmlns:a16="http://schemas.microsoft.com/office/drawing/2014/main" id="{54F1DE13-F9CE-9B23-4C5C-A7342B4A3A45}"/>
                </a:ext>
              </a:extLst>
            </p:cNvPr>
            <p:cNvSpPr txBox="1"/>
            <p:nvPr/>
          </p:nvSpPr>
          <p:spPr>
            <a:xfrm>
              <a:off x="6821424" y="2739135"/>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err="1">
                  <a:solidFill>
                    <a:srgbClr val="0F172A"/>
                  </a:solidFill>
                  <a:latin typeface="Microsoft YaHei"/>
                </a:rPr>
                <a:t>直接</a:t>
              </a:r>
              <a:r>
                <a:rPr b="0" dirty="0">
                  <a:solidFill>
                    <a:srgbClr val="0F172A"/>
                  </a:solidFill>
                  <a:latin typeface="Microsoft YaHei"/>
                </a:rPr>
                <a:t> LLM </a:t>
              </a:r>
              <a:r>
                <a:rPr b="0" dirty="0" err="1">
                  <a:solidFill>
                    <a:srgbClr val="0F172A"/>
                  </a:solidFill>
                  <a:latin typeface="Microsoft YaHei"/>
                </a:rPr>
                <a:t>可做</a:t>
              </a:r>
              <a:r>
                <a:rPr b="0" dirty="0">
                  <a:solidFill>
                    <a:srgbClr val="0F172A"/>
                  </a:solidFill>
                  <a:latin typeface="Microsoft YaHei"/>
                </a:rPr>
                <a:t> </a:t>
              </a:r>
              <a:r>
                <a:rPr b="0" dirty="0" err="1">
                  <a:solidFill>
                    <a:srgbClr val="0F172A"/>
                  </a:solidFill>
                  <a:latin typeface="Microsoft YaHei"/>
                </a:rPr>
                <a:t>baseline，但数值校准弱</a:t>
              </a:r>
              <a:endParaRPr b="0" dirty="0">
                <a:solidFill>
                  <a:srgbClr val="0F172A"/>
                </a:solidFill>
                <a:latin typeface="Microsoft YaHei"/>
              </a:endParaRPr>
            </a:p>
          </p:txBody>
        </p:sp>
        <p:sp>
          <p:nvSpPr>
            <p:cNvPr id="49" name="TextBox 31">
              <a:extLst>
                <a:ext uri="{FF2B5EF4-FFF2-40B4-BE49-F238E27FC236}">
                  <a16:creationId xmlns:a16="http://schemas.microsoft.com/office/drawing/2014/main" id="{17BFA751-A157-6092-E3C8-70946AAD5C80}"/>
                </a:ext>
              </a:extLst>
            </p:cNvPr>
            <p:cNvSpPr txBox="1"/>
            <p:nvPr/>
          </p:nvSpPr>
          <p:spPr>
            <a:xfrm>
              <a:off x="2980944" y="3196335"/>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AgentMob 2026</a:t>
              </a:r>
            </a:p>
          </p:txBody>
        </p:sp>
        <p:sp>
          <p:nvSpPr>
            <p:cNvPr id="51" name="TextBox 33">
              <a:extLst>
                <a:ext uri="{FF2B5EF4-FFF2-40B4-BE49-F238E27FC236}">
                  <a16:creationId xmlns:a16="http://schemas.microsoft.com/office/drawing/2014/main" id="{298D9609-21B4-F276-EEF2-E565A4CA70C3}"/>
                </a:ext>
              </a:extLst>
            </p:cNvPr>
            <p:cNvSpPr txBox="1"/>
            <p:nvPr/>
          </p:nvSpPr>
          <p:spPr>
            <a:xfrm>
              <a:off x="6821424" y="3196335"/>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a:solidFill>
                    <a:srgbClr val="0F172A"/>
                  </a:solidFill>
                  <a:latin typeface="Microsoft YaHei"/>
                </a:rPr>
                <a:t>routine fast path + low-confidence LLM reasoning</a:t>
              </a:r>
            </a:p>
          </p:txBody>
        </p:sp>
        <p:sp>
          <p:nvSpPr>
            <p:cNvPr id="55" name="TextBox 37">
              <a:extLst>
                <a:ext uri="{FF2B5EF4-FFF2-40B4-BE49-F238E27FC236}">
                  <a16:creationId xmlns:a16="http://schemas.microsoft.com/office/drawing/2014/main" id="{6A1BAA4A-2E70-0A21-1610-7E1ADC4B74D6}"/>
                </a:ext>
              </a:extLst>
            </p:cNvPr>
            <p:cNvSpPr txBox="1"/>
            <p:nvPr/>
          </p:nvSpPr>
          <p:spPr>
            <a:xfrm>
              <a:off x="2980944" y="3653535"/>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ELP-Mob GIS'25</a:t>
              </a:r>
            </a:p>
          </p:txBody>
        </p:sp>
        <p:sp>
          <p:nvSpPr>
            <p:cNvPr id="57" name="TextBox 39">
              <a:extLst>
                <a:ext uri="{FF2B5EF4-FFF2-40B4-BE49-F238E27FC236}">
                  <a16:creationId xmlns:a16="http://schemas.microsoft.com/office/drawing/2014/main" id="{CE51BEB0-3BD7-1DE3-C11A-CC2F982072EB}"/>
                </a:ext>
              </a:extLst>
            </p:cNvPr>
            <p:cNvSpPr txBox="1"/>
            <p:nvPr/>
          </p:nvSpPr>
          <p:spPr>
            <a:xfrm>
              <a:off x="6821424" y="3653535"/>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dirty="0">
                  <a:solidFill>
                    <a:srgbClr val="0F172A"/>
                  </a:solidFill>
                  <a:latin typeface="Microsoft YaHei"/>
                </a:rPr>
                <a:t>batch prompting </a:t>
              </a:r>
              <a:r>
                <a:rPr b="0" dirty="0" err="1">
                  <a:solidFill>
                    <a:srgbClr val="0F172A"/>
                  </a:solidFill>
                  <a:latin typeface="Microsoft YaHei"/>
                </a:rPr>
                <a:t>和调用压缩是必要工程约束</a:t>
              </a:r>
              <a:endParaRPr b="0" dirty="0">
                <a:solidFill>
                  <a:srgbClr val="0F172A"/>
                </a:solidFill>
                <a:latin typeface="Microsoft YaHei"/>
              </a:endParaRPr>
            </a:p>
          </p:txBody>
        </p:sp>
        <p:sp>
          <p:nvSpPr>
            <p:cNvPr id="61" name="TextBox 43">
              <a:extLst>
                <a:ext uri="{FF2B5EF4-FFF2-40B4-BE49-F238E27FC236}">
                  <a16:creationId xmlns:a16="http://schemas.microsoft.com/office/drawing/2014/main" id="{579E1407-F55A-F628-F032-63A68A41918C}"/>
                </a:ext>
              </a:extLst>
            </p:cNvPr>
            <p:cNvSpPr txBox="1"/>
            <p:nvPr/>
          </p:nvSpPr>
          <p:spPr>
            <a:xfrm>
              <a:off x="2980944" y="4110735"/>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UniMob KDD'25; STFM survey'25</a:t>
              </a:r>
            </a:p>
          </p:txBody>
        </p:sp>
        <p:sp>
          <p:nvSpPr>
            <p:cNvPr id="63" name="TextBox 45">
              <a:extLst>
                <a:ext uri="{FF2B5EF4-FFF2-40B4-BE49-F238E27FC236}">
                  <a16:creationId xmlns:a16="http://schemas.microsoft.com/office/drawing/2014/main" id="{1EEF910F-8433-7CDA-961A-1FDB5D775F60}"/>
                </a:ext>
              </a:extLst>
            </p:cNvPr>
            <p:cNvSpPr txBox="1"/>
            <p:nvPr/>
          </p:nvSpPr>
          <p:spPr>
            <a:xfrm>
              <a:off x="6821424" y="4110735"/>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不训练大 FM；用轻量 adapter 处理 survey shift</a:t>
              </a:r>
            </a:p>
          </p:txBody>
        </p:sp>
        <p:sp>
          <p:nvSpPr>
            <p:cNvPr id="67" name="TextBox 49">
              <a:extLst>
                <a:ext uri="{FF2B5EF4-FFF2-40B4-BE49-F238E27FC236}">
                  <a16:creationId xmlns:a16="http://schemas.microsoft.com/office/drawing/2014/main" id="{B5C0D667-AEAE-D011-307D-6278C9C1F08E}"/>
                </a:ext>
              </a:extLst>
            </p:cNvPr>
            <p:cNvSpPr txBox="1"/>
            <p:nvPr/>
          </p:nvSpPr>
          <p:spPr>
            <a:xfrm>
              <a:off x="2980944" y="4567936"/>
              <a:ext cx="37307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causal guardrails + multi-objective metrics</a:t>
              </a:r>
            </a:p>
          </p:txBody>
        </p:sp>
        <p:sp>
          <p:nvSpPr>
            <p:cNvPr id="69" name="TextBox 51">
              <a:extLst>
                <a:ext uri="{FF2B5EF4-FFF2-40B4-BE49-F238E27FC236}">
                  <a16:creationId xmlns:a16="http://schemas.microsoft.com/office/drawing/2014/main" id="{F2B8D95C-8B65-72C3-75ED-3C6D916DA5A4}"/>
                </a:ext>
              </a:extLst>
            </p:cNvPr>
            <p:cNvSpPr txBox="1"/>
            <p:nvPr/>
          </p:nvSpPr>
          <p:spPr>
            <a:xfrm>
              <a:off x="6821424" y="4567936"/>
              <a:ext cx="418795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b="0">
                  <a:solidFill>
                    <a:srgbClr val="0F172A"/>
                  </a:solidFill>
                  <a:latin typeface="Microsoft YaHei"/>
                </a:rPr>
                <a:t>同时报告 accuracy、bias、equity、mode/purpose</a:t>
              </a:r>
            </a:p>
          </p:txBody>
        </p:sp>
      </p:grpSp>
      <p:sp>
        <p:nvSpPr>
          <p:cNvPr id="70" name="Rounded Rectangle 52">
            <a:extLst>
              <a:ext uri="{FF2B5EF4-FFF2-40B4-BE49-F238E27FC236}">
                <a16:creationId xmlns:a16="http://schemas.microsoft.com/office/drawing/2014/main" id="{4903A313-6904-89B9-80AA-8D4BF2DE6B2A}"/>
              </a:ext>
            </a:extLst>
          </p:cNvPr>
          <p:cNvSpPr/>
          <p:nvPr/>
        </p:nvSpPr>
        <p:spPr>
          <a:xfrm>
            <a:off x="594360" y="5445760"/>
            <a:ext cx="10469880" cy="7772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53">
            <a:extLst>
              <a:ext uri="{FF2B5EF4-FFF2-40B4-BE49-F238E27FC236}">
                <a16:creationId xmlns:a16="http://schemas.microsoft.com/office/drawing/2014/main" id="{166EFFCD-16A8-58D1-C185-4B767CD7E8E5}"/>
              </a:ext>
            </a:extLst>
          </p:cNvPr>
          <p:cNvSpPr txBox="1"/>
          <p:nvPr/>
        </p:nvSpPr>
        <p:spPr>
          <a:xfrm>
            <a:off x="826093" y="5703830"/>
            <a:ext cx="1231307" cy="23570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08000"/>
              </a:lnSpc>
              <a:defRPr b="1">
                <a:solidFill>
                  <a:srgbClr val="505050"/>
                </a:solidFill>
                <a:latin typeface="Noto Sans SC" panose="020B0200000000000000" charset="-122"/>
                <a:ea typeface="Noto Sans SC" panose="020B0200000000000000" charset="-122"/>
                <a:cs typeface="Noto Sans SC" panose="020B0200000000000000" charset="-122"/>
              </a:defRPr>
            </a:lvl1pPr>
          </a:lstStyle>
          <a:p>
            <a:r>
              <a:rPr dirty="0" err="1"/>
              <a:t>研究缺口</a:t>
            </a:r>
            <a:endParaRPr dirty="0"/>
          </a:p>
        </p:txBody>
      </p:sp>
      <p:sp>
        <p:nvSpPr>
          <p:cNvPr id="72" name="TextBox 54">
            <a:extLst>
              <a:ext uri="{FF2B5EF4-FFF2-40B4-BE49-F238E27FC236}">
                <a16:creationId xmlns:a16="http://schemas.microsoft.com/office/drawing/2014/main" id="{865C0E10-49CD-6C8C-C347-A7B22FD52799}"/>
              </a:ext>
            </a:extLst>
          </p:cNvPr>
          <p:cNvSpPr txBox="1"/>
          <p:nvPr/>
        </p:nvSpPr>
        <p:spPr>
          <a:xfrm>
            <a:off x="2057400" y="5611797"/>
            <a:ext cx="8471019" cy="468398"/>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RPr/>
            </a:defPPr>
            <a:lvl1pPr indent="0">
              <a:lnSpc>
                <a:spcPct val="108000"/>
              </a:lnSpc>
              <a:defRPr b="1">
                <a:solidFill>
                  <a:srgbClr val="505050"/>
                </a:solidFill>
                <a:latin typeface="Noto Sans SC" panose="020B0200000000000000" charset="-122"/>
                <a:ea typeface="Noto Sans SC" panose="020B0200000000000000" charset="-122"/>
                <a:cs typeface="Noto Sans SC" panose="020B0200000000000000" charset="-122"/>
              </a:defRPr>
            </a:lvl1pPr>
          </a:lstStyle>
          <a:p>
            <a:r>
              <a:rPr dirty="0" err="1"/>
              <a:t>缺口：</a:t>
            </a:r>
            <a:r>
              <a:rPr sz="1200" dirty="0" err="1"/>
              <a:t>已有工作多关注</a:t>
            </a:r>
            <a:r>
              <a:rPr dirty="0"/>
              <a:t> trajectory / flow / sensor </a:t>
            </a:r>
            <a:r>
              <a:rPr dirty="0" err="1"/>
              <a:t>forecasting；NHTS</a:t>
            </a:r>
            <a:r>
              <a:rPr dirty="0"/>
              <a:t> household survey </a:t>
            </a:r>
            <a:r>
              <a:rPr dirty="0" err="1"/>
              <a:t>的</a:t>
            </a:r>
            <a:r>
              <a:rPr dirty="0"/>
              <a:t> target-year label-free temporal adaptation </a:t>
            </a:r>
            <a:r>
              <a:rPr dirty="0" err="1"/>
              <a:t>仍需要一个可解释、可审计框架</a:t>
            </a:r>
            <a:r>
              <a:rPr dirty="0"/>
              <a:t>。</a:t>
            </a:r>
          </a:p>
        </p:txBody>
      </p:sp>
    </p:spTree>
    <p:extLst>
      <p:ext uri="{BB962C8B-B14F-4D97-AF65-F5344CB8AC3E}">
        <p14:creationId xmlns:p14="http://schemas.microsoft.com/office/powerpoint/2010/main" val="15931949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 name="组合 178"/>
          <p:cNvGrpSpPr/>
          <p:nvPr/>
        </p:nvGrpSpPr>
        <p:grpSpPr>
          <a:xfrm>
            <a:off x="966978" y="3262591"/>
            <a:ext cx="10287000" cy="1920240"/>
            <a:chOff x="658368" y="2761488"/>
            <a:chExt cx="10287000" cy="1920240"/>
          </a:xfrm>
        </p:grpSpPr>
        <p:sp>
          <p:nvSpPr>
            <p:cNvPr id="26" name="Rectangle 25"/>
            <p:cNvSpPr/>
            <p:nvPr/>
          </p:nvSpPr>
          <p:spPr>
            <a:xfrm>
              <a:off x="658368" y="2761488"/>
              <a:ext cx="214884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 y="2834640"/>
              <a:ext cx="2075688" cy="256031"/>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Output</a:t>
              </a:r>
            </a:p>
          </p:txBody>
        </p:sp>
        <p:sp>
          <p:nvSpPr>
            <p:cNvPr id="28" name="Rectangle 27"/>
            <p:cNvSpPr/>
            <p:nvPr/>
          </p:nvSpPr>
          <p:spPr>
            <a:xfrm>
              <a:off x="2807208" y="2761488"/>
              <a:ext cx="320040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43784" y="2834640"/>
              <a:ext cx="3127248" cy="256031"/>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Construction</a:t>
              </a:r>
            </a:p>
          </p:txBody>
        </p:sp>
        <p:sp>
          <p:nvSpPr>
            <p:cNvPr id="30" name="Rectangle 29"/>
            <p:cNvSpPr/>
            <p:nvPr/>
          </p:nvSpPr>
          <p:spPr>
            <a:xfrm>
              <a:off x="6007607" y="2761488"/>
              <a:ext cx="278892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44183" y="2834640"/>
              <a:ext cx="2715768" cy="256031"/>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Planning meaning</a:t>
              </a:r>
            </a:p>
          </p:txBody>
        </p:sp>
        <p:sp>
          <p:nvSpPr>
            <p:cNvPr id="32" name="Rectangle 31"/>
            <p:cNvSpPr/>
            <p:nvPr/>
          </p:nvSpPr>
          <p:spPr>
            <a:xfrm>
              <a:off x="8796528" y="2761488"/>
              <a:ext cx="214884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33104" y="2834640"/>
              <a:ext cx="2075688" cy="256031"/>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Main metric</a:t>
              </a:r>
            </a:p>
          </p:txBody>
        </p:sp>
        <p:sp>
          <p:nvSpPr>
            <p:cNvPr id="34" name="Rectangle 33"/>
            <p:cNvSpPr/>
            <p:nvPr/>
          </p:nvSpPr>
          <p:spPr>
            <a:xfrm>
              <a:off x="658368" y="3145536"/>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2" y="3209544"/>
              <a:ext cx="2039112" cy="256031"/>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Trip generation</a:t>
              </a:r>
            </a:p>
          </p:txBody>
        </p:sp>
        <p:sp>
          <p:nvSpPr>
            <p:cNvPr id="36" name="Rectangle 35"/>
            <p:cNvSpPr/>
            <p:nvPr/>
          </p:nvSpPr>
          <p:spPr>
            <a:xfrm>
              <a:off x="2807208" y="3145536"/>
              <a:ext cx="320040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862072" y="3209544"/>
              <a:ext cx="309067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CNTTDHH at household level</a:t>
              </a:r>
            </a:p>
          </p:txBody>
        </p:sp>
        <p:sp>
          <p:nvSpPr>
            <p:cNvPr id="38" name="Rectangle 37"/>
            <p:cNvSpPr/>
            <p:nvPr/>
          </p:nvSpPr>
          <p:spPr>
            <a:xfrm>
              <a:off x="6007607" y="3145536"/>
              <a:ext cx="278892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62471" y="3209544"/>
              <a:ext cx="2679191"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How much travel demand</a:t>
              </a:r>
            </a:p>
          </p:txBody>
        </p:sp>
        <p:sp>
          <p:nvSpPr>
            <p:cNvPr id="40" name="Rectangle 39"/>
            <p:cNvSpPr/>
            <p:nvPr/>
          </p:nvSpPr>
          <p:spPr>
            <a:xfrm>
              <a:off x="8796528" y="3145536"/>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851392" y="3209544"/>
              <a:ext cx="203911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weighted MAE / bias</a:t>
              </a:r>
            </a:p>
          </p:txBody>
        </p:sp>
        <p:sp>
          <p:nvSpPr>
            <p:cNvPr id="42" name="Rectangle 41"/>
            <p:cNvSpPr/>
            <p:nvPr/>
          </p:nvSpPr>
          <p:spPr>
            <a:xfrm>
              <a:off x="658368" y="3529584"/>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2" y="3593591"/>
              <a:ext cx="2039112" cy="256031"/>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Mode composition</a:t>
              </a:r>
            </a:p>
          </p:txBody>
        </p:sp>
        <p:sp>
          <p:nvSpPr>
            <p:cNvPr id="44" name="Rectangle 43"/>
            <p:cNvSpPr/>
            <p:nvPr/>
          </p:nvSpPr>
          <p:spPr>
            <a:xfrm>
              <a:off x="2807208" y="3529584"/>
              <a:ext cx="320040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862072" y="3593591"/>
              <a:ext cx="309067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TRPTRANS -&gt; household share vector</a:t>
              </a:r>
            </a:p>
          </p:txBody>
        </p:sp>
        <p:sp>
          <p:nvSpPr>
            <p:cNvPr id="46" name="Rectangle 45"/>
            <p:cNvSpPr/>
            <p:nvPr/>
          </p:nvSpPr>
          <p:spPr>
            <a:xfrm>
              <a:off x="6007607" y="3529584"/>
              <a:ext cx="278892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62471" y="3593591"/>
              <a:ext cx="2679191"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How demand is distributed</a:t>
              </a:r>
            </a:p>
          </p:txBody>
        </p:sp>
        <p:sp>
          <p:nvSpPr>
            <p:cNvPr id="48" name="Rectangle 47"/>
            <p:cNvSpPr/>
            <p:nvPr/>
          </p:nvSpPr>
          <p:spPr>
            <a:xfrm>
              <a:off x="8796528" y="3529584"/>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851392" y="3593591"/>
              <a:ext cx="203911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TV / share MAE</a:t>
              </a:r>
            </a:p>
          </p:txBody>
        </p:sp>
        <p:sp>
          <p:nvSpPr>
            <p:cNvPr id="50" name="Rectangle 49"/>
            <p:cNvSpPr/>
            <p:nvPr/>
          </p:nvSpPr>
          <p:spPr>
            <a:xfrm>
              <a:off x="658368" y="3913632"/>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3977640"/>
              <a:ext cx="2039112" cy="256031"/>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Purpose composition</a:t>
              </a:r>
            </a:p>
          </p:txBody>
        </p:sp>
        <p:sp>
          <p:nvSpPr>
            <p:cNvPr id="52" name="Rectangle 51"/>
            <p:cNvSpPr/>
            <p:nvPr/>
          </p:nvSpPr>
          <p:spPr>
            <a:xfrm>
              <a:off x="2807208" y="3913632"/>
              <a:ext cx="320040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862072" y="3977640"/>
              <a:ext cx="309067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TRIPPURP -&gt; household purpose vector</a:t>
              </a:r>
            </a:p>
          </p:txBody>
        </p:sp>
        <p:sp>
          <p:nvSpPr>
            <p:cNvPr id="54" name="Rectangle 53"/>
            <p:cNvSpPr/>
            <p:nvPr/>
          </p:nvSpPr>
          <p:spPr>
            <a:xfrm>
              <a:off x="6007607" y="3913632"/>
              <a:ext cx="278892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062471" y="3977640"/>
              <a:ext cx="2679191"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Why households travel</a:t>
              </a:r>
            </a:p>
          </p:txBody>
        </p:sp>
        <p:sp>
          <p:nvSpPr>
            <p:cNvPr id="56" name="Rectangle 55"/>
            <p:cNvSpPr/>
            <p:nvPr/>
          </p:nvSpPr>
          <p:spPr>
            <a:xfrm>
              <a:off x="8796528" y="3913632"/>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851392" y="3977640"/>
              <a:ext cx="203911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TV / purpose MAE</a:t>
              </a:r>
            </a:p>
          </p:txBody>
        </p:sp>
        <p:sp>
          <p:nvSpPr>
            <p:cNvPr id="58" name="Rectangle 57"/>
            <p:cNvSpPr/>
            <p:nvPr/>
          </p:nvSpPr>
          <p:spPr>
            <a:xfrm>
              <a:off x="658368" y="4297680"/>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13232" y="4361688"/>
              <a:ext cx="2039112" cy="256031"/>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Mode-specific trips</a:t>
              </a:r>
            </a:p>
          </p:txBody>
        </p:sp>
        <p:sp>
          <p:nvSpPr>
            <p:cNvPr id="60" name="Rectangle 59"/>
            <p:cNvSpPr/>
            <p:nvPr/>
          </p:nvSpPr>
          <p:spPr>
            <a:xfrm>
              <a:off x="2807208" y="4297680"/>
              <a:ext cx="320040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862072" y="4361688"/>
              <a:ext cx="309067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predicted trips × mode share</a:t>
              </a:r>
            </a:p>
          </p:txBody>
        </p:sp>
        <p:sp>
          <p:nvSpPr>
            <p:cNvPr id="62" name="Rectangle 61"/>
            <p:cNvSpPr/>
            <p:nvPr/>
          </p:nvSpPr>
          <p:spPr>
            <a:xfrm>
              <a:off x="6007607" y="4297680"/>
              <a:ext cx="278892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062471" y="4361688"/>
              <a:ext cx="2679191"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Trips by mode for planning</a:t>
              </a:r>
            </a:p>
          </p:txBody>
        </p:sp>
        <p:sp>
          <p:nvSpPr>
            <p:cNvPr id="64" name="Rectangle 63"/>
            <p:cNvSpPr/>
            <p:nvPr/>
          </p:nvSpPr>
          <p:spPr>
            <a:xfrm>
              <a:off x="8796528" y="4297680"/>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851392" y="4361688"/>
              <a:ext cx="2039112" cy="256031"/>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derived output</a:t>
              </a:r>
            </a:p>
          </p:txBody>
        </p:sp>
      </p:grpSp>
      <p:grpSp>
        <p:nvGrpSpPr>
          <p:cNvPr id="125" name="组合 124"/>
          <p:cNvGrpSpPr/>
          <p:nvPr/>
        </p:nvGrpSpPr>
        <p:grpSpPr>
          <a:xfrm>
            <a:off x="923590" y="1979240"/>
            <a:ext cx="10170733" cy="1010883"/>
            <a:chOff x="457200" y="1389888"/>
            <a:chExt cx="7645874" cy="759934"/>
          </a:xfrm>
        </p:grpSpPr>
        <p:sp>
          <p:nvSpPr>
            <p:cNvPr id="126" name="Rounded Rectangle 11"/>
            <p:cNvSpPr/>
            <p:nvPr/>
          </p:nvSpPr>
          <p:spPr>
            <a:xfrm>
              <a:off x="685800" y="1389888"/>
              <a:ext cx="914400" cy="50292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7" name="TextBox 12"/>
            <p:cNvSpPr txBox="1"/>
            <p:nvPr/>
          </p:nvSpPr>
          <p:spPr>
            <a:xfrm>
              <a:off x="758952" y="1449568"/>
              <a:ext cx="768096" cy="264688"/>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600" b="1" dirty="0">
                  <a:solidFill>
                    <a:srgbClr val="FFFFFF"/>
                  </a:solidFill>
                  <a:latin typeface="Noto Sans SC" panose="020B0200000000000000" charset="-122"/>
                </a:rPr>
                <a:t>2001</a:t>
              </a:r>
            </a:p>
          </p:txBody>
        </p:sp>
        <p:sp>
          <p:nvSpPr>
            <p:cNvPr id="129" name="Right Arrow 14"/>
            <p:cNvSpPr/>
            <p:nvPr/>
          </p:nvSpPr>
          <p:spPr>
            <a:xfrm>
              <a:off x="1737360" y="1572768"/>
              <a:ext cx="658368"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0" name="Rounded Rectangle 15"/>
            <p:cNvSpPr/>
            <p:nvPr/>
          </p:nvSpPr>
          <p:spPr>
            <a:xfrm>
              <a:off x="2624328" y="1389888"/>
              <a:ext cx="914400" cy="502920"/>
            </a:xfrm>
            <a:prstGeom prst="round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1" name="TextBox 16"/>
            <p:cNvSpPr txBox="1"/>
            <p:nvPr/>
          </p:nvSpPr>
          <p:spPr>
            <a:xfrm>
              <a:off x="2697480" y="1449568"/>
              <a:ext cx="768096" cy="264688"/>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600" b="1" dirty="0">
                  <a:solidFill>
                    <a:srgbClr val="FFFFFF"/>
                  </a:solidFill>
                  <a:latin typeface="Noto Sans SC" panose="020B0200000000000000" charset="-122"/>
                </a:rPr>
                <a:t>2009</a:t>
              </a:r>
            </a:p>
          </p:txBody>
        </p:sp>
        <p:sp>
          <p:nvSpPr>
            <p:cNvPr id="132" name="TextBox 17"/>
            <p:cNvSpPr txBox="1"/>
            <p:nvPr/>
          </p:nvSpPr>
          <p:spPr>
            <a:xfrm>
              <a:off x="2395728" y="1947672"/>
              <a:ext cx="1371600" cy="201168"/>
            </a:xfrm>
            <a:prstGeom prst="rect">
              <a:avLst/>
            </a:prstGeom>
            <a:noFill/>
          </p:spPr>
          <p:txBody>
            <a:bodyPr wrap="square" lIns="27432" tIns="9144" rIns="27432" bIns="9144" anchor="ctr">
              <a:spAutoFit/>
            </a:bodyPr>
            <a:lstStyle/>
            <a:p>
              <a:pPr algn="ctr">
                <a:defRPr sz="800" b="0">
                  <a:solidFill>
                    <a:srgbClr val="64748B"/>
                  </a:solidFill>
                  <a:latin typeface="Noto Sans SC" panose="020B0200000000000000" charset="-122"/>
                </a:defRPr>
              </a:pPr>
              <a:r>
                <a:rPr sz="1200" b="0" dirty="0">
                  <a:solidFill>
                    <a:srgbClr val="64748B"/>
                  </a:solidFill>
                  <a:latin typeface="Noto Sans SC" panose="020B0200000000000000" charset="-122"/>
                </a:rPr>
                <a:t>history</a:t>
              </a:r>
            </a:p>
          </p:txBody>
        </p:sp>
        <p:sp>
          <p:nvSpPr>
            <p:cNvPr id="133" name="Right Arrow 18"/>
            <p:cNvSpPr/>
            <p:nvPr/>
          </p:nvSpPr>
          <p:spPr>
            <a:xfrm>
              <a:off x="3675888" y="1572768"/>
              <a:ext cx="658368"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4" name="Rounded Rectangle 19"/>
            <p:cNvSpPr/>
            <p:nvPr/>
          </p:nvSpPr>
          <p:spPr>
            <a:xfrm>
              <a:off x="4514417" y="1389888"/>
              <a:ext cx="914400" cy="5029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5" name="TextBox 20"/>
            <p:cNvSpPr txBox="1"/>
            <p:nvPr/>
          </p:nvSpPr>
          <p:spPr>
            <a:xfrm>
              <a:off x="4587570" y="1449568"/>
              <a:ext cx="768096" cy="264688"/>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600" b="1">
                  <a:solidFill>
                    <a:srgbClr val="FFFFFF"/>
                  </a:solidFill>
                  <a:latin typeface="Noto Sans SC" panose="020B0200000000000000" charset="-122"/>
                </a:rPr>
                <a:t>2017</a:t>
              </a:r>
            </a:p>
          </p:txBody>
        </p:sp>
        <p:sp>
          <p:nvSpPr>
            <p:cNvPr id="136" name="TextBox 21"/>
            <p:cNvSpPr txBox="1"/>
            <p:nvPr/>
          </p:nvSpPr>
          <p:spPr>
            <a:xfrm>
              <a:off x="3929203" y="1959035"/>
              <a:ext cx="2084828" cy="178441"/>
            </a:xfrm>
            <a:prstGeom prst="rect">
              <a:avLst/>
            </a:prstGeom>
            <a:noFill/>
          </p:spPr>
          <p:txBody>
            <a:bodyPr wrap="square" lIns="27432" tIns="9144" rIns="27432" bIns="9144" anchor="ctr">
              <a:spAutoFit/>
            </a:bodyPr>
            <a:lstStyle/>
            <a:p>
              <a:pPr algn="ctr">
                <a:defRPr sz="800" b="0">
                  <a:solidFill>
                    <a:srgbClr val="64748B"/>
                  </a:solidFill>
                  <a:latin typeface="Noto Sans SC" panose="020B0200000000000000" charset="-122"/>
                </a:defRPr>
              </a:pPr>
              <a:r>
                <a:rPr sz="1200" b="0" dirty="0">
                  <a:solidFill>
                    <a:srgbClr val="64748B"/>
                  </a:solidFill>
                  <a:latin typeface="Noto Sans SC" panose="020B0200000000000000" charset="-122"/>
                </a:rPr>
                <a:t>history + mode base</a:t>
              </a:r>
            </a:p>
          </p:txBody>
        </p:sp>
        <p:sp>
          <p:nvSpPr>
            <p:cNvPr id="137" name="Right Arrow 22"/>
            <p:cNvSpPr/>
            <p:nvPr/>
          </p:nvSpPr>
          <p:spPr>
            <a:xfrm>
              <a:off x="5565976" y="1572768"/>
              <a:ext cx="658368"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8" name="Rounded Rectangle 23"/>
            <p:cNvSpPr/>
            <p:nvPr/>
          </p:nvSpPr>
          <p:spPr>
            <a:xfrm>
              <a:off x="6493729" y="1389888"/>
              <a:ext cx="91440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9" name="TextBox 24"/>
            <p:cNvSpPr txBox="1"/>
            <p:nvPr/>
          </p:nvSpPr>
          <p:spPr>
            <a:xfrm>
              <a:off x="6566881" y="1449568"/>
              <a:ext cx="768096" cy="264688"/>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600" b="1" dirty="0">
                  <a:solidFill>
                    <a:srgbClr val="FFFFFF"/>
                  </a:solidFill>
                  <a:latin typeface="Noto Sans SC" panose="020B0200000000000000" charset="-122"/>
                </a:rPr>
                <a:t>2022</a:t>
              </a:r>
            </a:p>
          </p:txBody>
        </p:sp>
        <p:sp>
          <p:nvSpPr>
            <p:cNvPr id="140" name="TextBox 25"/>
            <p:cNvSpPr txBox="1"/>
            <p:nvPr/>
          </p:nvSpPr>
          <p:spPr>
            <a:xfrm>
              <a:off x="5798784" y="1946689"/>
              <a:ext cx="2304290" cy="203133"/>
            </a:xfrm>
            <a:prstGeom prst="rect">
              <a:avLst/>
            </a:prstGeom>
            <a:noFill/>
          </p:spPr>
          <p:txBody>
            <a:bodyPr wrap="square" lIns="27432" tIns="9144" rIns="27432" bIns="9144" anchor="ctr">
              <a:spAutoFit/>
            </a:bodyPr>
            <a:lstStyle/>
            <a:p>
              <a:pPr algn="ctr">
                <a:defRPr sz="800" b="0">
                  <a:solidFill>
                    <a:srgbClr val="64748B"/>
                  </a:solidFill>
                  <a:latin typeface="Noto Sans SC" panose="020B0200000000000000" charset="-122"/>
                </a:defRPr>
              </a:pPr>
              <a:r>
                <a:rPr sz="1200" b="0" dirty="0">
                  <a:solidFill>
                    <a:srgbClr val="64748B"/>
                  </a:solidFill>
                  <a:latin typeface="Noto Sans SC" panose="020B0200000000000000" charset="-122"/>
                </a:rPr>
                <a:t>post-pandemic eval</a:t>
              </a:r>
            </a:p>
          </p:txBody>
        </p:sp>
        <p:sp>
          <p:nvSpPr>
            <p:cNvPr id="180" name="TextBox 17"/>
            <p:cNvSpPr txBox="1"/>
            <p:nvPr/>
          </p:nvSpPr>
          <p:spPr>
            <a:xfrm>
              <a:off x="457200" y="1947672"/>
              <a:ext cx="1371600" cy="201168"/>
            </a:xfrm>
            <a:prstGeom prst="rect">
              <a:avLst/>
            </a:prstGeom>
            <a:noFill/>
          </p:spPr>
          <p:txBody>
            <a:bodyPr wrap="square" lIns="27432" tIns="9144" rIns="27432" bIns="9144" anchor="ctr">
              <a:spAutoFit/>
            </a:bodyPr>
            <a:lstStyle/>
            <a:p>
              <a:pPr algn="ctr">
                <a:defRPr sz="800" b="0">
                  <a:solidFill>
                    <a:srgbClr val="64748B"/>
                  </a:solidFill>
                  <a:latin typeface="Noto Sans SC" panose="020B0200000000000000" charset="-122"/>
                </a:defRPr>
              </a:pPr>
              <a:r>
                <a:rPr sz="1200" b="0" dirty="0">
                  <a:solidFill>
                    <a:srgbClr val="64748B"/>
                  </a:solidFill>
                  <a:latin typeface="Noto Sans SC" panose="020B0200000000000000" charset="-122"/>
                </a:rPr>
                <a:t>history</a:t>
              </a:r>
            </a:p>
          </p:txBody>
        </p:sp>
      </p:grpSp>
      <p:cxnSp>
        <p:nvCxnSpPr>
          <p:cNvPr id="2" name="Connector 4"/>
          <p:cNvCxnSpPr/>
          <p:nvPr/>
        </p:nvCxnSpPr>
        <p:spPr>
          <a:xfrm rot="-4092">
            <a:off x="762004" y="1581150"/>
            <a:ext cx="10668000" cy="12700"/>
          </a:xfrm>
          <a:prstGeom prst="straightConnector1">
            <a:avLst/>
          </a:prstGeom>
          <a:solidFill>
            <a:srgbClr val="DEE0E3">
              <a:alpha val="100000"/>
            </a:srgbClr>
          </a:solidFill>
          <a:ln w="25400" cap="flat" cmpd="sng">
            <a:solidFill>
              <a:srgbClr val="40E0D0">
                <a:alpha val="50000"/>
              </a:srgbClr>
            </a:solidFill>
            <a:prstDash val="solid"/>
            <a:round/>
            <a:headEnd type="none" w="lg" len="lg"/>
            <a:tailEnd type="none" w="lg" len="lg"/>
          </a:ln>
        </p:spPr>
      </p:cxnSp>
      <p:sp>
        <p:nvSpPr>
          <p:cNvPr id="16" name="文本框 15"/>
          <p:cNvSpPr txBox="1"/>
          <p:nvPr/>
        </p:nvSpPr>
        <p:spPr>
          <a:xfrm>
            <a:off x="6081395" y="1206500"/>
            <a:ext cx="509651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endParaRPr lang="zh-CN" altLang="en-US" sz="2400" dirty="0">
              <a:sym typeface="Noto Sans SC" panose="020B0200000000000000" charset="-122"/>
            </a:endParaRPr>
          </a:p>
        </p:txBody>
      </p:sp>
      <p:sp>
        <p:nvSpPr>
          <p:cNvPr id="6" name="文本框 5"/>
          <p:cNvSpPr txBox="1"/>
          <p:nvPr/>
        </p:nvSpPr>
        <p:spPr>
          <a:xfrm>
            <a:off x="923290" y="5422265"/>
            <a:ext cx="10330180" cy="275590"/>
          </a:xfrm>
          <a:prstGeom prst="rect">
            <a:avLst/>
          </a:prstGeom>
          <a:noFill/>
        </p:spPr>
        <p:txBody>
          <a:bodyPr wrap="square" rtlCol="0" anchor="t">
            <a:spAutoFit/>
          </a:bodyPr>
          <a:lstStyle/>
          <a:p>
            <a:pPr algn="l">
              <a:defRPr sz="1200" b="1">
                <a:solidFill>
                  <a:srgbClr val="1F2937"/>
                </a:solidFill>
                <a:latin typeface="Noto Sans SC" panose="020B0200000000000000" charset="-122"/>
              </a:defRPr>
            </a:pPr>
            <a:r>
              <a:rPr sz="1200" b="1" dirty="0" err="1">
                <a:solidFill>
                  <a:srgbClr val="1F2937"/>
                </a:solidFill>
                <a:latin typeface="Noto Sans SC" panose="020B0200000000000000" charset="-122"/>
                <a:sym typeface="+mn-ea"/>
              </a:rPr>
              <a:t>目标是构造</a:t>
            </a:r>
            <a:r>
              <a:rPr sz="1200" b="1" dirty="0">
                <a:solidFill>
                  <a:srgbClr val="1F2937"/>
                </a:solidFill>
                <a:latin typeface="Noto Sans SC" panose="020B0200000000000000" charset="-122"/>
                <a:sym typeface="+mn-ea"/>
              </a:rPr>
              <a:t> household travel </a:t>
            </a:r>
            <a:r>
              <a:rPr sz="1200" b="1" dirty="0" err="1">
                <a:solidFill>
                  <a:srgbClr val="1F2937"/>
                </a:solidFill>
                <a:latin typeface="Noto Sans SC" panose="020B0200000000000000" charset="-122"/>
                <a:sym typeface="+mn-ea"/>
              </a:rPr>
              <a:t>behavior：出行多少次、用什么方式、每种方式多少次</a:t>
            </a:r>
            <a:r>
              <a:rPr sz="1200" b="1" dirty="0">
                <a:solidFill>
                  <a:srgbClr val="1F2937"/>
                </a:solidFill>
                <a:latin typeface="Noto Sans SC" panose="020B0200000000000000" charset="-122"/>
                <a:sym typeface="+mn-ea"/>
              </a:rPr>
              <a:t>。</a:t>
            </a:r>
            <a:endParaRPr lang="zh-CN" altLang="en-US" sz="1200" b="1" dirty="0">
              <a:solidFill>
                <a:srgbClr val="1F2937"/>
              </a:solidFill>
              <a:latin typeface="Noto Sans SC" panose="020B0200000000000000" charset="-122"/>
              <a:sym typeface="+mn-ea"/>
            </a:endParaRPr>
          </a:p>
        </p:txBody>
      </p:sp>
      <p:sp>
        <p:nvSpPr>
          <p:cNvPr id="4" name="AutoShape 2">
            <a:extLst>
              <a:ext uri="{FF2B5EF4-FFF2-40B4-BE49-F238E27FC236}">
                <a16:creationId xmlns:a16="http://schemas.microsoft.com/office/drawing/2014/main" id="{57B36514-998F-8F6F-FC9D-CD524F8B2448}"/>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altLang="zh-CN" sz="3200"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研究目的</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or 4"/>
          <p:cNvCxnSpPr/>
          <p:nvPr/>
        </p:nvCxnSpPr>
        <p:spPr>
          <a:xfrm rot="-4092">
            <a:off x="762004" y="1435100"/>
            <a:ext cx="10668000" cy="12700"/>
          </a:xfrm>
          <a:prstGeom prst="straightConnector1">
            <a:avLst/>
          </a:prstGeom>
          <a:solidFill>
            <a:srgbClr val="DEE0E3">
              <a:alpha val="100000"/>
            </a:srgbClr>
          </a:solidFill>
          <a:ln w="25400" cap="flat" cmpd="sng">
            <a:solidFill>
              <a:srgbClr val="40E0D0">
                <a:alpha val="50000"/>
              </a:srgbClr>
            </a:solidFill>
            <a:prstDash val="solid"/>
            <a:round/>
            <a:headEnd type="none" w="lg" len="lg"/>
            <a:tailEnd type="none" w="lg" len="lg"/>
          </a:ln>
        </p:spPr>
      </p:cxnSp>
      <p:sp>
        <p:nvSpPr>
          <p:cNvPr id="6" name="AutoShape 6"/>
          <p:cNvSpPr/>
          <p:nvPr/>
        </p:nvSpPr>
        <p:spPr>
          <a:xfrm>
            <a:off x="4816475" y="5356863"/>
            <a:ext cx="355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核心任务：出行方式预测</a:t>
            </a:r>
            <a:endParaRPr lang="en-US" sz="1100" dirty="0">
              <a:solidFill>
                <a:schemeClr val="tx1"/>
              </a:solidFill>
            </a:endParaRPr>
          </a:p>
          <a:p>
            <a:pPr marL="0" indent="0" algn="l">
              <a:lnSpc>
                <a:spcPct val="117000"/>
              </a:lnSpc>
            </a:pP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整合出行者个人、家庭、住址及出行需求等多维特征，构建预测模型，精准判断其在私家车、公共交通、步行、骑行等选项中的决策倾向</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9" name="AutoShape 9"/>
          <p:cNvSpPr/>
          <p:nvPr/>
        </p:nvSpPr>
        <p:spPr>
          <a:xfrm>
            <a:off x="829945" y="5224148"/>
            <a:ext cx="3821430" cy="141859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权威数据源：NHTS</a:t>
            </a:r>
            <a:r>
              <a:rPr lang="en-US" sz="1800" b="1" i="0" u="none" strike="noStrike" dirty="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调查</a:t>
            </a:r>
            <a:endParaRPr lang="en-US" sz="1100" dirty="0">
              <a:solidFill>
                <a:schemeClr val="tx1"/>
              </a:solidFill>
            </a:endParaRPr>
          </a:p>
          <a:p>
            <a:pPr marL="0" indent="0" algn="l">
              <a:lnSpc>
                <a:spcPct val="117000"/>
              </a:lnSpc>
            </a:pP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由美国运输部主导的全国性大规模家庭出行调查，覆盖全美各地、不同社会阶层的真实出行记录，数据详实且具有极高的代表性</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1" name="AutoShape 11"/>
          <p:cNvSpPr/>
          <p:nvPr>
            <p:custDataLst>
              <p:tags r:id="rId1"/>
            </p:custDataLst>
          </p:nvPr>
        </p:nvSpPr>
        <p:spPr>
          <a:xfrm>
            <a:off x="8743315" y="2259965"/>
            <a:ext cx="3048000" cy="1905000"/>
          </a:xfrm>
          <a:prstGeom prst="roundRect">
            <a:avLst>
              <a:gd name="adj" fmla="val 0"/>
            </a:avLst>
          </a:prstGeom>
          <a:solidFill>
            <a:srgbClr val="40E0D0">
              <a:alpha val="10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2"/>
            </p:custDataLst>
          </p:nvPr>
        </p:nvSpPr>
        <p:spPr>
          <a:xfrm>
            <a:off x="8870315" y="2386965"/>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spcAft>
                <a:spcPts val="600"/>
              </a:spcAft>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2017年：基准训练集</a:t>
            </a:r>
            <a:endParaRPr lang="en-US" sz="1100" dirty="0"/>
          </a:p>
          <a:p>
            <a:pPr marL="0" indent="0" algn="l">
              <a:lnSpc>
                <a:spcPct val="117000"/>
              </a:lnSpc>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作为疫情前的常态基准数据，包含典型的社会经济与出行行为特征，用于模型的基础训练、参数调优与基线性能验证，确保模型习得常规场景下的决策规律。</a:t>
            </a:r>
          </a:p>
        </p:txBody>
      </p:sp>
      <p:sp>
        <p:nvSpPr>
          <p:cNvPr id="13" name="AutoShape 13"/>
          <p:cNvSpPr/>
          <p:nvPr>
            <p:custDataLst>
              <p:tags r:id="rId3"/>
            </p:custDataLst>
          </p:nvPr>
        </p:nvSpPr>
        <p:spPr>
          <a:xfrm>
            <a:off x="8743315" y="4482465"/>
            <a:ext cx="3048000" cy="1905000"/>
          </a:xfrm>
          <a:prstGeom prst="roundRect">
            <a:avLst>
              <a:gd name="adj" fmla="val 0"/>
            </a:avLst>
          </a:prstGeom>
          <a:solidFill>
            <a:srgbClr val="40E0D0">
              <a:alpha val="10000"/>
            </a:srgbClr>
          </a:solidFill>
          <a:ln w="12700" cap="flat" cmpd="sng">
            <a:solidFill>
              <a:srgbClr val="40E0D0">
                <a:alpha val="40000"/>
              </a:srgbClr>
            </a:solidFill>
            <a:prstDash val="solid"/>
            <a:round/>
          </a:ln>
        </p:spPr>
        <p:txBody>
          <a:bodyPr vert="horz" wrap="square" lIns="63500" tIns="63500" rIns="63500" bIns="63500" rtlCol="0" anchor="ctr"/>
          <a:lstStyle/>
          <a:p>
            <a:pPr algn="ctr">
              <a:defRPr/>
            </a:pPr>
            <a:endParaRPr/>
          </a:p>
        </p:txBody>
      </p:sp>
      <p:sp>
        <p:nvSpPr>
          <p:cNvPr id="14" name="AutoShape 14"/>
          <p:cNvSpPr/>
          <p:nvPr>
            <p:custDataLst>
              <p:tags r:id="rId4"/>
            </p:custDataLst>
          </p:nvPr>
        </p:nvSpPr>
        <p:spPr>
          <a:xfrm>
            <a:off x="8870315" y="4609465"/>
            <a:ext cx="279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spcAft>
                <a:spcPts val="600"/>
              </a:spcAft>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2022年：泛化检验集</a:t>
            </a:r>
            <a:endParaRPr lang="en-US" sz="1100" dirty="0"/>
          </a:p>
          <a:p>
            <a:pPr marL="0" indent="0" algn="l">
              <a:lnSpc>
                <a:spcPct val="117000"/>
              </a:lnSpc>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纳入疫情防控政策、远程办公普及等突发社会变量，用于检验模型在非常规场景下的适应性。通过对比分析，有效评估模型的泛化能力与鲁棒性边界。</a:t>
            </a:r>
          </a:p>
        </p:txBody>
      </p:sp>
      <p:sp>
        <p:nvSpPr>
          <p:cNvPr id="15"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altLang="zh-CN"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a:t>
            </a:r>
            <a:endParaRPr lang="en-US" sz="1100" dirty="0"/>
          </a:p>
        </p:txBody>
      </p:sp>
      <p:sp>
        <p:nvSpPr>
          <p:cNvPr id="16" name="文本框 15"/>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数据选择</a:t>
            </a:r>
            <a:endParaRPr lang="zh-CN" altLang="en-US" sz="2400" dirty="0"/>
          </a:p>
        </p:txBody>
      </p:sp>
      <p:pic>
        <p:nvPicPr>
          <p:cNvPr id="3" name="图片 2"/>
          <p:cNvPicPr>
            <a:picLocks noChangeAspect="1"/>
          </p:cNvPicPr>
          <p:nvPr/>
        </p:nvPicPr>
        <p:blipFill>
          <a:blip r:embed="rId7"/>
          <a:stretch>
            <a:fillRect/>
          </a:stretch>
        </p:blipFill>
        <p:spPr>
          <a:xfrm>
            <a:off x="762000" y="1677035"/>
            <a:ext cx="7606030" cy="350393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altLang="zh-CN"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问题定义</a:t>
            </a:r>
            <a:endParaRPr lang="en-US" sz="1100" dirty="0"/>
          </a:p>
        </p:txBody>
      </p:sp>
      <p:sp>
        <p:nvSpPr>
          <p:cNvPr id="3" name="AutoShape 3"/>
          <p:cNvSpPr/>
          <p:nvPr/>
        </p:nvSpPr>
        <p:spPr>
          <a:xfrm>
            <a:off x="762000" y="1524000"/>
            <a:ext cx="10668000" cy="25400"/>
          </a:xfrm>
          <a:prstGeom prst="roundRect">
            <a:avLst>
              <a:gd name="adj" fmla="val 0"/>
            </a:avLst>
          </a:prstGeom>
          <a:solidFill>
            <a:srgbClr val="40E0D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914525"/>
            <a:ext cx="3429000" cy="3683000"/>
          </a:xfrm>
          <a:prstGeom prst="roundRect">
            <a:avLst>
              <a:gd name="adj" fmla="val 0"/>
            </a:avLst>
          </a:prstGeom>
          <a:solidFill>
            <a:srgbClr val="40E0D0">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14525"/>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32025"/>
            <a:ext cx="508000" cy="508000"/>
          </a:xfrm>
          <a:prstGeom prst="rect">
            <a:avLst/>
          </a:prstGeom>
        </p:spPr>
      </p:pic>
      <p:sp>
        <p:nvSpPr>
          <p:cNvPr id="7" name="AutoShape 7"/>
          <p:cNvSpPr/>
          <p:nvPr/>
        </p:nvSpPr>
        <p:spPr>
          <a:xfrm>
            <a:off x="1778000" y="2295525"/>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20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性能对比</a:t>
            </a:r>
            <a:endParaRPr lang="en-US" sz="1100" dirty="0"/>
          </a:p>
        </p:txBody>
      </p:sp>
      <p:cxnSp>
        <p:nvCxnSpPr>
          <p:cNvPr id="8" name="Connector 8"/>
          <p:cNvCxnSpPr/>
          <p:nvPr/>
        </p:nvCxnSpPr>
        <p:spPr>
          <a:xfrm rot="-14946">
            <a:off x="1016014" y="3051175"/>
            <a:ext cx="2921000" cy="12700"/>
          </a:xfrm>
          <a:prstGeom prst="straightConnector1">
            <a:avLst/>
          </a:prstGeom>
          <a:solidFill>
            <a:srgbClr val="DEE0E3">
              <a:alpha val="100000"/>
            </a:srgbClr>
          </a:solidFill>
          <a:ln w="12700" cap="flat" cmpd="sng">
            <a:solidFill>
              <a:srgbClr val="40E0D0">
                <a:alpha val="40000"/>
              </a:srgbClr>
            </a:solidFill>
            <a:prstDash val="solid"/>
            <a:round/>
            <a:headEnd type="none" w="med" len="med"/>
            <a:tailEnd type="none" w="med" len="med"/>
          </a:ln>
        </p:spPr>
      </p:cxnSp>
      <p:sp>
        <p:nvSpPr>
          <p:cNvPr id="9" name="AutoShape 9"/>
          <p:cNvSpPr/>
          <p:nvPr/>
        </p:nvSpPr>
        <p:spPr>
          <a:xfrm>
            <a:off x="1016000" y="3311525"/>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在不同数据条件下，系统对比传统数据拟合模型（A</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纯大模型调用（B</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以及提出的混合预测模型（C）在预测准确性上的差异，明确各模型的适用边界与表现特征</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0" name="AutoShape 10"/>
          <p:cNvSpPr/>
          <p:nvPr/>
        </p:nvSpPr>
        <p:spPr>
          <a:xfrm>
            <a:off x="4445000" y="1914525"/>
            <a:ext cx="3429000" cy="3683000"/>
          </a:xfrm>
          <a:prstGeom prst="roundRect">
            <a:avLst>
              <a:gd name="adj" fmla="val 0"/>
            </a:avLst>
          </a:prstGeom>
          <a:solidFill>
            <a:srgbClr val="40E0D0">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914525"/>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232025"/>
            <a:ext cx="508000" cy="508000"/>
          </a:xfrm>
          <a:prstGeom prst="rect">
            <a:avLst/>
          </a:prstGeom>
        </p:spPr>
      </p:pic>
      <p:sp>
        <p:nvSpPr>
          <p:cNvPr id="13" name="AutoShape 13"/>
          <p:cNvSpPr/>
          <p:nvPr/>
        </p:nvSpPr>
        <p:spPr>
          <a:xfrm>
            <a:off x="5461000" y="2295525"/>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效率验证</a:t>
            </a:r>
            <a:endParaRPr lang="en-US" sz="1100"/>
          </a:p>
        </p:txBody>
      </p:sp>
      <p:cxnSp>
        <p:nvCxnSpPr>
          <p:cNvPr id="14" name="Connector 14"/>
          <p:cNvCxnSpPr/>
          <p:nvPr/>
        </p:nvCxnSpPr>
        <p:spPr>
          <a:xfrm rot="-14946">
            <a:off x="4699014" y="3051175"/>
            <a:ext cx="2921000" cy="12700"/>
          </a:xfrm>
          <a:prstGeom prst="straightConnector1">
            <a:avLst/>
          </a:prstGeom>
          <a:solidFill>
            <a:srgbClr val="DEE0E3">
              <a:alpha val="100000"/>
            </a:srgbClr>
          </a:solidFill>
          <a:ln w="12700" cap="flat" cmpd="sng">
            <a:solidFill>
              <a:srgbClr val="40E0D0">
                <a:alpha val="40000"/>
              </a:srgbClr>
            </a:solidFill>
            <a:prstDash val="solid"/>
            <a:round/>
            <a:headEnd type="none" w="med" len="med"/>
            <a:tailEnd type="none" w="med" len="med"/>
          </a:ln>
        </p:spPr>
      </p:cxnSp>
      <p:sp>
        <p:nvSpPr>
          <p:cNvPr id="15" name="AutoShape 15"/>
          <p:cNvSpPr/>
          <p:nvPr/>
        </p:nvSpPr>
        <p:spPr>
          <a:xfrm>
            <a:off x="4699000" y="3311525"/>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验证混合预测模型（C）能否在保持与纯大模型调用（B）相近准确率的前提下，显著降低对大模型的调用频次与资源消耗，从而在推理阶段大幅提升系统的响应效率与运行经济性。</a:t>
            </a:r>
            <a:endParaRPr lang="en-US" sz="1100" dirty="0"/>
          </a:p>
        </p:txBody>
      </p:sp>
      <p:sp>
        <p:nvSpPr>
          <p:cNvPr id="16" name="AutoShape 16"/>
          <p:cNvSpPr/>
          <p:nvPr/>
        </p:nvSpPr>
        <p:spPr>
          <a:xfrm>
            <a:off x="8001000" y="1914525"/>
            <a:ext cx="3429000" cy="3683000"/>
          </a:xfrm>
          <a:prstGeom prst="roundRect">
            <a:avLst>
              <a:gd name="adj" fmla="val 0"/>
            </a:avLst>
          </a:prstGeom>
          <a:solidFill>
            <a:srgbClr val="40E0D0">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1914525"/>
            <a:ext cx="3429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2232025"/>
            <a:ext cx="508000" cy="508000"/>
          </a:xfrm>
          <a:prstGeom prst="rect">
            <a:avLst/>
          </a:prstGeom>
        </p:spPr>
      </p:pic>
      <p:sp>
        <p:nvSpPr>
          <p:cNvPr id="19" name="AutoShape 19"/>
          <p:cNvSpPr/>
          <p:nvPr/>
        </p:nvSpPr>
        <p:spPr>
          <a:xfrm>
            <a:off x="9017000" y="2295525"/>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能力验证</a:t>
            </a:r>
            <a:endParaRPr lang="en-US" sz="1100"/>
          </a:p>
        </p:txBody>
      </p:sp>
      <p:cxnSp>
        <p:nvCxnSpPr>
          <p:cNvPr id="20" name="Connector 20"/>
          <p:cNvCxnSpPr/>
          <p:nvPr/>
        </p:nvCxnSpPr>
        <p:spPr>
          <a:xfrm rot="-14946">
            <a:off x="8255014" y="3051175"/>
            <a:ext cx="2921000" cy="12700"/>
          </a:xfrm>
          <a:prstGeom prst="straightConnector1">
            <a:avLst/>
          </a:prstGeom>
          <a:solidFill>
            <a:srgbClr val="DEE0E3">
              <a:alpha val="100000"/>
            </a:srgbClr>
          </a:solidFill>
          <a:ln w="12700" cap="flat" cmpd="sng">
            <a:solidFill>
              <a:srgbClr val="40E0D0">
                <a:alpha val="40000"/>
              </a:srgbClr>
            </a:solidFill>
            <a:prstDash val="solid"/>
            <a:round/>
            <a:headEnd type="none" w="med" len="med"/>
            <a:tailEnd type="none" w="med" len="med"/>
          </a:ln>
        </p:spPr>
      </p:cxnSp>
      <p:sp>
        <p:nvSpPr>
          <p:cNvPr id="21" name="AutoShape 21"/>
          <p:cNvSpPr/>
          <p:nvPr/>
        </p:nvSpPr>
        <p:spPr>
          <a:xfrm>
            <a:off x="8255000" y="3311525"/>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重点检验大模型（B、C）在数据稀疏、字段缺失、出现未见过的新变量等传统模型（A）易失效的复杂场景中，是否展现出更强的泛化能力与问题解决优势。</a:t>
            </a:r>
            <a:endParaRPr lang="en-US" sz="1100" dirty="0"/>
          </a:p>
        </p:txBody>
      </p:sp>
      <p:sp>
        <p:nvSpPr>
          <p:cNvPr id="22" name="AutoShape 22"/>
          <p:cNvSpPr/>
          <p:nvPr/>
        </p:nvSpPr>
        <p:spPr>
          <a:xfrm>
            <a:off x="762000" y="5724525"/>
            <a:ext cx="10668000" cy="635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5851525"/>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目标：验证混合</a:t>
            </a:r>
            <a:r>
              <a:rPr lang="zh-CN" alt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在准确性、效率与鲁棒性上的综合优势</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4" name="文本框 23"/>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评估方案</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B632-F149-8315-36B2-666FE56F0DC0}"/>
            </a:ext>
          </a:extLst>
        </p:cNvPr>
        <p:cNvGrpSpPr/>
        <p:nvPr/>
      </p:nvGrpSpPr>
      <p:grpSpPr>
        <a:xfrm>
          <a:off x="0" y="0"/>
          <a:ext cx="0" cy="0"/>
          <a:chOff x="0" y="0"/>
          <a:chExt cx="0" cy="0"/>
        </a:xfrm>
      </p:grpSpPr>
      <p:sp>
        <p:nvSpPr>
          <p:cNvPr id="3" name="titleNum">
            <a:extLst>
              <a:ext uri="{FF2B5EF4-FFF2-40B4-BE49-F238E27FC236}">
                <a16:creationId xmlns:a16="http://schemas.microsoft.com/office/drawing/2014/main" id="{F9B9DB85-E67E-6026-BDA3-717DE25CF621}"/>
              </a:ext>
            </a:extLst>
          </p:cNvPr>
          <p:cNvSpPr/>
          <p:nvPr/>
        </p:nvSpPr>
        <p:spPr>
          <a:xfrm>
            <a:off x="762000" y="635000"/>
            <a:ext cx="6000000" cy="508000"/>
          </a:xfrm>
          <a:prstGeom prst="rect">
            <a:avLst/>
          </a:prstGeom>
          <a:noFill/>
          <a:ln>
            <a:noFill/>
          </a:ln>
        </p:spPr>
        <p:txBody>
          <a:bodyPr vert="horz" wrap="square" lIns="0" tIns="0" rIns="0" bIns="0" anchor="ctr"/>
          <a:lstStyle/>
          <a:p>
            <a:pPr marL="0" indent="0" algn="l">
              <a:lnSpc>
                <a:spcPct val="125000"/>
              </a:lnSpc>
            </a:pP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0</a:t>
            </a:r>
            <a:r>
              <a:rPr lang="en-US" altLang="zh-CN" sz="3200" b="1" dirty="0">
                <a:solidFill>
                  <a:srgbClr val="333333"/>
                </a:solidFill>
                <a:latin typeface="Noto Sans SC" panose="020B0200000000000000" charset="-122"/>
                <a:ea typeface="Noto Sans SC" panose="020B0200000000000000" charset="-122"/>
                <a:cs typeface="Noto Sans SC" panose="020B0200000000000000" charset="-122"/>
                <a:sym typeface="+mn-ea"/>
              </a:rPr>
              <a:t>4</a:t>
            </a: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 </a:t>
            </a:r>
            <a:r>
              <a:rPr lang="zh-CN" alt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架构设计</a:t>
            </a:r>
            <a:endParaRPr lang="zh-CN" altLang="en-US" sz="3200" b="1" dirty="0">
              <a:solidFill>
                <a:srgbClr val="333333"/>
              </a:solidFill>
              <a:latin typeface="Noto Sans SC" panose="020B0200000000000000" charset="-122"/>
              <a:ea typeface="Noto Sans SC" panose="020B0200000000000000" charset="-122"/>
              <a:cs typeface="Noto Sans SC" panose="020B0200000000000000" charset="-122"/>
            </a:endParaRPr>
          </a:p>
        </p:txBody>
      </p:sp>
      <p:cxnSp>
        <p:nvCxnSpPr>
          <p:cNvPr id="5" name="titleLine">
            <a:extLst>
              <a:ext uri="{FF2B5EF4-FFF2-40B4-BE49-F238E27FC236}">
                <a16:creationId xmlns:a16="http://schemas.microsoft.com/office/drawing/2014/main" id="{3692937E-5AD5-23A4-0AE3-53A258FDC22D}"/>
              </a:ext>
            </a:extLst>
          </p:cNvPr>
          <p:cNvCxnSpPr/>
          <p:nvPr/>
        </p:nvCxnSpPr>
        <p:spPr>
          <a:xfrm>
            <a:off x="762004" y="1390650"/>
            <a:ext cx="10668000" cy="12700"/>
          </a:xfrm>
          <a:prstGeom prst="straightConnector1">
            <a:avLst/>
          </a:prstGeom>
          <a:ln w="25400" cap="flat" cmpd="sng">
            <a:solidFill>
              <a:srgbClr val="40E0D0">
                <a:alpha val="60000"/>
              </a:srgbClr>
            </a:solidFill>
            <a:prstDash val="solid"/>
            <a:round/>
          </a:ln>
        </p:spPr>
      </p:cxnSp>
      <p:grpSp>
        <p:nvGrpSpPr>
          <p:cNvPr id="94" name="组合 93">
            <a:extLst>
              <a:ext uri="{FF2B5EF4-FFF2-40B4-BE49-F238E27FC236}">
                <a16:creationId xmlns:a16="http://schemas.microsoft.com/office/drawing/2014/main" id="{CB72BB44-9B36-D6AA-88BA-220A6B363955}"/>
              </a:ext>
            </a:extLst>
          </p:cNvPr>
          <p:cNvGrpSpPr/>
          <p:nvPr/>
        </p:nvGrpSpPr>
        <p:grpSpPr>
          <a:xfrm>
            <a:off x="658368" y="1840121"/>
            <a:ext cx="4335378" cy="942422"/>
            <a:chOff x="658368" y="1696720"/>
            <a:chExt cx="5166360" cy="1234440"/>
          </a:xfrm>
        </p:grpSpPr>
        <p:sp>
          <p:nvSpPr>
            <p:cNvPr id="8" name="Rounded Rectangle 10">
              <a:extLst>
                <a:ext uri="{FF2B5EF4-FFF2-40B4-BE49-F238E27FC236}">
                  <a16:creationId xmlns:a16="http://schemas.microsoft.com/office/drawing/2014/main" id="{702E5607-3759-9EDF-1046-A3E158044C60}"/>
                </a:ext>
              </a:extLst>
            </p:cNvPr>
            <p:cNvSpPr/>
            <p:nvPr/>
          </p:nvSpPr>
          <p:spPr>
            <a:xfrm>
              <a:off x="658368"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11">
              <a:extLst>
                <a:ext uri="{FF2B5EF4-FFF2-40B4-BE49-F238E27FC236}">
                  <a16:creationId xmlns:a16="http://schemas.microsoft.com/office/drawing/2014/main" id="{B5764A8C-3C1F-41CE-5A65-521A680C4A33}"/>
                </a:ext>
              </a:extLst>
            </p:cNvPr>
            <p:cNvSpPr/>
            <p:nvPr/>
          </p:nvSpPr>
          <p:spPr>
            <a:xfrm>
              <a:off x="658368" y="1696720"/>
              <a:ext cx="50292" cy="1234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2">
              <a:extLst>
                <a:ext uri="{FF2B5EF4-FFF2-40B4-BE49-F238E27FC236}">
                  <a16:creationId xmlns:a16="http://schemas.microsoft.com/office/drawing/2014/main" id="{17712223-AB5E-BD26-46DE-DB65D80804E4}"/>
                </a:ext>
              </a:extLst>
            </p:cNvPr>
            <p:cNvSpPr txBox="1"/>
            <p:nvPr/>
          </p:nvSpPr>
          <p:spPr>
            <a:xfrm>
              <a:off x="822959"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dirty="0" err="1">
                  <a:solidFill>
                    <a:srgbClr val="0F172A"/>
                  </a:solidFill>
                  <a:latin typeface="Microsoft YaHei"/>
                </a:rPr>
                <a:t>场景</a:t>
              </a:r>
              <a:r>
                <a:rPr sz="1200" b="1" dirty="0">
                  <a:solidFill>
                    <a:srgbClr val="0F172A"/>
                  </a:solidFill>
                  <a:latin typeface="Microsoft YaHei"/>
                </a:rPr>
                <a:t> </a:t>
              </a:r>
              <a:r>
                <a:rPr sz="1200" b="1" dirty="0" err="1">
                  <a:solidFill>
                    <a:srgbClr val="0F172A"/>
                  </a:solidFill>
                  <a:latin typeface="Microsoft YaHei"/>
                </a:rPr>
                <a:t>A：数据稀疏</a:t>
              </a:r>
              <a:r>
                <a:rPr sz="1200" b="1" dirty="0">
                  <a:solidFill>
                    <a:srgbClr val="0F172A"/>
                  </a:solidFill>
                  <a:latin typeface="Microsoft YaHei"/>
                </a:rPr>
                <a:t> / </a:t>
              </a:r>
              <a:r>
                <a:rPr sz="1200" b="1" dirty="0" err="1">
                  <a:solidFill>
                    <a:srgbClr val="0F172A"/>
                  </a:solidFill>
                  <a:latin typeface="Microsoft YaHei"/>
                </a:rPr>
                <a:t>字段缺失</a:t>
              </a:r>
              <a:r>
                <a:rPr sz="1200" b="1" dirty="0">
                  <a:solidFill>
                    <a:srgbClr val="0F172A"/>
                  </a:solidFill>
                  <a:latin typeface="Microsoft YaHei"/>
                </a:rPr>
                <a:t> / </a:t>
              </a:r>
              <a:r>
                <a:rPr sz="1200" b="1" dirty="0" err="1">
                  <a:solidFill>
                    <a:srgbClr val="0F172A"/>
                  </a:solidFill>
                  <a:latin typeface="Microsoft YaHei"/>
                </a:rPr>
                <a:t>冷启动</a:t>
              </a:r>
              <a:endParaRPr sz="1200" b="1" dirty="0">
                <a:solidFill>
                  <a:srgbClr val="0F172A"/>
                </a:solidFill>
                <a:latin typeface="Microsoft YaHei"/>
              </a:endParaRPr>
            </a:p>
          </p:txBody>
        </p:sp>
        <p:sp>
          <p:nvSpPr>
            <p:cNvPr id="18" name="TextBox 13">
              <a:extLst>
                <a:ext uri="{FF2B5EF4-FFF2-40B4-BE49-F238E27FC236}">
                  <a16:creationId xmlns:a16="http://schemas.microsoft.com/office/drawing/2014/main" id="{F59D5359-34FD-1AC5-9FB4-C57E4B9C6B70}"/>
                </a:ext>
              </a:extLst>
            </p:cNvPr>
            <p:cNvSpPr txBox="1"/>
            <p:nvPr/>
          </p:nvSpPr>
          <p:spPr>
            <a:xfrm>
              <a:off x="822959"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labels are weak or missing. LLM knowledge is distilled into fast executable rules; low-confidence cases can fall back to LLM.</a:t>
              </a:r>
            </a:p>
          </p:txBody>
        </p:sp>
      </p:grpSp>
      <p:grpSp>
        <p:nvGrpSpPr>
          <p:cNvPr id="95" name="组合 94">
            <a:extLst>
              <a:ext uri="{FF2B5EF4-FFF2-40B4-BE49-F238E27FC236}">
                <a16:creationId xmlns:a16="http://schemas.microsoft.com/office/drawing/2014/main" id="{DE06EEF4-6D6B-6F69-132E-515705FF2DC5}"/>
              </a:ext>
            </a:extLst>
          </p:cNvPr>
          <p:cNvGrpSpPr/>
          <p:nvPr/>
        </p:nvGrpSpPr>
        <p:grpSpPr>
          <a:xfrm>
            <a:off x="7030614" y="1840121"/>
            <a:ext cx="4335378" cy="942422"/>
            <a:chOff x="6199632" y="1696720"/>
            <a:chExt cx="5166360" cy="1234440"/>
          </a:xfrm>
        </p:grpSpPr>
        <p:sp>
          <p:nvSpPr>
            <p:cNvPr id="19" name="Rounded Rectangle 14">
              <a:extLst>
                <a:ext uri="{FF2B5EF4-FFF2-40B4-BE49-F238E27FC236}">
                  <a16:creationId xmlns:a16="http://schemas.microsoft.com/office/drawing/2014/main" id="{3D0605D6-161D-7B2F-03FA-F0271B3A8B4E}"/>
                </a:ext>
              </a:extLst>
            </p:cNvPr>
            <p:cNvSpPr/>
            <p:nvPr/>
          </p:nvSpPr>
          <p:spPr>
            <a:xfrm>
              <a:off x="6199632"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5">
              <a:extLst>
                <a:ext uri="{FF2B5EF4-FFF2-40B4-BE49-F238E27FC236}">
                  <a16:creationId xmlns:a16="http://schemas.microsoft.com/office/drawing/2014/main" id="{6E93E748-FE54-4F70-50F6-7DF32863103C}"/>
                </a:ext>
              </a:extLst>
            </p:cNvPr>
            <p:cNvSpPr/>
            <p:nvPr/>
          </p:nvSpPr>
          <p:spPr>
            <a:xfrm>
              <a:off x="6199632" y="1696720"/>
              <a:ext cx="50292" cy="123444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6">
              <a:extLst>
                <a:ext uri="{FF2B5EF4-FFF2-40B4-BE49-F238E27FC236}">
                  <a16:creationId xmlns:a16="http://schemas.microsoft.com/office/drawing/2014/main" id="{FAB8CF1D-A571-2E2D-B785-05D35B8A3DA8}"/>
                </a:ext>
              </a:extLst>
            </p:cNvPr>
            <p:cNvSpPr txBox="1"/>
            <p:nvPr/>
          </p:nvSpPr>
          <p:spPr>
            <a:xfrm>
              <a:off x="6364224"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场景 B：有历史数据但目标年情境变化</a:t>
              </a:r>
            </a:p>
          </p:txBody>
        </p:sp>
        <p:sp>
          <p:nvSpPr>
            <p:cNvPr id="25" name="TextBox 17">
              <a:extLst>
                <a:ext uri="{FF2B5EF4-FFF2-40B4-BE49-F238E27FC236}">
                  <a16:creationId xmlns:a16="http://schemas.microsoft.com/office/drawing/2014/main" id="{D33C58BA-1748-1655-C115-4EA1F2E29698}"/>
                </a:ext>
              </a:extLst>
            </p:cNvPr>
            <p:cNvSpPr txBox="1"/>
            <p:nvPr/>
          </p:nvSpPr>
          <p:spPr>
            <a:xfrm>
              <a:off x="6364224"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NHTS labels exist, but 2022 context changes the meaning of routine covariates. LLM event priors correct the historical predictor.</a:t>
              </a:r>
            </a:p>
          </p:txBody>
        </p:sp>
      </p:grpSp>
      <p:grpSp>
        <p:nvGrpSpPr>
          <p:cNvPr id="88" name="组合 87">
            <a:extLst>
              <a:ext uri="{FF2B5EF4-FFF2-40B4-BE49-F238E27FC236}">
                <a16:creationId xmlns:a16="http://schemas.microsoft.com/office/drawing/2014/main" id="{987E05A1-1A24-57E7-DDAE-8FAC71ADFE3C}"/>
              </a:ext>
            </a:extLst>
          </p:cNvPr>
          <p:cNvGrpSpPr/>
          <p:nvPr/>
        </p:nvGrpSpPr>
        <p:grpSpPr>
          <a:xfrm>
            <a:off x="914400" y="3219196"/>
            <a:ext cx="9571290" cy="955547"/>
            <a:chOff x="914400" y="3525520"/>
            <a:chExt cx="9571290" cy="955547"/>
          </a:xfrm>
        </p:grpSpPr>
        <p:sp>
          <p:nvSpPr>
            <p:cNvPr id="45" name="Right Arrow 29">
              <a:extLst>
                <a:ext uri="{FF2B5EF4-FFF2-40B4-BE49-F238E27FC236}">
                  <a16:creationId xmlns:a16="http://schemas.microsoft.com/office/drawing/2014/main" id="{3C52CF46-4007-E4DF-4E37-7C08FC9FBF58}"/>
                </a:ext>
              </a:extLst>
            </p:cNvPr>
            <p:cNvSpPr/>
            <p:nvPr/>
          </p:nvSpPr>
          <p:spPr>
            <a:xfrm>
              <a:off x="5532119" y="4056461"/>
              <a:ext cx="3208059"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5" name="组合 74">
              <a:extLst>
                <a:ext uri="{FF2B5EF4-FFF2-40B4-BE49-F238E27FC236}">
                  <a16:creationId xmlns:a16="http://schemas.microsoft.com/office/drawing/2014/main" id="{607519D2-C698-270C-184F-E8A020DA33F8}"/>
                </a:ext>
              </a:extLst>
            </p:cNvPr>
            <p:cNvGrpSpPr/>
            <p:nvPr/>
          </p:nvGrpSpPr>
          <p:grpSpPr>
            <a:xfrm>
              <a:off x="914400" y="3525520"/>
              <a:ext cx="1640948" cy="594360"/>
              <a:chOff x="914400" y="3525520"/>
              <a:chExt cx="1920240" cy="594360"/>
            </a:xfrm>
          </p:grpSpPr>
          <p:sp>
            <p:nvSpPr>
              <p:cNvPr id="28" name="Rounded Rectangle 18">
                <a:extLst>
                  <a:ext uri="{FF2B5EF4-FFF2-40B4-BE49-F238E27FC236}">
                    <a16:creationId xmlns:a16="http://schemas.microsoft.com/office/drawing/2014/main" id="{378AFDD1-D05E-5FE3-378A-72D6AF9AACEE}"/>
                  </a:ext>
                </a:extLst>
              </p:cNvPr>
              <p:cNvSpPr/>
              <p:nvPr/>
            </p:nvSpPr>
            <p:spPr>
              <a:xfrm>
                <a:off x="914400" y="3525520"/>
                <a:ext cx="1920240" cy="594360"/>
              </a:xfrm>
              <a:prstGeom prst="roundRect">
                <a:avLst/>
              </a:prstGeom>
              <a:solidFill>
                <a:srgbClr val="F8FAFC"/>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19">
                <a:extLst>
                  <a:ext uri="{FF2B5EF4-FFF2-40B4-BE49-F238E27FC236}">
                    <a16:creationId xmlns:a16="http://schemas.microsoft.com/office/drawing/2014/main" id="{DF7476E8-E13A-2B79-1A53-D0E65FDB0C9C}"/>
                  </a:ext>
                </a:extLst>
              </p:cNvPr>
              <p:cNvSpPr txBox="1"/>
              <p:nvPr/>
            </p:nvSpPr>
            <p:spPr>
              <a:xfrm>
                <a:off x="987552" y="3601010"/>
                <a:ext cx="1773936" cy="159916"/>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lang="en-US" altLang="zh-CN" sz="919" b="1" dirty="0">
                    <a:solidFill>
                      <a:srgbClr val="2563EB"/>
                    </a:solidFill>
                    <a:latin typeface="Microsoft YaHei"/>
                  </a:rPr>
                  <a:t>D</a:t>
                </a:r>
                <a:r>
                  <a:rPr sz="919" b="1" dirty="0">
                    <a:solidFill>
                      <a:srgbClr val="2563EB"/>
                    </a:solidFill>
                    <a:latin typeface="Microsoft YaHei"/>
                  </a:rPr>
                  <a:t>ata</a:t>
                </a:r>
                <a:r>
                  <a:rPr lang="zh-CN" altLang="en-US" sz="919" b="1" dirty="0">
                    <a:solidFill>
                      <a:srgbClr val="2563EB"/>
                    </a:solidFill>
                    <a:latin typeface="Microsoft YaHei"/>
                  </a:rPr>
                  <a:t> </a:t>
                </a:r>
                <a:r>
                  <a:rPr lang="en-US" altLang="zh-CN" sz="919" b="1" dirty="0">
                    <a:solidFill>
                      <a:srgbClr val="2563EB"/>
                    </a:solidFill>
                    <a:latin typeface="Microsoft YaHei"/>
                  </a:rPr>
                  <a:t>only</a:t>
                </a:r>
                <a:endParaRPr sz="919" b="1" dirty="0">
                  <a:solidFill>
                    <a:srgbClr val="2563EB"/>
                  </a:solidFill>
                  <a:latin typeface="Microsoft YaHei"/>
                </a:endParaRPr>
              </a:p>
            </p:txBody>
          </p:sp>
          <p:sp>
            <p:nvSpPr>
              <p:cNvPr id="30" name="TextBox 20">
                <a:extLst>
                  <a:ext uri="{FF2B5EF4-FFF2-40B4-BE49-F238E27FC236}">
                    <a16:creationId xmlns:a16="http://schemas.microsoft.com/office/drawing/2014/main" id="{36474E46-7627-D6DF-44E6-631461B2ECAB}"/>
                  </a:ext>
                </a:extLst>
              </p:cNvPr>
              <p:cNvSpPr txBox="1"/>
              <p:nvPr/>
            </p:nvSpPr>
            <p:spPr>
              <a:xfrm>
                <a:off x="100584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calibrated but brittle</a:t>
                </a:r>
              </a:p>
            </p:txBody>
          </p:sp>
        </p:grpSp>
        <p:sp>
          <p:nvSpPr>
            <p:cNvPr id="34" name="Right Arrow 21">
              <a:extLst>
                <a:ext uri="{FF2B5EF4-FFF2-40B4-BE49-F238E27FC236}">
                  <a16:creationId xmlns:a16="http://schemas.microsoft.com/office/drawing/2014/main" id="{748B6B0C-75B1-683B-41E6-1539B70E42F6}"/>
                </a:ext>
              </a:extLst>
            </p:cNvPr>
            <p:cNvSpPr/>
            <p:nvPr/>
          </p:nvSpPr>
          <p:spPr>
            <a:xfrm>
              <a:off x="2598978" y="3735832"/>
              <a:ext cx="429772"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6" name="组合 75">
              <a:extLst>
                <a:ext uri="{FF2B5EF4-FFF2-40B4-BE49-F238E27FC236}">
                  <a16:creationId xmlns:a16="http://schemas.microsoft.com/office/drawing/2014/main" id="{6736072A-E492-6F24-313B-28E5344E87C7}"/>
                </a:ext>
              </a:extLst>
            </p:cNvPr>
            <p:cNvGrpSpPr/>
            <p:nvPr/>
          </p:nvGrpSpPr>
          <p:grpSpPr>
            <a:xfrm>
              <a:off x="3520440" y="3525520"/>
              <a:ext cx="1640948" cy="594360"/>
              <a:chOff x="3520440" y="3525520"/>
              <a:chExt cx="1920240" cy="594360"/>
            </a:xfrm>
          </p:grpSpPr>
          <p:sp>
            <p:nvSpPr>
              <p:cNvPr id="35" name="Rounded Rectangle 22">
                <a:extLst>
                  <a:ext uri="{FF2B5EF4-FFF2-40B4-BE49-F238E27FC236}">
                    <a16:creationId xmlns:a16="http://schemas.microsoft.com/office/drawing/2014/main" id="{57F9BCF2-1721-3931-E775-78407C637CDF}"/>
                  </a:ext>
                </a:extLst>
              </p:cNvPr>
              <p:cNvSpPr/>
              <p:nvPr/>
            </p:nvSpPr>
            <p:spPr>
              <a:xfrm>
                <a:off x="3520440" y="3525520"/>
                <a:ext cx="1920240" cy="594360"/>
              </a:xfrm>
              <a:prstGeom prst="roundRect">
                <a:avLst/>
              </a:prstGeom>
              <a:solidFill>
                <a:srgbClr val="F8FAFC"/>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23">
                <a:extLst>
                  <a:ext uri="{FF2B5EF4-FFF2-40B4-BE49-F238E27FC236}">
                    <a16:creationId xmlns:a16="http://schemas.microsoft.com/office/drawing/2014/main" id="{BF4FFC26-54E4-B438-19C3-E51FD2954352}"/>
                  </a:ext>
                </a:extLst>
              </p:cNvPr>
              <p:cNvSpPr txBox="1"/>
              <p:nvPr/>
            </p:nvSpPr>
            <p:spPr>
              <a:xfrm>
                <a:off x="3593592" y="3589528"/>
                <a:ext cx="1773936" cy="182880"/>
              </a:xfrm>
              <a:prstGeom prst="rect">
                <a:avLst/>
              </a:prstGeom>
              <a:noFill/>
            </p:spPr>
            <p:txBody>
              <a:bodyPr wrap="square" lIns="27432" tIns="9144" rIns="27432" bIns="9144" anchor="ctr">
                <a:spAutoFit/>
              </a:bodyPr>
              <a:lstStyle/>
              <a:p>
                <a:pPr algn="ctr">
                  <a:defRPr sz="919" b="1">
                    <a:solidFill>
                      <a:srgbClr val="5B21B6"/>
                    </a:solidFill>
                    <a:latin typeface="Microsoft YaHei"/>
                  </a:defRPr>
                </a:pPr>
                <a:r>
                  <a:rPr sz="919" b="1" dirty="0">
                    <a:solidFill>
                      <a:srgbClr val="5B21B6"/>
                    </a:solidFill>
                    <a:latin typeface="Microsoft YaHei"/>
                  </a:rPr>
                  <a:t>Pure LLM</a:t>
                </a:r>
              </a:p>
            </p:txBody>
          </p:sp>
          <p:sp>
            <p:nvSpPr>
              <p:cNvPr id="37" name="TextBox 24">
                <a:extLst>
                  <a:ext uri="{FF2B5EF4-FFF2-40B4-BE49-F238E27FC236}">
                    <a16:creationId xmlns:a16="http://schemas.microsoft.com/office/drawing/2014/main" id="{022F9C77-D96E-BBA3-C606-2D79541A5C13}"/>
                  </a:ext>
                </a:extLst>
              </p:cNvPr>
              <p:cNvSpPr txBox="1"/>
              <p:nvPr/>
            </p:nvSpPr>
            <p:spPr>
              <a:xfrm>
                <a:off x="361188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general but unstable</a:t>
                </a:r>
              </a:p>
            </p:txBody>
          </p:sp>
        </p:grpSp>
        <p:sp>
          <p:nvSpPr>
            <p:cNvPr id="38" name="Right Arrow 25">
              <a:extLst>
                <a:ext uri="{FF2B5EF4-FFF2-40B4-BE49-F238E27FC236}">
                  <a16:creationId xmlns:a16="http://schemas.microsoft.com/office/drawing/2014/main" id="{F14E6400-6779-C54A-F1C7-BD421051BD7E}"/>
                </a:ext>
              </a:extLst>
            </p:cNvPr>
            <p:cNvSpPr/>
            <p:nvPr/>
          </p:nvSpPr>
          <p:spPr>
            <a:xfrm>
              <a:off x="5532120" y="3735832"/>
              <a:ext cx="429772"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7" name="组合 76">
              <a:extLst>
                <a:ext uri="{FF2B5EF4-FFF2-40B4-BE49-F238E27FC236}">
                  <a16:creationId xmlns:a16="http://schemas.microsoft.com/office/drawing/2014/main" id="{9B68C4DA-9D3D-ADF6-B122-CDA369B6EB37}"/>
                </a:ext>
              </a:extLst>
            </p:cNvPr>
            <p:cNvGrpSpPr/>
            <p:nvPr/>
          </p:nvGrpSpPr>
          <p:grpSpPr>
            <a:xfrm>
              <a:off x="6144768" y="3525520"/>
              <a:ext cx="1680018" cy="594360"/>
              <a:chOff x="6144768" y="3525520"/>
              <a:chExt cx="1965960" cy="594360"/>
            </a:xfrm>
          </p:grpSpPr>
          <p:sp>
            <p:nvSpPr>
              <p:cNvPr id="39" name="Rounded Rectangle 26">
                <a:extLst>
                  <a:ext uri="{FF2B5EF4-FFF2-40B4-BE49-F238E27FC236}">
                    <a16:creationId xmlns:a16="http://schemas.microsoft.com/office/drawing/2014/main" id="{6C2E2835-023E-98F5-7900-2A4102B53D9C}"/>
                  </a:ext>
                </a:extLst>
              </p:cNvPr>
              <p:cNvSpPr/>
              <p:nvPr/>
            </p:nvSpPr>
            <p:spPr>
              <a:xfrm>
                <a:off x="6144768" y="3525520"/>
                <a:ext cx="1965960" cy="594360"/>
              </a:xfrm>
              <a:prstGeom prst="roundRect">
                <a:avLst/>
              </a:prstGeom>
              <a:solidFill>
                <a:srgbClr val="F8FAFC"/>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27">
                <a:extLst>
                  <a:ext uri="{FF2B5EF4-FFF2-40B4-BE49-F238E27FC236}">
                    <a16:creationId xmlns:a16="http://schemas.microsoft.com/office/drawing/2014/main" id="{4479561E-25E2-C691-EB49-83495F418D5E}"/>
                  </a:ext>
                </a:extLst>
              </p:cNvPr>
              <p:cNvSpPr txBox="1"/>
              <p:nvPr/>
            </p:nvSpPr>
            <p:spPr>
              <a:xfrm>
                <a:off x="6217920" y="3601010"/>
                <a:ext cx="1819656" cy="159916"/>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lang="en" sz="919" b="1" dirty="0">
                    <a:solidFill>
                      <a:srgbClr val="EA580C"/>
                    </a:solidFill>
                    <a:latin typeface="Microsoft YaHei"/>
                  </a:rPr>
                  <a:t>Selector</a:t>
                </a:r>
                <a:r>
                  <a:rPr lang="zh-CN" altLang="en-US" sz="919" b="1" dirty="0">
                    <a:solidFill>
                      <a:srgbClr val="EA580C"/>
                    </a:solidFill>
                    <a:latin typeface="Microsoft YaHei"/>
                  </a:rPr>
                  <a:t> 分支</a:t>
                </a:r>
              </a:p>
            </p:txBody>
          </p:sp>
          <p:sp>
            <p:nvSpPr>
              <p:cNvPr id="44" name="TextBox 28">
                <a:extLst>
                  <a:ext uri="{FF2B5EF4-FFF2-40B4-BE49-F238E27FC236}">
                    <a16:creationId xmlns:a16="http://schemas.microsoft.com/office/drawing/2014/main" id="{F4DEE4F0-2CC8-5BBF-3DF2-57255CD34457}"/>
                  </a:ext>
                </a:extLst>
              </p:cNvPr>
              <p:cNvSpPr txBox="1"/>
              <p:nvPr/>
            </p:nvSpPr>
            <p:spPr>
              <a:xfrm>
                <a:off x="6236207" y="3808984"/>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cold-start branch</a:t>
                </a:r>
              </a:p>
            </p:txBody>
          </p:sp>
        </p:grpSp>
        <p:grpSp>
          <p:nvGrpSpPr>
            <p:cNvPr id="78" name="组合 77">
              <a:extLst>
                <a:ext uri="{FF2B5EF4-FFF2-40B4-BE49-F238E27FC236}">
                  <a16:creationId xmlns:a16="http://schemas.microsoft.com/office/drawing/2014/main" id="{C38D6EB3-54DD-11E6-E41A-B0660C204D16}"/>
                </a:ext>
              </a:extLst>
            </p:cNvPr>
            <p:cNvGrpSpPr/>
            <p:nvPr/>
          </p:nvGrpSpPr>
          <p:grpSpPr>
            <a:xfrm>
              <a:off x="8805672" y="3886707"/>
              <a:ext cx="1680018" cy="594360"/>
              <a:chOff x="8805672" y="3886707"/>
              <a:chExt cx="1965960" cy="594360"/>
            </a:xfrm>
          </p:grpSpPr>
          <p:sp>
            <p:nvSpPr>
              <p:cNvPr id="46" name="Rounded Rectangle 30">
                <a:extLst>
                  <a:ext uri="{FF2B5EF4-FFF2-40B4-BE49-F238E27FC236}">
                    <a16:creationId xmlns:a16="http://schemas.microsoft.com/office/drawing/2014/main" id="{8F910060-C7DB-55EE-C35A-63C0C9783475}"/>
                  </a:ext>
                </a:extLst>
              </p:cNvPr>
              <p:cNvSpPr/>
              <p:nvPr/>
            </p:nvSpPr>
            <p:spPr>
              <a:xfrm>
                <a:off x="8805672" y="3886707"/>
                <a:ext cx="1965960" cy="594360"/>
              </a:xfrm>
              <a:prstGeom prst="roundRect">
                <a:avLst/>
              </a:prstGeom>
              <a:solidFill>
                <a:srgbClr val="F8FAFC"/>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31">
                <a:extLst>
                  <a:ext uri="{FF2B5EF4-FFF2-40B4-BE49-F238E27FC236}">
                    <a16:creationId xmlns:a16="http://schemas.microsoft.com/office/drawing/2014/main" id="{BB616C09-AEA5-5686-380D-0B5E8D9B3275}"/>
                  </a:ext>
                </a:extLst>
              </p:cNvPr>
              <p:cNvSpPr txBox="1"/>
              <p:nvPr/>
            </p:nvSpPr>
            <p:spPr>
              <a:xfrm>
                <a:off x="8878824" y="3962197"/>
                <a:ext cx="1819656" cy="159916"/>
              </a:xfrm>
              <a:prstGeom prst="rect">
                <a:avLst/>
              </a:prstGeom>
              <a:noFill/>
            </p:spPr>
            <p:txBody>
              <a:bodyPr wrap="square" lIns="27432" tIns="9144" rIns="27432" bIns="9144" anchor="ctr">
                <a:spAutoFit/>
              </a:bodyPr>
              <a:lstStyle/>
              <a:p>
                <a:pPr algn="ctr">
                  <a:defRPr sz="919" b="1">
                    <a:solidFill>
                      <a:srgbClr val="198754"/>
                    </a:solidFill>
                    <a:latin typeface="Microsoft YaHei"/>
                  </a:defRPr>
                </a:pPr>
                <a:r>
                  <a:rPr sz="919" b="1" dirty="0">
                    <a:solidFill>
                      <a:srgbClr val="198754"/>
                    </a:solidFill>
                    <a:latin typeface="Microsoft YaHei"/>
                  </a:rPr>
                  <a:t>Correction</a:t>
                </a:r>
                <a:r>
                  <a:rPr lang="zh-CN" altLang="en-US" sz="919" b="1" dirty="0">
                    <a:solidFill>
                      <a:srgbClr val="198754"/>
                    </a:solidFill>
                    <a:latin typeface="Microsoft YaHei"/>
                  </a:rPr>
                  <a:t> 分支</a:t>
                </a:r>
                <a:endParaRPr sz="919" b="1" dirty="0">
                  <a:solidFill>
                    <a:srgbClr val="198754"/>
                  </a:solidFill>
                  <a:latin typeface="Microsoft YaHei"/>
                </a:endParaRPr>
              </a:p>
            </p:txBody>
          </p:sp>
          <p:sp>
            <p:nvSpPr>
              <p:cNvPr id="48" name="TextBox 32">
                <a:extLst>
                  <a:ext uri="{FF2B5EF4-FFF2-40B4-BE49-F238E27FC236}">
                    <a16:creationId xmlns:a16="http://schemas.microsoft.com/office/drawing/2014/main" id="{0606A96D-7D96-AE62-9950-F9A4330E9441}"/>
                  </a:ext>
                </a:extLst>
              </p:cNvPr>
              <p:cNvSpPr txBox="1"/>
              <p:nvPr/>
            </p:nvSpPr>
            <p:spPr>
              <a:xfrm>
                <a:off x="8897112" y="4170171"/>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dirty="0">
                    <a:solidFill>
                      <a:srgbClr val="64748B"/>
                    </a:solidFill>
                    <a:latin typeface="Microsoft YaHei"/>
                  </a:rPr>
                  <a:t>temporal-adaptation branch</a:t>
                </a:r>
              </a:p>
            </p:txBody>
          </p:sp>
        </p:grpSp>
      </p:grpSp>
      <p:sp>
        <p:nvSpPr>
          <p:cNvPr id="49" name="Rectangle 33">
            <a:extLst>
              <a:ext uri="{FF2B5EF4-FFF2-40B4-BE49-F238E27FC236}">
                <a16:creationId xmlns:a16="http://schemas.microsoft.com/office/drawing/2014/main" id="{85647F64-3E9F-90F9-567C-60A06B378797}"/>
              </a:ext>
            </a:extLst>
          </p:cNvPr>
          <p:cNvSpPr/>
          <p:nvPr/>
        </p:nvSpPr>
        <p:spPr>
          <a:xfrm>
            <a:off x="841248" y="4686807"/>
            <a:ext cx="1828800" cy="512064"/>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34">
            <a:extLst>
              <a:ext uri="{FF2B5EF4-FFF2-40B4-BE49-F238E27FC236}">
                <a16:creationId xmlns:a16="http://schemas.microsoft.com/office/drawing/2014/main" id="{C0AF51F4-17EE-9CE4-5E6D-5FA7940C6A9B}"/>
              </a:ext>
            </a:extLst>
          </p:cNvPr>
          <p:cNvSpPr txBox="1"/>
          <p:nvPr/>
        </p:nvSpPr>
        <p:spPr>
          <a:xfrm>
            <a:off x="877824" y="4850417"/>
            <a:ext cx="175564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dirty="0" err="1">
                <a:ln w="0">
                  <a:noFill/>
                </a:ln>
                <a:solidFill>
                  <a:schemeClr val="tx1">
                    <a:lumMod val="65000"/>
                    <a:lumOff val="35000"/>
                  </a:schemeClr>
                </a:solidFill>
                <a:effectLst>
                  <a:outerShdw blurRad="38100" dist="19050" dir="2700000" algn="tl" rotWithShape="0">
                    <a:schemeClr val="dk1">
                      <a:alpha val="40000"/>
                    </a:schemeClr>
                  </a:outerShdw>
                </a:effectLst>
                <a:latin typeface="Microsoft YaHei"/>
              </a:rPr>
              <a:t>模块</a:t>
            </a:r>
            <a:endParaRPr sz="1200" dirty="0">
              <a:ln w="0">
                <a:noFill/>
              </a:ln>
              <a:solidFill>
                <a:schemeClr val="tx1">
                  <a:lumMod val="65000"/>
                  <a:lumOff val="35000"/>
                </a:schemeClr>
              </a:solidFill>
              <a:effectLst>
                <a:outerShdw blurRad="38100" dist="19050" dir="2700000" algn="tl" rotWithShape="0">
                  <a:schemeClr val="dk1">
                    <a:alpha val="40000"/>
                  </a:schemeClr>
                </a:outerShdw>
              </a:effectLst>
              <a:latin typeface="Microsoft YaHei"/>
            </a:endParaRPr>
          </a:p>
        </p:txBody>
      </p:sp>
      <p:sp>
        <p:nvSpPr>
          <p:cNvPr id="52" name="Rectangle 35">
            <a:extLst>
              <a:ext uri="{FF2B5EF4-FFF2-40B4-BE49-F238E27FC236}">
                <a16:creationId xmlns:a16="http://schemas.microsoft.com/office/drawing/2014/main" id="{ABF55A01-7CCD-62E1-5167-776B95D4A3EE}"/>
              </a:ext>
            </a:extLst>
          </p:cNvPr>
          <p:cNvSpPr/>
          <p:nvPr/>
        </p:nvSpPr>
        <p:spPr>
          <a:xfrm>
            <a:off x="2670048" y="4686807"/>
            <a:ext cx="2743200" cy="512064"/>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36">
            <a:extLst>
              <a:ext uri="{FF2B5EF4-FFF2-40B4-BE49-F238E27FC236}">
                <a16:creationId xmlns:a16="http://schemas.microsoft.com/office/drawing/2014/main" id="{33EF4EC6-DE65-1CC7-FBEF-EA594614CC37}"/>
              </a:ext>
            </a:extLst>
          </p:cNvPr>
          <p:cNvSpPr txBox="1"/>
          <p:nvPr/>
        </p:nvSpPr>
        <p:spPr>
          <a:xfrm>
            <a:off x="2706624" y="4850417"/>
            <a:ext cx="267004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a:ln w="0">
                  <a:noFill/>
                </a:ln>
                <a:solidFill>
                  <a:schemeClr val="tx1">
                    <a:lumMod val="65000"/>
                    <a:lumOff val="35000"/>
                  </a:schemeClr>
                </a:solidFill>
                <a:effectLst>
                  <a:outerShdw blurRad="38100" dist="19050" dir="2700000" algn="tl" rotWithShape="0">
                    <a:schemeClr val="dk1">
                      <a:alpha val="40000"/>
                    </a:schemeClr>
                  </a:outerShdw>
                </a:effectLst>
                <a:latin typeface="Microsoft YaHei"/>
              </a:rPr>
              <a:t>输入</a:t>
            </a:r>
          </a:p>
        </p:txBody>
      </p:sp>
      <p:sp>
        <p:nvSpPr>
          <p:cNvPr id="54" name="Rectangle 37">
            <a:extLst>
              <a:ext uri="{FF2B5EF4-FFF2-40B4-BE49-F238E27FC236}">
                <a16:creationId xmlns:a16="http://schemas.microsoft.com/office/drawing/2014/main" id="{E7F28311-9913-A4CE-8FEC-5C724C6C1841}"/>
              </a:ext>
            </a:extLst>
          </p:cNvPr>
          <p:cNvSpPr/>
          <p:nvPr/>
        </p:nvSpPr>
        <p:spPr>
          <a:xfrm>
            <a:off x="5413248" y="4686807"/>
            <a:ext cx="3703320" cy="512064"/>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38">
            <a:extLst>
              <a:ext uri="{FF2B5EF4-FFF2-40B4-BE49-F238E27FC236}">
                <a16:creationId xmlns:a16="http://schemas.microsoft.com/office/drawing/2014/main" id="{269D98EB-15DB-A356-DB44-49FB62E9F3BE}"/>
              </a:ext>
            </a:extLst>
          </p:cNvPr>
          <p:cNvSpPr txBox="1"/>
          <p:nvPr/>
        </p:nvSpPr>
        <p:spPr>
          <a:xfrm>
            <a:off x="5449824" y="4850417"/>
            <a:ext cx="363016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a:ln w="0">
                  <a:noFill/>
                </a:ln>
                <a:solidFill>
                  <a:schemeClr val="tx1">
                    <a:lumMod val="65000"/>
                    <a:lumOff val="35000"/>
                  </a:schemeClr>
                </a:solidFill>
                <a:effectLst>
                  <a:outerShdw blurRad="38100" dist="19050" dir="2700000" algn="tl" rotWithShape="0">
                    <a:schemeClr val="dk1">
                      <a:alpha val="40000"/>
                    </a:schemeClr>
                  </a:outerShdw>
                </a:effectLst>
                <a:latin typeface="Microsoft YaHei"/>
              </a:rPr>
              <a:t>LLM 做什么</a:t>
            </a:r>
          </a:p>
        </p:txBody>
      </p:sp>
      <p:sp>
        <p:nvSpPr>
          <p:cNvPr id="56" name="Rectangle 39">
            <a:extLst>
              <a:ext uri="{FF2B5EF4-FFF2-40B4-BE49-F238E27FC236}">
                <a16:creationId xmlns:a16="http://schemas.microsoft.com/office/drawing/2014/main" id="{BDBF3F33-B3C8-297E-9BB0-A5056B4F8269}"/>
              </a:ext>
            </a:extLst>
          </p:cNvPr>
          <p:cNvSpPr/>
          <p:nvPr/>
        </p:nvSpPr>
        <p:spPr>
          <a:xfrm>
            <a:off x="9116568" y="4686807"/>
            <a:ext cx="2560320" cy="512064"/>
          </a:xfrm>
          <a:prstGeom prst="rect">
            <a:avLst/>
          </a:prstGeom>
          <a:solidFill>
            <a:srgbClr val="40E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40">
            <a:extLst>
              <a:ext uri="{FF2B5EF4-FFF2-40B4-BE49-F238E27FC236}">
                <a16:creationId xmlns:a16="http://schemas.microsoft.com/office/drawing/2014/main" id="{B7F92B19-320C-F560-2D69-B8F314353CB9}"/>
              </a:ext>
            </a:extLst>
          </p:cNvPr>
          <p:cNvSpPr txBox="1"/>
          <p:nvPr/>
        </p:nvSpPr>
        <p:spPr>
          <a:xfrm>
            <a:off x="9153144" y="4850417"/>
            <a:ext cx="2487168" cy="203133"/>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a:ln w="0">
                  <a:noFill/>
                </a:ln>
                <a:solidFill>
                  <a:schemeClr val="tx1">
                    <a:lumMod val="65000"/>
                    <a:lumOff val="35000"/>
                  </a:schemeClr>
                </a:solidFill>
                <a:effectLst>
                  <a:outerShdw blurRad="38100" dist="19050" dir="2700000" algn="tl" rotWithShape="0">
                    <a:schemeClr val="dk1">
                      <a:alpha val="40000"/>
                    </a:schemeClr>
                  </a:outerShdw>
                </a:effectLst>
                <a:latin typeface="Microsoft YaHei"/>
              </a:rPr>
              <a:t>输出</a:t>
            </a:r>
          </a:p>
        </p:txBody>
      </p:sp>
      <p:sp>
        <p:nvSpPr>
          <p:cNvPr id="58" name="Rectangle 41">
            <a:extLst>
              <a:ext uri="{FF2B5EF4-FFF2-40B4-BE49-F238E27FC236}">
                <a16:creationId xmlns:a16="http://schemas.microsoft.com/office/drawing/2014/main" id="{7689F3FF-D758-692B-2AF8-183DA40F235F}"/>
              </a:ext>
            </a:extLst>
          </p:cNvPr>
          <p:cNvSpPr/>
          <p:nvPr/>
        </p:nvSpPr>
        <p:spPr>
          <a:xfrm>
            <a:off x="841248" y="5198872"/>
            <a:ext cx="1828800" cy="512064"/>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42">
            <a:extLst>
              <a:ext uri="{FF2B5EF4-FFF2-40B4-BE49-F238E27FC236}">
                <a16:creationId xmlns:a16="http://schemas.microsoft.com/office/drawing/2014/main" id="{D1A111CD-87B1-B5D2-A1AA-3AC6A98CEA41}"/>
              </a:ext>
            </a:extLst>
          </p:cNvPr>
          <p:cNvSpPr txBox="1"/>
          <p:nvPr/>
        </p:nvSpPr>
        <p:spPr>
          <a:xfrm>
            <a:off x="896112" y="5262880"/>
            <a:ext cx="1719072" cy="384048"/>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Selector branch</a:t>
            </a:r>
          </a:p>
        </p:txBody>
      </p:sp>
      <p:sp>
        <p:nvSpPr>
          <p:cNvPr id="60" name="Rectangle 43">
            <a:extLst>
              <a:ext uri="{FF2B5EF4-FFF2-40B4-BE49-F238E27FC236}">
                <a16:creationId xmlns:a16="http://schemas.microsoft.com/office/drawing/2014/main" id="{5E262E63-0613-6632-836E-0B8056753F8D}"/>
              </a:ext>
            </a:extLst>
          </p:cNvPr>
          <p:cNvSpPr/>
          <p:nvPr/>
        </p:nvSpPr>
        <p:spPr>
          <a:xfrm>
            <a:off x="2670048" y="5198872"/>
            <a:ext cx="2743200" cy="512064"/>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44">
            <a:extLst>
              <a:ext uri="{FF2B5EF4-FFF2-40B4-BE49-F238E27FC236}">
                <a16:creationId xmlns:a16="http://schemas.microsoft.com/office/drawing/2014/main" id="{E0D5509F-C23F-8A9F-73CA-512A49FD2B98}"/>
              </a:ext>
            </a:extLst>
          </p:cNvPr>
          <p:cNvSpPr txBox="1"/>
          <p:nvPr/>
        </p:nvSpPr>
        <p:spPr>
          <a:xfrm>
            <a:off x="2724912" y="5262880"/>
            <a:ext cx="2633472"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dirty="0" err="1">
                <a:solidFill>
                  <a:schemeClr val="tx1">
                    <a:lumMod val="65000"/>
                    <a:lumOff val="35000"/>
                  </a:schemeClr>
                </a:solidFill>
                <a:latin typeface="Microsoft YaHei"/>
              </a:rPr>
              <a:t>少量</a:t>
            </a:r>
            <a:r>
              <a:rPr sz="1200" b="0" dirty="0">
                <a:solidFill>
                  <a:schemeClr val="tx1">
                    <a:lumMod val="65000"/>
                    <a:lumOff val="35000"/>
                  </a:schemeClr>
                </a:solidFill>
                <a:latin typeface="Microsoft YaHei"/>
              </a:rPr>
              <a:t>/</a:t>
            </a:r>
            <a:r>
              <a:rPr sz="1200" b="0" dirty="0" err="1">
                <a:solidFill>
                  <a:schemeClr val="tx1">
                    <a:lumMod val="65000"/>
                    <a:lumOff val="35000"/>
                  </a:schemeClr>
                </a:solidFill>
                <a:latin typeface="Microsoft YaHei"/>
              </a:rPr>
              <a:t>缺失历史样本</a:t>
            </a:r>
            <a:endParaRPr sz="1200" b="0" dirty="0">
              <a:solidFill>
                <a:schemeClr val="tx1">
                  <a:lumMod val="65000"/>
                  <a:lumOff val="35000"/>
                </a:schemeClr>
              </a:solidFill>
              <a:latin typeface="Microsoft YaHei"/>
            </a:endParaRPr>
          </a:p>
        </p:txBody>
      </p:sp>
      <p:sp>
        <p:nvSpPr>
          <p:cNvPr id="62" name="Rectangle 45">
            <a:extLst>
              <a:ext uri="{FF2B5EF4-FFF2-40B4-BE49-F238E27FC236}">
                <a16:creationId xmlns:a16="http://schemas.microsoft.com/office/drawing/2014/main" id="{D19036D2-D83F-6AD9-3038-EFD7FECA1847}"/>
              </a:ext>
            </a:extLst>
          </p:cNvPr>
          <p:cNvSpPr/>
          <p:nvPr/>
        </p:nvSpPr>
        <p:spPr>
          <a:xfrm>
            <a:off x="5413248" y="5198872"/>
            <a:ext cx="3703320" cy="512064"/>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46">
            <a:extLst>
              <a:ext uri="{FF2B5EF4-FFF2-40B4-BE49-F238E27FC236}">
                <a16:creationId xmlns:a16="http://schemas.microsoft.com/office/drawing/2014/main" id="{8D7E7282-B552-5196-B531-7AF1CDF9ED51}"/>
              </a:ext>
            </a:extLst>
          </p:cNvPr>
          <p:cNvSpPr txBox="1"/>
          <p:nvPr/>
        </p:nvSpPr>
        <p:spPr>
          <a:xfrm>
            <a:off x="5468112" y="5262880"/>
            <a:ext cx="3593591" cy="203133"/>
          </a:xfrm>
          <a:prstGeom prst="rect">
            <a:avLst/>
          </a:prstGeom>
          <a:noFill/>
        </p:spPr>
        <p:txBody>
          <a:bodyPr wrap="square" lIns="27432" tIns="9144" rIns="27432" bIns="9144" anchor="t">
            <a:spAutoFit/>
          </a:bodyPr>
          <a:lstStyle/>
          <a:p>
            <a:r>
              <a:rPr sz="1200">
                <a:solidFill>
                  <a:schemeClr val="tx1">
                    <a:lumMod val="65000"/>
                    <a:lumOff val="35000"/>
                  </a:schemeClr>
                </a:solidFill>
              </a:rPr>
              <a:t>提取 IF-THEN 规则与置信度</a:t>
            </a:r>
          </a:p>
        </p:txBody>
      </p:sp>
      <p:sp>
        <p:nvSpPr>
          <p:cNvPr id="64" name="Rectangle 47">
            <a:extLst>
              <a:ext uri="{FF2B5EF4-FFF2-40B4-BE49-F238E27FC236}">
                <a16:creationId xmlns:a16="http://schemas.microsoft.com/office/drawing/2014/main" id="{A8027368-5057-75F6-3C07-321AFF521FB1}"/>
              </a:ext>
            </a:extLst>
          </p:cNvPr>
          <p:cNvSpPr/>
          <p:nvPr/>
        </p:nvSpPr>
        <p:spPr>
          <a:xfrm>
            <a:off x="9116568" y="5198872"/>
            <a:ext cx="2560320" cy="512064"/>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48">
            <a:extLst>
              <a:ext uri="{FF2B5EF4-FFF2-40B4-BE49-F238E27FC236}">
                <a16:creationId xmlns:a16="http://schemas.microsoft.com/office/drawing/2014/main" id="{B75F8C4E-45EB-D91D-639C-8A0E52043AB2}"/>
              </a:ext>
            </a:extLst>
          </p:cNvPr>
          <p:cNvSpPr txBox="1"/>
          <p:nvPr/>
        </p:nvSpPr>
        <p:spPr>
          <a:xfrm>
            <a:off x="9171432" y="5262880"/>
            <a:ext cx="2450591" cy="203133"/>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chemeClr val="tx1">
                    <a:lumMod val="65000"/>
                    <a:lumOff val="35000"/>
                  </a:schemeClr>
                </a:solidFill>
                <a:latin typeface="Microsoft YaHei"/>
              </a:rPr>
              <a:t>快速模拟预测 + 低置信回退</a:t>
            </a:r>
          </a:p>
        </p:txBody>
      </p:sp>
      <p:sp>
        <p:nvSpPr>
          <p:cNvPr id="66" name="Rectangle 49">
            <a:extLst>
              <a:ext uri="{FF2B5EF4-FFF2-40B4-BE49-F238E27FC236}">
                <a16:creationId xmlns:a16="http://schemas.microsoft.com/office/drawing/2014/main" id="{F9803342-8AEA-7629-8998-036840691FE8}"/>
              </a:ext>
            </a:extLst>
          </p:cNvPr>
          <p:cNvSpPr/>
          <p:nvPr/>
        </p:nvSpPr>
        <p:spPr>
          <a:xfrm>
            <a:off x="841248" y="5710936"/>
            <a:ext cx="1828800" cy="512064"/>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50">
            <a:extLst>
              <a:ext uri="{FF2B5EF4-FFF2-40B4-BE49-F238E27FC236}">
                <a16:creationId xmlns:a16="http://schemas.microsoft.com/office/drawing/2014/main" id="{1A2EBE95-17EB-169C-53AB-662391C3494B}"/>
              </a:ext>
            </a:extLst>
          </p:cNvPr>
          <p:cNvSpPr txBox="1"/>
          <p:nvPr/>
        </p:nvSpPr>
        <p:spPr>
          <a:xfrm>
            <a:off x="896112" y="5774944"/>
            <a:ext cx="1719072" cy="384048"/>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Correction branch</a:t>
            </a:r>
          </a:p>
        </p:txBody>
      </p:sp>
      <p:sp>
        <p:nvSpPr>
          <p:cNvPr id="68" name="Rectangle 51">
            <a:extLst>
              <a:ext uri="{FF2B5EF4-FFF2-40B4-BE49-F238E27FC236}">
                <a16:creationId xmlns:a16="http://schemas.microsoft.com/office/drawing/2014/main" id="{BEC60C54-8B94-CE4B-A66C-E805037A56FE}"/>
              </a:ext>
            </a:extLst>
          </p:cNvPr>
          <p:cNvSpPr/>
          <p:nvPr/>
        </p:nvSpPr>
        <p:spPr>
          <a:xfrm>
            <a:off x="2670048" y="5710936"/>
            <a:ext cx="2743200" cy="512064"/>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52">
            <a:extLst>
              <a:ext uri="{FF2B5EF4-FFF2-40B4-BE49-F238E27FC236}">
                <a16:creationId xmlns:a16="http://schemas.microsoft.com/office/drawing/2014/main" id="{6539A469-1109-1417-2244-D2797C1877E7}"/>
              </a:ext>
            </a:extLst>
          </p:cNvPr>
          <p:cNvSpPr txBox="1"/>
          <p:nvPr/>
        </p:nvSpPr>
        <p:spPr>
          <a:xfrm>
            <a:off x="2724912" y="5774944"/>
            <a:ext cx="2633472" cy="384048"/>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dirty="0">
                <a:solidFill>
                  <a:schemeClr val="tx1">
                    <a:lumMod val="65000"/>
                    <a:lumOff val="35000"/>
                  </a:schemeClr>
                </a:solidFill>
                <a:latin typeface="Microsoft YaHei"/>
              </a:rPr>
              <a:t>2001/2009/2017 </a:t>
            </a:r>
            <a:r>
              <a:rPr sz="1200" b="0" dirty="0" err="1">
                <a:solidFill>
                  <a:schemeClr val="tx1">
                    <a:lumMod val="65000"/>
                    <a:lumOff val="35000"/>
                  </a:schemeClr>
                </a:solidFill>
                <a:latin typeface="Microsoft YaHei"/>
              </a:rPr>
              <a:t>历史</a:t>
            </a:r>
            <a:r>
              <a:rPr sz="1200" b="0" dirty="0">
                <a:solidFill>
                  <a:schemeClr val="tx1">
                    <a:lumMod val="65000"/>
                    <a:lumOff val="35000"/>
                  </a:schemeClr>
                </a:solidFill>
                <a:latin typeface="Microsoft YaHei"/>
              </a:rPr>
              <a:t> + 2022 </a:t>
            </a:r>
            <a:r>
              <a:rPr sz="1200" b="0" dirty="0" err="1">
                <a:solidFill>
                  <a:schemeClr val="tx1">
                    <a:lumMod val="65000"/>
                    <a:lumOff val="35000"/>
                  </a:schemeClr>
                </a:solidFill>
                <a:latin typeface="Microsoft YaHei"/>
              </a:rPr>
              <a:t>无标签</a:t>
            </a:r>
            <a:r>
              <a:rPr sz="1200" b="0" dirty="0">
                <a:solidFill>
                  <a:schemeClr val="tx1">
                    <a:lumMod val="65000"/>
                    <a:lumOff val="35000"/>
                  </a:schemeClr>
                </a:solidFill>
                <a:latin typeface="Microsoft YaHei"/>
              </a:rPr>
              <a:t> profiles</a:t>
            </a:r>
          </a:p>
        </p:txBody>
      </p:sp>
      <p:sp>
        <p:nvSpPr>
          <p:cNvPr id="70" name="Rectangle 53">
            <a:extLst>
              <a:ext uri="{FF2B5EF4-FFF2-40B4-BE49-F238E27FC236}">
                <a16:creationId xmlns:a16="http://schemas.microsoft.com/office/drawing/2014/main" id="{9ECEE613-E231-FC52-C3CF-F0FB9E6271F1}"/>
              </a:ext>
            </a:extLst>
          </p:cNvPr>
          <p:cNvSpPr/>
          <p:nvPr/>
        </p:nvSpPr>
        <p:spPr>
          <a:xfrm>
            <a:off x="5413248" y="5710936"/>
            <a:ext cx="3703320" cy="512064"/>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54">
            <a:extLst>
              <a:ext uri="{FF2B5EF4-FFF2-40B4-BE49-F238E27FC236}">
                <a16:creationId xmlns:a16="http://schemas.microsoft.com/office/drawing/2014/main" id="{152FBEB8-69A7-C787-64A3-8F19B8475C15}"/>
              </a:ext>
            </a:extLst>
          </p:cNvPr>
          <p:cNvSpPr txBox="1"/>
          <p:nvPr/>
        </p:nvSpPr>
        <p:spPr>
          <a:xfrm>
            <a:off x="5468112" y="5774944"/>
            <a:ext cx="3593591" cy="384048"/>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chemeClr val="tx1">
                    <a:lumMod val="65000"/>
                    <a:lumOff val="35000"/>
                  </a:schemeClr>
                </a:solidFill>
                <a:latin typeface="Microsoft YaHei"/>
              </a:rPr>
              <a:t>生成 trip suppression / remote work / transit avoidance priors</a:t>
            </a:r>
          </a:p>
        </p:txBody>
      </p:sp>
      <p:sp>
        <p:nvSpPr>
          <p:cNvPr id="72" name="Rectangle 55">
            <a:extLst>
              <a:ext uri="{FF2B5EF4-FFF2-40B4-BE49-F238E27FC236}">
                <a16:creationId xmlns:a16="http://schemas.microsoft.com/office/drawing/2014/main" id="{44B7B023-86A3-1DBB-AAE3-CD89003966D7}"/>
              </a:ext>
            </a:extLst>
          </p:cNvPr>
          <p:cNvSpPr/>
          <p:nvPr/>
        </p:nvSpPr>
        <p:spPr>
          <a:xfrm>
            <a:off x="9116568" y="5710936"/>
            <a:ext cx="2560320" cy="512064"/>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56">
            <a:extLst>
              <a:ext uri="{FF2B5EF4-FFF2-40B4-BE49-F238E27FC236}">
                <a16:creationId xmlns:a16="http://schemas.microsoft.com/office/drawing/2014/main" id="{CBDE46D9-162B-7F74-A33D-8B0E40F5C0DC}"/>
              </a:ext>
            </a:extLst>
          </p:cNvPr>
          <p:cNvSpPr txBox="1"/>
          <p:nvPr/>
        </p:nvSpPr>
        <p:spPr>
          <a:xfrm>
            <a:off x="9171432" y="5774944"/>
            <a:ext cx="2450591" cy="384048"/>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chemeClr val="tx1">
                    <a:lumMod val="65000"/>
                    <a:lumOff val="35000"/>
                  </a:schemeClr>
                </a:solidFill>
                <a:latin typeface="Microsoft YaHei"/>
              </a:rPr>
              <a:t>修正 XGBoost 的 2022 household prediction</a:t>
            </a:r>
          </a:p>
        </p:txBody>
      </p:sp>
      <p:sp>
        <p:nvSpPr>
          <p:cNvPr id="87" name="s1t">
            <a:extLst>
              <a:ext uri="{FF2B5EF4-FFF2-40B4-BE49-F238E27FC236}">
                <a16:creationId xmlns:a16="http://schemas.microsoft.com/office/drawing/2014/main" id="{CA60BC4C-C521-E930-3E68-EB97760EA701}"/>
              </a:ext>
            </a:extLst>
          </p:cNvPr>
          <p:cNvSpPr txBox="1"/>
          <p:nvPr>
            <p:custDataLst>
              <p:tags r:id="rId1"/>
            </p:custDataLst>
          </p:nvPr>
        </p:nvSpPr>
        <p:spPr>
          <a:xfrm>
            <a:off x="835470" y="3978149"/>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有历史数据，</a:t>
            </a:r>
            <a:endParaRPr lang="en-US" altLang="zh-CN" sz="1000" dirty="0">
              <a:solidFill>
                <a:srgbClr val="4B5563"/>
              </a:solidFill>
              <a:latin typeface="Noto Sans SC" panose="020B0200000000000000" charset="-122"/>
              <a:ea typeface="Noto Sans SC" panose="020B0200000000000000" charset="-122"/>
              <a:cs typeface="Noto Sans SC" panose="020B0200000000000000" charset="-122"/>
            </a:endParaRPr>
          </a:p>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但不能处理新机制、依赖完整数据</a:t>
            </a:r>
          </a:p>
        </p:txBody>
      </p:sp>
      <p:sp>
        <p:nvSpPr>
          <p:cNvPr id="89" name="s1t">
            <a:extLst>
              <a:ext uri="{FF2B5EF4-FFF2-40B4-BE49-F238E27FC236}">
                <a16:creationId xmlns:a16="http://schemas.microsoft.com/office/drawing/2014/main" id="{71596C95-94FB-FBCE-82B8-EA59184D9F16}"/>
              </a:ext>
            </a:extLst>
          </p:cNvPr>
          <p:cNvSpPr txBox="1"/>
          <p:nvPr>
            <p:custDataLst>
              <p:tags r:id="rId2"/>
            </p:custDataLst>
          </p:nvPr>
        </p:nvSpPr>
        <p:spPr>
          <a:xfrm>
            <a:off x="3365870" y="3978149"/>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能用先验，但数值校准不稳、推理效率低</a:t>
            </a:r>
          </a:p>
        </p:txBody>
      </p:sp>
      <p:sp>
        <p:nvSpPr>
          <p:cNvPr id="91" name="文本框 90">
            <a:extLst>
              <a:ext uri="{FF2B5EF4-FFF2-40B4-BE49-F238E27FC236}">
                <a16:creationId xmlns:a16="http://schemas.microsoft.com/office/drawing/2014/main" id="{8A513D37-87BD-8DB9-7CC6-04E1719DE3DC}"/>
              </a:ext>
            </a:extLst>
          </p:cNvPr>
          <p:cNvSpPr txBox="1"/>
          <p:nvPr/>
        </p:nvSpPr>
        <p:spPr>
          <a:xfrm>
            <a:off x="5621376" y="4064528"/>
            <a:ext cx="2878874" cy="290977"/>
          </a:xfrm>
          <a:prstGeom prst="rect">
            <a:avLst/>
          </a:prstGeom>
          <a:noFill/>
        </p:spPr>
        <p:txBody>
          <a:bodyPr wrap="square">
            <a:spAutoFit/>
          </a:bodyPr>
          <a:lstStyle/>
          <a:p>
            <a:pPr algn="ctr">
              <a:lnSpc>
                <a:spcPct val="130000"/>
              </a:lnSpc>
            </a:pPr>
            <a:r>
              <a:rPr lang="zh-CN" altLang="en-US" sz="1050" dirty="0">
                <a:solidFill>
                  <a:srgbClr val="4B5563"/>
                </a:solidFill>
                <a:latin typeface="Noto Sans SC" panose="020B0200000000000000" charset="-122"/>
                <a:ea typeface="Noto Sans SC" panose="020B0200000000000000" charset="-122"/>
                <a:cs typeface="Noto Sans SC" panose="020B0200000000000000" charset="-122"/>
              </a:rPr>
              <a:t>规则提升效率，低置信度回退，兼顾可解释性</a:t>
            </a:r>
          </a:p>
        </p:txBody>
      </p:sp>
      <p:sp>
        <p:nvSpPr>
          <p:cNvPr id="93" name="文本框 92">
            <a:extLst>
              <a:ext uri="{FF2B5EF4-FFF2-40B4-BE49-F238E27FC236}">
                <a16:creationId xmlns:a16="http://schemas.microsoft.com/office/drawing/2014/main" id="{37253613-0F69-92CD-B53D-D30ED77BAAE2}"/>
              </a:ext>
            </a:extLst>
          </p:cNvPr>
          <p:cNvSpPr txBox="1"/>
          <p:nvPr/>
        </p:nvSpPr>
        <p:spPr>
          <a:xfrm>
            <a:off x="8007662" y="3225683"/>
            <a:ext cx="3117504" cy="272895"/>
          </a:xfrm>
          <a:prstGeom prst="rect">
            <a:avLst/>
          </a:prstGeom>
          <a:noFill/>
        </p:spPr>
        <p:txBody>
          <a:bodyPr wrap="square">
            <a:spAutoFit/>
          </a:bodyPr>
          <a:lstStyle/>
          <a:p>
            <a:pPr algn="ctr">
              <a:lnSpc>
                <a:spcPct val="130000"/>
              </a:lnSpc>
              <a:buSzTx/>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历史数据做数值锚定，LLM 事件先验做无标签修正</a:t>
            </a:r>
          </a:p>
        </p:txBody>
      </p:sp>
      <p:grpSp>
        <p:nvGrpSpPr>
          <p:cNvPr id="99" name="组合 98">
            <a:extLst>
              <a:ext uri="{FF2B5EF4-FFF2-40B4-BE49-F238E27FC236}">
                <a16:creationId xmlns:a16="http://schemas.microsoft.com/office/drawing/2014/main" id="{957C1121-7AB8-9138-5DCF-D2C651852F5D}"/>
              </a:ext>
            </a:extLst>
          </p:cNvPr>
          <p:cNvGrpSpPr/>
          <p:nvPr/>
        </p:nvGrpSpPr>
        <p:grpSpPr>
          <a:xfrm>
            <a:off x="5192670" y="1848579"/>
            <a:ext cx="1640948" cy="929722"/>
            <a:chOff x="5358384" y="1848579"/>
            <a:chExt cx="1475234" cy="929722"/>
          </a:xfrm>
        </p:grpSpPr>
        <p:sp>
          <p:nvSpPr>
            <p:cNvPr id="96" name="Rounded Rectangle 26">
              <a:extLst>
                <a:ext uri="{FF2B5EF4-FFF2-40B4-BE49-F238E27FC236}">
                  <a16:creationId xmlns:a16="http://schemas.microsoft.com/office/drawing/2014/main" id="{F0172400-05FA-AAAB-251B-9C4953DE1A0F}"/>
                </a:ext>
              </a:extLst>
            </p:cNvPr>
            <p:cNvSpPr/>
            <p:nvPr/>
          </p:nvSpPr>
          <p:spPr>
            <a:xfrm>
              <a:off x="5358384" y="1848579"/>
              <a:ext cx="1475234" cy="929722"/>
            </a:xfrm>
            <a:prstGeom prst="roundRect">
              <a:avLst/>
            </a:prstGeom>
            <a:solidFill>
              <a:srgbClr val="F8FAF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12">
              <a:extLst>
                <a:ext uri="{FF2B5EF4-FFF2-40B4-BE49-F238E27FC236}">
                  <a16:creationId xmlns:a16="http://schemas.microsoft.com/office/drawing/2014/main" id="{5112D760-BB86-39DD-737B-0E5837D9579C}"/>
                </a:ext>
              </a:extLst>
            </p:cNvPr>
            <p:cNvSpPr txBox="1"/>
            <p:nvPr/>
          </p:nvSpPr>
          <p:spPr>
            <a:xfrm>
              <a:off x="5449824" y="1960775"/>
              <a:ext cx="1216699"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lang="zh-CN" altLang="en-US" sz="1200" b="1" dirty="0">
                  <a:solidFill>
                    <a:srgbClr val="0F172A"/>
                  </a:solidFill>
                  <a:latin typeface="Microsoft YaHei"/>
                </a:rPr>
                <a:t>分支取决于样本</a:t>
              </a:r>
              <a:endParaRPr sz="1200" b="1" dirty="0">
                <a:solidFill>
                  <a:srgbClr val="0F172A"/>
                </a:solidFill>
                <a:latin typeface="Microsoft YaHei"/>
              </a:endParaRPr>
            </a:p>
          </p:txBody>
        </p:sp>
        <p:sp>
          <p:nvSpPr>
            <p:cNvPr id="98" name="TextBox 13">
              <a:extLst>
                <a:ext uri="{FF2B5EF4-FFF2-40B4-BE49-F238E27FC236}">
                  <a16:creationId xmlns:a16="http://schemas.microsoft.com/office/drawing/2014/main" id="{CFCFA9F7-C2AE-61D7-B674-6C9E229C0B79}"/>
                </a:ext>
              </a:extLst>
            </p:cNvPr>
            <p:cNvSpPr txBox="1"/>
            <p:nvPr/>
          </p:nvSpPr>
          <p:spPr>
            <a:xfrm>
              <a:off x="5449824" y="2330763"/>
              <a:ext cx="1138545"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lang="zh-CN" altLang="en-US" sz="1050" b="0" dirty="0">
                  <a:solidFill>
                    <a:srgbClr val="64748B"/>
                  </a:solidFill>
                  <a:latin typeface="Microsoft YaHei"/>
                </a:rPr>
                <a:t>场景</a:t>
              </a:r>
              <a:r>
                <a:rPr lang="en-US" altLang="zh-CN" sz="1050" b="0" dirty="0">
                  <a:solidFill>
                    <a:srgbClr val="64748B"/>
                  </a:solidFill>
                  <a:latin typeface="Microsoft YaHei"/>
                </a:rPr>
                <a:t>AB</a:t>
              </a:r>
              <a:r>
                <a:rPr lang="zh-CN" altLang="en-US" sz="1050" b="0" dirty="0">
                  <a:solidFill>
                    <a:srgbClr val="64748B"/>
                  </a:solidFill>
                  <a:latin typeface="Microsoft YaHei"/>
                </a:rPr>
                <a:t>选择</a:t>
              </a:r>
              <a:endParaRPr lang="en-US" altLang="zh-CN" sz="1050" b="0" dirty="0">
                <a:solidFill>
                  <a:srgbClr val="64748B"/>
                </a:solidFill>
                <a:latin typeface="Microsoft YaHei"/>
              </a:endParaRPr>
            </a:p>
            <a:p>
              <a:pPr algn="l">
                <a:defRPr sz="1200" b="0">
                  <a:solidFill>
                    <a:srgbClr val="64748B"/>
                  </a:solidFill>
                  <a:latin typeface="Microsoft YaHei"/>
                </a:defRPr>
              </a:pPr>
              <a:r>
                <a:rPr lang="zh-CN" altLang="en-US" sz="1050" b="0" dirty="0">
                  <a:solidFill>
                    <a:srgbClr val="64748B"/>
                  </a:solidFill>
                  <a:latin typeface="Microsoft YaHei"/>
                </a:rPr>
                <a:t>不同分支</a:t>
              </a:r>
              <a:endParaRPr sz="1050" b="0" dirty="0">
                <a:solidFill>
                  <a:srgbClr val="64748B"/>
                </a:solidFill>
                <a:latin typeface="Microsoft YaHei"/>
              </a:endParaRPr>
            </a:p>
          </p:txBody>
        </p:sp>
      </p:grpSp>
    </p:spTree>
    <p:extLst>
      <p:ext uri="{BB962C8B-B14F-4D97-AF65-F5344CB8AC3E}">
        <p14:creationId xmlns:p14="http://schemas.microsoft.com/office/powerpoint/2010/main" val="3331613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706CF-48CF-9CBB-72C5-936C09F9315F}"/>
            </a:ext>
          </a:extLst>
        </p:cNvPr>
        <p:cNvGrpSpPr/>
        <p:nvPr/>
      </p:nvGrpSpPr>
      <p:grpSpPr>
        <a:xfrm>
          <a:off x="0" y="0"/>
          <a:ext cx="0" cy="0"/>
          <a:chOff x="0" y="0"/>
          <a:chExt cx="0" cy="0"/>
        </a:xfrm>
      </p:grpSpPr>
      <p:sp>
        <p:nvSpPr>
          <p:cNvPr id="3" name="titleNum">
            <a:extLst>
              <a:ext uri="{FF2B5EF4-FFF2-40B4-BE49-F238E27FC236}">
                <a16:creationId xmlns:a16="http://schemas.microsoft.com/office/drawing/2014/main" id="{06C027ED-03F5-E067-FE06-0E6E47535474}"/>
              </a:ext>
            </a:extLst>
          </p:cNvPr>
          <p:cNvSpPr/>
          <p:nvPr/>
        </p:nvSpPr>
        <p:spPr>
          <a:xfrm>
            <a:off x="762000" y="635000"/>
            <a:ext cx="6000000" cy="508000"/>
          </a:xfrm>
          <a:prstGeom prst="rect">
            <a:avLst/>
          </a:prstGeom>
          <a:noFill/>
          <a:ln>
            <a:noFill/>
          </a:ln>
        </p:spPr>
        <p:txBody>
          <a:bodyPr vert="horz" wrap="square" lIns="0" tIns="0" rIns="0" bIns="0" anchor="ctr"/>
          <a:lstStyle/>
          <a:p>
            <a:pPr marL="0" indent="0" algn="l">
              <a:lnSpc>
                <a:spcPct val="125000"/>
              </a:lnSpc>
            </a:pP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0</a:t>
            </a:r>
            <a:r>
              <a:rPr lang="en-US" altLang="zh-CN" sz="3200" b="1" dirty="0">
                <a:solidFill>
                  <a:srgbClr val="333333"/>
                </a:solidFill>
                <a:latin typeface="Noto Sans SC" panose="020B0200000000000000" charset="-122"/>
                <a:ea typeface="Noto Sans SC" panose="020B0200000000000000" charset="-122"/>
                <a:cs typeface="Noto Sans SC" panose="020B0200000000000000" charset="-122"/>
                <a:sym typeface="+mn-ea"/>
              </a:rPr>
              <a:t>4</a:t>
            </a: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 </a:t>
            </a:r>
            <a:r>
              <a:rPr lang="zh-CN" alt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架构设计</a:t>
            </a:r>
            <a:endParaRPr lang="zh-CN" altLang="en-US" sz="3200" b="1" dirty="0">
              <a:solidFill>
                <a:srgbClr val="333333"/>
              </a:solidFill>
              <a:latin typeface="Noto Sans SC" panose="020B0200000000000000" charset="-122"/>
              <a:ea typeface="Noto Sans SC" panose="020B0200000000000000" charset="-122"/>
              <a:cs typeface="Noto Sans SC" panose="020B0200000000000000" charset="-122"/>
            </a:endParaRPr>
          </a:p>
        </p:txBody>
      </p:sp>
      <p:cxnSp>
        <p:nvCxnSpPr>
          <p:cNvPr id="5" name="titleLine">
            <a:extLst>
              <a:ext uri="{FF2B5EF4-FFF2-40B4-BE49-F238E27FC236}">
                <a16:creationId xmlns:a16="http://schemas.microsoft.com/office/drawing/2014/main" id="{E3001507-0938-3828-FFEE-B584F94EC66D}"/>
              </a:ext>
            </a:extLst>
          </p:cNvPr>
          <p:cNvCxnSpPr/>
          <p:nvPr/>
        </p:nvCxnSpPr>
        <p:spPr>
          <a:xfrm>
            <a:off x="762004" y="1390650"/>
            <a:ext cx="10668000" cy="12700"/>
          </a:xfrm>
          <a:prstGeom prst="straightConnector1">
            <a:avLst/>
          </a:prstGeom>
          <a:ln w="25400" cap="flat" cmpd="sng">
            <a:solidFill>
              <a:srgbClr val="40E0D0">
                <a:alpha val="60000"/>
              </a:srgbClr>
            </a:solidFill>
            <a:prstDash val="solid"/>
            <a:round/>
          </a:ln>
        </p:spPr>
      </p:cxnSp>
      <p:grpSp>
        <p:nvGrpSpPr>
          <p:cNvPr id="94" name="组合 93">
            <a:extLst>
              <a:ext uri="{FF2B5EF4-FFF2-40B4-BE49-F238E27FC236}">
                <a16:creationId xmlns:a16="http://schemas.microsoft.com/office/drawing/2014/main" id="{18310D69-F2F2-A1BA-A15A-E81FEF1CE841}"/>
              </a:ext>
            </a:extLst>
          </p:cNvPr>
          <p:cNvGrpSpPr/>
          <p:nvPr/>
        </p:nvGrpSpPr>
        <p:grpSpPr>
          <a:xfrm>
            <a:off x="658368" y="1840121"/>
            <a:ext cx="4335378" cy="942422"/>
            <a:chOff x="658368" y="1696720"/>
            <a:chExt cx="5166360" cy="1234440"/>
          </a:xfrm>
        </p:grpSpPr>
        <p:sp>
          <p:nvSpPr>
            <p:cNvPr id="8" name="Rounded Rectangle 10">
              <a:extLst>
                <a:ext uri="{FF2B5EF4-FFF2-40B4-BE49-F238E27FC236}">
                  <a16:creationId xmlns:a16="http://schemas.microsoft.com/office/drawing/2014/main" id="{F0F1EBEB-2CE8-9DB7-F1CC-011EA40D6A22}"/>
                </a:ext>
              </a:extLst>
            </p:cNvPr>
            <p:cNvSpPr/>
            <p:nvPr/>
          </p:nvSpPr>
          <p:spPr>
            <a:xfrm>
              <a:off x="658368"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11">
              <a:extLst>
                <a:ext uri="{FF2B5EF4-FFF2-40B4-BE49-F238E27FC236}">
                  <a16:creationId xmlns:a16="http://schemas.microsoft.com/office/drawing/2014/main" id="{AD262CDF-3362-9AE8-57A5-E0BDF03F8ABE}"/>
                </a:ext>
              </a:extLst>
            </p:cNvPr>
            <p:cNvSpPr/>
            <p:nvPr/>
          </p:nvSpPr>
          <p:spPr>
            <a:xfrm>
              <a:off x="658368" y="1696720"/>
              <a:ext cx="50292" cy="1234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2">
              <a:extLst>
                <a:ext uri="{FF2B5EF4-FFF2-40B4-BE49-F238E27FC236}">
                  <a16:creationId xmlns:a16="http://schemas.microsoft.com/office/drawing/2014/main" id="{2A89F69B-65F1-9B3D-59B4-F3FB009D016B}"/>
                </a:ext>
              </a:extLst>
            </p:cNvPr>
            <p:cNvSpPr txBox="1"/>
            <p:nvPr/>
          </p:nvSpPr>
          <p:spPr>
            <a:xfrm>
              <a:off x="822959"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dirty="0" err="1">
                  <a:solidFill>
                    <a:srgbClr val="0F172A"/>
                  </a:solidFill>
                  <a:latin typeface="Microsoft YaHei"/>
                </a:rPr>
                <a:t>场景</a:t>
              </a:r>
              <a:r>
                <a:rPr sz="1200" b="1" dirty="0">
                  <a:solidFill>
                    <a:srgbClr val="0F172A"/>
                  </a:solidFill>
                  <a:latin typeface="Microsoft YaHei"/>
                </a:rPr>
                <a:t> </a:t>
              </a:r>
              <a:r>
                <a:rPr sz="1200" b="1" dirty="0" err="1">
                  <a:solidFill>
                    <a:srgbClr val="0F172A"/>
                  </a:solidFill>
                  <a:latin typeface="Microsoft YaHei"/>
                </a:rPr>
                <a:t>A：数据稀疏</a:t>
              </a:r>
              <a:r>
                <a:rPr sz="1200" b="1" dirty="0">
                  <a:solidFill>
                    <a:srgbClr val="0F172A"/>
                  </a:solidFill>
                  <a:latin typeface="Microsoft YaHei"/>
                </a:rPr>
                <a:t> / </a:t>
              </a:r>
              <a:r>
                <a:rPr sz="1200" b="1" dirty="0" err="1">
                  <a:solidFill>
                    <a:srgbClr val="0F172A"/>
                  </a:solidFill>
                  <a:latin typeface="Microsoft YaHei"/>
                </a:rPr>
                <a:t>字段缺失</a:t>
              </a:r>
              <a:r>
                <a:rPr sz="1200" b="1" dirty="0">
                  <a:solidFill>
                    <a:srgbClr val="0F172A"/>
                  </a:solidFill>
                  <a:latin typeface="Microsoft YaHei"/>
                </a:rPr>
                <a:t> / </a:t>
              </a:r>
              <a:r>
                <a:rPr sz="1200" b="1" dirty="0" err="1">
                  <a:solidFill>
                    <a:srgbClr val="0F172A"/>
                  </a:solidFill>
                  <a:latin typeface="Microsoft YaHei"/>
                </a:rPr>
                <a:t>冷启动</a:t>
              </a:r>
              <a:endParaRPr sz="1200" b="1" dirty="0">
                <a:solidFill>
                  <a:srgbClr val="0F172A"/>
                </a:solidFill>
                <a:latin typeface="Microsoft YaHei"/>
              </a:endParaRPr>
            </a:p>
          </p:txBody>
        </p:sp>
        <p:sp>
          <p:nvSpPr>
            <p:cNvPr id="18" name="TextBox 13">
              <a:extLst>
                <a:ext uri="{FF2B5EF4-FFF2-40B4-BE49-F238E27FC236}">
                  <a16:creationId xmlns:a16="http://schemas.microsoft.com/office/drawing/2014/main" id="{81252A89-77B8-65B0-3ED0-3A5CBABF7D57}"/>
                </a:ext>
              </a:extLst>
            </p:cNvPr>
            <p:cNvSpPr txBox="1"/>
            <p:nvPr/>
          </p:nvSpPr>
          <p:spPr>
            <a:xfrm>
              <a:off x="822959"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labels are weak or missing. LLM knowledge is distilled into fast executable rules; low-confidence cases can fall back to LLM.</a:t>
              </a:r>
            </a:p>
          </p:txBody>
        </p:sp>
      </p:grpSp>
      <p:grpSp>
        <p:nvGrpSpPr>
          <p:cNvPr id="95" name="组合 94">
            <a:extLst>
              <a:ext uri="{FF2B5EF4-FFF2-40B4-BE49-F238E27FC236}">
                <a16:creationId xmlns:a16="http://schemas.microsoft.com/office/drawing/2014/main" id="{D8BD6DC8-6899-8389-4D37-715F2A80A9E8}"/>
              </a:ext>
            </a:extLst>
          </p:cNvPr>
          <p:cNvGrpSpPr/>
          <p:nvPr/>
        </p:nvGrpSpPr>
        <p:grpSpPr>
          <a:xfrm>
            <a:off x="7030614" y="1840121"/>
            <a:ext cx="4335378" cy="942422"/>
            <a:chOff x="6199632" y="1696720"/>
            <a:chExt cx="5166360" cy="1234440"/>
          </a:xfrm>
        </p:grpSpPr>
        <p:sp>
          <p:nvSpPr>
            <p:cNvPr id="19" name="Rounded Rectangle 14">
              <a:extLst>
                <a:ext uri="{FF2B5EF4-FFF2-40B4-BE49-F238E27FC236}">
                  <a16:creationId xmlns:a16="http://schemas.microsoft.com/office/drawing/2014/main" id="{02DFE29E-ACAB-333F-9B2A-3748CBEA3C00}"/>
                </a:ext>
              </a:extLst>
            </p:cNvPr>
            <p:cNvSpPr/>
            <p:nvPr/>
          </p:nvSpPr>
          <p:spPr>
            <a:xfrm>
              <a:off x="6199632"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5">
              <a:extLst>
                <a:ext uri="{FF2B5EF4-FFF2-40B4-BE49-F238E27FC236}">
                  <a16:creationId xmlns:a16="http://schemas.microsoft.com/office/drawing/2014/main" id="{F3ECBE7D-2F13-7493-B59E-1D0E56EE95A8}"/>
                </a:ext>
              </a:extLst>
            </p:cNvPr>
            <p:cNvSpPr/>
            <p:nvPr/>
          </p:nvSpPr>
          <p:spPr>
            <a:xfrm>
              <a:off x="6199632" y="1696720"/>
              <a:ext cx="50292" cy="123444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6">
              <a:extLst>
                <a:ext uri="{FF2B5EF4-FFF2-40B4-BE49-F238E27FC236}">
                  <a16:creationId xmlns:a16="http://schemas.microsoft.com/office/drawing/2014/main" id="{B1D2288B-0A81-78D3-870F-FF5CBD27862C}"/>
                </a:ext>
              </a:extLst>
            </p:cNvPr>
            <p:cNvSpPr txBox="1"/>
            <p:nvPr/>
          </p:nvSpPr>
          <p:spPr>
            <a:xfrm>
              <a:off x="6364224"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场景 B：有历史数据但目标年情境变化</a:t>
              </a:r>
            </a:p>
          </p:txBody>
        </p:sp>
        <p:sp>
          <p:nvSpPr>
            <p:cNvPr id="25" name="TextBox 17">
              <a:extLst>
                <a:ext uri="{FF2B5EF4-FFF2-40B4-BE49-F238E27FC236}">
                  <a16:creationId xmlns:a16="http://schemas.microsoft.com/office/drawing/2014/main" id="{15F3CBB2-F844-E5F0-24F8-B67C5108E0DD}"/>
                </a:ext>
              </a:extLst>
            </p:cNvPr>
            <p:cNvSpPr txBox="1"/>
            <p:nvPr/>
          </p:nvSpPr>
          <p:spPr>
            <a:xfrm>
              <a:off x="6364224"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NHTS labels exist, but 2022 context changes the meaning of routine covariates. LLM event priors correct the historical predictor.</a:t>
              </a:r>
            </a:p>
          </p:txBody>
        </p:sp>
      </p:grpSp>
      <p:grpSp>
        <p:nvGrpSpPr>
          <p:cNvPr id="88" name="组合 87">
            <a:extLst>
              <a:ext uri="{FF2B5EF4-FFF2-40B4-BE49-F238E27FC236}">
                <a16:creationId xmlns:a16="http://schemas.microsoft.com/office/drawing/2014/main" id="{31008AB1-9BE4-F3AE-543C-08A38CD7668E}"/>
              </a:ext>
            </a:extLst>
          </p:cNvPr>
          <p:cNvGrpSpPr/>
          <p:nvPr/>
        </p:nvGrpSpPr>
        <p:grpSpPr>
          <a:xfrm>
            <a:off x="914400" y="3219196"/>
            <a:ext cx="9571290" cy="955547"/>
            <a:chOff x="914400" y="3525520"/>
            <a:chExt cx="9571290" cy="955547"/>
          </a:xfrm>
        </p:grpSpPr>
        <p:sp>
          <p:nvSpPr>
            <p:cNvPr id="45" name="Right Arrow 29">
              <a:extLst>
                <a:ext uri="{FF2B5EF4-FFF2-40B4-BE49-F238E27FC236}">
                  <a16:creationId xmlns:a16="http://schemas.microsoft.com/office/drawing/2014/main" id="{F68C69E4-BF99-9F1A-B8D4-33C6DC4E4C18}"/>
                </a:ext>
              </a:extLst>
            </p:cNvPr>
            <p:cNvSpPr/>
            <p:nvPr/>
          </p:nvSpPr>
          <p:spPr>
            <a:xfrm>
              <a:off x="5532119" y="4056461"/>
              <a:ext cx="3208059"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5" name="组合 74">
              <a:extLst>
                <a:ext uri="{FF2B5EF4-FFF2-40B4-BE49-F238E27FC236}">
                  <a16:creationId xmlns:a16="http://schemas.microsoft.com/office/drawing/2014/main" id="{D386713B-4574-913D-5394-D98B714CB2A2}"/>
                </a:ext>
              </a:extLst>
            </p:cNvPr>
            <p:cNvGrpSpPr/>
            <p:nvPr/>
          </p:nvGrpSpPr>
          <p:grpSpPr>
            <a:xfrm>
              <a:off x="914400" y="3525520"/>
              <a:ext cx="1640948" cy="594360"/>
              <a:chOff x="914400" y="3525520"/>
              <a:chExt cx="1920240" cy="594360"/>
            </a:xfrm>
          </p:grpSpPr>
          <p:sp>
            <p:nvSpPr>
              <p:cNvPr id="28" name="Rounded Rectangle 18">
                <a:extLst>
                  <a:ext uri="{FF2B5EF4-FFF2-40B4-BE49-F238E27FC236}">
                    <a16:creationId xmlns:a16="http://schemas.microsoft.com/office/drawing/2014/main" id="{E322FACB-DC36-149F-B380-CCC20A91BBCD}"/>
                  </a:ext>
                </a:extLst>
              </p:cNvPr>
              <p:cNvSpPr/>
              <p:nvPr/>
            </p:nvSpPr>
            <p:spPr>
              <a:xfrm>
                <a:off x="914400" y="3525520"/>
                <a:ext cx="1920240" cy="594360"/>
              </a:xfrm>
              <a:prstGeom prst="roundRect">
                <a:avLst/>
              </a:prstGeom>
              <a:solidFill>
                <a:srgbClr val="F8FAFC"/>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19">
                <a:extLst>
                  <a:ext uri="{FF2B5EF4-FFF2-40B4-BE49-F238E27FC236}">
                    <a16:creationId xmlns:a16="http://schemas.microsoft.com/office/drawing/2014/main" id="{52EFC57C-1F79-4818-FF3F-481FD32AE0FB}"/>
                  </a:ext>
                </a:extLst>
              </p:cNvPr>
              <p:cNvSpPr txBox="1"/>
              <p:nvPr/>
            </p:nvSpPr>
            <p:spPr>
              <a:xfrm>
                <a:off x="987552" y="3681477"/>
                <a:ext cx="1773936" cy="159916"/>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lang="en-US" altLang="zh-CN" sz="919" b="1" dirty="0">
                    <a:solidFill>
                      <a:srgbClr val="2563EB"/>
                    </a:solidFill>
                    <a:latin typeface="Microsoft YaHei"/>
                  </a:rPr>
                  <a:t>D</a:t>
                </a:r>
                <a:r>
                  <a:rPr sz="919" b="1" dirty="0">
                    <a:solidFill>
                      <a:srgbClr val="2563EB"/>
                    </a:solidFill>
                    <a:latin typeface="Microsoft YaHei"/>
                  </a:rPr>
                  <a:t>ata</a:t>
                </a:r>
                <a:r>
                  <a:rPr lang="zh-CN" altLang="en-US" sz="919" b="1" dirty="0">
                    <a:solidFill>
                      <a:srgbClr val="2563EB"/>
                    </a:solidFill>
                    <a:latin typeface="Microsoft YaHei"/>
                  </a:rPr>
                  <a:t> </a:t>
                </a:r>
                <a:r>
                  <a:rPr lang="en-US" altLang="zh-CN" sz="919" b="1" dirty="0">
                    <a:solidFill>
                      <a:srgbClr val="2563EB"/>
                    </a:solidFill>
                    <a:latin typeface="Microsoft YaHei"/>
                  </a:rPr>
                  <a:t>only</a:t>
                </a:r>
                <a:endParaRPr sz="919" b="1" dirty="0">
                  <a:solidFill>
                    <a:srgbClr val="2563EB"/>
                  </a:solidFill>
                  <a:latin typeface="Microsoft YaHei"/>
                </a:endParaRPr>
              </a:p>
            </p:txBody>
          </p:sp>
          <p:sp>
            <p:nvSpPr>
              <p:cNvPr id="30" name="TextBox 20">
                <a:extLst>
                  <a:ext uri="{FF2B5EF4-FFF2-40B4-BE49-F238E27FC236}">
                    <a16:creationId xmlns:a16="http://schemas.microsoft.com/office/drawing/2014/main" id="{3C65F8A0-4712-CCF9-C7CA-49970046236C}"/>
                  </a:ext>
                </a:extLst>
              </p:cNvPr>
              <p:cNvSpPr txBox="1"/>
              <p:nvPr/>
            </p:nvSpPr>
            <p:spPr>
              <a:xfrm>
                <a:off x="100584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calibrated but brittle</a:t>
                </a:r>
              </a:p>
            </p:txBody>
          </p:sp>
        </p:grpSp>
        <p:sp>
          <p:nvSpPr>
            <p:cNvPr id="34" name="Right Arrow 21">
              <a:extLst>
                <a:ext uri="{FF2B5EF4-FFF2-40B4-BE49-F238E27FC236}">
                  <a16:creationId xmlns:a16="http://schemas.microsoft.com/office/drawing/2014/main" id="{DCCAB4C0-A839-0FB5-9CD8-0C6917A7FE33}"/>
                </a:ext>
              </a:extLst>
            </p:cNvPr>
            <p:cNvSpPr/>
            <p:nvPr/>
          </p:nvSpPr>
          <p:spPr>
            <a:xfrm>
              <a:off x="2598978" y="3735832"/>
              <a:ext cx="429772"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6" name="组合 75">
              <a:extLst>
                <a:ext uri="{FF2B5EF4-FFF2-40B4-BE49-F238E27FC236}">
                  <a16:creationId xmlns:a16="http://schemas.microsoft.com/office/drawing/2014/main" id="{4D20FBE8-BE6D-9500-0C23-2AB12B74ED87}"/>
                </a:ext>
              </a:extLst>
            </p:cNvPr>
            <p:cNvGrpSpPr/>
            <p:nvPr/>
          </p:nvGrpSpPr>
          <p:grpSpPr>
            <a:xfrm>
              <a:off x="3520440" y="3525520"/>
              <a:ext cx="1640948" cy="594360"/>
              <a:chOff x="3520440" y="3525520"/>
              <a:chExt cx="1920240" cy="594360"/>
            </a:xfrm>
          </p:grpSpPr>
          <p:sp>
            <p:nvSpPr>
              <p:cNvPr id="35" name="Rounded Rectangle 22">
                <a:extLst>
                  <a:ext uri="{FF2B5EF4-FFF2-40B4-BE49-F238E27FC236}">
                    <a16:creationId xmlns:a16="http://schemas.microsoft.com/office/drawing/2014/main" id="{E170AE3F-2A06-B904-9BFA-EDEF135CF504}"/>
                  </a:ext>
                </a:extLst>
              </p:cNvPr>
              <p:cNvSpPr/>
              <p:nvPr/>
            </p:nvSpPr>
            <p:spPr>
              <a:xfrm>
                <a:off x="3520440" y="3525520"/>
                <a:ext cx="1920240" cy="594360"/>
              </a:xfrm>
              <a:prstGeom prst="roundRect">
                <a:avLst/>
              </a:prstGeom>
              <a:solidFill>
                <a:srgbClr val="F8FAFC"/>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23">
                <a:extLst>
                  <a:ext uri="{FF2B5EF4-FFF2-40B4-BE49-F238E27FC236}">
                    <a16:creationId xmlns:a16="http://schemas.microsoft.com/office/drawing/2014/main" id="{56E50843-427B-989F-C542-59DE458153D0}"/>
                  </a:ext>
                </a:extLst>
              </p:cNvPr>
              <p:cNvSpPr txBox="1"/>
              <p:nvPr/>
            </p:nvSpPr>
            <p:spPr>
              <a:xfrm>
                <a:off x="3593592" y="3669995"/>
                <a:ext cx="1773936" cy="182880"/>
              </a:xfrm>
              <a:prstGeom prst="rect">
                <a:avLst/>
              </a:prstGeom>
              <a:noFill/>
            </p:spPr>
            <p:txBody>
              <a:bodyPr wrap="square" lIns="27432" tIns="9144" rIns="27432" bIns="9144" anchor="ctr">
                <a:spAutoFit/>
              </a:bodyPr>
              <a:lstStyle/>
              <a:p>
                <a:pPr algn="ctr">
                  <a:defRPr sz="919" b="1">
                    <a:solidFill>
                      <a:srgbClr val="5B21B6"/>
                    </a:solidFill>
                    <a:latin typeface="Microsoft YaHei"/>
                  </a:defRPr>
                </a:pPr>
                <a:r>
                  <a:rPr sz="919" b="1" dirty="0">
                    <a:solidFill>
                      <a:srgbClr val="5B21B6"/>
                    </a:solidFill>
                    <a:latin typeface="Microsoft YaHei"/>
                  </a:rPr>
                  <a:t>Pure LLM</a:t>
                </a:r>
              </a:p>
            </p:txBody>
          </p:sp>
          <p:sp>
            <p:nvSpPr>
              <p:cNvPr id="37" name="TextBox 24">
                <a:extLst>
                  <a:ext uri="{FF2B5EF4-FFF2-40B4-BE49-F238E27FC236}">
                    <a16:creationId xmlns:a16="http://schemas.microsoft.com/office/drawing/2014/main" id="{D71B2492-78A8-3615-D18B-52F08F2BA396}"/>
                  </a:ext>
                </a:extLst>
              </p:cNvPr>
              <p:cNvSpPr txBox="1"/>
              <p:nvPr/>
            </p:nvSpPr>
            <p:spPr>
              <a:xfrm>
                <a:off x="361188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general but unstable</a:t>
                </a:r>
              </a:p>
            </p:txBody>
          </p:sp>
        </p:grpSp>
        <p:sp>
          <p:nvSpPr>
            <p:cNvPr id="38" name="Right Arrow 25">
              <a:extLst>
                <a:ext uri="{FF2B5EF4-FFF2-40B4-BE49-F238E27FC236}">
                  <a16:creationId xmlns:a16="http://schemas.microsoft.com/office/drawing/2014/main" id="{6B5CA708-51F7-3CBE-50C8-217C8DAD7377}"/>
                </a:ext>
              </a:extLst>
            </p:cNvPr>
            <p:cNvSpPr/>
            <p:nvPr/>
          </p:nvSpPr>
          <p:spPr>
            <a:xfrm>
              <a:off x="5532120" y="3735832"/>
              <a:ext cx="429772"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7" name="组合 76">
              <a:extLst>
                <a:ext uri="{FF2B5EF4-FFF2-40B4-BE49-F238E27FC236}">
                  <a16:creationId xmlns:a16="http://schemas.microsoft.com/office/drawing/2014/main" id="{D5C667C8-6DA5-5568-5D24-9C3D9425DF46}"/>
                </a:ext>
              </a:extLst>
            </p:cNvPr>
            <p:cNvGrpSpPr/>
            <p:nvPr/>
          </p:nvGrpSpPr>
          <p:grpSpPr>
            <a:xfrm>
              <a:off x="6144768" y="3525520"/>
              <a:ext cx="1680018" cy="594360"/>
              <a:chOff x="6144768" y="3525520"/>
              <a:chExt cx="1965960" cy="594360"/>
            </a:xfrm>
          </p:grpSpPr>
          <p:sp>
            <p:nvSpPr>
              <p:cNvPr id="39" name="Rounded Rectangle 26">
                <a:extLst>
                  <a:ext uri="{FF2B5EF4-FFF2-40B4-BE49-F238E27FC236}">
                    <a16:creationId xmlns:a16="http://schemas.microsoft.com/office/drawing/2014/main" id="{906A5EEE-9336-0C8B-3935-C5ECCB301C8D}"/>
                  </a:ext>
                </a:extLst>
              </p:cNvPr>
              <p:cNvSpPr/>
              <p:nvPr/>
            </p:nvSpPr>
            <p:spPr>
              <a:xfrm>
                <a:off x="6144768" y="3525520"/>
                <a:ext cx="1965960" cy="594360"/>
              </a:xfrm>
              <a:prstGeom prst="roundRect">
                <a:avLst/>
              </a:prstGeom>
              <a:solidFill>
                <a:srgbClr val="F8FAFC"/>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27">
                <a:extLst>
                  <a:ext uri="{FF2B5EF4-FFF2-40B4-BE49-F238E27FC236}">
                    <a16:creationId xmlns:a16="http://schemas.microsoft.com/office/drawing/2014/main" id="{0FA7478E-4F67-2055-EBBD-C1D228B76A63}"/>
                  </a:ext>
                </a:extLst>
              </p:cNvPr>
              <p:cNvSpPr txBox="1"/>
              <p:nvPr/>
            </p:nvSpPr>
            <p:spPr>
              <a:xfrm>
                <a:off x="6217920" y="3681477"/>
                <a:ext cx="1819656" cy="159916"/>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lang="en" sz="919" b="1" dirty="0">
                    <a:solidFill>
                      <a:srgbClr val="EA580C"/>
                    </a:solidFill>
                    <a:latin typeface="Microsoft YaHei"/>
                  </a:rPr>
                  <a:t>Selector</a:t>
                </a:r>
                <a:r>
                  <a:rPr lang="zh-CN" altLang="en-US" sz="919" b="1" dirty="0">
                    <a:solidFill>
                      <a:srgbClr val="EA580C"/>
                    </a:solidFill>
                    <a:latin typeface="Microsoft YaHei"/>
                  </a:rPr>
                  <a:t> 分支</a:t>
                </a:r>
              </a:p>
            </p:txBody>
          </p:sp>
          <p:sp>
            <p:nvSpPr>
              <p:cNvPr id="44" name="TextBox 28">
                <a:extLst>
                  <a:ext uri="{FF2B5EF4-FFF2-40B4-BE49-F238E27FC236}">
                    <a16:creationId xmlns:a16="http://schemas.microsoft.com/office/drawing/2014/main" id="{F89F16BC-75DC-5C2A-2A7B-EA89439C0BB5}"/>
                  </a:ext>
                </a:extLst>
              </p:cNvPr>
              <p:cNvSpPr txBox="1"/>
              <p:nvPr/>
            </p:nvSpPr>
            <p:spPr>
              <a:xfrm>
                <a:off x="6236207" y="3808984"/>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cold-start branch</a:t>
                </a:r>
              </a:p>
            </p:txBody>
          </p:sp>
        </p:grpSp>
        <p:grpSp>
          <p:nvGrpSpPr>
            <p:cNvPr id="78" name="组合 77">
              <a:extLst>
                <a:ext uri="{FF2B5EF4-FFF2-40B4-BE49-F238E27FC236}">
                  <a16:creationId xmlns:a16="http://schemas.microsoft.com/office/drawing/2014/main" id="{AEFF8FB9-68C0-3DF0-F92C-24CEB93640C0}"/>
                </a:ext>
              </a:extLst>
            </p:cNvPr>
            <p:cNvGrpSpPr/>
            <p:nvPr/>
          </p:nvGrpSpPr>
          <p:grpSpPr>
            <a:xfrm>
              <a:off x="8805672" y="3886707"/>
              <a:ext cx="1680018" cy="594360"/>
              <a:chOff x="8805672" y="3886707"/>
              <a:chExt cx="1965960" cy="594360"/>
            </a:xfrm>
          </p:grpSpPr>
          <p:sp>
            <p:nvSpPr>
              <p:cNvPr id="46" name="Rounded Rectangle 30">
                <a:extLst>
                  <a:ext uri="{FF2B5EF4-FFF2-40B4-BE49-F238E27FC236}">
                    <a16:creationId xmlns:a16="http://schemas.microsoft.com/office/drawing/2014/main" id="{6B963E3C-D025-6E7C-E084-822E77FBC7F9}"/>
                  </a:ext>
                </a:extLst>
              </p:cNvPr>
              <p:cNvSpPr/>
              <p:nvPr/>
            </p:nvSpPr>
            <p:spPr>
              <a:xfrm>
                <a:off x="8805672" y="3886707"/>
                <a:ext cx="1965960" cy="594360"/>
              </a:xfrm>
              <a:prstGeom prst="roundRect">
                <a:avLst/>
              </a:prstGeom>
              <a:solidFill>
                <a:srgbClr val="F8FAFC"/>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31">
                <a:extLst>
                  <a:ext uri="{FF2B5EF4-FFF2-40B4-BE49-F238E27FC236}">
                    <a16:creationId xmlns:a16="http://schemas.microsoft.com/office/drawing/2014/main" id="{A9030E09-878F-EBE1-579A-58C562D6496B}"/>
                  </a:ext>
                </a:extLst>
              </p:cNvPr>
              <p:cNvSpPr txBox="1"/>
              <p:nvPr/>
            </p:nvSpPr>
            <p:spPr>
              <a:xfrm>
                <a:off x="8878824" y="4042664"/>
                <a:ext cx="1819656" cy="159916"/>
              </a:xfrm>
              <a:prstGeom prst="rect">
                <a:avLst/>
              </a:prstGeom>
              <a:noFill/>
            </p:spPr>
            <p:txBody>
              <a:bodyPr wrap="square" lIns="27432" tIns="9144" rIns="27432" bIns="9144" anchor="ctr">
                <a:spAutoFit/>
              </a:bodyPr>
              <a:lstStyle/>
              <a:p>
                <a:pPr algn="ctr">
                  <a:defRPr sz="919" b="1">
                    <a:solidFill>
                      <a:srgbClr val="198754"/>
                    </a:solidFill>
                    <a:latin typeface="Microsoft YaHei"/>
                  </a:defRPr>
                </a:pPr>
                <a:r>
                  <a:rPr sz="919" b="1" dirty="0">
                    <a:solidFill>
                      <a:srgbClr val="198754"/>
                    </a:solidFill>
                    <a:latin typeface="Microsoft YaHei"/>
                  </a:rPr>
                  <a:t>Correction</a:t>
                </a:r>
                <a:r>
                  <a:rPr lang="zh-CN" altLang="en-US" sz="919" b="1" dirty="0">
                    <a:solidFill>
                      <a:srgbClr val="198754"/>
                    </a:solidFill>
                    <a:latin typeface="Microsoft YaHei"/>
                  </a:rPr>
                  <a:t> 分支</a:t>
                </a:r>
                <a:endParaRPr sz="919" b="1" dirty="0">
                  <a:solidFill>
                    <a:srgbClr val="198754"/>
                  </a:solidFill>
                  <a:latin typeface="Microsoft YaHei"/>
                </a:endParaRPr>
              </a:p>
            </p:txBody>
          </p:sp>
          <p:sp>
            <p:nvSpPr>
              <p:cNvPr id="48" name="TextBox 32">
                <a:extLst>
                  <a:ext uri="{FF2B5EF4-FFF2-40B4-BE49-F238E27FC236}">
                    <a16:creationId xmlns:a16="http://schemas.microsoft.com/office/drawing/2014/main" id="{548B93B6-E9B1-5033-5BCB-16B1925FD228}"/>
                  </a:ext>
                </a:extLst>
              </p:cNvPr>
              <p:cNvSpPr txBox="1"/>
              <p:nvPr/>
            </p:nvSpPr>
            <p:spPr>
              <a:xfrm>
                <a:off x="8897112" y="4170171"/>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dirty="0">
                    <a:solidFill>
                      <a:srgbClr val="64748B"/>
                    </a:solidFill>
                    <a:latin typeface="Microsoft YaHei"/>
                  </a:rPr>
                  <a:t>temporal-adaptation branch</a:t>
                </a:r>
              </a:p>
            </p:txBody>
          </p:sp>
        </p:grpSp>
      </p:grpSp>
      <p:sp>
        <p:nvSpPr>
          <p:cNvPr id="87" name="s1t">
            <a:extLst>
              <a:ext uri="{FF2B5EF4-FFF2-40B4-BE49-F238E27FC236}">
                <a16:creationId xmlns:a16="http://schemas.microsoft.com/office/drawing/2014/main" id="{5862F102-2ABC-B613-3B9F-3478D667FF5A}"/>
              </a:ext>
            </a:extLst>
          </p:cNvPr>
          <p:cNvSpPr txBox="1"/>
          <p:nvPr>
            <p:custDataLst>
              <p:tags r:id="rId1"/>
            </p:custDataLst>
          </p:nvPr>
        </p:nvSpPr>
        <p:spPr>
          <a:xfrm>
            <a:off x="835470" y="3978149"/>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有历史数据，</a:t>
            </a:r>
            <a:endParaRPr lang="en-US" altLang="zh-CN" sz="1000" dirty="0">
              <a:solidFill>
                <a:srgbClr val="4B5563"/>
              </a:solidFill>
              <a:latin typeface="Noto Sans SC" panose="020B0200000000000000" charset="-122"/>
              <a:ea typeface="Noto Sans SC" panose="020B0200000000000000" charset="-122"/>
              <a:cs typeface="Noto Sans SC" panose="020B0200000000000000" charset="-122"/>
            </a:endParaRPr>
          </a:p>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但不能处理新机制、依赖完整数据</a:t>
            </a:r>
          </a:p>
        </p:txBody>
      </p:sp>
      <p:sp>
        <p:nvSpPr>
          <p:cNvPr id="89" name="s1t">
            <a:extLst>
              <a:ext uri="{FF2B5EF4-FFF2-40B4-BE49-F238E27FC236}">
                <a16:creationId xmlns:a16="http://schemas.microsoft.com/office/drawing/2014/main" id="{1CED5E3B-DD29-6AA4-14BE-0E6BC53DB946}"/>
              </a:ext>
            </a:extLst>
          </p:cNvPr>
          <p:cNvSpPr txBox="1"/>
          <p:nvPr>
            <p:custDataLst>
              <p:tags r:id="rId2"/>
            </p:custDataLst>
          </p:nvPr>
        </p:nvSpPr>
        <p:spPr>
          <a:xfrm>
            <a:off x="3365870" y="3978149"/>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能用先验，但数值校准不稳、推理效率低</a:t>
            </a:r>
          </a:p>
        </p:txBody>
      </p:sp>
      <p:sp>
        <p:nvSpPr>
          <p:cNvPr id="91" name="文本框 90">
            <a:extLst>
              <a:ext uri="{FF2B5EF4-FFF2-40B4-BE49-F238E27FC236}">
                <a16:creationId xmlns:a16="http://schemas.microsoft.com/office/drawing/2014/main" id="{6A84608F-FF89-BD69-7E2B-FEF8543EFA00}"/>
              </a:ext>
            </a:extLst>
          </p:cNvPr>
          <p:cNvSpPr txBox="1"/>
          <p:nvPr/>
        </p:nvSpPr>
        <p:spPr>
          <a:xfrm>
            <a:off x="5621376" y="4064528"/>
            <a:ext cx="2878874" cy="290977"/>
          </a:xfrm>
          <a:prstGeom prst="rect">
            <a:avLst/>
          </a:prstGeom>
          <a:noFill/>
        </p:spPr>
        <p:txBody>
          <a:bodyPr wrap="square">
            <a:spAutoFit/>
          </a:bodyPr>
          <a:lstStyle/>
          <a:p>
            <a:pPr algn="ctr">
              <a:lnSpc>
                <a:spcPct val="130000"/>
              </a:lnSpc>
            </a:pPr>
            <a:r>
              <a:rPr lang="zh-CN" altLang="en-US" sz="1050" dirty="0">
                <a:solidFill>
                  <a:srgbClr val="4B5563"/>
                </a:solidFill>
                <a:latin typeface="Noto Sans SC" panose="020B0200000000000000" charset="-122"/>
                <a:ea typeface="Noto Sans SC" panose="020B0200000000000000" charset="-122"/>
                <a:cs typeface="Noto Sans SC" panose="020B0200000000000000" charset="-122"/>
              </a:rPr>
              <a:t>规则提升效率，低置信度回退，兼顾可解释性</a:t>
            </a:r>
          </a:p>
        </p:txBody>
      </p:sp>
      <p:sp>
        <p:nvSpPr>
          <p:cNvPr id="93" name="文本框 92">
            <a:extLst>
              <a:ext uri="{FF2B5EF4-FFF2-40B4-BE49-F238E27FC236}">
                <a16:creationId xmlns:a16="http://schemas.microsoft.com/office/drawing/2014/main" id="{C79F1B32-D3BD-D607-9404-B9D71E08B0BD}"/>
              </a:ext>
            </a:extLst>
          </p:cNvPr>
          <p:cNvSpPr txBox="1"/>
          <p:nvPr/>
        </p:nvSpPr>
        <p:spPr>
          <a:xfrm>
            <a:off x="8007662" y="3225683"/>
            <a:ext cx="3117504" cy="272895"/>
          </a:xfrm>
          <a:prstGeom prst="rect">
            <a:avLst/>
          </a:prstGeom>
          <a:noFill/>
        </p:spPr>
        <p:txBody>
          <a:bodyPr wrap="square">
            <a:spAutoFit/>
          </a:bodyPr>
          <a:lstStyle/>
          <a:p>
            <a:pPr algn="ctr">
              <a:lnSpc>
                <a:spcPct val="130000"/>
              </a:lnSpc>
              <a:buSzTx/>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历史数据做数值锚定，LLM 事件先验做无标签修正</a:t>
            </a:r>
          </a:p>
        </p:txBody>
      </p:sp>
      <p:grpSp>
        <p:nvGrpSpPr>
          <p:cNvPr id="99" name="组合 98">
            <a:extLst>
              <a:ext uri="{FF2B5EF4-FFF2-40B4-BE49-F238E27FC236}">
                <a16:creationId xmlns:a16="http://schemas.microsoft.com/office/drawing/2014/main" id="{E714EDE9-67FF-9255-CEAE-BDB2FF7BF337}"/>
              </a:ext>
            </a:extLst>
          </p:cNvPr>
          <p:cNvGrpSpPr/>
          <p:nvPr/>
        </p:nvGrpSpPr>
        <p:grpSpPr>
          <a:xfrm>
            <a:off x="5192670" y="1848579"/>
            <a:ext cx="1640948" cy="929722"/>
            <a:chOff x="5358384" y="1848579"/>
            <a:chExt cx="1475234" cy="929722"/>
          </a:xfrm>
        </p:grpSpPr>
        <p:sp>
          <p:nvSpPr>
            <p:cNvPr id="96" name="Rounded Rectangle 26">
              <a:extLst>
                <a:ext uri="{FF2B5EF4-FFF2-40B4-BE49-F238E27FC236}">
                  <a16:creationId xmlns:a16="http://schemas.microsoft.com/office/drawing/2014/main" id="{A46B6A08-CD85-84CA-4D07-5D519B5A0E31}"/>
                </a:ext>
              </a:extLst>
            </p:cNvPr>
            <p:cNvSpPr/>
            <p:nvPr/>
          </p:nvSpPr>
          <p:spPr>
            <a:xfrm>
              <a:off x="5358384" y="1848579"/>
              <a:ext cx="1475234" cy="929722"/>
            </a:xfrm>
            <a:prstGeom prst="roundRect">
              <a:avLst/>
            </a:prstGeom>
            <a:solidFill>
              <a:srgbClr val="F8FAF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12">
              <a:extLst>
                <a:ext uri="{FF2B5EF4-FFF2-40B4-BE49-F238E27FC236}">
                  <a16:creationId xmlns:a16="http://schemas.microsoft.com/office/drawing/2014/main" id="{6ED53362-1CA0-452A-A3E6-BD357EE5D44D}"/>
                </a:ext>
              </a:extLst>
            </p:cNvPr>
            <p:cNvSpPr txBox="1"/>
            <p:nvPr/>
          </p:nvSpPr>
          <p:spPr>
            <a:xfrm>
              <a:off x="5449824" y="1960775"/>
              <a:ext cx="1216699"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lang="zh-CN" altLang="en-US" sz="1200" b="1" dirty="0">
                  <a:solidFill>
                    <a:srgbClr val="0F172A"/>
                  </a:solidFill>
                  <a:latin typeface="Microsoft YaHei"/>
                </a:rPr>
                <a:t>分支取决于样本</a:t>
              </a:r>
              <a:endParaRPr sz="1200" b="1" dirty="0">
                <a:solidFill>
                  <a:srgbClr val="0F172A"/>
                </a:solidFill>
                <a:latin typeface="Microsoft YaHei"/>
              </a:endParaRPr>
            </a:p>
          </p:txBody>
        </p:sp>
        <p:sp>
          <p:nvSpPr>
            <p:cNvPr id="98" name="TextBox 13">
              <a:extLst>
                <a:ext uri="{FF2B5EF4-FFF2-40B4-BE49-F238E27FC236}">
                  <a16:creationId xmlns:a16="http://schemas.microsoft.com/office/drawing/2014/main" id="{C630EC09-4A64-616A-2CA8-427B923ED2B2}"/>
                </a:ext>
              </a:extLst>
            </p:cNvPr>
            <p:cNvSpPr txBox="1"/>
            <p:nvPr/>
          </p:nvSpPr>
          <p:spPr>
            <a:xfrm>
              <a:off x="5449824" y="2330763"/>
              <a:ext cx="1138545"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lang="zh-CN" altLang="en-US" sz="1050" b="0" dirty="0">
                  <a:solidFill>
                    <a:srgbClr val="64748B"/>
                  </a:solidFill>
                  <a:latin typeface="Microsoft YaHei"/>
                </a:rPr>
                <a:t>场景</a:t>
              </a:r>
              <a:r>
                <a:rPr lang="en-US" altLang="zh-CN" sz="1050" b="0" dirty="0">
                  <a:solidFill>
                    <a:srgbClr val="64748B"/>
                  </a:solidFill>
                  <a:latin typeface="Microsoft YaHei"/>
                </a:rPr>
                <a:t>AB</a:t>
              </a:r>
              <a:r>
                <a:rPr lang="zh-CN" altLang="en-US" sz="1050" b="0" dirty="0">
                  <a:solidFill>
                    <a:srgbClr val="64748B"/>
                  </a:solidFill>
                  <a:latin typeface="Microsoft YaHei"/>
                </a:rPr>
                <a:t>选择</a:t>
              </a:r>
              <a:endParaRPr lang="en-US" altLang="zh-CN" sz="1050" b="0" dirty="0">
                <a:solidFill>
                  <a:srgbClr val="64748B"/>
                </a:solidFill>
                <a:latin typeface="Microsoft YaHei"/>
              </a:endParaRPr>
            </a:p>
            <a:p>
              <a:pPr algn="l">
                <a:defRPr sz="1200" b="0">
                  <a:solidFill>
                    <a:srgbClr val="64748B"/>
                  </a:solidFill>
                  <a:latin typeface="Microsoft YaHei"/>
                </a:defRPr>
              </a:pPr>
              <a:r>
                <a:rPr lang="zh-CN" altLang="en-US" sz="1050" b="0" dirty="0">
                  <a:solidFill>
                    <a:srgbClr val="64748B"/>
                  </a:solidFill>
                  <a:latin typeface="Microsoft YaHei"/>
                </a:rPr>
                <a:t>不同分支</a:t>
              </a:r>
              <a:endParaRPr sz="1050" b="0" dirty="0">
                <a:solidFill>
                  <a:srgbClr val="64748B"/>
                </a:solidFill>
                <a:latin typeface="Microsoft YaHei"/>
              </a:endParaRPr>
            </a:p>
          </p:txBody>
        </p:sp>
      </p:grpSp>
      <p:grpSp>
        <p:nvGrpSpPr>
          <p:cNvPr id="33" name="组合 32">
            <a:extLst>
              <a:ext uri="{FF2B5EF4-FFF2-40B4-BE49-F238E27FC236}">
                <a16:creationId xmlns:a16="http://schemas.microsoft.com/office/drawing/2014/main" id="{166610F4-4EE8-217D-651F-89FCA1924EB5}"/>
              </a:ext>
            </a:extLst>
          </p:cNvPr>
          <p:cNvGrpSpPr/>
          <p:nvPr/>
        </p:nvGrpSpPr>
        <p:grpSpPr>
          <a:xfrm>
            <a:off x="700570" y="4844222"/>
            <a:ext cx="10790119" cy="1285852"/>
            <a:chOff x="700570" y="4704230"/>
            <a:chExt cx="10790119" cy="1285852"/>
          </a:xfrm>
        </p:grpSpPr>
        <p:sp>
          <p:nvSpPr>
            <p:cNvPr id="32" name="Rounded Rectangle 10">
              <a:extLst>
                <a:ext uri="{FF2B5EF4-FFF2-40B4-BE49-F238E27FC236}">
                  <a16:creationId xmlns:a16="http://schemas.microsoft.com/office/drawing/2014/main" id="{AC552A5D-EC61-E2D1-9236-74F276FD28AE}"/>
                </a:ext>
              </a:extLst>
            </p:cNvPr>
            <p:cNvSpPr/>
            <p:nvPr/>
          </p:nvSpPr>
          <p:spPr>
            <a:xfrm>
              <a:off x="700570" y="4704230"/>
              <a:ext cx="10790119" cy="1285852"/>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 name="组合 1">
              <a:extLst>
                <a:ext uri="{FF2B5EF4-FFF2-40B4-BE49-F238E27FC236}">
                  <a16:creationId xmlns:a16="http://schemas.microsoft.com/office/drawing/2014/main" id="{D75227CC-D3A4-610C-185D-C551A030D7A2}"/>
                </a:ext>
              </a:extLst>
            </p:cNvPr>
            <p:cNvGrpSpPr/>
            <p:nvPr/>
          </p:nvGrpSpPr>
          <p:grpSpPr>
            <a:xfrm>
              <a:off x="890612" y="4958869"/>
              <a:ext cx="10387584" cy="713232"/>
              <a:chOff x="713232" y="1371600"/>
              <a:chExt cx="10387584" cy="713232"/>
            </a:xfrm>
          </p:grpSpPr>
          <p:sp>
            <p:nvSpPr>
              <p:cNvPr id="4" name="Rounded Rectangle 10">
                <a:extLst>
                  <a:ext uri="{FF2B5EF4-FFF2-40B4-BE49-F238E27FC236}">
                    <a16:creationId xmlns:a16="http://schemas.microsoft.com/office/drawing/2014/main" id="{9E13E78C-7977-5F24-C4E5-0BC29A7E0574}"/>
                  </a:ext>
                </a:extLst>
              </p:cNvPr>
              <p:cNvSpPr/>
              <p:nvPr/>
            </p:nvSpPr>
            <p:spPr>
              <a:xfrm>
                <a:off x="713232" y="1371600"/>
                <a:ext cx="2103120" cy="713232"/>
              </a:xfrm>
              <a:prstGeom prst="roundRect">
                <a:avLst/>
              </a:prstGeom>
              <a:solidFill>
                <a:srgbClr val="F8FAFC"/>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1">
                <a:extLst>
                  <a:ext uri="{FF2B5EF4-FFF2-40B4-BE49-F238E27FC236}">
                    <a16:creationId xmlns:a16="http://schemas.microsoft.com/office/drawing/2014/main" id="{AA997BE3-4016-2210-B549-CE44E17CC498}"/>
                  </a:ext>
                </a:extLst>
              </p:cNvPr>
              <p:cNvSpPr txBox="1"/>
              <p:nvPr/>
            </p:nvSpPr>
            <p:spPr>
              <a:xfrm>
                <a:off x="786384" y="1541087"/>
                <a:ext cx="1956815" cy="182880"/>
              </a:xfrm>
              <a:prstGeom prst="rect">
                <a:avLst/>
              </a:prstGeom>
              <a:noFill/>
            </p:spPr>
            <p:txBody>
              <a:bodyPr wrap="square" lIns="27432" tIns="9144" rIns="27432" bIns="9144" anchor="ctr">
                <a:spAutoFit/>
              </a:bodyPr>
              <a:lstStyle/>
              <a:p>
                <a:pPr algn="ctr">
                  <a:defRPr sz="919" b="1">
                    <a:solidFill>
                      <a:srgbClr val="5B21B6"/>
                    </a:solidFill>
                    <a:latin typeface="Microsoft YaHei"/>
                  </a:defRPr>
                </a:pPr>
                <a:r>
                  <a:rPr sz="919" b="1" dirty="0">
                    <a:solidFill>
                      <a:srgbClr val="5B21B6"/>
                    </a:solidFill>
                    <a:latin typeface="Microsoft YaHei"/>
                  </a:rPr>
                  <a:t>LLM rule extraction</a:t>
                </a:r>
              </a:p>
            </p:txBody>
          </p:sp>
          <p:sp>
            <p:nvSpPr>
              <p:cNvPr id="7" name="TextBox 12">
                <a:extLst>
                  <a:ext uri="{FF2B5EF4-FFF2-40B4-BE49-F238E27FC236}">
                    <a16:creationId xmlns:a16="http://schemas.microsoft.com/office/drawing/2014/main" id="{96707BAF-D9EB-1935-2F28-CDFF7759B685}"/>
                  </a:ext>
                </a:extLst>
              </p:cNvPr>
              <p:cNvSpPr txBox="1"/>
              <p:nvPr/>
            </p:nvSpPr>
            <p:spPr>
              <a:xfrm>
                <a:off x="804672" y="1655064"/>
                <a:ext cx="1920239" cy="37490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从大模型提取可执行规则</a:t>
                </a:r>
              </a:p>
            </p:txBody>
          </p:sp>
          <p:sp>
            <p:nvSpPr>
              <p:cNvPr id="9" name="Right Arrow 13">
                <a:extLst>
                  <a:ext uri="{FF2B5EF4-FFF2-40B4-BE49-F238E27FC236}">
                    <a16:creationId xmlns:a16="http://schemas.microsoft.com/office/drawing/2014/main" id="{CFB6D2AE-C416-569B-FE44-E169BAC038AC}"/>
                  </a:ext>
                </a:extLst>
              </p:cNvPr>
              <p:cNvSpPr/>
              <p:nvPr/>
            </p:nvSpPr>
            <p:spPr>
              <a:xfrm>
                <a:off x="2871215" y="1627632"/>
                <a:ext cx="438912" cy="16459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4">
                <a:extLst>
                  <a:ext uri="{FF2B5EF4-FFF2-40B4-BE49-F238E27FC236}">
                    <a16:creationId xmlns:a16="http://schemas.microsoft.com/office/drawing/2014/main" id="{A0CBD769-D691-BA8D-09F9-88C1C4701E4F}"/>
                  </a:ext>
                </a:extLst>
              </p:cNvPr>
              <p:cNvSpPr/>
              <p:nvPr/>
            </p:nvSpPr>
            <p:spPr>
              <a:xfrm>
                <a:off x="3474720" y="1371600"/>
                <a:ext cx="2103120" cy="713232"/>
              </a:xfrm>
              <a:prstGeom prst="roundRect">
                <a:avLst/>
              </a:prstGeom>
              <a:solidFill>
                <a:srgbClr val="F8FAFC"/>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5">
                <a:extLst>
                  <a:ext uri="{FF2B5EF4-FFF2-40B4-BE49-F238E27FC236}">
                    <a16:creationId xmlns:a16="http://schemas.microsoft.com/office/drawing/2014/main" id="{CEF2A43F-4714-8430-62A4-62BAFA920755}"/>
                  </a:ext>
                </a:extLst>
              </p:cNvPr>
              <p:cNvSpPr txBox="1"/>
              <p:nvPr/>
            </p:nvSpPr>
            <p:spPr>
              <a:xfrm>
                <a:off x="3547872" y="1541087"/>
                <a:ext cx="1956815" cy="182880"/>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sz="919" b="1">
                    <a:solidFill>
                      <a:srgbClr val="2563EB"/>
                    </a:solidFill>
                    <a:latin typeface="Microsoft YaHei"/>
                  </a:rPr>
                  <a:t>Rule prediction</a:t>
                </a:r>
              </a:p>
            </p:txBody>
          </p:sp>
          <p:sp>
            <p:nvSpPr>
              <p:cNvPr id="13" name="TextBox 16">
                <a:extLst>
                  <a:ext uri="{FF2B5EF4-FFF2-40B4-BE49-F238E27FC236}">
                    <a16:creationId xmlns:a16="http://schemas.microsoft.com/office/drawing/2014/main" id="{3D99F950-B49E-DBCD-D12E-D338330D001C}"/>
                  </a:ext>
                </a:extLst>
              </p:cNvPr>
              <p:cNvSpPr txBox="1"/>
              <p:nvPr/>
            </p:nvSpPr>
            <p:spPr>
              <a:xfrm>
                <a:off x="3566160" y="1655064"/>
                <a:ext cx="1920239" cy="37490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常规样本快速预测</a:t>
                </a:r>
              </a:p>
            </p:txBody>
          </p:sp>
          <p:sp>
            <p:nvSpPr>
              <p:cNvPr id="14" name="Right Arrow 17">
                <a:extLst>
                  <a:ext uri="{FF2B5EF4-FFF2-40B4-BE49-F238E27FC236}">
                    <a16:creationId xmlns:a16="http://schemas.microsoft.com/office/drawing/2014/main" id="{6E165BF6-360C-C3F6-12C5-A309FBDB8376}"/>
                  </a:ext>
                </a:extLst>
              </p:cNvPr>
              <p:cNvSpPr/>
              <p:nvPr/>
            </p:nvSpPr>
            <p:spPr>
              <a:xfrm>
                <a:off x="5632704" y="1627632"/>
                <a:ext cx="438912" cy="16459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8">
                <a:extLst>
                  <a:ext uri="{FF2B5EF4-FFF2-40B4-BE49-F238E27FC236}">
                    <a16:creationId xmlns:a16="http://schemas.microsoft.com/office/drawing/2014/main" id="{379B5280-5D5C-CE68-D664-C99340027E7F}"/>
                  </a:ext>
                </a:extLst>
              </p:cNvPr>
              <p:cNvSpPr/>
              <p:nvPr/>
            </p:nvSpPr>
            <p:spPr>
              <a:xfrm>
                <a:off x="6236208" y="1371600"/>
                <a:ext cx="2103120" cy="713232"/>
              </a:xfrm>
              <a:prstGeom prst="roundRect">
                <a:avLst/>
              </a:prstGeom>
              <a:solidFill>
                <a:srgbClr val="F8FAFC"/>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9">
                <a:extLst>
                  <a:ext uri="{FF2B5EF4-FFF2-40B4-BE49-F238E27FC236}">
                    <a16:creationId xmlns:a16="http://schemas.microsoft.com/office/drawing/2014/main" id="{766C2C3B-BD5B-0158-DFAB-3D23076E0213}"/>
                  </a:ext>
                </a:extLst>
              </p:cNvPr>
              <p:cNvSpPr txBox="1"/>
              <p:nvPr/>
            </p:nvSpPr>
            <p:spPr>
              <a:xfrm>
                <a:off x="6309360" y="1541087"/>
                <a:ext cx="1956815" cy="182880"/>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sz="919" b="1">
                    <a:solidFill>
                      <a:srgbClr val="EA580C"/>
                    </a:solidFill>
                    <a:latin typeface="Microsoft YaHei"/>
                  </a:rPr>
                  <a:t>Confidence scoring</a:t>
                </a:r>
              </a:p>
            </p:txBody>
          </p:sp>
          <p:sp>
            <p:nvSpPr>
              <p:cNvPr id="21" name="TextBox 20">
                <a:extLst>
                  <a:ext uri="{FF2B5EF4-FFF2-40B4-BE49-F238E27FC236}">
                    <a16:creationId xmlns:a16="http://schemas.microsoft.com/office/drawing/2014/main" id="{D0D83BB0-FC76-BC54-FE5F-1A675805B61C}"/>
                  </a:ext>
                </a:extLst>
              </p:cNvPr>
              <p:cNvSpPr txBox="1"/>
              <p:nvPr/>
            </p:nvSpPr>
            <p:spPr>
              <a:xfrm>
                <a:off x="6327648" y="1655064"/>
                <a:ext cx="1920239" cy="37490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识别低置信或冲突样本</a:t>
                </a:r>
              </a:p>
            </p:txBody>
          </p:sp>
          <p:sp>
            <p:nvSpPr>
              <p:cNvPr id="22" name="Right Arrow 21">
                <a:extLst>
                  <a:ext uri="{FF2B5EF4-FFF2-40B4-BE49-F238E27FC236}">
                    <a16:creationId xmlns:a16="http://schemas.microsoft.com/office/drawing/2014/main" id="{A95E76D5-D699-3698-A3AD-46C85854DD18}"/>
                  </a:ext>
                </a:extLst>
              </p:cNvPr>
              <p:cNvSpPr/>
              <p:nvPr/>
            </p:nvSpPr>
            <p:spPr>
              <a:xfrm>
                <a:off x="8394192" y="1627632"/>
                <a:ext cx="438912" cy="16459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a:extLst>
                  <a:ext uri="{FF2B5EF4-FFF2-40B4-BE49-F238E27FC236}">
                    <a16:creationId xmlns:a16="http://schemas.microsoft.com/office/drawing/2014/main" id="{A688247B-CEE2-BD46-38D1-CCEFB947E0D0}"/>
                  </a:ext>
                </a:extLst>
              </p:cNvPr>
              <p:cNvSpPr/>
              <p:nvPr/>
            </p:nvSpPr>
            <p:spPr>
              <a:xfrm>
                <a:off x="8997696" y="1371600"/>
                <a:ext cx="2103120" cy="713232"/>
              </a:xfrm>
              <a:prstGeom prst="roundRect">
                <a:avLst/>
              </a:prstGeom>
              <a:solidFill>
                <a:srgbClr val="F8FAFC"/>
              </a:solidFill>
              <a:ln w="9525">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3">
                <a:extLst>
                  <a:ext uri="{FF2B5EF4-FFF2-40B4-BE49-F238E27FC236}">
                    <a16:creationId xmlns:a16="http://schemas.microsoft.com/office/drawing/2014/main" id="{F2375CEA-A9B6-D46C-43E5-1543A3C07B70}"/>
                  </a:ext>
                </a:extLst>
              </p:cNvPr>
              <p:cNvSpPr txBox="1"/>
              <p:nvPr/>
            </p:nvSpPr>
            <p:spPr>
              <a:xfrm>
                <a:off x="9070848" y="1541087"/>
                <a:ext cx="1956815" cy="182880"/>
              </a:xfrm>
              <a:prstGeom prst="rect">
                <a:avLst/>
              </a:prstGeom>
              <a:noFill/>
            </p:spPr>
            <p:txBody>
              <a:bodyPr wrap="square" lIns="27432" tIns="9144" rIns="27432" bIns="9144" anchor="ctr">
                <a:spAutoFit/>
              </a:bodyPr>
              <a:lstStyle/>
              <a:p>
                <a:pPr algn="ctr">
                  <a:defRPr sz="919" b="1">
                    <a:solidFill>
                      <a:srgbClr val="00796B"/>
                    </a:solidFill>
                    <a:latin typeface="Microsoft YaHei"/>
                  </a:defRPr>
                </a:pPr>
                <a:r>
                  <a:rPr sz="919" b="1">
                    <a:solidFill>
                      <a:srgbClr val="00796B"/>
                    </a:solidFill>
                    <a:latin typeface="Microsoft YaHei"/>
                  </a:rPr>
                  <a:t>LLM fallback</a:t>
                </a:r>
              </a:p>
            </p:txBody>
          </p:sp>
          <p:sp>
            <p:nvSpPr>
              <p:cNvPr id="27" name="TextBox 24">
                <a:extLst>
                  <a:ext uri="{FF2B5EF4-FFF2-40B4-BE49-F238E27FC236}">
                    <a16:creationId xmlns:a16="http://schemas.microsoft.com/office/drawing/2014/main" id="{48ED4DE0-F903-9277-3EFE-BFF759B92AD0}"/>
                  </a:ext>
                </a:extLst>
              </p:cNvPr>
              <p:cNvSpPr txBox="1"/>
              <p:nvPr/>
            </p:nvSpPr>
            <p:spPr>
              <a:xfrm>
                <a:off x="9089136" y="1655064"/>
                <a:ext cx="1920239" cy="37490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必要时再调用大模型</a:t>
                </a:r>
              </a:p>
            </p:txBody>
          </p:sp>
        </p:grpSp>
      </p:grpSp>
      <p:sp>
        <p:nvSpPr>
          <p:cNvPr id="31" name="Right Arrow 25">
            <a:extLst>
              <a:ext uri="{FF2B5EF4-FFF2-40B4-BE49-F238E27FC236}">
                <a16:creationId xmlns:a16="http://schemas.microsoft.com/office/drawing/2014/main" id="{569704B5-71F1-65B3-0BBE-357A21909E7E}"/>
              </a:ext>
            </a:extLst>
          </p:cNvPr>
          <p:cNvSpPr/>
          <p:nvPr/>
        </p:nvSpPr>
        <p:spPr>
          <a:xfrm rot="5400000">
            <a:off x="6629370" y="4295032"/>
            <a:ext cx="429772" cy="457121"/>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226396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A9BCF-54CD-C2FB-5E9E-710FB420979D}"/>
            </a:ext>
          </a:extLst>
        </p:cNvPr>
        <p:cNvGrpSpPr/>
        <p:nvPr/>
      </p:nvGrpSpPr>
      <p:grpSpPr>
        <a:xfrm>
          <a:off x="0" y="0"/>
          <a:ext cx="0" cy="0"/>
          <a:chOff x="0" y="0"/>
          <a:chExt cx="0" cy="0"/>
        </a:xfrm>
      </p:grpSpPr>
      <p:sp>
        <p:nvSpPr>
          <p:cNvPr id="127" name="Rounded Rectangle 10">
            <a:extLst>
              <a:ext uri="{FF2B5EF4-FFF2-40B4-BE49-F238E27FC236}">
                <a16:creationId xmlns:a16="http://schemas.microsoft.com/office/drawing/2014/main" id="{EAFD88D5-E7CD-DCAD-8904-ABE20023AD45}"/>
              </a:ext>
            </a:extLst>
          </p:cNvPr>
          <p:cNvSpPr/>
          <p:nvPr/>
        </p:nvSpPr>
        <p:spPr>
          <a:xfrm>
            <a:off x="517890" y="3892736"/>
            <a:ext cx="10972799" cy="2952564"/>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leNum">
            <a:extLst>
              <a:ext uri="{FF2B5EF4-FFF2-40B4-BE49-F238E27FC236}">
                <a16:creationId xmlns:a16="http://schemas.microsoft.com/office/drawing/2014/main" id="{02C96FB0-E4CE-87F2-BE8C-650CF405A9E1}"/>
              </a:ext>
            </a:extLst>
          </p:cNvPr>
          <p:cNvSpPr/>
          <p:nvPr/>
        </p:nvSpPr>
        <p:spPr>
          <a:xfrm>
            <a:off x="762000" y="635000"/>
            <a:ext cx="6000000" cy="508000"/>
          </a:xfrm>
          <a:prstGeom prst="rect">
            <a:avLst/>
          </a:prstGeom>
          <a:noFill/>
          <a:ln>
            <a:noFill/>
          </a:ln>
        </p:spPr>
        <p:txBody>
          <a:bodyPr vert="horz" wrap="square" lIns="0" tIns="0" rIns="0" bIns="0" anchor="ctr"/>
          <a:lstStyle/>
          <a:p>
            <a:pPr marL="0" indent="0" algn="l">
              <a:lnSpc>
                <a:spcPct val="125000"/>
              </a:lnSpc>
            </a:pP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0</a:t>
            </a:r>
            <a:r>
              <a:rPr lang="en-US" altLang="zh-CN" sz="3200" b="1" dirty="0">
                <a:solidFill>
                  <a:srgbClr val="333333"/>
                </a:solidFill>
                <a:latin typeface="Noto Sans SC" panose="020B0200000000000000" charset="-122"/>
                <a:ea typeface="Noto Sans SC" panose="020B0200000000000000" charset="-122"/>
                <a:cs typeface="Noto Sans SC" panose="020B0200000000000000" charset="-122"/>
                <a:sym typeface="+mn-ea"/>
              </a:rPr>
              <a:t>4</a:t>
            </a:r>
            <a:r>
              <a:rPr 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 </a:t>
            </a:r>
            <a:r>
              <a:rPr lang="zh-CN" altLang="en-US" sz="3200" b="1" dirty="0">
                <a:solidFill>
                  <a:srgbClr val="333333"/>
                </a:solidFill>
                <a:latin typeface="Noto Sans SC" panose="020B0200000000000000" charset="-122"/>
                <a:ea typeface="Noto Sans SC" panose="020B0200000000000000" charset="-122"/>
                <a:cs typeface="Noto Sans SC" panose="020B0200000000000000" charset="-122"/>
                <a:sym typeface="+mn-ea"/>
              </a:rPr>
              <a:t>架构设计</a:t>
            </a:r>
            <a:endParaRPr lang="zh-CN" altLang="en-US" sz="3200" b="1" dirty="0">
              <a:solidFill>
                <a:srgbClr val="333333"/>
              </a:solidFill>
              <a:latin typeface="Noto Sans SC" panose="020B0200000000000000" charset="-122"/>
              <a:ea typeface="Noto Sans SC" panose="020B0200000000000000" charset="-122"/>
              <a:cs typeface="Noto Sans SC" panose="020B0200000000000000" charset="-122"/>
            </a:endParaRPr>
          </a:p>
        </p:txBody>
      </p:sp>
      <p:cxnSp>
        <p:nvCxnSpPr>
          <p:cNvPr id="5" name="titleLine">
            <a:extLst>
              <a:ext uri="{FF2B5EF4-FFF2-40B4-BE49-F238E27FC236}">
                <a16:creationId xmlns:a16="http://schemas.microsoft.com/office/drawing/2014/main" id="{59AD0679-1B04-6563-68DF-B8C380F20E0F}"/>
              </a:ext>
            </a:extLst>
          </p:cNvPr>
          <p:cNvCxnSpPr/>
          <p:nvPr/>
        </p:nvCxnSpPr>
        <p:spPr>
          <a:xfrm>
            <a:off x="762004" y="1390650"/>
            <a:ext cx="10668000" cy="12700"/>
          </a:xfrm>
          <a:prstGeom prst="straightConnector1">
            <a:avLst/>
          </a:prstGeom>
          <a:ln w="25400" cap="flat" cmpd="sng">
            <a:solidFill>
              <a:srgbClr val="40E0D0">
                <a:alpha val="60000"/>
              </a:srgbClr>
            </a:solidFill>
            <a:prstDash val="solid"/>
            <a:round/>
          </a:ln>
        </p:spPr>
      </p:cxnSp>
      <p:grpSp>
        <p:nvGrpSpPr>
          <p:cNvPr id="94" name="组合 93">
            <a:extLst>
              <a:ext uri="{FF2B5EF4-FFF2-40B4-BE49-F238E27FC236}">
                <a16:creationId xmlns:a16="http://schemas.microsoft.com/office/drawing/2014/main" id="{3D8EEB3A-1D76-1819-C080-45569D3A0FC4}"/>
              </a:ext>
            </a:extLst>
          </p:cNvPr>
          <p:cNvGrpSpPr/>
          <p:nvPr/>
        </p:nvGrpSpPr>
        <p:grpSpPr>
          <a:xfrm>
            <a:off x="658368" y="1290972"/>
            <a:ext cx="4335378" cy="942422"/>
            <a:chOff x="658368" y="1696720"/>
            <a:chExt cx="5166360" cy="1234440"/>
          </a:xfrm>
        </p:grpSpPr>
        <p:sp>
          <p:nvSpPr>
            <p:cNvPr id="8" name="Rounded Rectangle 10">
              <a:extLst>
                <a:ext uri="{FF2B5EF4-FFF2-40B4-BE49-F238E27FC236}">
                  <a16:creationId xmlns:a16="http://schemas.microsoft.com/office/drawing/2014/main" id="{0322FE12-130F-6494-25A4-3CC031FFD21B}"/>
                </a:ext>
              </a:extLst>
            </p:cNvPr>
            <p:cNvSpPr/>
            <p:nvPr/>
          </p:nvSpPr>
          <p:spPr>
            <a:xfrm>
              <a:off x="658368"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11">
              <a:extLst>
                <a:ext uri="{FF2B5EF4-FFF2-40B4-BE49-F238E27FC236}">
                  <a16:creationId xmlns:a16="http://schemas.microsoft.com/office/drawing/2014/main" id="{7E319C75-8E6C-BFD4-5EBA-9D72606E319C}"/>
                </a:ext>
              </a:extLst>
            </p:cNvPr>
            <p:cNvSpPr/>
            <p:nvPr/>
          </p:nvSpPr>
          <p:spPr>
            <a:xfrm>
              <a:off x="658368" y="1696720"/>
              <a:ext cx="50292" cy="12344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2">
              <a:extLst>
                <a:ext uri="{FF2B5EF4-FFF2-40B4-BE49-F238E27FC236}">
                  <a16:creationId xmlns:a16="http://schemas.microsoft.com/office/drawing/2014/main" id="{4AE77CEE-550F-91F8-EA3A-1747A9D82FEF}"/>
                </a:ext>
              </a:extLst>
            </p:cNvPr>
            <p:cNvSpPr txBox="1"/>
            <p:nvPr/>
          </p:nvSpPr>
          <p:spPr>
            <a:xfrm>
              <a:off x="822959"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dirty="0" err="1">
                  <a:solidFill>
                    <a:srgbClr val="0F172A"/>
                  </a:solidFill>
                  <a:latin typeface="Microsoft YaHei"/>
                </a:rPr>
                <a:t>场景</a:t>
              </a:r>
              <a:r>
                <a:rPr sz="1200" b="1" dirty="0">
                  <a:solidFill>
                    <a:srgbClr val="0F172A"/>
                  </a:solidFill>
                  <a:latin typeface="Microsoft YaHei"/>
                </a:rPr>
                <a:t> </a:t>
              </a:r>
              <a:r>
                <a:rPr sz="1200" b="1" dirty="0" err="1">
                  <a:solidFill>
                    <a:srgbClr val="0F172A"/>
                  </a:solidFill>
                  <a:latin typeface="Microsoft YaHei"/>
                </a:rPr>
                <a:t>A：数据稀疏</a:t>
              </a:r>
              <a:r>
                <a:rPr sz="1200" b="1" dirty="0">
                  <a:solidFill>
                    <a:srgbClr val="0F172A"/>
                  </a:solidFill>
                  <a:latin typeface="Microsoft YaHei"/>
                </a:rPr>
                <a:t> / </a:t>
              </a:r>
              <a:r>
                <a:rPr sz="1200" b="1" dirty="0" err="1">
                  <a:solidFill>
                    <a:srgbClr val="0F172A"/>
                  </a:solidFill>
                  <a:latin typeface="Microsoft YaHei"/>
                </a:rPr>
                <a:t>字段缺失</a:t>
              </a:r>
              <a:r>
                <a:rPr sz="1200" b="1" dirty="0">
                  <a:solidFill>
                    <a:srgbClr val="0F172A"/>
                  </a:solidFill>
                  <a:latin typeface="Microsoft YaHei"/>
                </a:rPr>
                <a:t> / </a:t>
              </a:r>
              <a:r>
                <a:rPr sz="1200" b="1" dirty="0" err="1">
                  <a:solidFill>
                    <a:srgbClr val="0F172A"/>
                  </a:solidFill>
                  <a:latin typeface="Microsoft YaHei"/>
                </a:rPr>
                <a:t>冷启动</a:t>
              </a:r>
              <a:endParaRPr sz="1200" b="1" dirty="0">
                <a:solidFill>
                  <a:srgbClr val="0F172A"/>
                </a:solidFill>
                <a:latin typeface="Microsoft YaHei"/>
              </a:endParaRPr>
            </a:p>
          </p:txBody>
        </p:sp>
        <p:sp>
          <p:nvSpPr>
            <p:cNvPr id="18" name="TextBox 13">
              <a:extLst>
                <a:ext uri="{FF2B5EF4-FFF2-40B4-BE49-F238E27FC236}">
                  <a16:creationId xmlns:a16="http://schemas.microsoft.com/office/drawing/2014/main" id="{5ED03927-6E84-255B-0381-28A91C8AAB44}"/>
                </a:ext>
              </a:extLst>
            </p:cNvPr>
            <p:cNvSpPr txBox="1"/>
            <p:nvPr/>
          </p:nvSpPr>
          <p:spPr>
            <a:xfrm>
              <a:off x="822959"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labels are weak or missing. LLM knowledge is distilled into fast executable rules; low-confidence cases can fall back to LLM.</a:t>
              </a:r>
            </a:p>
          </p:txBody>
        </p:sp>
      </p:grpSp>
      <p:grpSp>
        <p:nvGrpSpPr>
          <p:cNvPr id="95" name="组合 94">
            <a:extLst>
              <a:ext uri="{FF2B5EF4-FFF2-40B4-BE49-F238E27FC236}">
                <a16:creationId xmlns:a16="http://schemas.microsoft.com/office/drawing/2014/main" id="{2B74AEF5-A633-2E1F-42E1-D1163B09C0AE}"/>
              </a:ext>
            </a:extLst>
          </p:cNvPr>
          <p:cNvGrpSpPr/>
          <p:nvPr/>
        </p:nvGrpSpPr>
        <p:grpSpPr>
          <a:xfrm>
            <a:off x="7030614" y="1290972"/>
            <a:ext cx="4335378" cy="942422"/>
            <a:chOff x="6199632" y="1696720"/>
            <a:chExt cx="5166360" cy="1234440"/>
          </a:xfrm>
        </p:grpSpPr>
        <p:sp>
          <p:nvSpPr>
            <p:cNvPr id="19" name="Rounded Rectangle 14">
              <a:extLst>
                <a:ext uri="{FF2B5EF4-FFF2-40B4-BE49-F238E27FC236}">
                  <a16:creationId xmlns:a16="http://schemas.microsoft.com/office/drawing/2014/main" id="{64550179-3DA7-B4B2-7F8A-C69BBA5C00F6}"/>
                </a:ext>
              </a:extLst>
            </p:cNvPr>
            <p:cNvSpPr/>
            <p:nvPr/>
          </p:nvSpPr>
          <p:spPr>
            <a:xfrm>
              <a:off x="6199632" y="1696720"/>
              <a:ext cx="5166360" cy="123444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5">
              <a:extLst>
                <a:ext uri="{FF2B5EF4-FFF2-40B4-BE49-F238E27FC236}">
                  <a16:creationId xmlns:a16="http://schemas.microsoft.com/office/drawing/2014/main" id="{8F369CA9-EF95-A168-3622-56546C977827}"/>
                </a:ext>
              </a:extLst>
            </p:cNvPr>
            <p:cNvSpPr/>
            <p:nvPr/>
          </p:nvSpPr>
          <p:spPr>
            <a:xfrm>
              <a:off x="6199632" y="1696720"/>
              <a:ext cx="50292" cy="123444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6">
              <a:extLst>
                <a:ext uri="{FF2B5EF4-FFF2-40B4-BE49-F238E27FC236}">
                  <a16:creationId xmlns:a16="http://schemas.microsoft.com/office/drawing/2014/main" id="{AF0B555E-7F88-A7D8-3AA3-A42FDE5E81AF}"/>
                </a:ext>
              </a:extLst>
            </p:cNvPr>
            <p:cNvSpPr txBox="1"/>
            <p:nvPr/>
          </p:nvSpPr>
          <p:spPr>
            <a:xfrm>
              <a:off x="6364224" y="1788160"/>
              <a:ext cx="4873752" cy="42062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场景 B：有历史数据但目标年情境变化</a:t>
              </a:r>
            </a:p>
          </p:txBody>
        </p:sp>
        <p:sp>
          <p:nvSpPr>
            <p:cNvPr id="25" name="TextBox 17">
              <a:extLst>
                <a:ext uri="{FF2B5EF4-FFF2-40B4-BE49-F238E27FC236}">
                  <a16:creationId xmlns:a16="http://schemas.microsoft.com/office/drawing/2014/main" id="{80313565-95E6-934B-4876-1FAE8B4F86FF}"/>
                </a:ext>
              </a:extLst>
            </p:cNvPr>
            <p:cNvSpPr txBox="1"/>
            <p:nvPr/>
          </p:nvSpPr>
          <p:spPr>
            <a:xfrm>
              <a:off x="6364224" y="2272792"/>
              <a:ext cx="4873752"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050" b="0" dirty="0">
                  <a:solidFill>
                    <a:srgbClr val="64748B"/>
                  </a:solidFill>
                  <a:latin typeface="Microsoft YaHei"/>
                </a:rPr>
                <a:t>Historical NHTS labels exist, but 2022 context changes the meaning of routine covariates. LLM event priors correct the historical predictor.</a:t>
              </a:r>
            </a:p>
          </p:txBody>
        </p:sp>
      </p:grpSp>
      <p:grpSp>
        <p:nvGrpSpPr>
          <p:cNvPr id="88" name="组合 87">
            <a:extLst>
              <a:ext uri="{FF2B5EF4-FFF2-40B4-BE49-F238E27FC236}">
                <a16:creationId xmlns:a16="http://schemas.microsoft.com/office/drawing/2014/main" id="{72180F0D-57D6-8A8A-2795-BF308F4C353A}"/>
              </a:ext>
            </a:extLst>
          </p:cNvPr>
          <p:cNvGrpSpPr/>
          <p:nvPr/>
        </p:nvGrpSpPr>
        <p:grpSpPr>
          <a:xfrm>
            <a:off x="914400" y="2670047"/>
            <a:ext cx="9571290" cy="955547"/>
            <a:chOff x="914400" y="3525520"/>
            <a:chExt cx="9571290" cy="955547"/>
          </a:xfrm>
        </p:grpSpPr>
        <p:sp>
          <p:nvSpPr>
            <p:cNvPr id="45" name="Right Arrow 29">
              <a:extLst>
                <a:ext uri="{FF2B5EF4-FFF2-40B4-BE49-F238E27FC236}">
                  <a16:creationId xmlns:a16="http://schemas.microsoft.com/office/drawing/2014/main" id="{C543074C-6F79-35F4-4A70-B65656FD3CEA}"/>
                </a:ext>
              </a:extLst>
            </p:cNvPr>
            <p:cNvSpPr/>
            <p:nvPr/>
          </p:nvSpPr>
          <p:spPr>
            <a:xfrm>
              <a:off x="5532119" y="4056461"/>
              <a:ext cx="3208059"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5" name="组合 74">
              <a:extLst>
                <a:ext uri="{FF2B5EF4-FFF2-40B4-BE49-F238E27FC236}">
                  <a16:creationId xmlns:a16="http://schemas.microsoft.com/office/drawing/2014/main" id="{BC5BD8FB-A81E-F606-FB71-D1A792082EF7}"/>
                </a:ext>
              </a:extLst>
            </p:cNvPr>
            <p:cNvGrpSpPr/>
            <p:nvPr/>
          </p:nvGrpSpPr>
          <p:grpSpPr>
            <a:xfrm>
              <a:off x="914400" y="3525520"/>
              <a:ext cx="1640948" cy="594360"/>
              <a:chOff x="914400" y="3525520"/>
              <a:chExt cx="1920240" cy="594360"/>
            </a:xfrm>
          </p:grpSpPr>
          <p:sp>
            <p:nvSpPr>
              <p:cNvPr id="28" name="Rounded Rectangle 18">
                <a:extLst>
                  <a:ext uri="{FF2B5EF4-FFF2-40B4-BE49-F238E27FC236}">
                    <a16:creationId xmlns:a16="http://schemas.microsoft.com/office/drawing/2014/main" id="{0367D133-FD27-39D7-A375-595C63D307EE}"/>
                  </a:ext>
                </a:extLst>
              </p:cNvPr>
              <p:cNvSpPr/>
              <p:nvPr/>
            </p:nvSpPr>
            <p:spPr>
              <a:xfrm>
                <a:off x="914400" y="3525520"/>
                <a:ext cx="1920240" cy="594360"/>
              </a:xfrm>
              <a:prstGeom prst="roundRect">
                <a:avLst/>
              </a:prstGeom>
              <a:solidFill>
                <a:srgbClr val="F8FAFC"/>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19">
                <a:extLst>
                  <a:ext uri="{FF2B5EF4-FFF2-40B4-BE49-F238E27FC236}">
                    <a16:creationId xmlns:a16="http://schemas.microsoft.com/office/drawing/2014/main" id="{E8356F65-C44E-7800-A334-9C504106CD67}"/>
                  </a:ext>
                </a:extLst>
              </p:cNvPr>
              <p:cNvSpPr txBox="1"/>
              <p:nvPr/>
            </p:nvSpPr>
            <p:spPr>
              <a:xfrm>
                <a:off x="987552" y="3681477"/>
                <a:ext cx="1773936" cy="159916"/>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lang="en-US" altLang="zh-CN" sz="919" b="1" dirty="0">
                    <a:solidFill>
                      <a:srgbClr val="2563EB"/>
                    </a:solidFill>
                    <a:latin typeface="Microsoft YaHei"/>
                  </a:rPr>
                  <a:t>D</a:t>
                </a:r>
                <a:r>
                  <a:rPr sz="919" b="1" dirty="0">
                    <a:solidFill>
                      <a:srgbClr val="2563EB"/>
                    </a:solidFill>
                    <a:latin typeface="Microsoft YaHei"/>
                  </a:rPr>
                  <a:t>ata</a:t>
                </a:r>
                <a:r>
                  <a:rPr lang="zh-CN" altLang="en-US" sz="919" b="1" dirty="0">
                    <a:solidFill>
                      <a:srgbClr val="2563EB"/>
                    </a:solidFill>
                    <a:latin typeface="Microsoft YaHei"/>
                  </a:rPr>
                  <a:t> </a:t>
                </a:r>
                <a:r>
                  <a:rPr lang="en-US" altLang="zh-CN" sz="919" b="1" dirty="0">
                    <a:solidFill>
                      <a:srgbClr val="2563EB"/>
                    </a:solidFill>
                    <a:latin typeface="Microsoft YaHei"/>
                  </a:rPr>
                  <a:t>only</a:t>
                </a:r>
                <a:endParaRPr sz="919" b="1" dirty="0">
                  <a:solidFill>
                    <a:srgbClr val="2563EB"/>
                  </a:solidFill>
                  <a:latin typeface="Microsoft YaHei"/>
                </a:endParaRPr>
              </a:p>
            </p:txBody>
          </p:sp>
          <p:sp>
            <p:nvSpPr>
              <p:cNvPr id="30" name="TextBox 20">
                <a:extLst>
                  <a:ext uri="{FF2B5EF4-FFF2-40B4-BE49-F238E27FC236}">
                    <a16:creationId xmlns:a16="http://schemas.microsoft.com/office/drawing/2014/main" id="{C418E7DB-C97A-2407-C22C-9EFF3BEA866C}"/>
                  </a:ext>
                </a:extLst>
              </p:cNvPr>
              <p:cNvSpPr txBox="1"/>
              <p:nvPr/>
            </p:nvSpPr>
            <p:spPr>
              <a:xfrm>
                <a:off x="100584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calibrated but brittle</a:t>
                </a:r>
              </a:p>
            </p:txBody>
          </p:sp>
        </p:grpSp>
        <p:sp>
          <p:nvSpPr>
            <p:cNvPr id="34" name="Right Arrow 21">
              <a:extLst>
                <a:ext uri="{FF2B5EF4-FFF2-40B4-BE49-F238E27FC236}">
                  <a16:creationId xmlns:a16="http://schemas.microsoft.com/office/drawing/2014/main" id="{9DF2B32F-F695-1F0E-E205-ED0062C84E49}"/>
                </a:ext>
              </a:extLst>
            </p:cNvPr>
            <p:cNvSpPr/>
            <p:nvPr/>
          </p:nvSpPr>
          <p:spPr>
            <a:xfrm>
              <a:off x="2598978" y="3735832"/>
              <a:ext cx="429772" cy="14630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6" name="组合 75">
              <a:extLst>
                <a:ext uri="{FF2B5EF4-FFF2-40B4-BE49-F238E27FC236}">
                  <a16:creationId xmlns:a16="http://schemas.microsoft.com/office/drawing/2014/main" id="{2F3F11F1-9A67-D07E-CD34-BC6D36FD4D1D}"/>
                </a:ext>
              </a:extLst>
            </p:cNvPr>
            <p:cNvGrpSpPr/>
            <p:nvPr/>
          </p:nvGrpSpPr>
          <p:grpSpPr>
            <a:xfrm>
              <a:off x="3520440" y="3525520"/>
              <a:ext cx="1640948" cy="594360"/>
              <a:chOff x="3520440" y="3525520"/>
              <a:chExt cx="1920240" cy="594360"/>
            </a:xfrm>
          </p:grpSpPr>
          <p:sp>
            <p:nvSpPr>
              <p:cNvPr id="35" name="Rounded Rectangle 22">
                <a:extLst>
                  <a:ext uri="{FF2B5EF4-FFF2-40B4-BE49-F238E27FC236}">
                    <a16:creationId xmlns:a16="http://schemas.microsoft.com/office/drawing/2014/main" id="{7361E096-69EB-A813-106B-B2A46616F40E}"/>
                  </a:ext>
                </a:extLst>
              </p:cNvPr>
              <p:cNvSpPr/>
              <p:nvPr/>
            </p:nvSpPr>
            <p:spPr>
              <a:xfrm>
                <a:off x="3520440" y="3525520"/>
                <a:ext cx="1920240" cy="594360"/>
              </a:xfrm>
              <a:prstGeom prst="roundRect">
                <a:avLst/>
              </a:prstGeom>
              <a:solidFill>
                <a:srgbClr val="F8FAFC"/>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23">
                <a:extLst>
                  <a:ext uri="{FF2B5EF4-FFF2-40B4-BE49-F238E27FC236}">
                    <a16:creationId xmlns:a16="http://schemas.microsoft.com/office/drawing/2014/main" id="{E383863E-3DAB-9B14-2DF7-2FFC7216AD6F}"/>
                  </a:ext>
                </a:extLst>
              </p:cNvPr>
              <p:cNvSpPr txBox="1"/>
              <p:nvPr/>
            </p:nvSpPr>
            <p:spPr>
              <a:xfrm>
                <a:off x="3593592" y="3669995"/>
                <a:ext cx="1773936" cy="182880"/>
              </a:xfrm>
              <a:prstGeom prst="rect">
                <a:avLst/>
              </a:prstGeom>
              <a:noFill/>
            </p:spPr>
            <p:txBody>
              <a:bodyPr wrap="square" lIns="27432" tIns="9144" rIns="27432" bIns="9144" anchor="ctr">
                <a:spAutoFit/>
              </a:bodyPr>
              <a:lstStyle/>
              <a:p>
                <a:pPr algn="ctr">
                  <a:defRPr sz="919" b="1">
                    <a:solidFill>
                      <a:srgbClr val="5B21B6"/>
                    </a:solidFill>
                    <a:latin typeface="Microsoft YaHei"/>
                  </a:defRPr>
                </a:pPr>
                <a:r>
                  <a:rPr sz="919" b="1" dirty="0">
                    <a:solidFill>
                      <a:srgbClr val="5B21B6"/>
                    </a:solidFill>
                    <a:latin typeface="Microsoft YaHei"/>
                  </a:rPr>
                  <a:t>Pure LLM</a:t>
                </a:r>
              </a:p>
            </p:txBody>
          </p:sp>
          <p:sp>
            <p:nvSpPr>
              <p:cNvPr id="37" name="TextBox 24">
                <a:extLst>
                  <a:ext uri="{FF2B5EF4-FFF2-40B4-BE49-F238E27FC236}">
                    <a16:creationId xmlns:a16="http://schemas.microsoft.com/office/drawing/2014/main" id="{1D13EF96-D2FA-5934-A548-92BCD269088B}"/>
                  </a:ext>
                </a:extLst>
              </p:cNvPr>
              <p:cNvSpPr txBox="1"/>
              <p:nvPr/>
            </p:nvSpPr>
            <p:spPr>
              <a:xfrm>
                <a:off x="3611880" y="3808984"/>
                <a:ext cx="173736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general but unstable</a:t>
                </a:r>
              </a:p>
            </p:txBody>
          </p:sp>
        </p:grpSp>
        <p:sp>
          <p:nvSpPr>
            <p:cNvPr id="38" name="Right Arrow 25">
              <a:extLst>
                <a:ext uri="{FF2B5EF4-FFF2-40B4-BE49-F238E27FC236}">
                  <a16:creationId xmlns:a16="http://schemas.microsoft.com/office/drawing/2014/main" id="{F6560779-41DA-8172-5BBF-E50AA266346E}"/>
                </a:ext>
              </a:extLst>
            </p:cNvPr>
            <p:cNvSpPr/>
            <p:nvPr/>
          </p:nvSpPr>
          <p:spPr>
            <a:xfrm>
              <a:off x="5532120" y="3735832"/>
              <a:ext cx="429772" cy="146304"/>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7" name="组合 76">
              <a:extLst>
                <a:ext uri="{FF2B5EF4-FFF2-40B4-BE49-F238E27FC236}">
                  <a16:creationId xmlns:a16="http://schemas.microsoft.com/office/drawing/2014/main" id="{A0FA4CDC-246E-B71B-8C23-87056DD4D431}"/>
                </a:ext>
              </a:extLst>
            </p:cNvPr>
            <p:cNvGrpSpPr/>
            <p:nvPr/>
          </p:nvGrpSpPr>
          <p:grpSpPr>
            <a:xfrm>
              <a:off x="6144768" y="3525520"/>
              <a:ext cx="1680018" cy="594360"/>
              <a:chOff x="6144768" y="3525520"/>
              <a:chExt cx="1965960" cy="594360"/>
            </a:xfrm>
          </p:grpSpPr>
          <p:sp>
            <p:nvSpPr>
              <p:cNvPr id="39" name="Rounded Rectangle 26">
                <a:extLst>
                  <a:ext uri="{FF2B5EF4-FFF2-40B4-BE49-F238E27FC236}">
                    <a16:creationId xmlns:a16="http://schemas.microsoft.com/office/drawing/2014/main" id="{36B0DE2B-7379-3BB7-422D-C6642C211CD8}"/>
                  </a:ext>
                </a:extLst>
              </p:cNvPr>
              <p:cNvSpPr/>
              <p:nvPr/>
            </p:nvSpPr>
            <p:spPr>
              <a:xfrm>
                <a:off x="6144768" y="3525520"/>
                <a:ext cx="1965960" cy="594360"/>
              </a:xfrm>
              <a:prstGeom prst="roundRect">
                <a:avLst/>
              </a:prstGeom>
              <a:solidFill>
                <a:srgbClr val="F8FAFC"/>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27">
                <a:extLst>
                  <a:ext uri="{FF2B5EF4-FFF2-40B4-BE49-F238E27FC236}">
                    <a16:creationId xmlns:a16="http://schemas.microsoft.com/office/drawing/2014/main" id="{A02999E9-670A-C2BB-FC02-036A8211DA33}"/>
                  </a:ext>
                </a:extLst>
              </p:cNvPr>
              <p:cNvSpPr txBox="1"/>
              <p:nvPr/>
            </p:nvSpPr>
            <p:spPr>
              <a:xfrm>
                <a:off x="6217920" y="3681477"/>
                <a:ext cx="1819656" cy="159916"/>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lang="en" sz="919" b="1" dirty="0">
                    <a:solidFill>
                      <a:srgbClr val="EA580C"/>
                    </a:solidFill>
                    <a:latin typeface="Microsoft YaHei"/>
                  </a:rPr>
                  <a:t>Selector</a:t>
                </a:r>
                <a:r>
                  <a:rPr lang="zh-CN" altLang="en-US" sz="919" b="1" dirty="0">
                    <a:solidFill>
                      <a:srgbClr val="EA580C"/>
                    </a:solidFill>
                    <a:latin typeface="Microsoft YaHei"/>
                  </a:rPr>
                  <a:t> 分支</a:t>
                </a:r>
              </a:p>
            </p:txBody>
          </p:sp>
          <p:sp>
            <p:nvSpPr>
              <p:cNvPr id="44" name="TextBox 28">
                <a:extLst>
                  <a:ext uri="{FF2B5EF4-FFF2-40B4-BE49-F238E27FC236}">
                    <a16:creationId xmlns:a16="http://schemas.microsoft.com/office/drawing/2014/main" id="{89D02BBA-4B6A-4D6E-A70D-323903CDAFD2}"/>
                  </a:ext>
                </a:extLst>
              </p:cNvPr>
              <p:cNvSpPr txBox="1"/>
              <p:nvPr/>
            </p:nvSpPr>
            <p:spPr>
              <a:xfrm>
                <a:off x="6236207" y="3808984"/>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cold-start branch</a:t>
                </a:r>
              </a:p>
            </p:txBody>
          </p:sp>
        </p:grpSp>
        <p:grpSp>
          <p:nvGrpSpPr>
            <p:cNvPr id="78" name="组合 77">
              <a:extLst>
                <a:ext uri="{FF2B5EF4-FFF2-40B4-BE49-F238E27FC236}">
                  <a16:creationId xmlns:a16="http://schemas.microsoft.com/office/drawing/2014/main" id="{4EECBB1B-29D7-A46F-5A55-235BDE3A46A2}"/>
                </a:ext>
              </a:extLst>
            </p:cNvPr>
            <p:cNvGrpSpPr/>
            <p:nvPr/>
          </p:nvGrpSpPr>
          <p:grpSpPr>
            <a:xfrm>
              <a:off x="8805672" y="3886707"/>
              <a:ext cx="1680018" cy="594360"/>
              <a:chOff x="8805672" y="3886707"/>
              <a:chExt cx="1965960" cy="594360"/>
            </a:xfrm>
          </p:grpSpPr>
          <p:sp>
            <p:nvSpPr>
              <p:cNvPr id="46" name="Rounded Rectangle 30">
                <a:extLst>
                  <a:ext uri="{FF2B5EF4-FFF2-40B4-BE49-F238E27FC236}">
                    <a16:creationId xmlns:a16="http://schemas.microsoft.com/office/drawing/2014/main" id="{981DD6E8-7776-C3C7-D11F-01D8A668F6B8}"/>
                  </a:ext>
                </a:extLst>
              </p:cNvPr>
              <p:cNvSpPr/>
              <p:nvPr/>
            </p:nvSpPr>
            <p:spPr>
              <a:xfrm>
                <a:off x="8805672" y="3886707"/>
                <a:ext cx="1965960" cy="594360"/>
              </a:xfrm>
              <a:prstGeom prst="roundRect">
                <a:avLst/>
              </a:prstGeom>
              <a:solidFill>
                <a:srgbClr val="F8FAFC"/>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31">
                <a:extLst>
                  <a:ext uri="{FF2B5EF4-FFF2-40B4-BE49-F238E27FC236}">
                    <a16:creationId xmlns:a16="http://schemas.microsoft.com/office/drawing/2014/main" id="{14ECE704-71A8-763F-F119-0E39850F5A3D}"/>
                  </a:ext>
                </a:extLst>
              </p:cNvPr>
              <p:cNvSpPr txBox="1"/>
              <p:nvPr/>
            </p:nvSpPr>
            <p:spPr>
              <a:xfrm>
                <a:off x="8878824" y="4042664"/>
                <a:ext cx="1819656" cy="159916"/>
              </a:xfrm>
              <a:prstGeom prst="rect">
                <a:avLst/>
              </a:prstGeom>
              <a:noFill/>
            </p:spPr>
            <p:txBody>
              <a:bodyPr wrap="square" lIns="27432" tIns="9144" rIns="27432" bIns="9144" anchor="ctr">
                <a:spAutoFit/>
              </a:bodyPr>
              <a:lstStyle/>
              <a:p>
                <a:pPr algn="ctr">
                  <a:defRPr sz="919" b="1">
                    <a:solidFill>
                      <a:srgbClr val="198754"/>
                    </a:solidFill>
                    <a:latin typeface="Microsoft YaHei"/>
                  </a:defRPr>
                </a:pPr>
                <a:r>
                  <a:rPr sz="919" b="1" dirty="0">
                    <a:solidFill>
                      <a:srgbClr val="198754"/>
                    </a:solidFill>
                    <a:latin typeface="Microsoft YaHei"/>
                  </a:rPr>
                  <a:t>Correction</a:t>
                </a:r>
                <a:r>
                  <a:rPr lang="zh-CN" altLang="en-US" sz="919" b="1" dirty="0">
                    <a:solidFill>
                      <a:srgbClr val="198754"/>
                    </a:solidFill>
                    <a:latin typeface="Microsoft YaHei"/>
                  </a:rPr>
                  <a:t> 分支</a:t>
                </a:r>
                <a:endParaRPr sz="919" b="1" dirty="0">
                  <a:solidFill>
                    <a:srgbClr val="198754"/>
                  </a:solidFill>
                  <a:latin typeface="Microsoft YaHei"/>
                </a:endParaRPr>
              </a:p>
            </p:txBody>
          </p:sp>
          <p:sp>
            <p:nvSpPr>
              <p:cNvPr id="48" name="TextBox 32">
                <a:extLst>
                  <a:ext uri="{FF2B5EF4-FFF2-40B4-BE49-F238E27FC236}">
                    <a16:creationId xmlns:a16="http://schemas.microsoft.com/office/drawing/2014/main" id="{08F288F9-4B8F-F104-F739-D98314C3CEB0}"/>
                  </a:ext>
                </a:extLst>
              </p:cNvPr>
              <p:cNvSpPr txBox="1"/>
              <p:nvPr/>
            </p:nvSpPr>
            <p:spPr>
              <a:xfrm>
                <a:off x="8897112" y="4170171"/>
                <a:ext cx="1783080" cy="256032"/>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dirty="0">
                    <a:solidFill>
                      <a:srgbClr val="64748B"/>
                    </a:solidFill>
                    <a:latin typeface="Microsoft YaHei"/>
                  </a:rPr>
                  <a:t>temporal-adaptation branch</a:t>
                </a:r>
              </a:p>
            </p:txBody>
          </p:sp>
        </p:grpSp>
      </p:grpSp>
      <p:sp>
        <p:nvSpPr>
          <p:cNvPr id="87" name="s1t">
            <a:extLst>
              <a:ext uri="{FF2B5EF4-FFF2-40B4-BE49-F238E27FC236}">
                <a16:creationId xmlns:a16="http://schemas.microsoft.com/office/drawing/2014/main" id="{706FA2D4-CA04-03C0-AEB1-E51E6503ADD3}"/>
              </a:ext>
            </a:extLst>
          </p:cNvPr>
          <p:cNvSpPr txBox="1"/>
          <p:nvPr>
            <p:custDataLst>
              <p:tags r:id="rId1"/>
            </p:custDataLst>
          </p:nvPr>
        </p:nvSpPr>
        <p:spPr>
          <a:xfrm>
            <a:off x="796485" y="3315308"/>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有历史数据，</a:t>
            </a:r>
            <a:endParaRPr lang="en-US" altLang="zh-CN" sz="1000" dirty="0">
              <a:solidFill>
                <a:srgbClr val="4B5563"/>
              </a:solidFill>
              <a:latin typeface="Noto Sans SC" panose="020B0200000000000000" charset="-122"/>
              <a:ea typeface="Noto Sans SC" panose="020B0200000000000000" charset="-122"/>
              <a:cs typeface="Noto Sans SC" panose="020B0200000000000000" charset="-122"/>
            </a:endParaRPr>
          </a:p>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但不能处理新机制、依赖完整数据</a:t>
            </a:r>
          </a:p>
        </p:txBody>
      </p:sp>
      <p:sp>
        <p:nvSpPr>
          <p:cNvPr id="89" name="s1t">
            <a:extLst>
              <a:ext uri="{FF2B5EF4-FFF2-40B4-BE49-F238E27FC236}">
                <a16:creationId xmlns:a16="http://schemas.microsoft.com/office/drawing/2014/main" id="{7EFA362C-6C54-A4CA-FE71-CC9AF149E3E2}"/>
              </a:ext>
            </a:extLst>
          </p:cNvPr>
          <p:cNvSpPr txBox="1"/>
          <p:nvPr>
            <p:custDataLst>
              <p:tags r:id="rId2"/>
            </p:custDataLst>
          </p:nvPr>
        </p:nvSpPr>
        <p:spPr>
          <a:xfrm>
            <a:off x="3344297" y="3356781"/>
            <a:ext cx="1950085" cy="463736"/>
          </a:xfrm>
          <a:prstGeom prst="rect">
            <a:avLst/>
          </a:prstGeom>
          <a:noFill/>
          <a:ln>
            <a:noFill/>
          </a:ln>
        </p:spPr>
        <p:txBody>
          <a:bodyPr lIns="0" tIns="0" rIns="0" bIns="0" anchor="t"/>
          <a:lstStyle/>
          <a:p>
            <a:pPr algn="ctr">
              <a:lnSpc>
                <a:spcPct val="130000"/>
              </a:lnSpc>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能用先验，但数值校准不稳、推理效率低</a:t>
            </a:r>
          </a:p>
        </p:txBody>
      </p:sp>
      <p:sp>
        <p:nvSpPr>
          <p:cNvPr id="91" name="文本框 90">
            <a:extLst>
              <a:ext uri="{FF2B5EF4-FFF2-40B4-BE49-F238E27FC236}">
                <a16:creationId xmlns:a16="http://schemas.microsoft.com/office/drawing/2014/main" id="{D6827095-9CC1-FB7B-2D56-9CB6201948EC}"/>
              </a:ext>
            </a:extLst>
          </p:cNvPr>
          <p:cNvSpPr txBox="1"/>
          <p:nvPr/>
        </p:nvSpPr>
        <p:spPr>
          <a:xfrm>
            <a:off x="5621376" y="3515379"/>
            <a:ext cx="2878874" cy="290977"/>
          </a:xfrm>
          <a:prstGeom prst="rect">
            <a:avLst/>
          </a:prstGeom>
          <a:noFill/>
        </p:spPr>
        <p:txBody>
          <a:bodyPr wrap="square">
            <a:spAutoFit/>
          </a:bodyPr>
          <a:lstStyle/>
          <a:p>
            <a:pPr algn="ctr">
              <a:lnSpc>
                <a:spcPct val="130000"/>
              </a:lnSpc>
            </a:pPr>
            <a:r>
              <a:rPr lang="zh-CN" altLang="en-US" sz="1050" dirty="0">
                <a:solidFill>
                  <a:srgbClr val="4B5563"/>
                </a:solidFill>
                <a:latin typeface="Noto Sans SC" panose="020B0200000000000000" charset="-122"/>
                <a:ea typeface="Noto Sans SC" panose="020B0200000000000000" charset="-122"/>
                <a:cs typeface="Noto Sans SC" panose="020B0200000000000000" charset="-122"/>
              </a:rPr>
              <a:t>规则提升效率，低置信度回退，兼顾可解释性</a:t>
            </a:r>
          </a:p>
        </p:txBody>
      </p:sp>
      <p:sp>
        <p:nvSpPr>
          <p:cNvPr id="93" name="文本框 92">
            <a:extLst>
              <a:ext uri="{FF2B5EF4-FFF2-40B4-BE49-F238E27FC236}">
                <a16:creationId xmlns:a16="http://schemas.microsoft.com/office/drawing/2014/main" id="{9423A321-725B-1EBF-43AE-CF4A015AB9EC}"/>
              </a:ext>
            </a:extLst>
          </p:cNvPr>
          <p:cNvSpPr txBox="1"/>
          <p:nvPr/>
        </p:nvSpPr>
        <p:spPr>
          <a:xfrm>
            <a:off x="8007662" y="2676534"/>
            <a:ext cx="3117504" cy="272895"/>
          </a:xfrm>
          <a:prstGeom prst="rect">
            <a:avLst/>
          </a:prstGeom>
          <a:noFill/>
        </p:spPr>
        <p:txBody>
          <a:bodyPr wrap="square">
            <a:spAutoFit/>
          </a:bodyPr>
          <a:lstStyle/>
          <a:p>
            <a:pPr algn="ctr">
              <a:lnSpc>
                <a:spcPct val="130000"/>
              </a:lnSpc>
              <a:buSzTx/>
            </a:pPr>
            <a:r>
              <a:rPr lang="zh-CN" altLang="en-US" sz="1000" dirty="0">
                <a:solidFill>
                  <a:srgbClr val="4B5563"/>
                </a:solidFill>
                <a:latin typeface="Noto Sans SC" panose="020B0200000000000000" charset="-122"/>
                <a:ea typeface="Noto Sans SC" panose="020B0200000000000000" charset="-122"/>
                <a:cs typeface="Noto Sans SC" panose="020B0200000000000000" charset="-122"/>
              </a:rPr>
              <a:t>历史数据做数值锚定，LLM 事件先验做无标签修正</a:t>
            </a:r>
          </a:p>
        </p:txBody>
      </p:sp>
      <p:grpSp>
        <p:nvGrpSpPr>
          <p:cNvPr id="99" name="组合 98">
            <a:extLst>
              <a:ext uri="{FF2B5EF4-FFF2-40B4-BE49-F238E27FC236}">
                <a16:creationId xmlns:a16="http://schemas.microsoft.com/office/drawing/2014/main" id="{872F2847-1097-E327-BF18-5E757B9F5C5F}"/>
              </a:ext>
            </a:extLst>
          </p:cNvPr>
          <p:cNvGrpSpPr/>
          <p:nvPr/>
        </p:nvGrpSpPr>
        <p:grpSpPr>
          <a:xfrm>
            <a:off x="5192670" y="1299430"/>
            <a:ext cx="1640948" cy="929722"/>
            <a:chOff x="5358384" y="1848579"/>
            <a:chExt cx="1475234" cy="929722"/>
          </a:xfrm>
        </p:grpSpPr>
        <p:sp>
          <p:nvSpPr>
            <p:cNvPr id="96" name="Rounded Rectangle 26">
              <a:extLst>
                <a:ext uri="{FF2B5EF4-FFF2-40B4-BE49-F238E27FC236}">
                  <a16:creationId xmlns:a16="http://schemas.microsoft.com/office/drawing/2014/main" id="{26418A34-9692-D2A5-1070-81006D59AD0B}"/>
                </a:ext>
              </a:extLst>
            </p:cNvPr>
            <p:cNvSpPr/>
            <p:nvPr/>
          </p:nvSpPr>
          <p:spPr>
            <a:xfrm>
              <a:off x="5358384" y="1848579"/>
              <a:ext cx="1475234" cy="929722"/>
            </a:xfrm>
            <a:prstGeom prst="roundRect">
              <a:avLst/>
            </a:prstGeom>
            <a:solidFill>
              <a:srgbClr val="F8FAFC"/>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12">
              <a:extLst>
                <a:ext uri="{FF2B5EF4-FFF2-40B4-BE49-F238E27FC236}">
                  <a16:creationId xmlns:a16="http://schemas.microsoft.com/office/drawing/2014/main" id="{D88D0FB8-D06A-4635-6914-00A1221AD12B}"/>
                </a:ext>
              </a:extLst>
            </p:cNvPr>
            <p:cNvSpPr txBox="1"/>
            <p:nvPr/>
          </p:nvSpPr>
          <p:spPr>
            <a:xfrm>
              <a:off x="5449824" y="1960775"/>
              <a:ext cx="1216699" cy="203133"/>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lang="zh-CN" altLang="en-US" sz="1200" b="1" dirty="0">
                  <a:solidFill>
                    <a:srgbClr val="0F172A"/>
                  </a:solidFill>
                  <a:latin typeface="Microsoft YaHei"/>
                </a:rPr>
                <a:t>分支取决于样本</a:t>
              </a:r>
              <a:endParaRPr sz="1200" b="1" dirty="0">
                <a:solidFill>
                  <a:srgbClr val="0F172A"/>
                </a:solidFill>
                <a:latin typeface="Microsoft YaHei"/>
              </a:endParaRPr>
            </a:p>
          </p:txBody>
        </p:sp>
        <p:sp>
          <p:nvSpPr>
            <p:cNvPr id="98" name="TextBox 13">
              <a:extLst>
                <a:ext uri="{FF2B5EF4-FFF2-40B4-BE49-F238E27FC236}">
                  <a16:creationId xmlns:a16="http://schemas.microsoft.com/office/drawing/2014/main" id="{DB1D393D-230E-9EE1-9DC6-E056A1926BDD}"/>
                </a:ext>
              </a:extLst>
            </p:cNvPr>
            <p:cNvSpPr txBox="1"/>
            <p:nvPr/>
          </p:nvSpPr>
          <p:spPr>
            <a:xfrm>
              <a:off x="5449824" y="2330763"/>
              <a:ext cx="1138545" cy="341632"/>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lang="zh-CN" altLang="en-US" sz="1050" b="0" dirty="0">
                  <a:solidFill>
                    <a:srgbClr val="64748B"/>
                  </a:solidFill>
                  <a:latin typeface="Microsoft YaHei"/>
                </a:rPr>
                <a:t>场景</a:t>
              </a:r>
              <a:r>
                <a:rPr lang="en-US" altLang="zh-CN" sz="1050" b="0" dirty="0">
                  <a:solidFill>
                    <a:srgbClr val="64748B"/>
                  </a:solidFill>
                  <a:latin typeface="Microsoft YaHei"/>
                </a:rPr>
                <a:t>AB</a:t>
              </a:r>
              <a:r>
                <a:rPr lang="zh-CN" altLang="en-US" sz="1050" b="0" dirty="0">
                  <a:solidFill>
                    <a:srgbClr val="64748B"/>
                  </a:solidFill>
                  <a:latin typeface="Microsoft YaHei"/>
                </a:rPr>
                <a:t>选择</a:t>
              </a:r>
              <a:endParaRPr lang="en-US" altLang="zh-CN" sz="1050" b="0" dirty="0">
                <a:solidFill>
                  <a:srgbClr val="64748B"/>
                </a:solidFill>
                <a:latin typeface="Microsoft YaHei"/>
              </a:endParaRPr>
            </a:p>
            <a:p>
              <a:pPr algn="l">
                <a:defRPr sz="1200" b="0">
                  <a:solidFill>
                    <a:srgbClr val="64748B"/>
                  </a:solidFill>
                  <a:latin typeface="Microsoft YaHei"/>
                </a:defRPr>
              </a:pPr>
              <a:r>
                <a:rPr lang="zh-CN" altLang="en-US" sz="1050" b="0" dirty="0">
                  <a:solidFill>
                    <a:srgbClr val="64748B"/>
                  </a:solidFill>
                  <a:latin typeface="Microsoft YaHei"/>
                </a:rPr>
                <a:t>不同分支</a:t>
              </a:r>
              <a:endParaRPr sz="1050" b="0" dirty="0">
                <a:solidFill>
                  <a:srgbClr val="64748B"/>
                </a:solidFill>
                <a:latin typeface="Microsoft YaHei"/>
              </a:endParaRPr>
            </a:p>
          </p:txBody>
        </p:sp>
      </p:grpSp>
      <p:sp>
        <p:nvSpPr>
          <p:cNvPr id="31" name="Right Arrow 25">
            <a:extLst>
              <a:ext uri="{FF2B5EF4-FFF2-40B4-BE49-F238E27FC236}">
                <a16:creationId xmlns:a16="http://schemas.microsoft.com/office/drawing/2014/main" id="{79DB46A3-80C7-DEDB-0C59-4583764ECCC3}"/>
              </a:ext>
            </a:extLst>
          </p:cNvPr>
          <p:cNvSpPr/>
          <p:nvPr/>
        </p:nvSpPr>
        <p:spPr>
          <a:xfrm rot="5400000">
            <a:off x="9395456" y="3623714"/>
            <a:ext cx="429772" cy="457121"/>
          </a:xfrm>
          <a:prstGeom prst="rightArrow">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1" name="组合 40">
            <a:extLst>
              <a:ext uri="{FF2B5EF4-FFF2-40B4-BE49-F238E27FC236}">
                <a16:creationId xmlns:a16="http://schemas.microsoft.com/office/drawing/2014/main" id="{080F315C-78E4-5BF4-E0E1-9D1B79EF446A}"/>
              </a:ext>
            </a:extLst>
          </p:cNvPr>
          <p:cNvGrpSpPr/>
          <p:nvPr/>
        </p:nvGrpSpPr>
        <p:grpSpPr>
          <a:xfrm>
            <a:off x="886968" y="3973067"/>
            <a:ext cx="6748271" cy="896112"/>
            <a:chOff x="886968" y="1078992"/>
            <a:chExt cx="6748271" cy="896112"/>
          </a:xfrm>
        </p:grpSpPr>
        <p:sp>
          <p:nvSpPr>
            <p:cNvPr id="42" name="TextBox 10">
              <a:extLst>
                <a:ext uri="{FF2B5EF4-FFF2-40B4-BE49-F238E27FC236}">
                  <a16:creationId xmlns:a16="http://schemas.microsoft.com/office/drawing/2014/main" id="{9D96EF1B-3EB3-FA76-0411-20D67219C450}"/>
                </a:ext>
              </a:extLst>
            </p:cNvPr>
            <p:cNvSpPr txBox="1"/>
            <p:nvPr/>
          </p:nvSpPr>
          <p:spPr>
            <a:xfrm>
              <a:off x="886968" y="1078992"/>
              <a:ext cx="2148840" cy="201168"/>
            </a:xfrm>
            <a:prstGeom prst="rect">
              <a:avLst/>
            </a:prstGeom>
            <a:noFill/>
          </p:spPr>
          <p:txBody>
            <a:bodyPr wrap="square" lIns="27432" tIns="9144" rIns="27432" bIns="9144" anchor="ctr">
              <a:spAutoFit/>
            </a:bodyPr>
            <a:lstStyle/>
            <a:p>
              <a:pPr algn="l">
                <a:defRPr sz="950" b="1">
                  <a:solidFill>
                    <a:srgbClr val="2563EB"/>
                  </a:solidFill>
                  <a:latin typeface="Microsoft YaHei"/>
                </a:defRPr>
              </a:pPr>
              <a:r>
                <a:rPr sz="950" b="1" dirty="0">
                  <a:solidFill>
                    <a:srgbClr val="2563EB"/>
                  </a:solidFill>
                  <a:latin typeface="Microsoft YaHei"/>
                </a:rPr>
                <a:t>Historical routine branch</a:t>
              </a:r>
            </a:p>
          </p:txBody>
        </p:sp>
        <p:grpSp>
          <p:nvGrpSpPr>
            <p:cNvPr id="43" name="组合 42">
              <a:extLst>
                <a:ext uri="{FF2B5EF4-FFF2-40B4-BE49-F238E27FC236}">
                  <a16:creationId xmlns:a16="http://schemas.microsoft.com/office/drawing/2014/main" id="{9CA91260-9546-C103-6158-314207715529}"/>
                </a:ext>
              </a:extLst>
            </p:cNvPr>
            <p:cNvGrpSpPr/>
            <p:nvPr/>
          </p:nvGrpSpPr>
          <p:grpSpPr>
            <a:xfrm>
              <a:off x="914400" y="1353312"/>
              <a:ext cx="1874519" cy="621792"/>
              <a:chOff x="914400" y="1353312"/>
              <a:chExt cx="1874519" cy="621792"/>
            </a:xfrm>
          </p:grpSpPr>
          <p:sp>
            <p:nvSpPr>
              <p:cNvPr id="59" name="Rounded Rectangle 11">
                <a:extLst>
                  <a:ext uri="{FF2B5EF4-FFF2-40B4-BE49-F238E27FC236}">
                    <a16:creationId xmlns:a16="http://schemas.microsoft.com/office/drawing/2014/main" id="{099780E4-C12E-742A-4C2E-5EC7E6F307D2}"/>
                  </a:ext>
                </a:extLst>
              </p:cNvPr>
              <p:cNvSpPr/>
              <p:nvPr/>
            </p:nvSpPr>
            <p:spPr>
              <a:xfrm>
                <a:off x="914400" y="1353312"/>
                <a:ext cx="1874519" cy="621792"/>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12">
                <a:extLst>
                  <a:ext uri="{FF2B5EF4-FFF2-40B4-BE49-F238E27FC236}">
                    <a16:creationId xmlns:a16="http://schemas.microsoft.com/office/drawing/2014/main" id="{BF7E9F35-F959-8D5B-84AE-11DFD36FCA2E}"/>
                  </a:ext>
                </a:extLst>
              </p:cNvPr>
              <p:cNvSpPr txBox="1"/>
              <p:nvPr/>
            </p:nvSpPr>
            <p:spPr>
              <a:xfrm>
                <a:off x="987552" y="1417320"/>
                <a:ext cx="1728216" cy="182880"/>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sz="919" b="1">
                    <a:solidFill>
                      <a:srgbClr val="2563EB"/>
                    </a:solidFill>
                    <a:latin typeface="Microsoft YaHei"/>
                  </a:rPr>
                  <a:t>NHTS history</a:t>
                </a:r>
              </a:p>
            </p:txBody>
          </p:sp>
          <p:sp>
            <p:nvSpPr>
              <p:cNvPr id="61" name="TextBox 13">
                <a:extLst>
                  <a:ext uri="{FF2B5EF4-FFF2-40B4-BE49-F238E27FC236}">
                    <a16:creationId xmlns:a16="http://schemas.microsoft.com/office/drawing/2014/main" id="{DE27C506-D325-6CFF-70C3-4F137DC413C0}"/>
                  </a:ext>
                </a:extLst>
              </p:cNvPr>
              <p:cNvSpPr txBox="1"/>
              <p:nvPr/>
            </p:nvSpPr>
            <p:spPr>
              <a:xfrm>
                <a:off x="1005840" y="163677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2001 / 2009 / 2017</a:t>
                </a:r>
              </a:p>
            </p:txBody>
          </p:sp>
        </p:grpSp>
        <p:sp>
          <p:nvSpPr>
            <p:cNvPr id="49" name="Right Arrow 14">
              <a:extLst>
                <a:ext uri="{FF2B5EF4-FFF2-40B4-BE49-F238E27FC236}">
                  <a16:creationId xmlns:a16="http://schemas.microsoft.com/office/drawing/2014/main" id="{6211BAFF-A50D-950E-902D-C1BFBBEFDD4E}"/>
                </a:ext>
              </a:extLst>
            </p:cNvPr>
            <p:cNvSpPr/>
            <p:nvPr/>
          </p:nvSpPr>
          <p:spPr>
            <a:xfrm>
              <a:off x="2862072" y="1591056"/>
              <a:ext cx="347472"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0" name="组合 49">
              <a:extLst>
                <a:ext uri="{FF2B5EF4-FFF2-40B4-BE49-F238E27FC236}">
                  <a16:creationId xmlns:a16="http://schemas.microsoft.com/office/drawing/2014/main" id="{FC7C8E8F-0C38-EA71-F2CC-42293E11C188}"/>
                </a:ext>
              </a:extLst>
            </p:cNvPr>
            <p:cNvGrpSpPr/>
            <p:nvPr/>
          </p:nvGrpSpPr>
          <p:grpSpPr>
            <a:xfrm>
              <a:off x="3337560" y="1353312"/>
              <a:ext cx="1874519" cy="621792"/>
              <a:chOff x="3337560" y="1353312"/>
              <a:chExt cx="1874519" cy="621792"/>
            </a:xfrm>
          </p:grpSpPr>
          <p:sp>
            <p:nvSpPr>
              <p:cNvPr id="56" name="Rounded Rectangle 15">
                <a:extLst>
                  <a:ext uri="{FF2B5EF4-FFF2-40B4-BE49-F238E27FC236}">
                    <a16:creationId xmlns:a16="http://schemas.microsoft.com/office/drawing/2014/main" id="{620BDD12-3938-9AD4-EF0E-98B1C8E1B3E7}"/>
                  </a:ext>
                </a:extLst>
              </p:cNvPr>
              <p:cNvSpPr/>
              <p:nvPr/>
            </p:nvSpPr>
            <p:spPr>
              <a:xfrm>
                <a:off x="3337560" y="1353312"/>
                <a:ext cx="1874519" cy="621792"/>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16">
                <a:extLst>
                  <a:ext uri="{FF2B5EF4-FFF2-40B4-BE49-F238E27FC236}">
                    <a16:creationId xmlns:a16="http://schemas.microsoft.com/office/drawing/2014/main" id="{7465772E-5126-0303-3B7B-93680BA1DB79}"/>
                  </a:ext>
                </a:extLst>
              </p:cNvPr>
              <p:cNvSpPr txBox="1"/>
              <p:nvPr/>
            </p:nvSpPr>
            <p:spPr>
              <a:xfrm>
                <a:off x="3410712" y="1417320"/>
                <a:ext cx="1728216" cy="182880"/>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sz="919" b="1">
                    <a:solidFill>
                      <a:srgbClr val="2563EB"/>
                    </a:solidFill>
                    <a:latin typeface="Microsoft YaHei"/>
                  </a:rPr>
                  <a:t>Feature harmonization</a:t>
                </a:r>
              </a:p>
            </p:txBody>
          </p:sp>
          <p:sp>
            <p:nvSpPr>
              <p:cNvPr id="58" name="TextBox 17">
                <a:extLst>
                  <a:ext uri="{FF2B5EF4-FFF2-40B4-BE49-F238E27FC236}">
                    <a16:creationId xmlns:a16="http://schemas.microsoft.com/office/drawing/2014/main" id="{9D94980F-D430-1355-B8AF-90F706143EB5}"/>
                  </a:ext>
                </a:extLst>
              </p:cNvPr>
              <p:cNvSpPr txBox="1"/>
              <p:nvPr/>
            </p:nvSpPr>
            <p:spPr>
              <a:xfrm>
                <a:off x="3429000" y="163677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same household schema</a:t>
                </a:r>
              </a:p>
            </p:txBody>
          </p:sp>
        </p:grpSp>
        <p:sp>
          <p:nvSpPr>
            <p:cNvPr id="51" name="Right Arrow 18">
              <a:extLst>
                <a:ext uri="{FF2B5EF4-FFF2-40B4-BE49-F238E27FC236}">
                  <a16:creationId xmlns:a16="http://schemas.microsoft.com/office/drawing/2014/main" id="{21074D7E-AA49-FAC6-8F59-5B3AF8495E5A}"/>
                </a:ext>
              </a:extLst>
            </p:cNvPr>
            <p:cNvSpPr/>
            <p:nvPr/>
          </p:nvSpPr>
          <p:spPr>
            <a:xfrm>
              <a:off x="5285231" y="1591056"/>
              <a:ext cx="347472"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2" name="组合 51">
              <a:extLst>
                <a:ext uri="{FF2B5EF4-FFF2-40B4-BE49-F238E27FC236}">
                  <a16:creationId xmlns:a16="http://schemas.microsoft.com/office/drawing/2014/main" id="{7791C074-A065-3276-CB21-66A04D0CFF2F}"/>
                </a:ext>
              </a:extLst>
            </p:cNvPr>
            <p:cNvGrpSpPr/>
            <p:nvPr/>
          </p:nvGrpSpPr>
          <p:grpSpPr>
            <a:xfrm>
              <a:off x="5760720" y="1353312"/>
              <a:ext cx="1874519" cy="621792"/>
              <a:chOff x="5760720" y="1353312"/>
              <a:chExt cx="1874519" cy="621792"/>
            </a:xfrm>
          </p:grpSpPr>
          <p:sp>
            <p:nvSpPr>
              <p:cNvPr id="53" name="Rounded Rectangle 19">
                <a:extLst>
                  <a:ext uri="{FF2B5EF4-FFF2-40B4-BE49-F238E27FC236}">
                    <a16:creationId xmlns:a16="http://schemas.microsoft.com/office/drawing/2014/main" id="{9E6009EB-6946-40E0-EC44-A6DE365FBE2C}"/>
                  </a:ext>
                </a:extLst>
              </p:cNvPr>
              <p:cNvSpPr/>
              <p:nvPr/>
            </p:nvSpPr>
            <p:spPr>
              <a:xfrm>
                <a:off x="5760720" y="1353312"/>
                <a:ext cx="1874519" cy="621792"/>
              </a:xfrm>
              <a:prstGeom prst="roundRect">
                <a:avLst/>
              </a:prstGeom>
              <a:solidFill>
                <a:srgbClr val="FFFF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20">
                <a:extLst>
                  <a:ext uri="{FF2B5EF4-FFF2-40B4-BE49-F238E27FC236}">
                    <a16:creationId xmlns:a16="http://schemas.microsoft.com/office/drawing/2014/main" id="{75825103-40E2-3C76-65DF-B0A5F327D280}"/>
                  </a:ext>
                </a:extLst>
              </p:cNvPr>
              <p:cNvSpPr txBox="1"/>
              <p:nvPr/>
            </p:nvSpPr>
            <p:spPr>
              <a:xfrm>
                <a:off x="5833872" y="1417320"/>
                <a:ext cx="1728216" cy="182880"/>
              </a:xfrm>
              <a:prstGeom prst="rect">
                <a:avLst/>
              </a:prstGeom>
              <a:noFill/>
            </p:spPr>
            <p:txBody>
              <a:bodyPr wrap="square" lIns="27432" tIns="9144" rIns="27432" bIns="9144" anchor="ctr">
                <a:spAutoFit/>
              </a:bodyPr>
              <a:lstStyle/>
              <a:p>
                <a:pPr algn="ctr">
                  <a:defRPr sz="919" b="1">
                    <a:solidFill>
                      <a:srgbClr val="2563EB"/>
                    </a:solidFill>
                    <a:latin typeface="Microsoft YaHei"/>
                  </a:defRPr>
                </a:pPr>
                <a:r>
                  <a:rPr sz="919" b="1">
                    <a:solidFill>
                      <a:srgbClr val="2563EB"/>
                    </a:solidFill>
                    <a:latin typeface="Microsoft YaHei"/>
                  </a:rPr>
                  <a:t>XGBoost CUDA</a:t>
                </a:r>
              </a:p>
            </p:txBody>
          </p:sp>
          <p:sp>
            <p:nvSpPr>
              <p:cNvPr id="55" name="TextBox 21">
                <a:extLst>
                  <a:ext uri="{FF2B5EF4-FFF2-40B4-BE49-F238E27FC236}">
                    <a16:creationId xmlns:a16="http://schemas.microsoft.com/office/drawing/2014/main" id="{7ED269F4-D215-DBB6-0121-C91D2EC5051E}"/>
                  </a:ext>
                </a:extLst>
              </p:cNvPr>
              <p:cNvSpPr txBox="1"/>
              <p:nvPr/>
            </p:nvSpPr>
            <p:spPr>
              <a:xfrm>
                <a:off x="5852159" y="163677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learn f_hist(X)</a:t>
                </a:r>
              </a:p>
            </p:txBody>
          </p:sp>
        </p:grpSp>
      </p:grpSp>
      <p:grpSp>
        <p:nvGrpSpPr>
          <p:cNvPr id="62" name="组合 61">
            <a:extLst>
              <a:ext uri="{FF2B5EF4-FFF2-40B4-BE49-F238E27FC236}">
                <a16:creationId xmlns:a16="http://schemas.microsoft.com/office/drawing/2014/main" id="{5F717B01-4B3E-E8EE-AE0D-E95A5FF4833C}"/>
              </a:ext>
            </a:extLst>
          </p:cNvPr>
          <p:cNvGrpSpPr/>
          <p:nvPr/>
        </p:nvGrpSpPr>
        <p:grpSpPr>
          <a:xfrm>
            <a:off x="886213" y="4877493"/>
            <a:ext cx="6749026" cy="896112"/>
            <a:chOff x="886213" y="2359152"/>
            <a:chExt cx="6749026" cy="896112"/>
          </a:xfrm>
        </p:grpSpPr>
        <p:sp>
          <p:nvSpPr>
            <p:cNvPr id="63" name="TextBox 22">
              <a:extLst>
                <a:ext uri="{FF2B5EF4-FFF2-40B4-BE49-F238E27FC236}">
                  <a16:creationId xmlns:a16="http://schemas.microsoft.com/office/drawing/2014/main" id="{5A8F6784-900C-0457-FE56-ED05EC50321C}"/>
                </a:ext>
              </a:extLst>
            </p:cNvPr>
            <p:cNvSpPr txBox="1"/>
            <p:nvPr/>
          </p:nvSpPr>
          <p:spPr>
            <a:xfrm>
              <a:off x="886213" y="2359152"/>
              <a:ext cx="2971800" cy="201168"/>
            </a:xfrm>
            <a:prstGeom prst="rect">
              <a:avLst/>
            </a:prstGeom>
            <a:noFill/>
          </p:spPr>
          <p:txBody>
            <a:bodyPr wrap="square" lIns="27432" tIns="9144" rIns="27432" bIns="9144" anchor="ctr">
              <a:spAutoFit/>
            </a:bodyPr>
            <a:lstStyle/>
            <a:p>
              <a:pPr algn="l">
                <a:defRPr sz="950" b="1">
                  <a:solidFill>
                    <a:srgbClr val="EA580C"/>
                  </a:solidFill>
                  <a:latin typeface="Microsoft YaHei"/>
                </a:defRPr>
              </a:pPr>
              <a:r>
                <a:rPr sz="950" b="1" dirty="0">
                  <a:solidFill>
                    <a:srgbClr val="EA580C"/>
                  </a:solidFill>
                  <a:latin typeface="Microsoft YaHei"/>
                </a:rPr>
                <a:t>LLM context-prior / selector branch</a:t>
              </a:r>
            </a:p>
          </p:txBody>
        </p:sp>
        <p:grpSp>
          <p:nvGrpSpPr>
            <p:cNvPr id="64" name="组合 63">
              <a:extLst>
                <a:ext uri="{FF2B5EF4-FFF2-40B4-BE49-F238E27FC236}">
                  <a16:creationId xmlns:a16="http://schemas.microsoft.com/office/drawing/2014/main" id="{BA01E501-7B38-2467-CFAB-73AC1BFA904E}"/>
                </a:ext>
              </a:extLst>
            </p:cNvPr>
            <p:cNvGrpSpPr/>
            <p:nvPr/>
          </p:nvGrpSpPr>
          <p:grpSpPr>
            <a:xfrm>
              <a:off x="914400" y="2633472"/>
              <a:ext cx="1874519" cy="621792"/>
              <a:chOff x="914400" y="2633472"/>
              <a:chExt cx="1874519" cy="621792"/>
            </a:xfrm>
          </p:grpSpPr>
          <p:sp>
            <p:nvSpPr>
              <p:cNvPr id="79" name="Rounded Rectangle 23">
                <a:extLst>
                  <a:ext uri="{FF2B5EF4-FFF2-40B4-BE49-F238E27FC236}">
                    <a16:creationId xmlns:a16="http://schemas.microsoft.com/office/drawing/2014/main" id="{B71114BE-F0BC-8EF5-1558-D677E75177BB}"/>
                  </a:ext>
                </a:extLst>
              </p:cNvPr>
              <p:cNvSpPr/>
              <p:nvPr/>
            </p:nvSpPr>
            <p:spPr>
              <a:xfrm>
                <a:off x="914400" y="2633472"/>
                <a:ext cx="1874519" cy="621792"/>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24">
                <a:extLst>
                  <a:ext uri="{FF2B5EF4-FFF2-40B4-BE49-F238E27FC236}">
                    <a16:creationId xmlns:a16="http://schemas.microsoft.com/office/drawing/2014/main" id="{EBA9F71A-9524-0994-1213-AB7CF8A7E840}"/>
                  </a:ext>
                </a:extLst>
              </p:cNvPr>
              <p:cNvSpPr txBox="1"/>
              <p:nvPr/>
            </p:nvSpPr>
            <p:spPr>
              <a:xfrm>
                <a:off x="987552" y="2697479"/>
                <a:ext cx="1728216" cy="182880"/>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sz="919" b="1">
                    <a:solidFill>
                      <a:srgbClr val="EA580C"/>
                    </a:solidFill>
                    <a:latin typeface="Microsoft YaHei"/>
                  </a:rPr>
                  <a:t>Target-year profile</a:t>
                </a:r>
              </a:p>
            </p:txBody>
          </p:sp>
          <p:sp>
            <p:nvSpPr>
              <p:cNvPr id="81" name="TextBox 25">
                <a:extLst>
                  <a:ext uri="{FF2B5EF4-FFF2-40B4-BE49-F238E27FC236}">
                    <a16:creationId xmlns:a16="http://schemas.microsoft.com/office/drawing/2014/main" id="{E23F7168-FD8F-3AE8-9C3F-DADAA3AA5110}"/>
                  </a:ext>
                </a:extLst>
              </p:cNvPr>
              <p:cNvSpPr txBox="1"/>
              <p:nvPr/>
            </p:nvSpPr>
            <p:spPr>
              <a:xfrm>
                <a:off x="1005840" y="291693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aggregated households</a:t>
                </a:r>
              </a:p>
            </p:txBody>
          </p:sp>
        </p:grpSp>
        <p:sp>
          <p:nvSpPr>
            <p:cNvPr id="65" name="Right Arrow 26">
              <a:extLst>
                <a:ext uri="{FF2B5EF4-FFF2-40B4-BE49-F238E27FC236}">
                  <a16:creationId xmlns:a16="http://schemas.microsoft.com/office/drawing/2014/main" id="{99E22DBA-AFD3-408E-8591-604745AD8DD7}"/>
                </a:ext>
              </a:extLst>
            </p:cNvPr>
            <p:cNvSpPr/>
            <p:nvPr/>
          </p:nvSpPr>
          <p:spPr>
            <a:xfrm>
              <a:off x="2862072" y="2871216"/>
              <a:ext cx="347472"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6" name="组合 65">
              <a:extLst>
                <a:ext uri="{FF2B5EF4-FFF2-40B4-BE49-F238E27FC236}">
                  <a16:creationId xmlns:a16="http://schemas.microsoft.com/office/drawing/2014/main" id="{E4350CA4-AA2C-D340-278E-6A7B9C387D22}"/>
                </a:ext>
              </a:extLst>
            </p:cNvPr>
            <p:cNvGrpSpPr/>
            <p:nvPr/>
          </p:nvGrpSpPr>
          <p:grpSpPr>
            <a:xfrm>
              <a:off x="3337560" y="2633472"/>
              <a:ext cx="1874519" cy="621792"/>
              <a:chOff x="3337560" y="2633472"/>
              <a:chExt cx="1874519" cy="621792"/>
            </a:xfrm>
          </p:grpSpPr>
          <p:sp>
            <p:nvSpPr>
              <p:cNvPr id="72" name="Rounded Rectangle 27">
                <a:extLst>
                  <a:ext uri="{FF2B5EF4-FFF2-40B4-BE49-F238E27FC236}">
                    <a16:creationId xmlns:a16="http://schemas.microsoft.com/office/drawing/2014/main" id="{83147FA1-32FA-B308-7E4A-07D5BB626293}"/>
                  </a:ext>
                </a:extLst>
              </p:cNvPr>
              <p:cNvSpPr/>
              <p:nvPr/>
            </p:nvSpPr>
            <p:spPr>
              <a:xfrm>
                <a:off x="3337560" y="2633472"/>
                <a:ext cx="1874519" cy="621792"/>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28">
                <a:extLst>
                  <a:ext uri="{FF2B5EF4-FFF2-40B4-BE49-F238E27FC236}">
                    <a16:creationId xmlns:a16="http://schemas.microsoft.com/office/drawing/2014/main" id="{8A037A03-FD24-2F2B-6F2A-0911B0686864}"/>
                  </a:ext>
                </a:extLst>
              </p:cNvPr>
              <p:cNvSpPr txBox="1"/>
              <p:nvPr/>
            </p:nvSpPr>
            <p:spPr>
              <a:xfrm>
                <a:off x="3410712" y="2697479"/>
                <a:ext cx="1728216" cy="182880"/>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sz="919" b="1">
                    <a:solidFill>
                      <a:srgbClr val="EA580C"/>
                    </a:solidFill>
                    <a:latin typeface="Microsoft YaHei"/>
                  </a:rPr>
                  <a:t>GPT-5.5 prompt</a:t>
                </a:r>
              </a:p>
            </p:txBody>
          </p:sp>
          <p:sp>
            <p:nvSpPr>
              <p:cNvPr id="74" name="TextBox 29">
                <a:extLst>
                  <a:ext uri="{FF2B5EF4-FFF2-40B4-BE49-F238E27FC236}">
                    <a16:creationId xmlns:a16="http://schemas.microsoft.com/office/drawing/2014/main" id="{64080606-4BB8-CD76-5E3A-481131AEEE8A}"/>
                  </a:ext>
                </a:extLst>
              </p:cNvPr>
              <p:cNvSpPr txBox="1"/>
              <p:nvPr/>
            </p:nvSpPr>
            <p:spPr>
              <a:xfrm>
                <a:off x="3429000" y="291693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context + rule signals</a:t>
                </a:r>
              </a:p>
            </p:txBody>
          </p:sp>
        </p:grpSp>
        <p:sp>
          <p:nvSpPr>
            <p:cNvPr id="67" name="Right Arrow 30">
              <a:extLst>
                <a:ext uri="{FF2B5EF4-FFF2-40B4-BE49-F238E27FC236}">
                  <a16:creationId xmlns:a16="http://schemas.microsoft.com/office/drawing/2014/main" id="{30D4E56D-8D02-D929-D0CF-1AB3E5D3F4BC}"/>
                </a:ext>
              </a:extLst>
            </p:cNvPr>
            <p:cNvSpPr/>
            <p:nvPr/>
          </p:nvSpPr>
          <p:spPr>
            <a:xfrm>
              <a:off x="5285231" y="2871216"/>
              <a:ext cx="347472"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8" name="组合 67">
              <a:extLst>
                <a:ext uri="{FF2B5EF4-FFF2-40B4-BE49-F238E27FC236}">
                  <a16:creationId xmlns:a16="http://schemas.microsoft.com/office/drawing/2014/main" id="{FF6A1166-83BB-B12A-935F-541E00BD2F5E}"/>
                </a:ext>
              </a:extLst>
            </p:cNvPr>
            <p:cNvGrpSpPr/>
            <p:nvPr/>
          </p:nvGrpSpPr>
          <p:grpSpPr>
            <a:xfrm>
              <a:off x="5760720" y="2633472"/>
              <a:ext cx="1874519" cy="621792"/>
              <a:chOff x="5760720" y="2633472"/>
              <a:chExt cx="1874519" cy="621792"/>
            </a:xfrm>
          </p:grpSpPr>
          <p:sp>
            <p:nvSpPr>
              <p:cNvPr id="69" name="Rounded Rectangle 31">
                <a:extLst>
                  <a:ext uri="{FF2B5EF4-FFF2-40B4-BE49-F238E27FC236}">
                    <a16:creationId xmlns:a16="http://schemas.microsoft.com/office/drawing/2014/main" id="{959CF424-AF7F-40C8-ABD1-279D8C7E6F0A}"/>
                  </a:ext>
                </a:extLst>
              </p:cNvPr>
              <p:cNvSpPr/>
              <p:nvPr/>
            </p:nvSpPr>
            <p:spPr>
              <a:xfrm>
                <a:off x="5760720" y="2633472"/>
                <a:ext cx="1874519" cy="621792"/>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32">
                <a:extLst>
                  <a:ext uri="{FF2B5EF4-FFF2-40B4-BE49-F238E27FC236}">
                    <a16:creationId xmlns:a16="http://schemas.microsoft.com/office/drawing/2014/main" id="{1910B0CE-4DD2-6CFC-C740-A64FCF18F9DD}"/>
                  </a:ext>
                </a:extLst>
              </p:cNvPr>
              <p:cNvSpPr txBox="1"/>
              <p:nvPr/>
            </p:nvSpPr>
            <p:spPr>
              <a:xfrm>
                <a:off x="5833872" y="2697479"/>
                <a:ext cx="1728216" cy="182880"/>
              </a:xfrm>
              <a:prstGeom prst="rect">
                <a:avLst/>
              </a:prstGeom>
              <a:noFill/>
            </p:spPr>
            <p:txBody>
              <a:bodyPr wrap="square" lIns="27432" tIns="9144" rIns="27432" bIns="9144" anchor="ctr">
                <a:spAutoFit/>
              </a:bodyPr>
              <a:lstStyle/>
              <a:p>
                <a:pPr algn="ctr">
                  <a:defRPr sz="919" b="1">
                    <a:solidFill>
                      <a:srgbClr val="EA580C"/>
                    </a:solidFill>
                    <a:latin typeface="Microsoft YaHei"/>
                  </a:defRPr>
                </a:pPr>
                <a:r>
                  <a:rPr sz="919" b="1">
                    <a:solidFill>
                      <a:srgbClr val="EA580C"/>
                    </a:solidFill>
                    <a:latin typeface="Microsoft YaHei"/>
                  </a:rPr>
                  <a:t>Validated priors</a:t>
                </a:r>
              </a:p>
            </p:txBody>
          </p:sp>
          <p:sp>
            <p:nvSpPr>
              <p:cNvPr id="71" name="TextBox 33">
                <a:extLst>
                  <a:ext uri="{FF2B5EF4-FFF2-40B4-BE49-F238E27FC236}">
                    <a16:creationId xmlns:a16="http://schemas.microsoft.com/office/drawing/2014/main" id="{0A64A9D2-A09A-DC3B-6AE9-A745C223CA17}"/>
                  </a:ext>
                </a:extLst>
              </p:cNvPr>
              <p:cNvSpPr txBox="1"/>
              <p:nvPr/>
            </p:nvSpPr>
            <p:spPr>
              <a:xfrm>
                <a:off x="5852159" y="2916936"/>
                <a:ext cx="1691639" cy="283464"/>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s_event + selector</a:t>
                </a:r>
              </a:p>
            </p:txBody>
          </p:sp>
        </p:grpSp>
      </p:grpSp>
      <p:grpSp>
        <p:nvGrpSpPr>
          <p:cNvPr id="128" name="组合 127">
            <a:extLst>
              <a:ext uri="{FF2B5EF4-FFF2-40B4-BE49-F238E27FC236}">
                <a16:creationId xmlns:a16="http://schemas.microsoft.com/office/drawing/2014/main" id="{2ED06597-8CB3-B919-B32D-82D26515AF56}"/>
              </a:ext>
            </a:extLst>
          </p:cNvPr>
          <p:cNvGrpSpPr/>
          <p:nvPr/>
        </p:nvGrpSpPr>
        <p:grpSpPr>
          <a:xfrm>
            <a:off x="886212" y="5993890"/>
            <a:ext cx="6767315" cy="669731"/>
            <a:chOff x="886212" y="5993890"/>
            <a:chExt cx="6767315" cy="784726"/>
          </a:xfrm>
        </p:grpSpPr>
        <p:sp>
          <p:nvSpPr>
            <p:cNvPr id="82" name="Rounded Rectangle 34">
              <a:extLst>
                <a:ext uri="{FF2B5EF4-FFF2-40B4-BE49-F238E27FC236}">
                  <a16:creationId xmlns:a16="http://schemas.microsoft.com/office/drawing/2014/main" id="{7EA90749-C1D3-F1A2-10D8-5CFD411F943D}"/>
                </a:ext>
              </a:extLst>
            </p:cNvPr>
            <p:cNvSpPr/>
            <p:nvPr/>
          </p:nvSpPr>
          <p:spPr>
            <a:xfrm>
              <a:off x="886212" y="5993890"/>
              <a:ext cx="6767315" cy="784726"/>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35">
              <a:extLst>
                <a:ext uri="{FF2B5EF4-FFF2-40B4-BE49-F238E27FC236}">
                  <a16:creationId xmlns:a16="http://schemas.microsoft.com/office/drawing/2014/main" id="{6C7756C6-2E89-487B-D183-992F63D12C3F}"/>
                </a:ext>
              </a:extLst>
            </p:cNvPr>
            <p:cNvSpPr txBox="1"/>
            <p:nvPr/>
          </p:nvSpPr>
          <p:spPr>
            <a:xfrm>
              <a:off x="978408" y="6223000"/>
              <a:ext cx="2057400" cy="326243"/>
            </a:xfrm>
            <a:prstGeom prst="rect">
              <a:avLst/>
            </a:prstGeom>
            <a:noFill/>
          </p:spPr>
          <p:txBody>
            <a:bodyPr wrap="square" lIns="27432" tIns="9144" rIns="27432" bIns="9144" anchor="ctr">
              <a:spAutoFit/>
            </a:bodyPr>
            <a:lstStyle/>
            <a:p>
              <a:pPr algn="l">
                <a:defRPr sz="1000" b="1">
                  <a:solidFill>
                    <a:srgbClr val="198754"/>
                  </a:solidFill>
                  <a:latin typeface="Microsoft YaHei"/>
                </a:defRPr>
              </a:pPr>
              <a:r>
                <a:rPr sz="1000" b="1" dirty="0">
                  <a:solidFill>
                    <a:srgbClr val="198754"/>
                  </a:solidFill>
                  <a:latin typeface="Microsoft YaHei"/>
                </a:rPr>
                <a:t>Two adaptation</a:t>
              </a:r>
              <a:endParaRPr lang="en-US" sz="1000" b="1" dirty="0">
                <a:solidFill>
                  <a:srgbClr val="198754"/>
                </a:solidFill>
                <a:latin typeface="Microsoft YaHei"/>
              </a:endParaRPr>
            </a:p>
            <a:p>
              <a:pPr algn="l">
                <a:defRPr sz="1000" b="1">
                  <a:solidFill>
                    <a:srgbClr val="198754"/>
                  </a:solidFill>
                  <a:latin typeface="Microsoft YaHei"/>
                </a:defRPr>
              </a:pPr>
              <a:r>
                <a:rPr sz="1000" b="1" dirty="0">
                  <a:solidFill>
                    <a:srgbClr val="198754"/>
                  </a:solidFill>
                  <a:latin typeface="Microsoft YaHei"/>
                </a:rPr>
                <a:t> branches</a:t>
              </a:r>
            </a:p>
          </p:txBody>
        </p:sp>
        <p:sp>
          <p:nvSpPr>
            <p:cNvPr id="84" name="TextBox 36">
              <a:extLst>
                <a:ext uri="{FF2B5EF4-FFF2-40B4-BE49-F238E27FC236}">
                  <a16:creationId xmlns:a16="http://schemas.microsoft.com/office/drawing/2014/main" id="{6A2EF1A4-0AD5-1426-1736-F890C63C9848}"/>
                </a:ext>
              </a:extLst>
            </p:cNvPr>
            <p:cNvSpPr txBox="1"/>
            <p:nvPr/>
          </p:nvSpPr>
          <p:spPr>
            <a:xfrm>
              <a:off x="2514600" y="6056239"/>
              <a:ext cx="4800600" cy="438912"/>
            </a:xfrm>
            <a:prstGeom prst="rect">
              <a:avLst/>
            </a:prstGeom>
            <a:noFill/>
          </p:spPr>
          <p:txBody>
            <a:bodyPr wrap="square" lIns="27432" tIns="9144" rIns="27432" bIns="9144" anchor="ctr">
              <a:spAutoFit/>
            </a:bodyPr>
            <a:lstStyle/>
            <a:p>
              <a:pPr algn="l">
                <a:defRPr sz="1200" b="1">
                  <a:solidFill>
                    <a:srgbClr val="0F172A"/>
                  </a:solidFill>
                  <a:latin typeface="Microsoft YaHei"/>
                </a:defRPr>
              </a:pPr>
              <a:r>
                <a:rPr sz="1200" b="1" dirty="0">
                  <a:solidFill>
                    <a:srgbClr val="0F172A"/>
                  </a:solidFill>
                  <a:latin typeface="Microsoft YaHei"/>
                </a:rPr>
                <a:t>ŷ_2022 = </a:t>
              </a:r>
              <a:r>
                <a:rPr sz="1200" b="1" dirty="0" err="1">
                  <a:solidFill>
                    <a:srgbClr val="0F172A"/>
                  </a:solidFill>
                  <a:latin typeface="Microsoft YaHei"/>
                </a:rPr>
                <a:t>f_hist</a:t>
              </a:r>
              <a:r>
                <a:rPr sz="1200" b="1" dirty="0">
                  <a:solidFill>
                    <a:srgbClr val="0F172A"/>
                  </a:solidFill>
                  <a:latin typeface="Microsoft YaHei"/>
                </a:rPr>
                <a:t>(X) × clip(1 − α × </a:t>
              </a:r>
              <a:r>
                <a:rPr sz="1200" b="1" dirty="0" err="1">
                  <a:solidFill>
                    <a:srgbClr val="0F172A"/>
                  </a:solidFill>
                  <a:latin typeface="Microsoft YaHei"/>
                </a:rPr>
                <a:t>s_event</a:t>
              </a:r>
              <a:r>
                <a:rPr sz="1200" b="1" dirty="0">
                  <a:solidFill>
                    <a:srgbClr val="0F172A"/>
                  </a:solidFill>
                  <a:latin typeface="Microsoft YaHei"/>
                </a:rPr>
                <a:t>, </a:t>
              </a:r>
              <a:r>
                <a:rPr sz="1200" b="1" dirty="0" err="1">
                  <a:solidFill>
                    <a:srgbClr val="0F172A"/>
                  </a:solidFill>
                  <a:latin typeface="Microsoft YaHei"/>
                </a:rPr>
                <a:t>min_factor</a:t>
              </a:r>
              <a:r>
                <a:rPr sz="1200" b="1" dirty="0">
                  <a:solidFill>
                    <a:srgbClr val="0F172A"/>
                  </a:solidFill>
                  <a:latin typeface="Microsoft YaHei"/>
                </a:rPr>
                <a:t>, 1)</a:t>
              </a:r>
            </a:p>
          </p:txBody>
        </p:sp>
        <p:sp>
          <p:nvSpPr>
            <p:cNvPr id="85" name="TextBox 37">
              <a:extLst>
                <a:ext uri="{FF2B5EF4-FFF2-40B4-BE49-F238E27FC236}">
                  <a16:creationId xmlns:a16="http://schemas.microsoft.com/office/drawing/2014/main" id="{451C0A5F-2CA8-1128-629A-302DB71E5AB3}"/>
                </a:ext>
              </a:extLst>
            </p:cNvPr>
            <p:cNvSpPr txBox="1"/>
            <p:nvPr/>
          </p:nvSpPr>
          <p:spPr>
            <a:xfrm>
              <a:off x="2514600" y="6331389"/>
              <a:ext cx="4800600" cy="256032"/>
            </a:xfrm>
            <a:prstGeom prst="rect">
              <a:avLst/>
            </a:prstGeom>
            <a:noFill/>
          </p:spPr>
          <p:txBody>
            <a:bodyPr wrap="square" lIns="27432" tIns="9144" rIns="27432" bIns="9144" anchor="ctr">
              <a:spAutoFit/>
            </a:bodyPr>
            <a:lstStyle/>
            <a:p>
              <a:pPr algn="l">
                <a:defRPr sz="919" b="0">
                  <a:solidFill>
                    <a:srgbClr val="64748B"/>
                  </a:solidFill>
                  <a:latin typeface="Microsoft YaHei"/>
                </a:defRPr>
              </a:pPr>
              <a:r>
                <a:rPr sz="919" b="0" dirty="0">
                  <a:solidFill>
                    <a:srgbClr val="64748B"/>
                  </a:solidFill>
                  <a:latin typeface="Microsoft YaHei"/>
                </a:rPr>
                <a:t>selector branch: LLM rules -&gt; confidence gate -&gt; optional fallback</a:t>
              </a:r>
            </a:p>
          </p:txBody>
        </p:sp>
        <p:sp>
          <p:nvSpPr>
            <p:cNvPr id="86" name="TextBox 38">
              <a:extLst>
                <a:ext uri="{FF2B5EF4-FFF2-40B4-BE49-F238E27FC236}">
                  <a16:creationId xmlns:a16="http://schemas.microsoft.com/office/drawing/2014/main" id="{C3671188-8CD8-4D4C-CA91-6DB574EA7C0A}"/>
                </a:ext>
              </a:extLst>
            </p:cNvPr>
            <p:cNvSpPr txBox="1"/>
            <p:nvPr/>
          </p:nvSpPr>
          <p:spPr>
            <a:xfrm>
              <a:off x="2514600" y="6460892"/>
              <a:ext cx="4800600" cy="256032"/>
            </a:xfrm>
            <a:prstGeom prst="rect">
              <a:avLst/>
            </a:prstGeom>
            <a:noFill/>
          </p:spPr>
          <p:txBody>
            <a:bodyPr wrap="square" lIns="27432" tIns="9144" rIns="27432" bIns="9144" anchor="ctr">
              <a:spAutoFit/>
            </a:bodyPr>
            <a:lstStyle/>
            <a:p>
              <a:pPr algn="l">
                <a:defRPr sz="919" b="1">
                  <a:solidFill>
                    <a:srgbClr val="BE123C"/>
                  </a:solidFill>
                  <a:latin typeface="Microsoft YaHei"/>
                </a:defRPr>
              </a:pPr>
              <a:r>
                <a:rPr sz="919" b="1" dirty="0">
                  <a:solidFill>
                    <a:srgbClr val="BE123C"/>
                  </a:solidFill>
                  <a:latin typeface="Microsoft YaHei"/>
                </a:rPr>
                <a:t>target-year labels enter only here: final evaluation</a:t>
              </a:r>
            </a:p>
          </p:txBody>
        </p:sp>
      </p:grpSp>
      <p:sp>
        <p:nvSpPr>
          <p:cNvPr id="90" name="TextBox 41">
            <a:extLst>
              <a:ext uri="{FF2B5EF4-FFF2-40B4-BE49-F238E27FC236}">
                <a16:creationId xmlns:a16="http://schemas.microsoft.com/office/drawing/2014/main" id="{F0D31FCE-2295-B445-C522-6724F4B8231C}"/>
              </a:ext>
            </a:extLst>
          </p:cNvPr>
          <p:cNvSpPr txBox="1"/>
          <p:nvPr/>
        </p:nvSpPr>
        <p:spPr>
          <a:xfrm>
            <a:off x="8229600" y="5824931"/>
            <a:ext cx="2286000" cy="201168"/>
          </a:xfrm>
          <a:prstGeom prst="rect">
            <a:avLst/>
          </a:prstGeom>
          <a:noFill/>
        </p:spPr>
        <p:txBody>
          <a:bodyPr wrap="square" lIns="27432" tIns="9144" rIns="27432" bIns="9144" anchor="ctr">
            <a:spAutoFit/>
          </a:bodyPr>
          <a:lstStyle/>
          <a:p>
            <a:pPr algn="l">
              <a:defRPr sz="1000" b="1">
                <a:solidFill>
                  <a:srgbClr val="198754"/>
                </a:solidFill>
                <a:latin typeface="Microsoft YaHei"/>
              </a:defRPr>
            </a:pPr>
            <a:r>
              <a:rPr sz="1000" b="1" dirty="0">
                <a:solidFill>
                  <a:srgbClr val="198754"/>
                </a:solidFill>
                <a:latin typeface="Microsoft YaHei"/>
              </a:rPr>
              <a:t>Output behavior system</a:t>
            </a:r>
          </a:p>
        </p:txBody>
      </p:sp>
      <p:grpSp>
        <p:nvGrpSpPr>
          <p:cNvPr id="92" name="组合 91">
            <a:extLst>
              <a:ext uri="{FF2B5EF4-FFF2-40B4-BE49-F238E27FC236}">
                <a16:creationId xmlns:a16="http://schemas.microsoft.com/office/drawing/2014/main" id="{E190A6FA-C398-178F-6DDA-B7329E52AE2E}"/>
              </a:ext>
            </a:extLst>
          </p:cNvPr>
          <p:cNvGrpSpPr/>
          <p:nvPr/>
        </p:nvGrpSpPr>
        <p:grpSpPr>
          <a:xfrm>
            <a:off x="8229600" y="6144972"/>
            <a:ext cx="1417319" cy="566928"/>
            <a:chOff x="8229600" y="4069080"/>
            <a:chExt cx="1874519" cy="566928"/>
          </a:xfrm>
        </p:grpSpPr>
        <p:sp>
          <p:nvSpPr>
            <p:cNvPr id="100" name="Rounded Rectangle 42">
              <a:extLst>
                <a:ext uri="{FF2B5EF4-FFF2-40B4-BE49-F238E27FC236}">
                  <a16:creationId xmlns:a16="http://schemas.microsoft.com/office/drawing/2014/main" id="{2903E8BA-E5F2-96B6-F219-4DBD4438BEF9}"/>
                </a:ext>
              </a:extLst>
            </p:cNvPr>
            <p:cNvSpPr/>
            <p:nvPr/>
          </p:nvSpPr>
          <p:spPr>
            <a:xfrm>
              <a:off x="8229600" y="4069080"/>
              <a:ext cx="1874519" cy="566928"/>
            </a:xfrm>
            <a:prstGeom prst="roundRect">
              <a:avLst/>
            </a:prstGeom>
            <a:solidFill>
              <a:srgbClr val="FFFFFF"/>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43">
              <a:extLst>
                <a:ext uri="{FF2B5EF4-FFF2-40B4-BE49-F238E27FC236}">
                  <a16:creationId xmlns:a16="http://schemas.microsoft.com/office/drawing/2014/main" id="{FAA1BF26-77B2-DFA9-3746-6DB345B4D2D3}"/>
                </a:ext>
              </a:extLst>
            </p:cNvPr>
            <p:cNvSpPr txBox="1"/>
            <p:nvPr/>
          </p:nvSpPr>
          <p:spPr>
            <a:xfrm>
              <a:off x="8302752" y="4133088"/>
              <a:ext cx="1728216" cy="182880"/>
            </a:xfrm>
            <a:prstGeom prst="rect">
              <a:avLst/>
            </a:prstGeom>
            <a:noFill/>
          </p:spPr>
          <p:txBody>
            <a:bodyPr wrap="square" lIns="27432" tIns="9144" rIns="27432" bIns="9144" anchor="ctr">
              <a:spAutoFit/>
            </a:bodyPr>
            <a:lstStyle/>
            <a:p>
              <a:pPr algn="ctr">
                <a:defRPr sz="919" b="1">
                  <a:solidFill>
                    <a:srgbClr val="198754"/>
                  </a:solidFill>
                  <a:latin typeface="Microsoft YaHei"/>
                </a:defRPr>
              </a:pPr>
              <a:r>
                <a:rPr sz="919" b="1">
                  <a:solidFill>
                    <a:srgbClr val="198754"/>
                  </a:solidFill>
                  <a:latin typeface="Microsoft YaHei"/>
                </a:rPr>
                <a:t>Trip generation</a:t>
              </a:r>
            </a:p>
          </p:txBody>
        </p:sp>
        <p:sp>
          <p:nvSpPr>
            <p:cNvPr id="102" name="TextBox 44">
              <a:extLst>
                <a:ext uri="{FF2B5EF4-FFF2-40B4-BE49-F238E27FC236}">
                  <a16:creationId xmlns:a16="http://schemas.microsoft.com/office/drawing/2014/main" id="{524E78A1-BC36-99F6-F329-E32616148E32}"/>
                </a:ext>
              </a:extLst>
            </p:cNvPr>
            <p:cNvSpPr txBox="1"/>
            <p:nvPr/>
          </p:nvSpPr>
          <p:spPr>
            <a:xfrm>
              <a:off x="8321040" y="4352544"/>
              <a:ext cx="1691639" cy="228600"/>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household CNTTDHH</a:t>
              </a:r>
            </a:p>
          </p:txBody>
        </p:sp>
      </p:grpSp>
      <p:grpSp>
        <p:nvGrpSpPr>
          <p:cNvPr id="103" name="组合 102">
            <a:extLst>
              <a:ext uri="{FF2B5EF4-FFF2-40B4-BE49-F238E27FC236}">
                <a16:creationId xmlns:a16="http://schemas.microsoft.com/office/drawing/2014/main" id="{D912BCCF-24C8-F4AB-04F8-CA3467DD5C5F}"/>
              </a:ext>
            </a:extLst>
          </p:cNvPr>
          <p:cNvGrpSpPr/>
          <p:nvPr/>
        </p:nvGrpSpPr>
        <p:grpSpPr>
          <a:xfrm>
            <a:off x="9793223" y="6144972"/>
            <a:ext cx="1264920" cy="566928"/>
            <a:chOff x="10058400" y="4069080"/>
            <a:chExt cx="1463040" cy="566928"/>
          </a:xfrm>
        </p:grpSpPr>
        <p:sp>
          <p:nvSpPr>
            <p:cNvPr id="104" name="Rounded Rectangle 45">
              <a:extLst>
                <a:ext uri="{FF2B5EF4-FFF2-40B4-BE49-F238E27FC236}">
                  <a16:creationId xmlns:a16="http://schemas.microsoft.com/office/drawing/2014/main" id="{E8D1B66E-18E7-5755-0FF3-76CCC4D9FC94}"/>
                </a:ext>
              </a:extLst>
            </p:cNvPr>
            <p:cNvSpPr/>
            <p:nvPr/>
          </p:nvSpPr>
          <p:spPr>
            <a:xfrm>
              <a:off x="10058400" y="4069080"/>
              <a:ext cx="1463040" cy="566928"/>
            </a:xfrm>
            <a:prstGeom prst="roundRect">
              <a:avLst/>
            </a:prstGeom>
            <a:solidFill>
              <a:srgbClr val="FFFFFF"/>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46">
              <a:extLst>
                <a:ext uri="{FF2B5EF4-FFF2-40B4-BE49-F238E27FC236}">
                  <a16:creationId xmlns:a16="http://schemas.microsoft.com/office/drawing/2014/main" id="{C5E28EF8-AB7D-4887-CD5F-855FDD419DEE}"/>
                </a:ext>
              </a:extLst>
            </p:cNvPr>
            <p:cNvSpPr txBox="1"/>
            <p:nvPr/>
          </p:nvSpPr>
          <p:spPr>
            <a:xfrm>
              <a:off x="10131552" y="4133088"/>
              <a:ext cx="1316736" cy="182880"/>
            </a:xfrm>
            <a:prstGeom prst="rect">
              <a:avLst/>
            </a:prstGeom>
            <a:noFill/>
          </p:spPr>
          <p:txBody>
            <a:bodyPr wrap="square" lIns="27432" tIns="9144" rIns="27432" bIns="9144" anchor="ctr">
              <a:spAutoFit/>
            </a:bodyPr>
            <a:lstStyle/>
            <a:p>
              <a:pPr algn="ctr">
                <a:defRPr sz="919" b="1">
                  <a:solidFill>
                    <a:srgbClr val="198754"/>
                  </a:solidFill>
                  <a:latin typeface="Microsoft YaHei"/>
                </a:defRPr>
              </a:pPr>
              <a:r>
                <a:rPr sz="919" b="1">
                  <a:solidFill>
                    <a:srgbClr val="198754"/>
                  </a:solidFill>
                  <a:latin typeface="Microsoft YaHei"/>
                </a:rPr>
                <a:t>Mode shares</a:t>
              </a:r>
            </a:p>
          </p:txBody>
        </p:sp>
        <p:sp>
          <p:nvSpPr>
            <p:cNvPr id="106" name="TextBox 47">
              <a:extLst>
                <a:ext uri="{FF2B5EF4-FFF2-40B4-BE49-F238E27FC236}">
                  <a16:creationId xmlns:a16="http://schemas.microsoft.com/office/drawing/2014/main" id="{A1A1A7D8-EF67-4817-147B-194A4F985937}"/>
                </a:ext>
              </a:extLst>
            </p:cNvPr>
            <p:cNvSpPr txBox="1"/>
            <p:nvPr/>
          </p:nvSpPr>
          <p:spPr>
            <a:xfrm>
              <a:off x="10149840" y="4352544"/>
              <a:ext cx="1280160" cy="228600"/>
            </a:xfrm>
            <a:prstGeom prst="rect">
              <a:avLst/>
            </a:prstGeom>
            <a:noFill/>
          </p:spPr>
          <p:txBody>
            <a:bodyPr wrap="square" lIns="27432" tIns="9144" rIns="27432" bIns="9144" anchor="ctr">
              <a:spAutoFit/>
            </a:bodyPr>
            <a:lstStyle/>
            <a:p>
              <a:pPr algn="ctr">
                <a:defRPr sz="780" b="0">
                  <a:solidFill>
                    <a:srgbClr val="64748B"/>
                  </a:solidFill>
                  <a:latin typeface="Microsoft YaHei"/>
                </a:defRPr>
              </a:pPr>
              <a:r>
                <a:rPr sz="780" b="0">
                  <a:solidFill>
                    <a:srgbClr val="64748B"/>
                  </a:solidFill>
                  <a:latin typeface="Microsoft YaHei"/>
                </a:rPr>
                <a:t>transit signal</a:t>
              </a:r>
            </a:p>
          </p:txBody>
        </p:sp>
      </p:grpSp>
      <p:sp>
        <p:nvSpPr>
          <p:cNvPr id="107" name="Right Arrow 48">
            <a:extLst>
              <a:ext uri="{FF2B5EF4-FFF2-40B4-BE49-F238E27FC236}">
                <a16:creationId xmlns:a16="http://schemas.microsoft.com/office/drawing/2014/main" id="{6A65016A-D341-A3E0-21F7-3C0D1E11E228}"/>
              </a:ext>
            </a:extLst>
          </p:cNvPr>
          <p:cNvSpPr/>
          <p:nvPr/>
        </p:nvSpPr>
        <p:spPr>
          <a:xfrm>
            <a:off x="7699248" y="6303957"/>
            <a:ext cx="384048" cy="146304"/>
          </a:xfrm>
          <a:prstGeom prst="rightArrow">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49">
            <a:extLst>
              <a:ext uri="{FF2B5EF4-FFF2-40B4-BE49-F238E27FC236}">
                <a16:creationId xmlns:a16="http://schemas.microsoft.com/office/drawing/2014/main" id="{D97F24B3-D960-88E6-7EB4-BF0AEC8DBEB8}"/>
              </a:ext>
            </a:extLst>
          </p:cNvPr>
          <p:cNvSpPr/>
          <p:nvPr/>
        </p:nvSpPr>
        <p:spPr>
          <a:xfrm>
            <a:off x="8229600" y="4242016"/>
            <a:ext cx="2788920" cy="150415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50">
            <a:extLst>
              <a:ext uri="{FF2B5EF4-FFF2-40B4-BE49-F238E27FC236}">
                <a16:creationId xmlns:a16="http://schemas.microsoft.com/office/drawing/2014/main" id="{DC59BD98-1CA9-9F3C-A1E6-1781E02301AF}"/>
              </a:ext>
            </a:extLst>
          </p:cNvPr>
          <p:cNvSpPr txBox="1"/>
          <p:nvPr/>
        </p:nvSpPr>
        <p:spPr>
          <a:xfrm>
            <a:off x="8458200" y="4311395"/>
            <a:ext cx="2331720" cy="201168"/>
          </a:xfrm>
          <a:prstGeom prst="rect">
            <a:avLst/>
          </a:prstGeom>
          <a:noFill/>
        </p:spPr>
        <p:txBody>
          <a:bodyPr wrap="square" lIns="27432" tIns="9144" rIns="27432" bIns="9144" anchor="ctr">
            <a:spAutoFit/>
          </a:bodyPr>
          <a:lstStyle/>
          <a:p>
            <a:pPr algn="ctr">
              <a:defRPr sz="1050" b="1">
                <a:solidFill>
                  <a:srgbClr val="BE123C"/>
                </a:solidFill>
                <a:latin typeface="Microsoft YaHei"/>
              </a:defRPr>
            </a:pPr>
            <a:r>
              <a:rPr sz="1050" b="1">
                <a:solidFill>
                  <a:srgbClr val="BE123C"/>
                </a:solidFill>
                <a:latin typeface="Microsoft YaHei"/>
              </a:rPr>
              <a:t>Leakage guardrails</a:t>
            </a:r>
          </a:p>
        </p:txBody>
      </p:sp>
      <p:grpSp>
        <p:nvGrpSpPr>
          <p:cNvPr id="110" name="组合 109">
            <a:extLst>
              <a:ext uri="{FF2B5EF4-FFF2-40B4-BE49-F238E27FC236}">
                <a16:creationId xmlns:a16="http://schemas.microsoft.com/office/drawing/2014/main" id="{1F9D7584-F095-E99E-4213-F4CD0C255C1F}"/>
              </a:ext>
            </a:extLst>
          </p:cNvPr>
          <p:cNvGrpSpPr/>
          <p:nvPr/>
        </p:nvGrpSpPr>
        <p:grpSpPr>
          <a:xfrm>
            <a:off x="8412480" y="4649724"/>
            <a:ext cx="2468879" cy="971094"/>
            <a:chOff x="8412480" y="1755648"/>
            <a:chExt cx="2468879" cy="1536191"/>
          </a:xfrm>
        </p:grpSpPr>
        <p:sp>
          <p:nvSpPr>
            <p:cNvPr id="111" name="Rectangle 51">
              <a:extLst>
                <a:ext uri="{FF2B5EF4-FFF2-40B4-BE49-F238E27FC236}">
                  <a16:creationId xmlns:a16="http://schemas.microsoft.com/office/drawing/2014/main" id="{DD04C5CA-6270-731C-0CC4-CE978160BE5D}"/>
                </a:ext>
              </a:extLst>
            </p:cNvPr>
            <p:cNvSpPr/>
            <p:nvPr/>
          </p:nvSpPr>
          <p:spPr>
            <a:xfrm>
              <a:off x="8412480" y="1755648"/>
              <a:ext cx="1234440" cy="38404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2" name="TextBox 52">
              <a:extLst>
                <a:ext uri="{FF2B5EF4-FFF2-40B4-BE49-F238E27FC236}">
                  <a16:creationId xmlns:a16="http://schemas.microsoft.com/office/drawing/2014/main" id="{B4818134-2EE2-493C-8E86-F6AEF02F682D}"/>
                </a:ext>
              </a:extLst>
            </p:cNvPr>
            <p:cNvSpPr txBox="1"/>
            <p:nvPr/>
          </p:nvSpPr>
          <p:spPr>
            <a:xfrm>
              <a:off x="8449055" y="1866790"/>
              <a:ext cx="1161288" cy="180049"/>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050" b="1">
                  <a:solidFill>
                    <a:srgbClr val="FFFFFF"/>
                  </a:solidFill>
                  <a:latin typeface="Microsoft YaHei"/>
                </a:rPr>
                <a:t>禁止进入 LLM</a:t>
              </a:r>
            </a:p>
          </p:txBody>
        </p:sp>
        <p:sp>
          <p:nvSpPr>
            <p:cNvPr id="113" name="Rectangle 53">
              <a:extLst>
                <a:ext uri="{FF2B5EF4-FFF2-40B4-BE49-F238E27FC236}">
                  <a16:creationId xmlns:a16="http://schemas.microsoft.com/office/drawing/2014/main" id="{09260064-7E9C-02E9-D33E-66A3D32B8777}"/>
                </a:ext>
              </a:extLst>
            </p:cNvPr>
            <p:cNvSpPr/>
            <p:nvPr/>
          </p:nvSpPr>
          <p:spPr>
            <a:xfrm>
              <a:off x="9646919" y="1755648"/>
              <a:ext cx="1234440" cy="384048"/>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4" name="TextBox 54">
              <a:extLst>
                <a:ext uri="{FF2B5EF4-FFF2-40B4-BE49-F238E27FC236}">
                  <a16:creationId xmlns:a16="http://schemas.microsoft.com/office/drawing/2014/main" id="{237E7B62-EB66-7F8F-4B83-F16B680A3CC9}"/>
                </a:ext>
              </a:extLst>
            </p:cNvPr>
            <p:cNvSpPr txBox="1"/>
            <p:nvPr/>
          </p:nvSpPr>
          <p:spPr>
            <a:xfrm>
              <a:off x="9683495" y="1866790"/>
              <a:ext cx="1161288" cy="180049"/>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050" b="1">
                  <a:solidFill>
                    <a:srgbClr val="FFFFFF"/>
                  </a:solidFill>
                  <a:latin typeface="Microsoft YaHei"/>
                </a:rPr>
                <a:t>原因</a:t>
              </a:r>
            </a:p>
          </p:txBody>
        </p:sp>
        <p:sp>
          <p:nvSpPr>
            <p:cNvPr id="115" name="Rectangle 55">
              <a:extLst>
                <a:ext uri="{FF2B5EF4-FFF2-40B4-BE49-F238E27FC236}">
                  <a16:creationId xmlns:a16="http://schemas.microsoft.com/office/drawing/2014/main" id="{03C28B91-F396-09FC-C92E-CDCB37630DAD}"/>
                </a:ext>
              </a:extLst>
            </p:cNvPr>
            <p:cNvSpPr/>
            <p:nvPr/>
          </p:nvSpPr>
          <p:spPr>
            <a:xfrm>
              <a:off x="8412480" y="2139696"/>
              <a:ext cx="12344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6" name="TextBox 56">
              <a:extLst>
                <a:ext uri="{FF2B5EF4-FFF2-40B4-BE49-F238E27FC236}">
                  <a16:creationId xmlns:a16="http://schemas.microsoft.com/office/drawing/2014/main" id="{9976B720-E6C1-66BC-9960-EC01A0088283}"/>
                </a:ext>
              </a:extLst>
            </p:cNvPr>
            <p:cNvSpPr txBox="1"/>
            <p:nvPr/>
          </p:nvSpPr>
          <p:spPr>
            <a:xfrm>
              <a:off x="8467344" y="2203703"/>
              <a:ext cx="1124712" cy="180049"/>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050" b="1" dirty="0">
                  <a:solidFill>
                    <a:srgbClr val="0F172A"/>
                  </a:solidFill>
                  <a:latin typeface="Microsoft YaHei"/>
                </a:rPr>
                <a:t>CNTTDHH</a:t>
              </a:r>
            </a:p>
          </p:txBody>
        </p:sp>
        <p:sp>
          <p:nvSpPr>
            <p:cNvPr id="117" name="Rectangle 57">
              <a:extLst>
                <a:ext uri="{FF2B5EF4-FFF2-40B4-BE49-F238E27FC236}">
                  <a16:creationId xmlns:a16="http://schemas.microsoft.com/office/drawing/2014/main" id="{0B6405E3-830F-C14C-DA2D-F7F90C91DB57}"/>
                </a:ext>
              </a:extLst>
            </p:cNvPr>
            <p:cNvSpPr/>
            <p:nvPr/>
          </p:nvSpPr>
          <p:spPr>
            <a:xfrm>
              <a:off x="9646919" y="2139696"/>
              <a:ext cx="12344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18" name="TextBox 58">
              <a:extLst>
                <a:ext uri="{FF2B5EF4-FFF2-40B4-BE49-F238E27FC236}">
                  <a16:creationId xmlns:a16="http://schemas.microsoft.com/office/drawing/2014/main" id="{09F099FF-388B-347E-82BF-A2BCAA6F91BD}"/>
                </a:ext>
              </a:extLst>
            </p:cNvPr>
            <p:cNvSpPr txBox="1"/>
            <p:nvPr/>
          </p:nvSpPr>
          <p:spPr>
            <a:xfrm>
              <a:off x="9701784" y="2203703"/>
              <a:ext cx="1124712" cy="180049"/>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050" b="0">
                  <a:solidFill>
                    <a:srgbClr val="0F172A"/>
                  </a:solidFill>
                  <a:latin typeface="Microsoft YaHei"/>
                </a:rPr>
                <a:t>目标标签</a:t>
              </a:r>
            </a:p>
          </p:txBody>
        </p:sp>
        <p:sp>
          <p:nvSpPr>
            <p:cNvPr id="119" name="Rectangle 59">
              <a:extLst>
                <a:ext uri="{FF2B5EF4-FFF2-40B4-BE49-F238E27FC236}">
                  <a16:creationId xmlns:a16="http://schemas.microsoft.com/office/drawing/2014/main" id="{5240BA3E-73FC-B9CC-753A-1EB3D1A6CE99}"/>
                </a:ext>
              </a:extLst>
            </p:cNvPr>
            <p:cNvSpPr/>
            <p:nvPr/>
          </p:nvSpPr>
          <p:spPr>
            <a:xfrm>
              <a:off x="8412480" y="2523744"/>
              <a:ext cx="12344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0" name="TextBox 60">
              <a:extLst>
                <a:ext uri="{FF2B5EF4-FFF2-40B4-BE49-F238E27FC236}">
                  <a16:creationId xmlns:a16="http://schemas.microsoft.com/office/drawing/2014/main" id="{275A3B56-80B8-CA5C-EE3E-1DE036D72911}"/>
                </a:ext>
              </a:extLst>
            </p:cNvPr>
            <p:cNvSpPr txBox="1"/>
            <p:nvPr/>
          </p:nvSpPr>
          <p:spPr>
            <a:xfrm>
              <a:off x="8467344" y="2587751"/>
              <a:ext cx="1124712" cy="180049"/>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050" b="1">
                  <a:solidFill>
                    <a:srgbClr val="0F172A"/>
                  </a:solidFill>
                  <a:latin typeface="Microsoft YaHei"/>
                </a:rPr>
                <a:t>WTHHFIN</a:t>
              </a:r>
            </a:p>
          </p:txBody>
        </p:sp>
        <p:sp>
          <p:nvSpPr>
            <p:cNvPr id="121" name="Rectangle 61">
              <a:extLst>
                <a:ext uri="{FF2B5EF4-FFF2-40B4-BE49-F238E27FC236}">
                  <a16:creationId xmlns:a16="http://schemas.microsoft.com/office/drawing/2014/main" id="{071EA8D3-B1D2-F15C-721F-8A6F230FF470}"/>
                </a:ext>
              </a:extLst>
            </p:cNvPr>
            <p:cNvSpPr/>
            <p:nvPr/>
          </p:nvSpPr>
          <p:spPr>
            <a:xfrm>
              <a:off x="9646919" y="2523744"/>
              <a:ext cx="12344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2" name="TextBox 62">
              <a:extLst>
                <a:ext uri="{FF2B5EF4-FFF2-40B4-BE49-F238E27FC236}">
                  <a16:creationId xmlns:a16="http://schemas.microsoft.com/office/drawing/2014/main" id="{65852D4B-EF54-1C5A-4B68-1BC37A1541B5}"/>
                </a:ext>
              </a:extLst>
            </p:cNvPr>
            <p:cNvSpPr txBox="1"/>
            <p:nvPr/>
          </p:nvSpPr>
          <p:spPr>
            <a:xfrm>
              <a:off x="9701784" y="2587751"/>
              <a:ext cx="1124712" cy="180049"/>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050" b="0">
                  <a:solidFill>
                    <a:srgbClr val="0F172A"/>
                  </a:solidFill>
                  <a:latin typeface="Microsoft YaHei"/>
                </a:rPr>
                <a:t>样本权重</a:t>
              </a:r>
            </a:p>
          </p:txBody>
        </p:sp>
        <p:sp>
          <p:nvSpPr>
            <p:cNvPr id="123" name="Rectangle 63">
              <a:extLst>
                <a:ext uri="{FF2B5EF4-FFF2-40B4-BE49-F238E27FC236}">
                  <a16:creationId xmlns:a16="http://schemas.microsoft.com/office/drawing/2014/main" id="{E08F0A2E-AFC5-C695-40CE-C7B045A5540D}"/>
                </a:ext>
              </a:extLst>
            </p:cNvPr>
            <p:cNvSpPr/>
            <p:nvPr/>
          </p:nvSpPr>
          <p:spPr>
            <a:xfrm>
              <a:off x="8412480" y="2907791"/>
              <a:ext cx="12344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4" name="TextBox 64">
              <a:extLst>
                <a:ext uri="{FF2B5EF4-FFF2-40B4-BE49-F238E27FC236}">
                  <a16:creationId xmlns:a16="http://schemas.microsoft.com/office/drawing/2014/main" id="{E6E6D560-1C73-B9FA-BF69-2006FB68C942}"/>
                </a:ext>
              </a:extLst>
            </p:cNvPr>
            <p:cNvSpPr txBox="1"/>
            <p:nvPr/>
          </p:nvSpPr>
          <p:spPr>
            <a:xfrm>
              <a:off x="8467344" y="2971799"/>
              <a:ext cx="1124712" cy="180049"/>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050" b="1">
                  <a:solidFill>
                    <a:srgbClr val="0F172A"/>
                  </a:solidFill>
                  <a:latin typeface="Microsoft YaHei"/>
                </a:rPr>
                <a:t>HOUSEID</a:t>
              </a:r>
            </a:p>
          </p:txBody>
        </p:sp>
        <p:sp>
          <p:nvSpPr>
            <p:cNvPr id="125" name="Rectangle 65">
              <a:extLst>
                <a:ext uri="{FF2B5EF4-FFF2-40B4-BE49-F238E27FC236}">
                  <a16:creationId xmlns:a16="http://schemas.microsoft.com/office/drawing/2014/main" id="{0AFAA61E-D797-9083-629B-FE6740165A51}"/>
                </a:ext>
              </a:extLst>
            </p:cNvPr>
            <p:cNvSpPr/>
            <p:nvPr/>
          </p:nvSpPr>
          <p:spPr>
            <a:xfrm>
              <a:off x="9646919" y="2907791"/>
              <a:ext cx="12344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6" name="TextBox 66">
              <a:extLst>
                <a:ext uri="{FF2B5EF4-FFF2-40B4-BE49-F238E27FC236}">
                  <a16:creationId xmlns:a16="http://schemas.microsoft.com/office/drawing/2014/main" id="{20DA06BD-46A6-F0DB-9BD5-2B28CBCB7AA3}"/>
                </a:ext>
              </a:extLst>
            </p:cNvPr>
            <p:cNvSpPr txBox="1"/>
            <p:nvPr/>
          </p:nvSpPr>
          <p:spPr>
            <a:xfrm>
              <a:off x="9701784" y="2971799"/>
              <a:ext cx="1124712" cy="180049"/>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050" b="0">
                  <a:solidFill>
                    <a:srgbClr val="0F172A"/>
                  </a:solidFill>
                  <a:latin typeface="Microsoft YaHei"/>
                </a:rPr>
                <a:t>个体标识</a:t>
              </a:r>
            </a:p>
          </p:txBody>
        </p:sp>
      </p:grpSp>
    </p:spTree>
    <p:extLst>
      <p:ext uri="{BB962C8B-B14F-4D97-AF65-F5344CB8AC3E}">
        <p14:creationId xmlns:p14="http://schemas.microsoft.com/office/powerpoint/2010/main" val="3238699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custDataLst>
              <p:tags r:id="rId1"/>
            </p:custDataLst>
          </p:nvPr>
        </p:nvSpPr>
        <p:spPr>
          <a:xfrm>
            <a:off x="774700" y="3081020"/>
            <a:ext cx="2540000" cy="166116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custDataLst>
              <p:tags r:id="rId2"/>
            </p:custDataLst>
          </p:nvPr>
        </p:nvSpPr>
        <p:spPr>
          <a:xfrm>
            <a:off x="774700" y="2113280"/>
            <a:ext cx="2540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65200" y="2331720"/>
            <a:ext cx="406400" cy="494030"/>
          </a:xfrm>
          <a:prstGeom prst="rect">
            <a:avLst/>
          </a:prstGeom>
        </p:spPr>
      </p:pic>
      <p:sp>
        <p:nvSpPr>
          <p:cNvPr id="9" name="AutoShape 9"/>
          <p:cNvSpPr/>
          <p:nvPr>
            <p:custDataLst>
              <p:tags r:id="rId4"/>
            </p:custDataLst>
          </p:nvPr>
        </p:nvSpPr>
        <p:spPr>
          <a:xfrm>
            <a:off x="1473200" y="2331720"/>
            <a:ext cx="1714500" cy="4940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知识提取</a:t>
            </a:r>
            <a:endParaRPr lang="en-US" sz="1100" dirty="0"/>
          </a:p>
        </p:txBody>
      </p:sp>
      <p:cxnSp>
        <p:nvCxnSpPr>
          <p:cNvPr id="10" name="Connector 10"/>
          <p:cNvCxnSpPr/>
          <p:nvPr>
            <p:custDataLst>
              <p:tags r:id="rId5"/>
            </p:custDataLst>
          </p:nvPr>
        </p:nvCxnSpPr>
        <p:spPr>
          <a:xfrm>
            <a:off x="965200" y="2923700"/>
            <a:ext cx="2158365" cy="75565"/>
          </a:xfrm>
          <a:prstGeom prst="straightConnector1">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11" name="AutoShape 11"/>
          <p:cNvSpPr/>
          <p:nvPr>
            <p:custDataLst>
              <p:tags r:id="rId6"/>
            </p:custDataLst>
          </p:nvPr>
        </p:nvSpPr>
        <p:spPr>
          <a:xfrm>
            <a:off x="901700" y="3194685"/>
            <a:ext cx="2286000" cy="131064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从预训练大模型中提取可解释、可执行的“IF-THEN”结构化决策规则，将隐式的模型知识转化为显式的逻辑规则库。</a:t>
            </a:r>
            <a:endParaRPr lang="en-US" sz="1100"/>
          </a:p>
        </p:txBody>
      </p:sp>
      <p:sp>
        <p:nvSpPr>
          <p:cNvPr id="12" name="AutoShape 12"/>
          <p:cNvSpPr/>
          <p:nvPr>
            <p:custDataLst>
              <p:tags r:id="rId7"/>
            </p:custDataLst>
          </p:nvPr>
        </p:nvSpPr>
        <p:spPr>
          <a:xfrm>
            <a:off x="3479800" y="3081020"/>
            <a:ext cx="2540000" cy="166116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custDataLst>
              <p:tags r:id="rId8"/>
            </p:custDataLst>
          </p:nvPr>
        </p:nvSpPr>
        <p:spPr>
          <a:xfrm>
            <a:off x="3479800" y="2113280"/>
            <a:ext cx="2540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670300" y="2331720"/>
            <a:ext cx="406400" cy="494030"/>
          </a:xfrm>
          <a:prstGeom prst="rect">
            <a:avLst/>
          </a:prstGeom>
        </p:spPr>
      </p:pic>
      <p:sp>
        <p:nvSpPr>
          <p:cNvPr id="15" name="AutoShape 15"/>
          <p:cNvSpPr/>
          <p:nvPr>
            <p:custDataLst>
              <p:tags r:id="rId10"/>
            </p:custDataLst>
          </p:nvPr>
        </p:nvSpPr>
        <p:spPr>
          <a:xfrm>
            <a:off x="4178300" y="2331720"/>
            <a:ext cx="1714500" cy="4940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规则预测</a:t>
            </a:r>
            <a:endParaRPr lang="en-US" sz="1100"/>
          </a:p>
        </p:txBody>
      </p:sp>
      <p:cxnSp>
        <p:nvCxnSpPr>
          <p:cNvPr id="16" name="Connector 16"/>
          <p:cNvCxnSpPr/>
          <p:nvPr>
            <p:custDataLst>
              <p:tags r:id="rId11"/>
            </p:custDataLst>
          </p:nvPr>
        </p:nvCxnSpPr>
        <p:spPr>
          <a:xfrm>
            <a:off x="3670300" y="2923700"/>
            <a:ext cx="2158365" cy="75565"/>
          </a:xfrm>
          <a:prstGeom prst="straightConnector1">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17" name="AutoShape 17"/>
          <p:cNvSpPr/>
          <p:nvPr>
            <p:custDataLst>
              <p:tags r:id="rId12"/>
            </p:custDataLst>
          </p:nvPr>
        </p:nvSpPr>
        <p:spPr>
          <a:xfrm>
            <a:off x="3606800" y="3194685"/>
            <a:ext cx="2286000" cy="131064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利用蒸馏得到的规则库对新输入样本进行快速推理，避免调用庞大的大模型参数量，实现毫秒级的低成本预测响应。</a:t>
            </a:r>
            <a:endParaRPr lang="en-US" sz="1100"/>
          </a:p>
        </p:txBody>
      </p:sp>
      <p:sp>
        <p:nvSpPr>
          <p:cNvPr id="18" name="AutoShape 18"/>
          <p:cNvSpPr/>
          <p:nvPr>
            <p:custDataLst>
              <p:tags r:id="rId13"/>
            </p:custDataLst>
          </p:nvPr>
        </p:nvSpPr>
        <p:spPr>
          <a:xfrm>
            <a:off x="6184900" y="3081020"/>
            <a:ext cx="2540000" cy="166116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custDataLst>
              <p:tags r:id="rId14"/>
            </p:custDataLst>
          </p:nvPr>
        </p:nvSpPr>
        <p:spPr>
          <a:xfrm>
            <a:off x="6184900" y="2113280"/>
            <a:ext cx="2540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375400" y="2331720"/>
            <a:ext cx="406400" cy="494030"/>
          </a:xfrm>
          <a:prstGeom prst="rect">
            <a:avLst/>
          </a:prstGeom>
        </p:spPr>
      </p:pic>
      <p:sp>
        <p:nvSpPr>
          <p:cNvPr id="21" name="AutoShape 21"/>
          <p:cNvSpPr/>
          <p:nvPr>
            <p:custDataLst>
              <p:tags r:id="rId16"/>
            </p:custDataLst>
          </p:nvPr>
        </p:nvSpPr>
        <p:spPr>
          <a:xfrm>
            <a:off x="6883400" y="2331720"/>
            <a:ext cx="1714500" cy="4940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置信度评估</a:t>
            </a:r>
            <a:endParaRPr lang="en-US" sz="1100"/>
          </a:p>
        </p:txBody>
      </p:sp>
      <p:cxnSp>
        <p:nvCxnSpPr>
          <p:cNvPr id="22" name="Connector 22"/>
          <p:cNvCxnSpPr/>
          <p:nvPr>
            <p:custDataLst>
              <p:tags r:id="rId17"/>
            </p:custDataLst>
          </p:nvPr>
        </p:nvCxnSpPr>
        <p:spPr>
          <a:xfrm>
            <a:off x="6375400" y="2923700"/>
            <a:ext cx="2158365" cy="75565"/>
          </a:xfrm>
          <a:prstGeom prst="straightConnector1">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23" name="AutoShape 23"/>
          <p:cNvSpPr/>
          <p:nvPr>
            <p:custDataLst>
              <p:tags r:id="rId18"/>
            </p:custDataLst>
          </p:nvPr>
        </p:nvSpPr>
        <p:spPr>
          <a:xfrm>
            <a:off x="6311900" y="3194685"/>
            <a:ext cx="2286000" cy="131064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构建置信度评估机制，通过比对规则匹配度与历史样本分布，量化规则预测结果的可靠性，输出可解释的置信度分数。</a:t>
            </a:r>
            <a:endParaRPr lang="en-US" sz="1100"/>
          </a:p>
        </p:txBody>
      </p:sp>
      <p:sp>
        <p:nvSpPr>
          <p:cNvPr id="24" name="AutoShape 24"/>
          <p:cNvSpPr/>
          <p:nvPr>
            <p:custDataLst>
              <p:tags r:id="rId19"/>
            </p:custDataLst>
          </p:nvPr>
        </p:nvSpPr>
        <p:spPr>
          <a:xfrm>
            <a:off x="8890000" y="3081020"/>
            <a:ext cx="2540000" cy="166116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custDataLst>
              <p:tags r:id="rId20"/>
            </p:custDataLst>
          </p:nvPr>
        </p:nvSpPr>
        <p:spPr>
          <a:xfrm>
            <a:off x="8890000" y="2113280"/>
            <a:ext cx="25400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9080500" y="2331720"/>
            <a:ext cx="406400" cy="494030"/>
          </a:xfrm>
          <a:prstGeom prst="rect">
            <a:avLst/>
          </a:prstGeom>
        </p:spPr>
      </p:pic>
      <p:sp>
        <p:nvSpPr>
          <p:cNvPr id="27" name="AutoShape 27"/>
          <p:cNvSpPr/>
          <p:nvPr>
            <p:custDataLst>
              <p:tags r:id="rId22"/>
            </p:custDataLst>
          </p:nvPr>
        </p:nvSpPr>
        <p:spPr>
          <a:xfrm>
            <a:off x="9588500" y="2331720"/>
            <a:ext cx="1714500" cy="4940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动态决策回退</a:t>
            </a:r>
            <a:endParaRPr lang="en-US" sz="1100"/>
          </a:p>
        </p:txBody>
      </p:sp>
      <p:cxnSp>
        <p:nvCxnSpPr>
          <p:cNvPr id="28" name="Connector 28"/>
          <p:cNvCxnSpPr/>
          <p:nvPr>
            <p:custDataLst>
              <p:tags r:id="rId23"/>
            </p:custDataLst>
          </p:nvPr>
        </p:nvCxnSpPr>
        <p:spPr>
          <a:xfrm>
            <a:off x="9080500" y="2923700"/>
            <a:ext cx="2158365" cy="75565"/>
          </a:xfrm>
          <a:prstGeom prst="straightConnector1">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29" name="AutoShape 29"/>
          <p:cNvSpPr/>
          <p:nvPr>
            <p:custDataLst>
              <p:tags r:id="rId24"/>
            </p:custDataLst>
          </p:nvPr>
        </p:nvSpPr>
        <p:spPr>
          <a:xfrm>
            <a:off x="9017000" y="3194685"/>
            <a:ext cx="2286000" cy="131064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高置信度直接采纳规则结果；低置信度则自动触发“回退”机制，调用原始大模型进行最终预测，保障结果准确性。</a:t>
            </a:r>
            <a:endParaRPr lang="en-US" sz="1100"/>
          </a:p>
        </p:txBody>
      </p:sp>
      <p:sp>
        <p:nvSpPr>
          <p:cNvPr id="30" name="AutoShape 30"/>
          <p:cNvSpPr/>
          <p:nvPr/>
        </p:nvSpPr>
        <p:spPr>
          <a:xfrm>
            <a:off x="762000" y="5557017"/>
            <a:ext cx="10668000" cy="571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952500" y="5633217"/>
            <a:ext cx="1028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框架价值：实现了“规则的效率”与“大模型的能力”的有机结合，在保持高准确率的前提下</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大幅降低</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推理成本</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文本框 36"/>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实现思路</a:t>
            </a:r>
            <a:endParaRPr lang="zh-CN" altLang="en-US" sz="2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397000"/>
            <a:ext cx="10668000" cy="381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custDataLst>
              <p:tags r:id="rId1"/>
            </p:custDataLst>
          </p:nvPr>
        </p:nvSpPr>
        <p:spPr>
          <a:xfrm>
            <a:off x="762000" y="1847504"/>
            <a:ext cx="3378200" cy="3683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762000" y="1847504"/>
            <a:ext cx="33782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16000" y="2228504"/>
            <a:ext cx="406400" cy="406400"/>
          </a:xfrm>
          <a:prstGeom prst="rect">
            <a:avLst/>
          </a:prstGeom>
        </p:spPr>
      </p:pic>
      <p:sp>
        <p:nvSpPr>
          <p:cNvPr id="7" name="AutoShape 7"/>
          <p:cNvSpPr/>
          <p:nvPr>
            <p:custDataLst>
              <p:tags r:id="rId4"/>
            </p:custDataLst>
          </p:nvPr>
        </p:nvSpPr>
        <p:spPr>
          <a:xfrm>
            <a:off x="1549400" y="2203104"/>
            <a:ext cx="23368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数据稀疏场景</a:t>
            </a:r>
            <a:endParaRPr lang="en-US" sz="1100"/>
          </a:p>
        </p:txBody>
      </p:sp>
      <p:cxnSp>
        <p:nvCxnSpPr>
          <p:cNvPr id="8" name="Connector 8"/>
          <p:cNvCxnSpPr/>
          <p:nvPr>
            <p:custDataLst>
              <p:tags r:id="rId5"/>
            </p:custDataLst>
          </p:nvPr>
        </p:nvCxnSpPr>
        <p:spPr>
          <a:xfrm rot="-15211">
            <a:off x="1016014" y="2984154"/>
            <a:ext cx="2870200" cy="12700"/>
          </a:xfrm>
          <a:prstGeom prst="straightConnector1">
            <a:avLst/>
          </a:prstGeom>
          <a:solidFill>
            <a:srgbClr val="DEE0E3">
              <a:alpha val="100000"/>
            </a:srgbClr>
          </a:solidFill>
          <a:ln w="12700" cap="flat" cmpd="sng">
            <a:solidFill>
              <a:srgbClr val="40E0D0">
                <a:alpha val="30000"/>
              </a:srgbClr>
            </a:solidFill>
            <a:prstDash val="solid"/>
            <a:round/>
            <a:headEnd type="none" w="med" len="med"/>
            <a:tailEnd type="none" w="med" len="med"/>
          </a:ln>
        </p:spPr>
      </p:cxnSp>
      <p:sp>
        <p:nvSpPr>
          <p:cNvPr id="9" name="AutoShape 9"/>
          <p:cNvSpPr/>
          <p:nvPr>
            <p:custDataLst>
              <p:tags r:id="rId6"/>
            </p:custDataLst>
          </p:nvPr>
        </p:nvSpPr>
        <p:spPr>
          <a:xfrm>
            <a:off x="1016000" y="3244504"/>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核心设定</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使用极少量的训练样本（100/500/1000条）进行模型训练，严格控制数据输入规模。</a:t>
            </a:r>
          </a:p>
        </p:txBody>
      </p:sp>
      <p:sp>
        <p:nvSpPr>
          <p:cNvPr id="10" name="AutoShape 10"/>
          <p:cNvSpPr/>
          <p:nvPr>
            <p:custDataLst>
              <p:tags r:id="rId7"/>
            </p:custDataLst>
          </p:nvPr>
        </p:nvSpPr>
        <p:spPr>
          <a:xfrm>
            <a:off x="1016000" y="4768504"/>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实验目的</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模拟现实中数据不足或冷启动困境，重点检验大模型的少样本学习与快速适配能力。</a:t>
            </a:r>
          </a:p>
        </p:txBody>
      </p:sp>
      <p:sp>
        <p:nvSpPr>
          <p:cNvPr id="11" name="AutoShape 11"/>
          <p:cNvSpPr/>
          <p:nvPr>
            <p:custDataLst>
              <p:tags r:id="rId8"/>
            </p:custDataLst>
          </p:nvPr>
        </p:nvSpPr>
        <p:spPr>
          <a:xfrm>
            <a:off x="4406900" y="1847504"/>
            <a:ext cx="3378200" cy="3683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custDataLst>
              <p:tags r:id="rId9"/>
            </p:custDataLst>
          </p:nvPr>
        </p:nvSpPr>
        <p:spPr>
          <a:xfrm>
            <a:off x="4406900" y="1847504"/>
            <a:ext cx="33782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660900" y="2228504"/>
            <a:ext cx="406400" cy="406400"/>
          </a:xfrm>
          <a:prstGeom prst="rect">
            <a:avLst/>
          </a:prstGeom>
        </p:spPr>
      </p:pic>
      <p:sp>
        <p:nvSpPr>
          <p:cNvPr id="14" name="AutoShape 14"/>
          <p:cNvSpPr/>
          <p:nvPr>
            <p:custDataLst>
              <p:tags r:id="rId11"/>
            </p:custDataLst>
          </p:nvPr>
        </p:nvSpPr>
        <p:spPr>
          <a:xfrm>
            <a:off x="5194300" y="2203104"/>
            <a:ext cx="23368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字段缺失场景</a:t>
            </a:r>
            <a:endParaRPr lang="en-US" sz="1100"/>
          </a:p>
        </p:txBody>
      </p:sp>
      <p:cxnSp>
        <p:nvCxnSpPr>
          <p:cNvPr id="15" name="Connector 15"/>
          <p:cNvCxnSpPr/>
          <p:nvPr>
            <p:custDataLst>
              <p:tags r:id="rId12"/>
            </p:custDataLst>
          </p:nvPr>
        </p:nvCxnSpPr>
        <p:spPr>
          <a:xfrm rot="-15211">
            <a:off x="4660914" y="2984154"/>
            <a:ext cx="2870200" cy="12700"/>
          </a:xfrm>
          <a:prstGeom prst="straightConnector1">
            <a:avLst/>
          </a:prstGeom>
          <a:solidFill>
            <a:srgbClr val="DEE0E3">
              <a:alpha val="100000"/>
            </a:srgbClr>
          </a:solidFill>
          <a:ln w="12700" cap="flat" cmpd="sng">
            <a:solidFill>
              <a:srgbClr val="40E0D0">
                <a:alpha val="30000"/>
              </a:srgbClr>
            </a:solidFill>
            <a:prstDash val="solid"/>
            <a:round/>
            <a:headEnd type="none" w="med" len="med"/>
            <a:tailEnd type="none" w="med" len="med"/>
          </a:ln>
        </p:spPr>
      </p:cxnSp>
      <p:sp>
        <p:nvSpPr>
          <p:cNvPr id="16" name="AutoShape 16"/>
          <p:cNvSpPr/>
          <p:nvPr>
            <p:custDataLst>
              <p:tags r:id="rId13"/>
            </p:custDataLst>
          </p:nvPr>
        </p:nvSpPr>
        <p:spPr>
          <a:xfrm>
            <a:off x="4660900" y="3244504"/>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核心设定</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在训练数据中，人为随机让每条样本缺失30%-70%的字段信息，模拟数据采集的不完整性。</a:t>
            </a:r>
          </a:p>
        </p:txBody>
      </p:sp>
      <p:sp>
        <p:nvSpPr>
          <p:cNvPr id="17" name="AutoShape 17"/>
          <p:cNvSpPr/>
          <p:nvPr>
            <p:custDataLst>
              <p:tags r:id="rId14"/>
            </p:custDataLst>
          </p:nvPr>
        </p:nvSpPr>
        <p:spPr>
          <a:xfrm>
            <a:off x="4660900" y="4768504"/>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实验目的</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聚焦数据采集不全的普遍问题，验证模型能否利用先验知识弥补信息缺口，保持预测稳定性。</a:t>
            </a:r>
          </a:p>
        </p:txBody>
      </p:sp>
      <p:sp>
        <p:nvSpPr>
          <p:cNvPr id="18" name="AutoShape 18"/>
          <p:cNvSpPr/>
          <p:nvPr>
            <p:custDataLst>
              <p:tags r:id="rId15"/>
            </p:custDataLst>
          </p:nvPr>
        </p:nvSpPr>
        <p:spPr>
          <a:xfrm>
            <a:off x="8051800" y="1847504"/>
            <a:ext cx="3378200" cy="3683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custDataLst>
              <p:tags r:id="rId16"/>
            </p:custDataLst>
          </p:nvPr>
        </p:nvSpPr>
        <p:spPr>
          <a:xfrm>
            <a:off x="8051800" y="1847504"/>
            <a:ext cx="3378200" cy="762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305800" y="2228504"/>
            <a:ext cx="406400" cy="406400"/>
          </a:xfrm>
          <a:prstGeom prst="rect">
            <a:avLst/>
          </a:prstGeom>
        </p:spPr>
      </p:pic>
      <p:sp>
        <p:nvSpPr>
          <p:cNvPr id="21" name="AutoShape 21"/>
          <p:cNvSpPr/>
          <p:nvPr>
            <p:custDataLst>
              <p:tags r:id="rId18"/>
            </p:custDataLst>
          </p:nvPr>
        </p:nvSpPr>
        <p:spPr>
          <a:xfrm>
            <a:off x="8839200" y="2203104"/>
            <a:ext cx="23368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新增变量场景</a:t>
            </a:r>
            <a:endParaRPr lang="en-US" sz="1100"/>
          </a:p>
        </p:txBody>
      </p:sp>
      <p:cxnSp>
        <p:nvCxnSpPr>
          <p:cNvPr id="22" name="Connector 22"/>
          <p:cNvCxnSpPr/>
          <p:nvPr>
            <p:custDataLst>
              <p:tags r:id="rId19"/>
            </p:custDataLst>
          </p:nvPr>
        </p:nvCxnSpPr>
        <p:spPr>
          <a:xfrm rot="-15211">
            <a:off x="8305814" y="2984154"/>
            <a:ext cx="2870200" cy="12700"/>
          </a:xfrm>
          <a:prstGeom prst="straightConnector1">
            <a:avLst/>
          </a:prstGeom>
          <a:solidFill>
            <a:srgbClr val="DEE0E3">
              <a:alpha val="100000"/>
            </a:srgbClr>
          </a:solidFill>
          <a:ln w="12700" cap="flat" cmpd="sng">
            <a:solidFill>
              <a:srgbClr val="40E0D0">
                <a:alpha val="30000"/>
              </a:srgbClr>
            </a:solidFill>
            <a:prstDash val="solid"/>
            <a:round/>
            <a:headEnd type="none" w="med" len="med"/>
            <a:tailEnd type="none" w="med" len="med"/>
          </a:ln>
        </p:spPr>
      </p:cxnSp>
      <p:sp>
        <p:nvSpPr>
          <p:cNvPr id="23" name="AutoShape 23"/>
          <p:cNvSpPr/>
          <p:nvPr>
            <p:custDataLst>
              <p:tags r:id="rId20"/>
            </p:custDataLst>
          </p:nvPr>
        </p:nvSpPr>
        <p:spPr>
          <a:xfrm>
            <a:off x="8305800" y="3244504"/>
            <a:ext cx="287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核心设定</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采用不含疫情变量的2017年数据训练模型，在包含疫情变量的2022年测试集上进行性能评估。</a:t>
            </a:r>
          </a:p>
        </p:txBody>
      </p:sp>
      <p:sp>
        <p:nvSpPr>
          <p:cNvPr id="24" name="AutoShape 24"/>
          <p:cNvSpPr/>
          <p:nvPr>
            <p:custDataLst>
              <p:tags r:id="rId21"/>
            </p:custDataLst>
          </p:nvPr>
        </p:nvSpPr>
        <p:spPr>
          <a:xfrm>
            <a:off x="8305800" y="4768504"/>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实验目的</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模拟现实中的突发状况与环境变化，检验模型面对未知新变量时的泛化能力与鲁棒性。</a:t>
            </a:r>
          </a:p>
        </p:txBody>
      </p:sp>
      <p:sp>
        <p:nvSpPr>
          <p:cNvPr id="25" name="AutoShape 25"/>
          <p:cNvSpPr/>
          <p:nvPr/>
        </p:nvSpPr>
        <p:spPr>
          <a:xfrm>
            <a:off x="762000" y="5848004"/>
            <a:ext cx="10668000" cy="508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89000" y="5911504"/>
            <a:ext cx="1041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总结：通过三类高挑战性场景的全覆盖测试，构建多维度、立体化的模型性能评估体系，确保结论的可靠性与普适性。</a:t>
            </a:r>
            <a:endParaRPr lang="en-US" sz="1100"/>
          </a:p>
        </p:txBody>
      </p:sp>
      <p:sp>
        <p:nvSpPr>
          <p:cNvPr id="28" name="文本框 27"/>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场景构建</a:t>
            </a:r>
            <a:endParaRPr lang="zh-CN" altLang="en-US" sz="24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1524000"/>
            <a:ext cx="10668000" cy="254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3378200" cy="3429000"/>
          </a:xfrm>
          <a:prstGeom prst="roundRect">
            <a:avLst>
              <a:gd name="adj" fmla="val 0"/>
            </a:avLst>
          </a:prstGeom>
          <a:solidFill>
            <a:srgbClr val="FFFFFF">
              <a:alpha val="6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33782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355600" cy="355600"/>
          </a:xfrm>
          <a:prstGeom prst="rect">
            <a:avLst/>
          </a:prstGeom>
        </p:spPr>
      </p:pic>
      <p:sp>
        <p:nvSpPr>
          <p:cNvPr id="8" name="AutoShape 8"/>
          <p:cNvSpPr/>
          <p:nvPr/>
        </p:nvSpPr>
        <p:spPr>
          <a:xfrm>
            <a:off x="15240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字段与取值不统一</a:t>
            </a:r>
            <a:endParaRPr lang="en-US" sz="1100"/>
          </a:p>
        </p:txBody>
      </p:sp>
      <p:cxnSp>
        <p:nvCxnSpPr>
          <p:cNvPr id="9" name="Connector 9"/>
          <p:cNvCxnSpPr/>
          <p:nvPr/>
        </p:nvCxnSpPr>
        <p:spPr>
          <a:xfrm rot="-15211">
            <a:off x="1016014" y="2914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0" name="AutoShape 10"/>
          <p:cNvSpPr/>
          <p:nvPr/>
        </p:nvSpPr>
        <p:spPr>
          <a:xfrm>
            <a:off x="952500" y="3044376"/>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2017年和2022年的NHTS数据在字段名称和具体取值上存在显著差异，导致数据无法直接对齐分析。</a:t>
            </a:r>
            <a:endParaRPr lang="en-US" sz="1100" dirty="0"/>
          </a:p>
        </p:txBody>
      </p:sp>
      <p:cxnSp>
        <p:nvCxnSpPr>
          <p:cNvPr id="11" name="Connector 11"/>
          <p:cNvCxnSpPr/>
          <p:nvPr/>
        </p:nvCxnSpPr>
        <p:spPr>
          <a:xfrm rot="-15211">
            <a:off x="1016014" y="4438650"/>
            <a:ext cx="28702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12" name="AutoShape 12"/>
          <p:cNvSpPr/>
          <p:nvPr/>
        </p:nvSpPr>
        <p:spPr>
          <a:xfrm>
            <a:off x="952500" y="4504876"/>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开展细致的字段映射与标准化工作，建立统一的数据字典，确保两年份数据的语义一致性</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3" name="AutoShape 13"/>
          <p:cNvSpPr/>
          <p:nvPr/>
        </p:nvSpPr>
        <p:spPr>
          <a:xfrm>
            <a:off x="4394200" y="2032000"/>
            <a:ext cx="3378200" cy="3429000"/>
          </a:xfrm>
          <a:prstGeom prst="roundRect">
            <a:avLst>
              <a:gd name="adj" fmla="val 0"/>
            </a:avLst>
          </a:prstGeom>
          <a:solidFill>
            <a:srgbClr val="FFFFFF">
              <a:alpha val="6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94200" y="2032000"/>
            <a:ext cx="33782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2286000"/>
            <a:ext cx="355600" cy="355600"/>
          </a:xfrm>
          <a:prstGeom prst="rect">
            <a:avLst/>
          </a:prstGeom>
        </p:spPr>
      </p:pic>
      <p:sp>
        <p:nvSpPr>
          <p:cNvPr id="16" name="AutoShape 16"/>
          <p:cNvSpPr/>
          <p:nvPr/>
        </p:nvSpPr>
        <p:spPr>
          <a:xfrm>
            <a:off x="51562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特征维度灾难</a:t>
            </a:r>
            <a:endParaRPr lang="en-US" sz="1100"/>
          </a:p>
        </p:txBody>
      </p:sp>
      <p:cxnSp>
        <p:nvCxnSpPr>
          <p:cNvPr id="17" name="Connector 17"/>
          <p:cNvCxnSpPr/>
          <p:nvPr/>
        </p:nvCxnSpPr>
        <p:spPr>
          <a:xfrm rot="-15211">
            <a:off x="4648214" y="2914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18" name="AutoShape 18"/>
          <p:cNvSpPr/>
          <p:nvPr/>
        </p:nvSpPr>
        <p:spPr>
          <a:xfrm>
            <a:off x="4584700" y="3136901"/>
            <a:ext cx="3092241"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原始数据集包含上百个字段，维度极高，不仅大幅增加计算复杂度，还极易引入冗余信息和噪声，影响模型精度</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19" name="Connector 19"/>
          <p:cNvCxnSpPr/>
          <p:nvPr/>
        </p:nvCxnSpPr>
        <p:spPr>
          <a:xfrm rot="-15211">
            <a:off x="4648214" y="4438650"/>
            <a:ext cx="28702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0" name="AutoShape 20"/>
          <p:cNvSpPr/>
          <p:nvPr/>
        </p:nvSpPr>
        <p:spPr>
          <a:xfrm>
            <a:off x="4584700" y="4551904"/>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采用“人工筛选+算法辅助”的混合策略，剔除无效特征，精准筛选与研究目标相关的高价值特征</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1" name="AutoShape 21"/>
          <p:cNvSpPr/>
          <p:nvPr/>
        </p:nvSpPr>
        <p:spPr>
          <a:xfrm>
            <a:off x="8026400" y="2032000"/>
            <a:ext cx="3378200" cy="3429000"/>
          </a:xfrm>
          <a:prstGeom prst="roundRect">
            <a:avLst>
              <a:gd name="adj" fmla="val 0"/>
            </a:avLst>
          </a:prstGeom>
          <a:solidFill>
            <a:srgbClr val="FFFFFF">
              <a:alpha val="6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026400" y="2032000"/>
            <a:ext cx="33782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80400" y="2286000"/>
            <a:ext cx="355600" cy="355600"/>
          </a:xfrm>
          <a:prstGeom prst="rect">
            <a:avLst/>
          </a:prstGeom>
        </p:spPr>
      </p:pic>
      <p:sp>
        <p:nvSpPr>
          <p:cNvPr id="24" name="AutoShape 24"/>
          <p:cNvSpPr/>
          <p:nvPr/>
        </p:nvSpPr>
        <p:spPr>
          <a:xfrm>
            <a:off x="8788400" y="22606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出行方式分类过细</a:t>
            </a:r>
            <a:endParaRPr lang="en-US" sz="1100"/>
          </a:p>
        </p:txBody>
      </p:sp>
      <p:cxnSp>
        <p:nvCxnSpPr>
          <p:cNvPr id="25" name="Connector 25"/>
          <p:cNvCxnSpPr/>
          <p:nvPr/>
        </p:nvCxnSpPr>
        <p:spPr>
          <a:xfrm rot="-15211">
            <a:off x="8280414" y="2914650"/>
            <a:ext cx="2870200" cy="12700"/>
          </a:xfrm>
          <a:prstGeom prst="straightConnector1">
            <a:avLst/>
          </a:prstGeom>
          <a:solidFill>
            <a:srgbClr val="DEE0E3">
              <a:alpha val="100000"/>
            </a:srgbClr>
          </a:solidFill>
          <a:ln w="12700" cap="flat" cmpd="sng">
            <a:solidFill>
              <a:srgbClr val="333333">
                <a:alpha val="15000"/>
              </a:srgbClr>
            </a:solidFill>
            <a:prstDash val="dash"/>
            <a:round/>
            <a:headEnd type="none" w="med" len="med"/>
            <a:tailEnd type="none" w="med" len="med"/>
          </a:ln>
        </p:spPr>
      </p:cxnSp>
      <p:sp>
        <p:nvSpPr>
          <p:cNvPr id="26" name="AutoShape 26"/>
          <p:cNvSpPr/>
          <p:nvPr/>
        </p:nvSpPr>
        <p:spPr>
          <a:xfrm>
            <a:off x="8216900" y="3049814"/>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原始数据对出行方式的分类过于琐碎（如细分轿车、SUV等</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增加了预测难度，对宏观趋势分析意义有限</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27" name="Connector 27"/>
          <p:cNvCxnSpPr/>
          <p:nvPr/>
        </p:nvCxnSpPr>
        <p:spPr>
          <a:xfrm rot="-15211">
            <a:off x="8280414" y="4438650"/>
            <a:ext cx="2870200" cy="12700"/>
          </a:xfrm>
          <a:prstGeom prst="straightConnector1">
            <a:avLst/>
          </a:prstGeom>
          <a:solidFill>
            <a:srgbClr val="DEE0E3">
              <a:alpha val="100000"/>
            </a:srgbClr>
          </a:solidFill>
          <a:ln w="12700" cap="flat" cmpd="sng">
            <a:solidFill>
              <a:srgbClr val="333333">
                <a:alpha val="10000"/>
              </a:srgbClr>
            </a:solidFill>
            <a:prstDash val="solid"/>
            <a:round/>
            <a:headEnd type="none" w="med" len="med"/>
            <a:tailEnd type="none" w="med" len="med"/>
          </a:ln>
        </p:spPr>
      </p:cxnSp>
      <p:sp>
        <p:nvSpPr>
          <p:cNvPr id="28" name="AutoShape 28"/>
          <p:cNvSpPr/>
          <p:nvPr/>
        </p:nvSpPr>
        <p:spPr>
          <a:xfrm>
            <a:off x="8204200" y="461645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实施类别合并策略，</a:t>
            </a:r>
            <a:r>
              <a:rPr lang="en-US" altLang="zh-CN"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归并</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繁杂的原始类别，简化分析模型</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9" name="AutoShape 29"/>
          <p:cNvSpPr/>
          <p:nvPr/>
        </p:nvSpPr>
        <p:spPr>
          <a:xfrm>
            <a:off x="762000" y="5842000"/>
            <a:ext cx="10668000" cy="635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952500" y="59055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通过系统化的数据预处理流程，我们成功消除了数据异构性、维度冗余和分类噪声，为后续的模型训练和分析奠定了坚实基础。</a:t>
            </a:r>
            <a:endParaRPr lang="en-US" sz="1100"/>
          </a:p>
        </p:txBody>
      </p:sp>
      <p:sp>
        <p:nvSpPr>
          <p:cNvPr id="31" name="文本框 30"/>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技术挑战</a:t>
            </a:r>
            <a:endParaRPr lang="zh-CN" altLang="en-US" sz="24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从大模型中提取有效的决策规则是本研究的核心技术难点，我们在实践中不断试错与优化，历经多轮版本迭代，逐步逼近更精准、更贴合真实场景的决策逻辑。</a:t>
            </a:r>
            <a:endParaRPr lang="en-US" sz="1100"/>
          </a:p>
        </p:txBody>
      </p:sp>
      <p:cxnSp>
        <p:nvCxnSpPr>
          <p:cNvPr id="4" name="Connector 4"/>
          <p:cNvCxnSpPr/>
          <p:nvPr/>
        </p:nvCxnSpPr>
        <p:spPr>
          <a:xfrm rot="-4092">
            <a:off x="762004" y="2787650"/>
            <a:ext cx="10668000" cy="12700"/>
          </a:xfrm>
          <a:prstGeom prst="line">
            <a:avLst/>
          </a:prstGeom>
          <a:solidFill>
            <a:srgbClr val="DEE0E3">
              <a:alpha val="100000"/>
            </a:srgbClr>
          </a:solidFill>
          <a:ln w="12700" cap="flat" cmpd="sng">
            <a:solidFill>
              <a:srgbClr val="40E0D0">
                <a:alpha val="50000"/>
              </a:srgbClr>
            </a:solidFill>
            <a:prstDash val="solid"/>
            <a:round/>
            <a:headEnd type="none" w="med" len="med"/>
            <a:tailEnd type="none" w="med" len="med"/>
          </a:ln>
        </p:spPr>
      </p:cxnSp>
      <p:sp>
        <p:nvSpPr>
          <p:cNvPr id="5" name="AutoShape 5"/>
          <p:cNvSpPr/>
          <p:nvPr/>
        </p:nvSpPr>
        <p:spPr>
          <a:xfrm>
            <a:off x="762000" y="3302000"/>
            <a:ext cx="5270500" cy="2413000"/>
          </a:xfrm>
          <a:prstGeom prst="roundRect">
            <a:avLst>
              <a:gd name="adj" fmla="val 0"/>
            </a:avLst>
          </a:prstGeom>
          <a:solidFill>
            <a:srgbClr val="40E0D0">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3302000"/>
            <a:ext cx="76200" cy="2413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429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方案一：直接提取 IF-THEN 规则</a:t>
            </a:r>
            <a:endParaRPr lang="en-US" sz="1100"/>
          </a:p>
        </p:txBody>
      </p:sp>
      <p:cxnSp>
        <p:nvCxnSpPr>
          <p:cNvPr id="8" name="Connector 8"/>
          <p:cNvCxnSpPr/>
          <p:nvPr/>
        </p:nvCxnSpPr>
        <p:spPr>
          <a:xfrm rot="-9167">
            <a:off x="1016008" y="3994150"/>
            <a:ext cx="47625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9" name="AutoShape 9"/>
          <p:cNvSpPr/>
          <p:nvPr/>
        </p:nvSpPr>
        <p:spPr>
          <a:xfrm>
            <a:off x="1016000" y="4191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核心思路是直接指令大模型“总结出几条判断出行方式的黄金法则”，试图通过大模型的归纳能力生成显性、可解释的逻辑规则体系。</a:t>
            </a:r>
            <a:endParaRPr lang="en-US" sz="1100"/>
          </a:p>
        </p:txBody>
      </p:sp>
      <p:sp>
        <p:nvSpPr>
          <p:cNvPr id="10" name="AutoShape 10"/>
          <p:cNvSpPr/>
          <p:nvPr/>
        </p:nvSpPr>
        <p:spPr>
          <a:xfrm>
            <a:off x="1016000" y="5207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核心局限：规则过于简单抽象，覆盖率极低，多数真实样本无法匹配对应规则</a:t>
            </a:r>
            <a:r>
              <a:rPr lang="en-US" sz="1400" b="1" i="0" u="none" strike="noStrike" dirty="0">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1"/>
          <p:cNvSpPr/>
          <p:nvPr/>
        </p:nvSpPr>
        <p:spPr>
          <a:xfrm>
            <a:off x="6286500" y="3302000"/>
            <a:ext cx="5270500" cy="2413000"/>
          </a:xfrm>
          <a:prstGeom prst="roundRect">
            <a:avLst>
              <a:gd name="adj" fmla="val 0"/>
            </a:avLst>
          </a:prstGeom>
          <a:solidFill>
            <a:srgbClr val="40E0D0">
              <a:alpha val="8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86500" y="3302000"/>
            <a:ext cx="76200" cy="2413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40500" y="3429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方案二：特征加权评分机制</a:t>
            </a:r>
            <a:endParaRPr lang="en-US" sz="1100"/>
          </a:p>
        </p:txBody>
      </p:sp>
      <p:cxnSp>
        <p:nvCxnSpPr>
          <p:cNvPr id="14" name="Connector 14"/>
          <p:cNvCxnSpPr/>
          <p:nvPr/>
        </p:nvCxnSpPr>
        <p:spPr>
          <a:xfrm rot="-9167">
            <a:off x="6540508" y="3994150"/>
            <a:ext cx="4762500" cy="12700"/>
          </a:xfrm>
          <a:prstGeom prst="line">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5" name="AutoShape 15"/>
          <p:cNvSpPr/>
          <p:nvPr/>
        </p:nvSpPr>
        <p:spPr>
          <a:xfrm>
            <a:off x="6540500" y="41910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引导大模型对每个关键特征的不同取值赋予权重分数，通过加权求和的数值结果来量化决策倾向，进而预测最终的出行决策类别。</a:t>
            </a:r>
            <a:endParaRPr lang="en-US" sz="1100"/>
          </a:p>
        </p:txBody>
      </p:sp>
      <p:sp>
        <p:nvSpPr>
          <p:cNvPr id="16" name="AutoShape 16"/>
          <p:cNvSpPr/>
          <p:nvPr/>
        </p:nvSpPr>
        <p:spPr>
          <a:xfrm>
            <a:off x="6540500" y="516255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核心局限：假设特征间相互独立，严重忽略了特征之间复杂的非线性关联与交互影响</a:t>
            </a:r>
            <a:r>
              <a:rPr lang="en-US" sz="1400" b="1" i="0" u="none" strike="noStrike" dirty="0">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7" name="AutoShape 17"/>
          <p:cNvSpPr/>
          <p:nvPr/>
        </p:nvSpPr>
        <p:spPr>
          <a:xfrm>
            <a:off x="762000" y="6032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迭代启示：单一的规则提取或线性加权无法适配复杂的现实决策场景，需探索更具表达力、能捕捉特征交互的规则构建范式。</a:t>
            </a:r>
            <a:endParaRPr lang="en-US" sz="1100"/>
          </a:p>
        </p:txBody>
      </p:sp>
      <p:sp>
        <p:nvSpPr>
          <p:cNvPr id="18" name="AutoShape 4"/>
          <p:cNvSpPr/>
          <p:nvPr/>
        </p:nvSpPr>
        <p:spPr>
          <a:xfrm>
            <a:off x="762000" y="1524000"/>
            <a:ext cx="10668000" cy="254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文本框 18"/>
          <p:cNvSpPr txBox="1"/>
          <p:nvPr/>
        </p:nvSpPr>
        <p:spPr>
          <a:xfrm>
            <a:off x="7287600" y="294637"/>
            <a:ext cx="3890075" cy="126746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技术挑战</a:t>
            </a:r>
            <a:endParaRPr lang="zh-CN" altLang="en-US" sz="24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5207000" cy="3429000"/>
          </a:xfrm>
          <a:prstGeom prst="roundRect">
            <a:avLst>
              <a:gd name="adj" fmla="val 0"/>
            </a:avLst>
          </a:prstGeom>
          <a:solidFill>
            <a:srgbClr val="FFFFFF">
              <a:alpha val="6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540000"/>
            <a:ext cx="76200" cy="3429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730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方案三：引入衍生特征与决定性规则</a:t>
            </a:r>
            <a:endParaRPr lang="en-US" sz="1100"/>
          </a:p>
        </p:txBody>
      </p:sp>
      <p:cxnSp>
        <p:nvCxnSpPr>
          <p:cNvPr id="9" name="Connector 9"/>
          <p:cNvCxnSpPr/>
          <p:nvPr/>
        </p:nvCxnSpPr>
        <p:spPr>
          <a:xfrm rot="-9291">
            <a:off x="1016009" y="3359150"/>
            <a:ext cx="4699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0" name="AutoShape 10"/>
          <p:cNvSpPr/>
          <p:nvPr/>
        </p:nvSpPr>
        <p:spPr>
          <a:xfrm>
            <a:off x="1016000" y="3556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核心思路：</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提炼</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超远距离通勤选择城际公交</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等决定性规则，聚合“家庭人数”与“车辆数”为“人均车辆拥有率”等衍生特征，深化数据维度</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3" name="AutoShape 13"/>
          <p:cNvSpPr/>
          <p:nvPr/>
        </p:nvSpPr>
        <p:spPr>
          <a:xfrm>
            <a:off x="6223000" y="2540000"/>
            <a:ext cx="5207000" cy="3429000"/>
          </a:xfrm>
          <a:prstGeom prst="roundRect">
            <a:avLst>
              <a:gd name="adj" fmla="val 0"/>
            </a:avLst>
          </a:prstGeom>
          <a:solidFill>
            <a:srgbClr val="FFFFFF">
              <a:alpha val="6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23000" y="2540000"/>
            <a:ext cx="76200" cy="3429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2730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方案四：引入均衡化约束</a:t>
            </a:r>
            <a:r>
              <a:rPr lang="en-US" sz="16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（最终方案）</a:t>
            </a:r>
            <a:endParaRPr lang="en-US" sz="1100"/>
          </a:p>
        </p:txBody>
      </p:sp>
      <p:cxnSp>
        <p:nvCxnSpPr>
          <p:cNvPr id="16" name="Connector 16"/>
          <p:cNvCxnSpPr/>
          <p:nvPr/>
        </p:nvCxnSpPr>
        <p:spPr>
          <a:xfrm rot="-9291">
            <a:off x="6477009" y="3359150"/>
            <a:ext cx="4699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7" name="AutoShape 17"/>
          <p:cNvSpPr/>
          <p:nvPr/>
        </p:nvSpPr>
        <p:spPr>
          <a:xfrm>
            <a:off x="6477000" y="3556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关键策略：</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在评分机制中增设“行和均衡”与“列和均衡”双重约束，确保每个特征对所有出行方式的赋分之和、每种出行方式在所有特征上的赋分之和均保持平衡。</a:t>
            </a:r>
            <a:endParaRPr lang="en-US" sz="1100" dirty="0"/>
          </a:p>
        </p:txBody>
      </p:sp>
      <p:sp>
        <p:nvSpPr>
          <p:cNvPr id="19" name="AutoShape 19"/>
          <p:cNvSpPr/>
          <p:nvPr/>
        </p:nvSpPr>
        <p:spPr>
          <a:xfrm>
            <a:off x="6477000" y="508635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实施效果：</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彻底解决预测偏向问题，输出结果多样化且贴合实际出行场景，规则体系趋于完善</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1" name="AutoShape 3"/>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从大模型中提取有效的决策规则是本研究的核心技术难点，我们在实践中不断试错与优化，历经多轮版本迭代，逐步逼近更精准、更贴合真实场景的决策逻辑。</a:t>
            </a:r>
            <a:endParaRPr lang="en-US" sz="1100"/>
          </a:p>
        </p:txBody>
      </p:sp>
      <p:sp>
        <p:nvSpPr>
          <p:cNvPr id="22" name="AutoShape 4"/>
          <p:cNvSpPr/>
          <p:nvPr/>
        </p:nvSpPr>
        <p:spPr>
          <a:xfrm>
            <a:off x="762000" y="1524000"/>
            <a:ext cx="10668000" cy="25400"/>
          </a:xfrm>
          <a:prstGeom prst="roundRect">
            <a:avLst>
              <a:gd name="adj" fmla="val 0"/>
            </a:avLst>
          </a:prstGeom>
          <a:solidFill>
            <a:srgbClr val="40E0D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0"/>
          <p:cNvSpPr/>
          <p:nvPr/>
        </p:nvSpPr>
        <p:spPr>
          <a:xfrm>
            <a:off x="1092200" y="51181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dirty="0" err="1">
                <a:solidFill>
                  <a:srgbClr val="D9534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核心局限：</a:t>
            </a:r>
            <a:r>
              <a:rPr lang="en-US" altLang="zh-CN" b="1" dirty="0" err="1">
                <a:solidFill>
                  <a:srgbClr val="D9534F"/>
                </a:solidFill>
                <a:latin typeface="Noto Sans SC" panose="020B0200000000000000" charset="-122"/>
                <a:ea typeface="Noto Sans SC" panose="020B0200000000000000" charset="-122"/>
                <a:sym typeface="Noto Sans SC" panose="020B0200000000000000" charset="-122"/>
              </a:rPr>
              <a:t>预测结果</a:t>
            </a:r>
            <a:r>
              <a:rPr lang="zh-CN" altLang="en-US" b="1" dirty="0">
                <a:solidFill>
                  <a:srgbClr val="D9534F"/>
                </a:solidFill>
                <a:latin typeface="Noto Sans SC" panose="020B0200000000000000" charset="-122"/>
                <a:ea typeface="Noto Sans SC" panose="020B0200000000000000" charset="-122"/>
                <a:sym typeface="Noto Sans SC" panose="020B0200000000000000" charset="-122"/>
              </a:rPr>
              <a:t>存在</a:t>
            </a:r>
            <a:r>
              <a:rPr lang="en-US" altLang="zh-CN" b="1" dirty="0" err="1">
                <a:solidFill>
                  <a:srgbClr val="D9534F"/>
                </a:solidFill>
                <a:latin typeface="Noto Sans SC" panose="020B0200000000000000" charset="-122"/>
                <a:ea typeface="Noto Sans SC" panose="020B0200000000000000" charset="-122"/>
                <a:sym typeface="Noto Sans SC" panose="020B0200000000000000" charset="-122"/>
              </a:rPr>
              <a:t>明显偏向，模型总是倾向于输出“私家车”作为推荐结果</a:t>
            </a:r>
            <a:r>
              <a:rPr lang="en-US" altLang="zh-CN" b="1" dirty="0">
                <a:solidFill>
                  <a:srgbClr val="D9534F"/>
                </a:solidFill>
                <a:latin typeface="Noto Sans SC" panose="020B0200000000000000" charset="-122"/>
                <a:ea typeface="Noto Sans SC" panose="020B0200000000000000" charset="-122"/>
                <a:sym typeface="Noto Sans SC" panose="020B0200000000000000" charset="-122"/>
              </a:rPr>
              <a:t>。</a:t>
            </a:r>
            <a:endParaRPr lang="en-US" b="1" dirty="0">
              <a:solidFill>
                <a:srgbClr val="D9534F"/>
              </a:solidFill>
              <a:latin typeface="Noto Sans SC" panose="020B0200000000000000" charset="-122"/>
              <a:ea typeface="Noto Sans SC" panose="020B0200000000000000" charset="-122"/>
            </a:endParaRPr>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032000"/>
            <a:ext cx="5207000" cy="2540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76200" cy="2540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79500" y="2222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动态置信度阈值调控机制</a:t>
            </a:r>
            <a:endParaRPr lang="en-US" sz="1100"/>
          </a:p>
        </p:txBody>
      </p:sp>
      <p:cxnSp>
        <p:nvCxnSpPr>
          <p:cNvPr id="7" name="Connector 7"/>
          <p:cNvCxnSpPr/>
          <p:nvPr/>
        </p:nvCxnSpPr>
        <p:spPr>
          <a:xfrm rot="-9418">
            <a:off x="1079509" y="2914650"/>
            <a:ext cx="4635500" cy="12700"/>
          </a:xfrm>
          <a:prstGeom prst="straightConnector1">
            <a:avLst/>
          </a:prstGeom>
          <a:solidFill>
            <a:srgbClr val="DEE0E3">
              <a:alpha val="100000"/>
            </a:srgbClr>
          </a:solidFill>
          <a:ln w="12700" cap="flat" cmpd="sng">
            <a:solidFill>
              <a:srgbClr val="40E0D0">
                <a:alpha val="50000"/>
              </a:srgbClr>
            </a:solidFill>
            <a:prstDash val="dash"/>
            <a:round/>
            <a:headEnd type="none" w="med" len="med"/>
            <a:tailEnd type="none" w="med" len="med"/>
          </a:ln>
        </p:spPr>
      </p:cxnSp>
      <p:sp>
        <p:nvSpPr>
          <p:cNvPr id="8" name="AutoShape 8"/>
          <p:cNvSpPr/>
          <p:nvPr/>
        </p:nvSpPr>
        <p:spPr>
          <a:xfrm>
            <a:off x="1079500" y="3175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混合预测框架中，系统实时统计规则模型输出的置信度平均值，并以此为核心依据动态校准大模型的触发阈值。通过持续的迭代反馈与参数优化，构建“规则兜底、大模型补位”的高效协作模式，实现资源与精度的平衡。</a:t>
            </a:r>
            <a:endParaRPr lang="en-US" sz="1100" dirty="0"/>
          </a:p>
        </p:txBody>
      </p:sp>
      <p:sp>
        <p:nvSpPr>
          <p:cNvPr id="9" name="AutoShape 9"/>
          <p:cNvSpPr/>
          <p:nvPr/>
        </p:nvSpPr>
        <p:spPr>
          <a:xfrm>
            <a:off x="6477000" y="2032000"/>
            <a:ext cx="2476500" cy="2540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7500" y="2222500"/>
            <a:ext cx="406400" cy="406400"/>
          </a:xfrm>
          <a:prstGeom prst="rect">
            <a:avLst/>
          </a:prstGeom>
        </p:spPr>
      </p:pic>
      <p:sp>
        <p:nvSpPr>
          <p:cNvPr id="11" name="AutoShape 11"/>
          <p:cNvSpPr/>
          <p:nvPr/>
        </p:nvSpPr>
        <p:spPr>
          <a:xfrm>
            <a:off x="7175500" y="22225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轻量规则主导</a:t>
            </a:r>
            <a:endParaRPr lang="en-US" sz="1100"/>
          </a:p>
        </p:txBody>
      </p:sp>
      <p:sp>
        <p:nvSpPr>
          <p:cNvPr id="12" name="AutoShape 12"/>
          <p:cNvSpPr/>
          <p:nvPr/>
        </p:nvSpPr>
        <p:spPr>
          <a:xfrm>
            <a:off x="6667500" y="3048000"/>
            <a:ext cx="209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75%</a:t>
            </a:r>
            <a:endParaRPr lang="en-US" sz="1100"/>
          </a:p>
        </p:txBody>
      </p:sp>
      <p:sp>
        <p:nvSpPr>
          <p:cNvPr id="13" name="AutoShape 13"/>
          <p:cNvSpPr/>
          <p:nvPr/>
        </p:nvSpPr>
        <p:spPr>
          <a:xfrm>
            <a:off x="6667500" y="4064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常规预测任务由轻量级规则系统独立完成，响应极速且成本极低。</a:t>
            </a:r>
            <a:endParaRPr lang="en-US" sz="1100"/>
          </a:p>
        </p:txBody>
      </p:sp>
      <p:sp>
        <p:nvSpPr>
          <p:cNvPr id="14" name="AutoShape 14"/>
          <p:cNvSpPr/>
          <p:nvPr/>
        </p:nvSpPr>
        <p:spPr>
          <a:xfrm>
            <a:off x="9207500" y="2032000"/>
            <a:ext cx="2476500" cy="2540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98000" y="2222500"/>
            <a:ext cx="406400" cy="406400"/>
          </a:xfrm>
          <a:prstGeom prst="rect">
            <a:avLst/>
          </a:prstGeom>
        </p:spPr>
      </p:pic>
      <p:sp>
        <p:nvSpPr>
          <p:cNvPr id="16" name="AutoShape 16"/>
          <p:cNvSpPr/>
          <p:nvPr/>
        </p:nvSpPr>
        <p:spPr>
          <a:xfrm>
            <a:off x="9906000" y="22225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大模型精准补位</a:t>
            </a:r>
            <a:endParaRPr lang="en-US" sz="1100"/>
          </a:p>
        </p:txBody>
      </p:sp>
      <p:sp>
        <p:nvSpPr>
          <p:cNvPr id="17" name="AutoShape 17"/>
          <p:cNvSpPr/>
          <p:nvPr/>
        </p:nvSpPr>
        <p:spPr>
          <a:xfrm>
            <a:off x="9398000" y="3048000"/>
            <a:ext cx="209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25%</a:t>
            </a:r>
            <a:endParaRPr lang="en-US" sz="1100"/>
          </a:p>
        </p:txBody>
      </p:sp>
      <p:sp>
        <p:nvSpPr>
          <p:cNvPr id="18" name="AutoShape 18"/>
          <p:cNvSpPr/>
          <p:nvPr/>
        </p:nvSpPr>
        <p:spPr>
          <a:xfrm>
            <a:off x="9398000" y="4064000"/>
            <a:ext cx="2095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仅针对复杂边界或特殊场景触发大模型，最大化利用模型能力且控制成本。</a:t>
            </a:r>
            <a:endParaRPr lang="en-US" sz="1100"/>
          </a:p>
        </p:txBody>
      </p:sp>
      <p:sp>
        <p:nvSpPr>
          <p:cNvPr id="19" name="AutoShape 19"/>
          <p:cNvSpPr/>
          <p:nvPr/>
        </p:nvSpPr>
        <p:spPr>
          <a:xfrm>
            <a:off x="762000" y="5080000"/>
            <a:ext cx="10668000" cy="1143000"/>
          </a:xfrm>
          <a:prstGeom prst="roundRect">
            <a:avLst>
              <a:gd name="adj" fmla="val 0"/>
            </a:avLst>
          </a:prstGeom>
          <a:solidFill>
            <a:srgbClr val="F7F9FA">
              <a:alpha val="100000"/>
            </a:srgbClr>
          </a:solidFill>
          <a:ln w="12700" cap="flat" cmpd="sng">
            <a:solidFill>
              <a:srgbClr val="40E0D0">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5080000"/>
            <a:ext cx="10668000" cy="508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16000" y="5270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通过置信度驱动的分层决策机制，我们成功将大模型调用压缩至极低比例，在保证整体预测精度不下降的前提下，实现了系统吞吐量与运行效率的双重飞跃，达成了技术落地的核心目标。</a:t>
            </a:r>
            <a:endParaRPr lang="en-US" sz="11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结果分析</a:t>
            </a:r>
          </a:p>
        </p:txBody>
      </p:sp>
      <p:sp>
        <p:nvSpPr>
          <p:cNvPr id="7" name="AutoShape 7"/>
          <p:cNvSpPr/>
          <p:nvPr/>
        </p:nvSpPr>
        <p:spPr>
          <a:xfrm>
            <a:off x="889000" y="5435600"/>
            <a:ext cx="152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cxnSp>
        <p:nvCxnSpPr>
          <p:cNvPr id="10" name="Connector 10"/>
          <p:cNvCxnSpPr/>
          <p:nvPr/>
        </p:nvCxnSpPr>
        <p:spPr>
          <a:xfrm rot="5390450">
            <a:off x="4191000" y="4057659"/>
            <a:ext cx="4572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1" name="AutoShape 11"/>
          <p:cNvSpPr/>
          <p:nvPr/>
        </p:nvSpPr>
        <p:spPr>
          <a:xfrm>
            <a:off x="6731000" y="1778000"/>
            <a:ext cx="4826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731000" y="1778000"/>
            <a:ext cx="76200" cy="1333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5000" y="1905000"/>
            <a:ext cx="304800" cy="304800"/>
          </a:xfrm>
          <a:prstGeom prst="rect">
            <a:avLst/>
          </a:prstGeom>
        </p:spPr>
      </p:pic>
      <p:sp>
        <p:nvSpPr>
          <p:cNvPr id="14" name="AutoShape 14"/>
          <p:cNvSpPr/>
          <p:nvPr/>
        </p:nvSpPr>
        <p:spPr>
          <a:xfrm>
            <a:off x="7429500" y="18796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a:t>
            </a:r>
            <a:endParaRPr lang="en-US" sz="1100" dirty="0"/>
          </a:p>
        </p:txBody>
      </p:sp>
      <p:sp>
        <p:nvSpPr>
          <p:cNvPr id="15" name="AutoShape 15"/>
          <p:cNvSpPr/>
          <p:nvPr/>
        </p:nvSpPr>
        <p:spPr>
          <a:xfrm>
            <a:off x="6985000" y="23495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真实数据样本对预测价值很大。 </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准确率随训练样本量的增加呈现稳步提升趋势，显示出对</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数据的强依赖性</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同时，对</a:t>
            </a:r>
            <a:r>
              <a:rPr lang="en-US" altLang="zh-CN"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2022</a:t>
            </a:r>
            <a:r>
              <a:rPr lang="zh-CN" altLang="en-US" sz="13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年数据预测效果明显下降，泛化能力不佳。</a:t>
            </a:r>
            <a:endParaRPr lang="en-US" sz="1100" dirty="0"/>
          </a:p>
        </p:txBody>
      </p:sp>
      <p:sp>
        <p:nvSpPr>
          <p:cNvPr id="16" name="AutoShape 16"/>
          <p:cNvSpPr/>
          <p:nvPr/>
        </p:nvSpPr>
        <p:spPr>
          <a:xfrm>
            <a:off x="6731000" y="3365500"/>
            <a:ext cx="4826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31000" y="3365500"/>
            <a:ext cx="76200" cy="1333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0" y="3492500"/>
            <a:ext cx="304800" cy="304800"/>
          </a:xfrm>
          <a:prstGeom prst="rect">
            <a:avLst/>
          </a:prstGeom>
        </p:spPr>
      </p:pic>
      <p:sp>
        <p:nvSpPr>
          <p:cNvPr id="19" name="AutoShape 19"/>
          <p:cNvSpPr/>
          <p:nvPr/>
        </p:nvSpPr>
        <p:spPr>
          <a:xfrm>
            <a:off x="7429500" y="34671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方案B</a:t>
            </a:r>
            <a:endParaRPr lang="en-US" sz="1100" dirty="0"/>
          </a:p>
        </p:txBody>
      </p:sp>
      <p:sp>
        <p:nvSpPr>
          <p:cNvPr id="20" name="AutoShape 20"/>
          <p:cNvSpPr/>
          <p:nvPr/>
        </p:nvSpPr>
        <p:spPr>
          <a:xfrm>
            <a:off x="6985000" y="39370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零样本情况下</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取得一定</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预测效果</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但相较数据拟合结果有明显差距，说明</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通用大模型</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仅依靠预训练掌握的先验知识，只能起到初步预测效果，有必要作进一步训练校准。</a:t>
            </a:r>
            <a:endParaRPr lang="en-US" sz="1100" dirty="0"/>
          </a:p>
        </p:txBody>
      </p:sp>
      <p:sp>
        <p:nvSpPr>
          <p:cNvPr id="21" name="AutoShape 21"/>
          <p:cNvSpPr/>
          <p:nvPr/>
        </p:nvSpPr>
        <p:spPr>
          <a:xfrm>
            <a:off x="6731000" y="4953000"/>
            <a:ext cx="4826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731000" y="4953000"/>
            <a:ext cx="76200" cy="1333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0" y="5080000"/>
            <a:ext cx="304800" cy="304800"/>
          </a:xfrm>
          <a:prstGeom prst="rect">
            <a:avLst/>
          </a:prstGeom>
        </p:spPr>
      </p:pic>
      <p:sp>
        <p:nvSpPr>
          <p:cNvPr id="24" name="AutoShape 24"/>
          <p:cNvSpPr/>
          <p:nvPr/>
        </p:nvSpPr>
        <p:spPr>
          <a:xfrm>
            <a:off x="7429500" y="50546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方案C</a:t>
            </a:r>
            <a:endParaRPr lang="en-US" sz="1100" dirty="0"/>
          </a:p>
        </p:txBody>
      </p:sp>
      <p:sp>
        <p:nvSpPr>
          <p:cNvPr id="25" name="AutoShape 25"/>
          <p:cNvSpPr/>
          <p:nvPr/>
        </p:nvSpPr>
        <p:spPr>
          <a:xfrm>
            <a:off x="6985000" y="54610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与直接调用大模型</a:t>
            </a:r>
            <a:r>
              <a:rPr lang="zh-CN" altLang="en-US" sz="13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相近（</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甚至</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略高）</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且预测效率大幅提升，</a:t>
            </a:r>
            <a:r>
              <a:rPr lang="en-US" sz="13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证明蒸馏方法有效性</a:t>
            </a: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6"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zh-CN" altLang="en-US" sz="20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en-US" sz="20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0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数据稀疏场景</a:t>
            </a:r>
            <a:endParaRPr lang="en-US" sz="1100" dirty="0"/>
          </a:p>
        </p:txBody>
      </p:sp>
      <p:graphicFrame>
        <p:nvGraphicFramePr>
          <p:cNvPr id="27" name="Table 5"/>
          <p:cNvGraphicFramePr>
            <a:graphicFrameLocks noGrp="1"/>
          </p:cNvGraphicFramePr>
          <p:nvPr/>
        </p:nvGraphicFramePr>
        <p:xfrm>
          <a:off x="825500" y="2260600"/>
          <a:ext cx="4921738" cy="3746500"/>
        </p:xfrm>
        <a:graphic>
          <a:graphicData uri="http://schemas.openxmlformats.org/drawingml/2006/table">
            <a:tbl>
              <a:tblPr>
                <a:effectLst/>
              </a:tblPr>
              <a:tblGrid>
                <a:gridCol w="1224364">
                  <a:extLst>
                    <a:ext uri="{9D8B030D-6E8A-4147-A177-3AD203B41FA5}">
                      <a16:colId xmlns:a16="http://schemas.microsoft.com/office/drawing/2014/main" val="20000"/>
                    </a:ext>
                  </a:extLst>
                </a:gridCol>
                <a:gridCol w="924448">
                  <a:extLst>
                    <a:ext uri="{9D8B030D-6E8A-4147-A177-3AD203B41FA5}">
                      <a16:colId xmlns:a16="http://schemas.microsoft.com/office/drawing/2014/main" val="20001"/>
                    </a:ext>
                  </a:extLst>
                </a:gridCol>
                <a:gridCol w="984739">
                  <a:extLst>
                    <a:ext uri="{9D8B030D-6E8A-4147-A177-3AD203B41FA5}">
                      <a16:colId xmlns:a16="http://schemas.microsoft.com/office/drawing/2014/main" val="20002"/>
                    </a:ext>
                  </a:extLst>
                </a:gridCol>
                <a:gridCol w="823964">
                  <a:extLst>
                    <a:ext uri="{9D8B030D-6E8A-4147-A177-3AD203B41FA5}">
                      <a16:colId xmlns:a16="http://schemas.microsoft.com/office/drawing/2014/main" val="20003"/>
                    </a:ext>
                  </a:extLst>
                </a:gridCol>
                <a:gridCol w="964223">
                  <a:extLst>
                    <a:ext uri="{9D8B030D-6E8A-4147-A177-3AD203B41FA5}">
                      <a16:colId xmlns:a16="http://schemas.microsoft.com/office/drawing/2014/main" val="20004"/>
                    </a:ext>
                  </a:extLst>
                </a:gridCol>
              </a:tblGrid>
              <a:tr h="635000">
                <a:tc>
                  <a:txBody>
                    <a:bodyPr/>
                    <a:lstStyle/>
                    <a:p>
                      <a:pPr marL="0" indent="0" algn="ctr">
                        <a:lnSpc>
                          <a:spcPct val="100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E0D0">
                        <a:alpha val="20000"/>
                      </a:srgbClr>
                    </a:solidFill>
                  </a:tcPr>
                </a:tc>
                <a:tc>
                  <a:txBody>
                    <a:bodyPr/>
                    <a:lstStyle/>
                    <a:p>
                      <a:pPr marL="0" indent="0" algn="ctr">
                        <a:lnSpc>
                          <a:spcPct val="100000"/>
                        </a:lnSpc>
                        <a:defRPr/>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2017</a:t>
                      </a:r>
                    </a:p>
                    <a:p>
                      <a:pPr marL="0" indent="0" algn="ctr">
                        <a:lnSpc>
                          <a:spcPct val="100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a:t>
                      </a:r>
                      <a:r>
                        <a:rPr lang="zh-CN" alt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集</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E0D0">
                        <a:alpha val="20000"/>
                      </a:srgbClr>
                    </a:solidFill>
                  </a:tcPr>
                </a:tc>
                <a:tc>
                  <a:txBody>
                    <a:bodyPr/>
                    <a:lstStyle/>
                    <a:p>
                      <a:pPr marL="0" indent="0" algn="ctr">
                        <a:lnSpc>
                          <a:spcPct val="100000"/>
                        </a:lnSpc>
                        <a:defRPr/>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2017</a:t>
                      </a:r>
                    </a:p>
                    <a:p>
                      <a:pPr marL="0" indent="0" algn="ctr">
                        <a:lnSpc>
                          <a:spcPct val="100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E0D0">
                        <a:alpha val="20000"/>
                      </a:srgbClr>
                    </a:solidFill>
                  </a:tcPr>
                </a:tc>
                <a:tc>
                  <a:txBody>
                    <a:bodyPr/>
                    <a:lstStyle/>
                    <a:p>
                      <a:pPr marL="0" indent="0" algn="ctr">
                        <a:lnSpc>
                          <a:spcPct val="100000"/>
                        </a:lnSpc>
                        <a:defRPr/>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2022</a:t>
                      </a:r>
                    </a:p>
                    <a:p>
                      <a:pPr marL="0" indent="0" algn="ctr">
                        <a:lnSpc>
                          <a:spcPct val="100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E0D0">
                        <a:alpha val="20000"/>
                      </a:srgbClr>
                    </a:solidFill>
                  </a:tcPr>
                </a:tc>
                <a:tc>
                  <a:txBody>
                    <a:bodyPr/>
                    <a:lstStyle/>
                    <a:p>
                      <a:pPr marL="0" indent="0" algn="ctr">
                        <a:lnSpc>
                          <a:spcPct val="100000"/>
                        </a:lnSpc>
                        <a:defRPr/>
                      </a:pPr>
                      <a:r>
                        <a:rPr lang="zh-CN" altLang="en-US" sz="1400" b="1" i="0" u="none" strike="noStrike" cap="none" dirty="0">
                          <a:solidFill>
                            <a:srgbClr val="333333"/>
                          </a:solidFill>
                          <a:latin typeface="Noto Sans SC" panose="020B0200000000000000" charset="-122"/>
                          <a:ea typeface="Noto Sans SC" panose="020B0200000000000000" charset="-122"/>
                          <a:sym typeface="Arial" panose="020B0604020202020204"/>
                        </a:rPr>
                        <a:t>预测时长</a:t>
                      </a:r>
                      <a:endParaRPr lang="en-US" sz="1400" b="1" i="0" u="none" strike="noStrike" cap="none" dirty="0">
                        <a:solidFill>
                          <a:srgbClr val="333333"/>
                        </a:solidFill>
                        <a:latin typeface="Noto Sans SC" panose="020B0200000000000000" charset="-122"/>
                        <a:ea typeface="Noto Sans SC" panose="020B0200000000000000" charset="-122"/>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E0D0">
                        <a:alpha val="20000"/>
                      </a:srgbClr>
                    </a:solidFill>
                  </a:tcPr>
                </a:tc>
                <a:extLst>
                  <a:ext uri="{0D108BD9-81ED-4DB2-BD59-A6C34878D82A}">
                    <a16:rowId xmlns:a16="http://schemas.microsoft.com/office/drawing/2014/main" val="10000"/>
                  </a:ext>
                </a:extLst>
              </a:tr>
              <a:tr h="571500">
                <a:tc rowSpan="3">
                  <a:txBody>
                    <a:bodyPr/>
                    <a:lstStyle/>
                    <a:p>
                      <a:pPr marL="0" indent="0" algn="ctr">
                        <a:lnSpc>
                          <a:spcPct val="100000"/>
                        </a:lnSpc>
                        <a:defRPr/>
                      </a:pP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a:t>
                      </a:r>
                      <a:endPar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defRPr/>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数据拟合</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100条</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68.5%</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62.5%</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indent="0" algn="ctr" rtl="0">
                        <a:lnSpc>
                          <a:spcPct val="100000"/>
                        </a:lnSpc>
                        <a:spcBef>
                          <a:spcPts val="0"/>
                        </a:spcBef>
                        <a:spcAft>
                          <a:spcPts val="0"/>
                        </a:spcAft>
                        <a:buClr>
                          <a:srgbClr val="000000"/>
                        </a:buClr>
                        <a:buFont typeface="Arial" panose="020B0604020202020204"/>
                        <a:defRPr/>
                      </a:pP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可忽略</a:t>
                      </a:r>
                      <a:endPar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endParaRPr>
                    </a:p>
                    <a:p>
                      <a:pPr marL="0" marR="0" indent="0" algn="ctr" rtl="0">
                        <a:lnSpc>
                          <a:spcPct val="100000"/>
                        </a:lnSpc>
                        <a:spcBef>
                          <a:spcPts val="0"/>
                        </a:spcBef>
                        <a:spcAft>
                          <a:spcPts val="0"/>
                        </a:spcAft>
                        <a:buClr>
                          <a:srgbClr val="000000"/>
                        </a:buClr>
                        <a:buFont typeface="Arial" panose="020B0604020202020204"/>
                        <a:defRPr/>
                      </a:pP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不计</a:t>
                      </a:r>
                      <a:endParaRPr lang="en-US" sz="1300" b="0" i="0" u="none" strike="noStrike" cap="none" dirty="0">
                        <a:solidFill>
                          <a:srgbClr val="555555"/>
                        </a:solidFill>
                        <a:latin typeface="Noto Sans SC" panose="020B0200000000000000" charset="-122"/>
                        <a:ea typeface="Noto Sans SC" panose="020B0200000000000000" charset="-122"/>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71500">
                <a:tc vMerge="1">
                  <a:txBody>
                    <a:bodyPr/>
                    <a:lstStyle/>
                    <a:p>
                      <a:endParaRPr lang="zh-CN"/>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500条</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74.0%</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68.5%</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71500">
                <a:tc vMerge="1">
                  <a:txBody>
                    <a:bodyPr/>
                    <a:lstStyle/>
                    <a:p>
                      <a:endParaRPr lang="zh-CN"/>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1000条</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81.5%</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66.0%</a:t>
                      </a:r>
                      <a:endParaRPr lang="en-US" sz="110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71500">
                <a:tc>
                  <a:txBody>
                    <a:bodyPr/>
                    <a:lstStyle/>
                    <a:p>
                      <a:pPr marL="0" indent="0" algn="ctr">
                        <a:lnSpc>
                          <a:spcPct val="100000"/>
                        </a:lnSpc>
                        <a:defRPr/>
                      </a:pP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方案B</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p>
                    <a:p>
                      <a:pPr marL="0" indent="0" algn="ctr">
                        <a:lnSpc>
                          <a:spcPct val="100000"/>
                        </a:lnSpc>
                        <a:defRPr/>
                      </a:pP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a:t>
                      </a:r>
                      <a:r>
                        <a:rPr lang="zh-CN" alt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a:t>
                      </a:r>
                      <a:r>
                        <a:rPr lang="en-US" sz="13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N/A</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59.5%</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56.5%</a:t>
                      </a:r>
                      <a:endParaRPr lang="en-US" sz="1100" dirty="0"/>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lnSpc>
                          <a:spcPct val="100000"/>
                        </a:lnSpc>
                        <a:defRPr/>
                      </a:pPr>
                      <a:r>
                        <a:rPr 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6</a:t>
                      </a: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秒</a:t>
                      </a:r>
                      <a:r>
                        <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rPr>
                        <a:t>/</a:t>
                      </a: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条</a:t>
                      </a:r>
                      <a:endParaRPr lang="en-US" sz="1300" b="0" i="0" u="none" strike="noStrike" cap="none" dirty="0">
                        <a:solidFill>
                          <a:srgbClr val="555555"/>
                        </a:solidFill>
                        <a:latin typeface="Noto Sans SC" panose="020B0200000000000000" charset="-122"/>
                        <a:ea typeface="Noto Sans SC" panose="020B0200000000000000" charset="-122"/>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715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300" b="1" i="0" u="none" strike="noStrike" cap="non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方案C</a:t>
                      </a:r>
                      <a:endParaRPr lang="en-US" altLang="zh-CN" sz="1300" b="1" i="0" u="none" strike="noStrike" cap="non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300" b="1" i="0" u="none" strike="noStrike" cap="non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cap="non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混合模型</a:t>
                      </a:r>
                      <a:r>
                        <a:rPr lang="en-US" altLang="zh-CN" sz="1300" b="1" i="0" u="none" strike="noStrike" cap="non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zh-CN" altLang="en-US" sz="1300" b="0" i="0" u="none" strike="noStrike" cap="none" dirty="0">
                          <a:solidFill>
                            <a:srgbClr val="555555"/>
                          </a:solidFill>
                          <a:latin typeface="Noto Sans SC" panose="020B0200000000000000" charset="-122"/>
                          <a:ea typeface="Noto Sans SC" panose="020B0200000000000000" charset="-122"/>
                          <a:cs typeface="+mn-cs"/>
                          <a:sym typeface="Noto Sans SC" panose="020B0200000000000000" charset="-122"/>
                        </a:rPr>
                        <a:t>调用率</a:t>
                      </a:r>
                      <a:r>
                        <a:rPr lang="en-US" altLang="zh-CN" sz="1300" b="0" i="0" u="none" strike="noStrike" cap="none" dirty="0">
                          <a:solidFill>
                            <a:srgbClr val="555555"/>
                          </a:solidFill>
                          <a:latin typeface="Noto Sans SC" panose="020B0200000000000000" charset="-122"/>
                          <a:ea typeface="Noto Sans SC" panose="020B0200000000000000" charset="-122"/>
                          <a:cs typeface="+mn-cs"/>
                          <a:sym typeface="Noto Sans SC" panose="020B0200000000000000" charset="-122"/>
                        </a:rPr>
                        <a:t>25%</a:t>
                      </a:r>
                      <a:endParaRPr lang="en-US" altLang="zh-CN" sz="1300" b="0" i="0" u="none" strike="noStrike" cap="none" dirty="0">
                        <a:solidFill>
                          <a:srgbClr val="555555"/>
                        </a:solidFill>
                        <a:latin typeface="Noto Sans SC" panose="020B0200000000000000" charset="-122"/>
                        <a:ea typeface="Noto Sans SC" panose="020B0200000000000000" charset="-122"/>
                        <a:cs typeface="+mn-cs"/>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300" b="0" i="0" u="none" strike="noStrike" cap="non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N/A</a:t>
                      </a:r>
                      <a:endPar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rtl="0">
                        <a:lnSpc>
                          <a:spcPct val="100000"/>
                        </a:lnSpc>
                        <a:spcBef>
                          <a:spcPts val="0"/>
                        </a:spcBef>
                        <a:spcAft>
                          <a:spcPts val="0"/>
                        </a:spcAft>
                        <a:buClr>
                          <a:srgbClr val="000000"/>
                        </a:buClr>
                        <a:buFont typeface="Arial" panose="020B0604020202020204"/>
                        <a:defRPr/>
                      </a:pPr>
                      <a:r>
                        <a:rPr 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62.0%</a:t>
                      </a: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rPr>
                        <a:t>60.5%</a:t>
                      </a: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rPr>
                        <a:t>2.5</a:t>
                      </a: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秒</a:t>
                      </a:r>
                      <a:r>
                        <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rPr>
                        <a:t>/</a:t>
                      </a:r>
                      <a:r>
                        <a:rPr lang="zh-CN" altLang="en-US" sz="1300" b="0" i="0" u="none" strike="noStrike" cap="none" dirty="0">
                          <a:solidFill>
                            <a:srgbClr val="555555"/>
                          </a:solidFill>
                          <a:latin typeface="Noto Sans SC" panose="020B0200000000000000" charset="-122"/>
                          <a:ea typeface="Noto Sans SC" panose="020B0200000000000000" charset="-122"/>
                          <a:sym typeface="Arial" panose="020B0604020202020204"/>
                        </a:rPr>
                        <a:t>条</a:t>
                      </a:r>
                      <a:endParaRPr lang="en-US" altLang="zh-CN" sz="1300" b="0" i="0" u="none" strike="noStrike" cap="none" dirty="0">
                        <a:solidFill>
                          <a:srgbClr val="555555"/>
                        </a:solidFill>
                        <a:latin typeface="Noto Sans SC" panose="020B0200000000000000" charset="-122"/>
                        <a:ea typeface="Noto Sans SC" panose="020B0200000000000000" charset="-122"/>
                        <a:sym typeface="Arial" panose="020B0604020202020204"/>
                      </a:endParaRPr>
                    </a:p>
                  </a:txBody>
                  <a:tcPr marL="101600" marR="101600" marT="101600" marB="101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4" name="AutoShape 2"/>
          <p:cNvSpPr/>
          <p:nvPr/>
        </p:nvSpPr>
        <p:spPr>
          <a:xfrm>
            <a:off x="762000" y="635000"/>
            <a:ext cx="8005445"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场景二：字段缺失场景</a:t>
            </a:r>
            <a:endParaRPr lang="en-US" sz="1100" dirty="0"/>
          </a:p>
        </p:txBody>
      </p:sp>
      <p:cxnSp>
        <p:nvCxnSpPr>
          <p:cNvPr id="4" name="Connector 4"/>
          <p:cNvCxnSpPr/>
          <p:nvPr/>
        </p:nvCxnSpPr>
        <p:spPr>
          <a:xfrm rot="-4092">
            <a:off x="762004" y="2089150"/>
            <a:ext cx="10668000" cy="12700"/>
          </a:xfrm>
          <a:prstGeom prst="straightConnector1">
            <a:avLst/>
          </a:prstGeom>
          <a:solidFill>
            <a:srgbClr val="DEE0E3">
              <a:alpha val="100000"/>
            </a:srgbClr>
          </a:solidFill>
          <a:ln w="12700" cap="flat" cmpd="sng">
            <a:solidFill>
              <a:srgbClr val="40E0D0">
                <a:alpha val="30000"/>
              </a:srgbClr>
            </a:solidFill>
            <a:prstDash val="solid"/>
            <a:round/>
            <a:headEnd type="none" w="med" len="med"/>
            <a:tailEnd type="none" w="med" len="med"/>
          </a:ln>
        </p:spPr>
      </p:cxnSp>
      <p:sp>
        <p:nvSpPr>
          <p:cNvPr id="5" name="AutoShape 5"/>
          <p:cNvSpPr/>
          <p:nvPr/>
        </p:nvSpPr>
        <p:spPr>
          <a:xfrm>
            <a:off x="7620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76200" cy="20320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 (数据拟合)</a:t>
            </a:r>
            <a:endParaRPr lang="en-US" sz="1100"/>
          </a:p>
        </p:txBody>
      </p:sp>
      <p:cxnSp>
        <p:nvCxnSpPr>
          <p:cNvPr id="8" name="Connector 8"/>
          <p:cNvCxnSpPr/>
          <p:nvPr/>
        </p:nvCxnSpPr>
        <p:spPr>
          <a:xfrm rot="-14946">
            <a:off x="10160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9" name="AutoShape 9"/>
          <p:cNvSpPr/>
          <p:nvPr/>
        </p:nvSpPr>
        <p:spPr>
          <a:xfrm>
            <a:off x="1016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dirty="0"/>
          </a:p>
          <a:p>
            <a:pPr marL="0" indent="0" algn="l">
              <a:lnSpc>
                <a:spcPct val="125000"/>
              </a:lnSpc>
            </a:pPr>
            <a:r>
              <a:rPr lang="en-US" sz="2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74.5%</a:t>
            </a:r>
          </a:p>
        </p:txBody>
      </p:sp>
      <p:cxnSp>
        <p:nvCxnSpPr>
          <p:cNvPr id="10" name="Connector 10"/>
          <p:cNvCxnSpPr/>
          <p:nvPr/>
        </p:nvCxnSpPr>
        <p:spPr>
          <a:xfrm rot="5350892">
            <a:off x="20320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1" name="AutoShape 11"/>
          <p:cNvSpPr/>
          <p:nvPr/>
        </p:nvSpPr>
        <p:spPr>
          <a:xfrm>
            <a:off x="2603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a:p>
          <a:p>
            <a:pPr marL="0" indent="0" algn="l">
              <a:lnSpc>
                <a:spcPct val="125000"/>
              </a:lnSpc>
            </a:pPr>
            <a:r>
              <a:rPr lang="en-US" sz="22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53.5%</a:t>
            </a:r>
          </a:p>
        </p:txBody>
      </p:sp>
      <p:sp>
        <p:nvSpPr>
          <p:cNvPr id="12" name="AutoShape 12"/>
          <p:cNvSpPr/>
          <p:nvPr/>
        </p:nvSpPr>
        <p:spPr>
          <a:xfrm>
            <a:off x="43815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381500" y="2540000"/>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6355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方案B</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a:t>
            </a:r>
            <a:r>
              <a:rPr lang="zh-CN" alt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15" name="Connector 15"/>
          <p:cNvCxnSpPr/>
          <p:nvPr/>
        </p:nvCxnSpPr>
        <p:spPr>
          <a:xfrm rot="-14946">
            <a:off x="46355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6" name="AutoShape 16"/>
          <p:cNvSpPr/>
          <p:nvPr/>
        </p:nvSpPr>
        <p:spPr>
          <a:xfrm>
            <a:off x="4635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a:p>
          <a:p>
            <a:pPr marL="0" indent="0" algn="l">
              <a:lnSpc>
                <a:spcPct val="125000"/>
              </a:lnSpc>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59.5%</a:t>
            </a:r>
          </a:p>
        </p:txBody>
      </p:sp>
      <p:cxnSp>
        <p:nvCxnSpPr>
          <p:cNvPr id="17" name="Connector 17"/>
          <p:cNvCxnSpPr/>
          <p:nvPr/>
        </p:nvCxnSpPr>
        <p:spPr>
          <a:xfrm rot="5350892">
            <a:off x="56515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8" name="AutoShape 18"/>
          <p:cNvSpPr/>
          <p:nvPr/>
        </p:nvSpPr>
        <p:spPr>
          <a:xfrm>
            <a:off x="6223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a:p>
          <a:p>
            <a:pPr marL="0" indent="0" algn="l">
              <a:lnSpc>
                <a:spcPct val="125000"/>
              </a:lnSpc>
            </a:pPr>
            <a:r>
              <a:rPr lang="en-US" sz="2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56.5%</a:t>
            </a:r>
          </a:p>
        </p:txBody>
      </p:sp>
      <p:sp>
        <p:nvSpPr>
          <p:cNvPr id="19" name="AutoShape 19"/>
          <p:cNvSpPr/>
          <p:nvPr/>
        </p:nvSpPr>
        <p:spPr>
          <a:xfrm>
            <a:off x="80010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01000" y="2540000"/>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2550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方案C (混合模型)</a:t>
            </a:r>
            <a:endParaRPr lang="en-US" sz="1100"/>
          </a:p>
        </p:txBody>
      </p:sp>
      <p:cxnSp>
        <p:nvCxnSpPr>
          <p:cNvPr id="22" name="Connector 22"/>
          <p:cNvCxnSpPr/>
          <p:nvPr/>
        </p:nvCxnSpPr>
        <p:spPr>
          <a:xfrm rot="-14946">
            <a:off x="82550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3" name="AutoShape 23"/>
          <p:cNvSpPr/>
          <p:nvPr/>
        </p:nvSpPr>
        <p:spPr>
          <a:xfrm>
            <a:off x="8255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a:p>
          <a:p>
            <a:pPr marL="0" indent="0" algn="l">
              <a:lnSpc>
                <a:spcPct val="125000"/>
              </a:lnSpc>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62.0%</a:t>
            </a:r>
          </a:p>
        </p:txBody>
      </p:sp>
      <p:cxnSp>
        <p:nvCxnSpPr>
          <p:cNvPr id="24" name="Connector 24"/>
          <p:cNvCxnSpPr/>
          <p:nvPr/>
        </p:nvCxnSpPr>
        <p:spPr>
          <a:xfrm rot="5350892">
            <a:off x="92710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5" name="AutoShape 25"/>
          <p:cNvSpPr/>
          <p:nvPr/>
        </p:nvSpPr>
        <p:spPr>
          <a:xfrm>
            <a:off x="9842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a:p>
          <a:p>
            <a:pPr marL="0" indent="0" algn="l">
              <a:lnSpc>
                <a:spcPct val="125000"/>
              </a:lnSpc>
            </a:pPr>
            <a:r>
              <a:rPr lang="en-US" sz="2200" b="1" i="0" u="none" strike="noStrike">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60.5%</a:t>
            </a:r>
          </a:p>
        </p:txBody>
      </p:sp>
      <p:sp>
        <p:nvSpPr>
          <p:cNvPr id="26" name="AutoShape 26"/>
          <p:cNvSpPr/>
          <p:nvPr/>
        </p:nvSpPr>
        <p:spPr>
          <a:xfrm>
            <a:off x="762000" y="5080000"/>
            <a:ext cx="5270500" cy="1270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270500"/>
            <a:ext cx="406400" cy="406400"/>
          </a:xfrm>
          <a:prstGeom prst="rect">
            <a:avLst/>
          </a:prstGeom>
        </p:spPr>
      </p:pic>
      <p:sp>
        <p:nvSpPr>
          <p:cNvPr id="28" name="AutoShape 28"/>
          <p:cNvSpPr/>
          <p:nvPr/>
        </p:nvSpPr>
        <p:spPr>
          <a:xfrm>
            <a:off x="1524000" y="5207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方案A：数据完整性依赖度高</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在字段缺失场景下，传统数据拟合方案的准确率出现大幅暴跌，从74.5%降至53.5%，</a:t>
            </a: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表明其对数据完整性具有极强的依赖性，鲁棒性不足</a:t>
            </a: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9" name="AutoShape 29"/>
          <p:cNvSpPr/>
          <p:nvPr/>
        </p:nvSpPr>
        <p:spPr>
          <a:xfrm>
            <a:off x="6286500" y="5080000"/>
            <a:ext cx="5270500" cy="1270000"/>
          </a:xfrm>
          <a:prstGeom prst="roundRect">
            <a:avLst>
              <a:gd name="adj" fmla="val 0"/>
            </a:avLst>
          </a:prstGeom>
          <a:solidFill>
            <a:srgbClr val="40E0D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5270500"/>
            <a:ext cx="406400" cy="406400"/>
          </a:xfrm>
          <a:prstGeom prst="rect">
            <a:avLst/>
          </a:prstGeom>
        </p:spPr>
      </p:pic>
      <p:sp>
        <p:nvSpPr>
          <p:cNvPr id="31" name="AutoShape 31"/>
          <p:cNvSpPr/>
          <p:nvPr/>
        </p:nvSpPr>
        <p:spPr>
          <a:xfrm>
            <a:off x="7048500" y="5207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方案B</a:t>
            </a: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&amp; </a:t>
            </a: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C：先验知识弥补信息缺失</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大模型方案在字段缺失时准确率几乎无波动，证明其具备的先验知识能够有效弥补信息缺口，在处理现实中不完整、有噪声的数据时展现出显著优势。</a:t>
            </a:r>
            <a:endParaRPr lang="en-US" sz="1100" dirty="0"/>
          </a:p>
        </p:txBody>
      </p:sp>
      <p:sp>
        <p:nvSpPr>
          <p:cNvPr id="3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结果分析</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1397000"/>
            <a:ext cx="10668000" cy="381000"/>
          </a:xfrm>
          <a:prstGeom prst="rect">
            <a:avLst/>
          </a:prstGeom>
          <a:noFill/>
          <a:ln w="12700" cap="flat" cmpd="sng">
            <a:noFill/>
            <a:prstDash val="solid"/>
            <a:round/>
          </a:ln>
        </p:spPr>
        <p:txBody>
          <a:bodyPr vert="horz" wrap="square" lIns="0" tIns="0" rIns="0" bIns="0" rtlCol="0" anchor="ctr" anchorCtr="0"/>
          <a:lstStyle/>
          <a:p>
            <a:pPr>
              <a:lnSpc>
                <a:spcPct val="125000"/>
              </a:lnSpc>
            </a:pPr>
            <a:r>
              <a:rPr lang="en-US" sz="2000" b="1" dirty="0" err="1">
                <a:solidFill>
                  <a:srgbClr val="40E0D0"/>
                </a:solidFill>
                <a:latin typeface="Noto Sans SC" panose="020B0200000000000000" charset="-122"/>
                <a:ea typeface="Noto Sans SC" panose="020B0200000000000000" charset="-122"/>
                <a:sym typeface="Noto Sans SC" panose="020B0200000000000000" charset="-122"/>
              </a:rPr>
              <a:t>场景三：新增变量（疫情影响）场景</a:t>
            </a:r>
            <a:endParaRPr lang="en-US" sz="2000" b="1" dirty="0">
              <a:solidFill>
                <a:srgbClr val="40E0D0"/>
              </a:solidFill>
              <a:latin typeface="Noto Sans SC" panose="020B0200000000000000" charset="-122"/>
              <a:ea typeface="Noto Sans SC" panose="020B0200000000000000" charset="-122"/>
            </a:endParaRPr>
          </a:p>
        </p:txBody>
      </p:sp>
      <p:cxnSp>
        <p:nvCxnSpPr>
          <p:cNvPr id="5" name="Connector 5"/>
          <p:cNvCxnSpPr/>
          <p:nvPr/>
        </p:nvCxnSpPr>
        <p:spPr>
          <a:xfrm rot="-4092">
            <a:off x="762004" y="2025650"/>
            <a:ext cx="10668000" cy="12700"/>
          </a:xfrm>
          <a:prstGeom prst="straightConnector1">
            <a:avLst/>
          </a:prstGeom>
          <a:solidFill>
            <a:srgbClr val="DEE0E3">
              <a:alpha val="100000"/>
            </a:srgbClr>
          </a:solidFill>
          <a:ln w="12700" cap="flat" cmpd="sng">
            <a:solidFill>
              <a:srgbClr val="40E0D0">
                <a:alpha val="50000"/>
              </a:srgbClr>
            </a:solidFill>
            <a:prstDash val="solid"/>
            <a:round/>
            <a:headEnd type="none" w="med" len="med"/>
            <a:tailEnd type="none" w="med" len="med"/>
          </a:ln>
        </p:spPr>
      </p:cxnSp>
      <p:sp>
        <p:nvSpPr>
          <p:cNvPr id="27" name="AutoShape 27"/>
          <p:cNvSpPr/>
          <p:nvPr/>
        </p:nvSpPr>
        <p:spPr>
          <a:xfrm>
            <a:off x="762000" y="4826000"/>
            <a:ext cx="3429000" cy="1397000"/>
          </a:xfrm>
          <a:prstGeom prst="roundRect">
            <a:avLst>
              <a:gd name="adj" fmla="val 0"/>
            </a:avLst>
          </a:prstGeom>
          <a:solidFill>
            <a:srgbClr val="F5F5F5">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953000"/>
            <a:ext cx="304800" cy="304800"/>
          </a:xfrm>
          <a:prstGeom prst="rect">
            <a:avLst/>
          </a:prstGeom>
        </p:spPr>
      </p:pic>
      <p:sp>
        <p:nvSpPr>
          <p:cNvPr id="29" name="AutoShape 29"/>
          <p:cNvSpPr/>
          <p:nvPr/>
        </p:nvSpPr>
        <p:spPr>
          <a:xfrm>
            <a:off x="1270000" y="49276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无法适配新变量</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模型完全依赖历史数据拟合，无法理解疫情这类突发新增变量，导致在2022年测试集上的准确率出现明显下滑。</a:t>
            </a:r>
            <a:endParaRPr lang="en-US" sz="1100" dirty="0"/>
          </a:p>
        </p:txBody>
      </p:sp>
      <p:sp>
        <p:nvSpPr>
          <p:cNvPr id="30" name="AutoShape 30"/>
          <p:cNvSpPr/>
          <p:nvPr/>
        </p:nvSpPr>
        <p:spPr>
          <a:xfrm>
            <a:off x="4381500" y="4826000"/>
            <a:ext cx="3429000" cy="1397000"/>
          </a:xfrm>
          <a:prstGeom prst="roundRect">
            <a:avLst>
              <a:gd name="adj" fmla="val 0"/>
            </a:avLst>
          </a:prstGeom>
          <a:solidFill>
            <a:srgbClr val="F5F5F5">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4953000"/>
            <a:ext cx="304800" cy="304800"/>
          </a:xfrm>
          <a:prstGeom prst="rect">
            <a:avLst/>
          </a:prstGeom>
        </p:spPr>
      </p:pic>
      <p:sp>
        <p:nvSpPr>
          <p:cNvPr id="32" name="AutoShape 32"/>
          <p:cNvSpPr/>
          <p:nvPr/>
        </p:nvSpPr>
        <p:spPr>
          <a:xfrm>
            <a:off x="4889500" y="49276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先验知识存在偏差</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纯大模型依赖内部预训练知识，缺乏真实场景数据校准，其知识与现实情况存在显著偏差，导致在新变量场景下表现</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不佳</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3" name="AutoShape 33"/>
          <p:cNvSpPr/>
          <p:nvPr/>
        </p:nvSpPr>
        <p:spPr>
          <a:xfrm>
            <a:off x="8001000" y="4826000"/>
            <a:ext cx="3429000" cy="1397000"/>
          </a:xfrm>
          <a:prstGeom prst="roundRect">
            <a:avLst>
              <a:gd name="adj" fmla="val 0"/>
            </a:avLst>
          </a:prstGeom>
          <a:solidFill>
            <a:srgbClr val="40E0D0">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28000" y="4953000"/>
            <a:ext cx="304800" cy="304800"/>
          </a:xfrm>
          <a:prstGeom prst="rect">
            <a:avLst/>
          </a:prstGeom>
        </p:spPr>
      </p:pic>
      <p:sp>
        <p:nvSpPr>
          <p:cNvPr id="35" name="AutoShape 35"/>
          <p:cNvSpPr/>
          <p:nvPr/>
        </p:nvSpPr>
        <p:spPr>
          <a:xfrm>
            <a:off x="8509000" y="4927600"/>
            <a:ext cx="279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数据蒸馏校准有效</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通过少量真实数据蒸馏出的规则，成功校准了大模型的先验知识，使其对新变量具备更强的适应性，性能显著优于纯大模型</a:t>
            </a:r>
            <a:r>
              <a:rPr lang="zh-CN" alt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a:t>
            </a:r>
            <a:r>
              <a:rPr lang="en-US" sz="12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t>
            </a:r>
            <a:r>
              <a:rPr lang="en-US" sz="12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36" name="AutoShape 5"/>
          <p:cNvSpPr/>
          <p:nvPr/>
        </p:nvSpPr>
        <p:spPr>
          <a:xfrm>
            <a:off x="7620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6"/>
          <p:cNvSpPr/>
          <p:nvPr/>
        </p:nvSpPr>
        <p:spPr>
          <a:xfrm>
            <a:off x="762000" y="2540000"/>
            <a:ext cx="76200" cy="20320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7"/>
          <p:cNvSpPr/>
          <p:nvPr/>
        </p:nvSpPr>
        <p:spPr>
          <a:xfrm>
            <a:off x="10160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 (数据拟合)</a:t>
            </a:r>
            <a:endParaRPr lang="en-US" sz="1100"/>
          </a:p>
        </p:txBody>
      </p:sp>
      <p:cxnSp>
        <p:nvCxnSpPr>
          <p:cNvPr id="39" name="Connector 8"/>
          <p:cNvCxnSpPr/>
          <p:nvPr/>
        </p:nvCxnSpPr>
        <p:spPr>
          <a:xfrm rot="-14946">
            <a:off x="10160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40" name="AutoShape 9"/>
          <p:cNvSpPr/>
          <p:nvPr/>
        </p:nvSpPr>
        <p:spPr>
          <a:xfrm>
            <a:off x="1016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dirty="0"/>
          </a:p>
          <a:p>
            <a:pPr marL="0" indent="0" algn="l">
              <a:lnSpc>
                <a:spcPct val="125000"/>
              </a:lnSpc>
            </a:pPr>
            <a:r>
              <a:rPr lang="en-US" sz="2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74.5%</a:t>
            </a:r>
          </a:p>
        </p:txBody>
      </p:sp>
      <p:cxnSp>
        <p:nvCxnSpPr>
          <p:cNvPr id="41" name="Connector 10"/>
          <p:cNvCxnSpPr/>
          <p:nvPr/>
        </p:nvCxnSpPr>
        <p:spPr>
          <a:xfrm rot="5350892">
            <a:off x="20320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42" name="AutoShape 11"/>
          <p:cNvSpPr/>
          <p:nvPr/>
        </p:nvSpPr>
        <p:spPr>
          <a:xfrm>
            <a:off x="2603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dirty="0"/>
          </a:p>
          <a:p>
            <a:pPr marL="0" indent="0" algn="l">
              <a:lnSpc>
                <a:spcPct val="125000"/>
              </a:lnSpc>
            </a:pPr>
            <a:r>
              <a:rPr lang="en-US" sz="22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68.5%</a:t>
            </a:r>
          </a:p>
        </p:txBody>
      </p:sp>
      <p:sp>
        <p:nvSpPr>
          <p:cNvPr id="43" name="AutoShape 12"/>
          <p:cNvSpPr/>
          <p:nvPr/>
        </p:nvSpPr>
        <p:spPr>
          <a:xfrm>
            <a:off x="43815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13"/>
          <p:cNvSpPr/>
          <p:nvPr/>
        </p:nvSpPr>
        <p:spPr>
          <a:xfrm>
            <a:off x="4381500" y="2540000"/>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AutoShape 14"/>
          <p:cNvSpPr/>
          <p:nvPr/>
        </p:nvSpPr>
        <p:spPr>
          <a:xfrm>
            <a:off x="46355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方案B</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a:t>
            </a:r>
            <a:r>
              <a:rPr lang="zh-CN" alt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46" name="Connector 15"/>
          <p:cNvCxnSpPr/>
          <p:nvPr/>
        </p:nvCxnSpPr>
        <p:spPr>
          <a:xfrm rot="-14946">
            <a:off x="46355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47" name="AutoShape 16"/>
          <p:cNvSpPr/>
          <p:nvPr/>
        </p:nvSpPr>
        <p:spPr>
          <a:xfrm>
            <a:off x="4635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a:p>
          <a:p>
            <a:pPr marL="0" indent="0" algn="l">
              <a:lnSpc>
                <a:spcPct val="125000"/>
              </a:lnSpc>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59.5%</a:t>
            </a:r>
          </a:p>
        </p:txBody>
      </p:sp>
      <p:cxnSp>
        <p:nvCxnSpPr>
          <p:cNvPr id="48" name="Connector 17"/>
          <p:cNvCxnSpPr/>
          <p:nvPr/>
        </p:nvCxnSpPr>
        <p:spPr>
          <a:xfrm rot="5350892">
            <a:off x="56515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49" name="AutoShape 18"/>
          <p:cNvSpPr/>
          <p:nvPr/>
        </p:nvSpPr>
        <p:spPr>
          <a:xfrm>
            <a:off x="6223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dirty="0"/>
          </a:p>
          <a:p>
            <a:pPr marL="0" indent="0" algn="l">
              <a:lnSpc>
                <a:spcPct val="125000"/>
              </a:lnSpc>
            </a:pPr>
            <a:r>
              <a:rPr lang="en-US" sz="22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52.5%</a:t>
            </a:r>
          </a:p>
        </p:txBody>
      </p:sp>
      <p:sp>
        <p:nvSpPr>
          <p:cNvPr id="50" name="AutoShape 19"/>
          <p:cNvSpPr/>
          <p:nvPr/>
        </p:nvSpPr>
        <p:spPr>
          <a:xfrm>
            <a:off x="8001000" y="2540000"/>
            <a:ext cx="3429000" cy="20320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20"/>
          <p:cNvSpPr/>
          <p:nvPr/>
        </p:nvSpPr>
        <p:spPr>
          <a:xfrm>
            <a:off x="8001000" y="2540000"/>
            <a:ext cx="76200" cy="20320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AutoShape 21"/>
          <p:cNvSpPr/>
          <p:nvPr/>
        </p:nvSpPr>
        <p:spPr>
          <a:xfrm>
            <a:off x="8255000" y="27305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方案C (混合模型)</a:t>
            </a:r>
            <a:endParaRPr lang="en-US" sz="1100"/>
          </a:p>
        </p:txBody>
      </p:sp>
      <p:cxnSp>
        <p:nvCxnSpPr>
          <p:cNvPr id="53" name="Connector 22"/>
          <p:cNvCxnSpPr/>
          <p:nvPr/>
        </p:nvCxnSpPr>
        <p:spPr>
          <a:xfrm rot="-14946">
            <a:off x="8255014" y="3232150"/>
            <a:ext cx="2921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54" name="AutoShape 23"/>
          <p:cNvSpPr/>
          <p:nvPr/>
        </p:nvSpPr>
        <p:spPr>
          <a:xfrm>
            <a:off x="82550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2017测试集准确率</a:t>
            </a:r>
            <a:endParaRPr lang="en-US" sz="1100"/>
          </a:p>
          <a:p>
            <a:pPr marL="0" indent="0" algn="l">
              <a:lnSpc>
                <a:spcPct val="125000"/>
              </a:lnSpc>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62.0%</a:t>
            </a:r>
          </a:p>
        </p:txBody>
      </p:sp>
      <p:cxnSp>
        <p:nvCxnSpPr>
          <p:cNvPr id="55" name="Connector 24"/>
          <p:cNvCxnSpPr/>
          <p:nvPr/>
        </p:nvCxnSpPr>
        <p:spPr>
          <a:xfrm rot="5350892">
            <a:off x="9271000" y="3867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56" name="AutoShape 25"/>
          <p:cNvSpPr/>
          <p:nvPr/>
        </p:nvSpPr>
        <p:spPr>
          <a:xfrm>
            <a:off x="9842500" y="3365500"/>
            <a:ext cx="146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2022测试集准确率</a:t>
            </a:r>
            <a:endParaRPr lang="en-US" sz="1100" dirty="0"/>
          </a:p>
          <a:p>
            <a:pPr marL="0" indent="0" algn="l">
              <a:lnSpc>
                <a:spcPct val="125000"/>
              </a:lnSpc>
            </a:pPr>
            <a:r>
              <a:rPr lang="en-US" sz="2200" b="1" i="0" u="none" strike="noStrike" dirty="0">
                <a:solidFill>
                  <a:srgbClr val="40E0D0"/>
                </a:solidFill>
                <a:latin typeface="Noto Sans SC" panose="020B0200000000000000" charset="-122"/>
                <a:ea typeface="Noto Sans SC" panose="020B0200000000000000" charset="-122"/>
                <a:cs typeface="Noto Sans SC" panose="020B0200000000000000" charset="-122"/>
                <a:sym typeface="Noto Sans SC" panose="020B0200000000000000" charset="-122"/>
              </a:rPr>
              <a:t>58.0%</a:t>
            </a:r>
          </a:p>
        </p:txBody>
      </p:sp>
      <p:sp>
        <p:nvSpPr>
          <p:cNvPr id="6"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22C55E"/>
                </a:solidFill>
                <a:latin typeface="Noto Sans SC" panose="020B0200000000000000" charset="-122"/>
                <a:ea typeface="Noto Sans SC" panose="020B0200000000000000" charset="-122"/>
                <a:cs typeface="Noto Sans SC" panose="020B0200000000000000" charset="-122"/>
                <a:sym typeface="+mn-ea"/>
              </a:rPr>
              <a:t>冷启动</a:t>
            </a:r>
            <a:r>
              <a:rPr lang="en-US" altLang="zh-CN" sz="32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知识</a:t>
            </a:r>
            <a:r>
              <a:rPr lang="en-US" sz="2400" b="1" noProof="0" dirty="0" err="1">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蒸馏的</a:t>
            </a:r>
            <a:r>
              <a:rPr lang="zh-CN" altLang="en-US" sz="2400" b="1"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模拟预测方法</a:t>
            </a:r>
            <a:endPar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结果分析</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22630" y="2243455"/>
            <a:ext cx="10862945" cy="3730625"/>
            <a:chOff x="1138" y="2706"/>
            <a:chExt cx="17107" cy="5875"/>
          </a:xfrm>
        </p:grpSpPr>
        <p:sp>
          <p:nvSpPr>
            <p:cNvPr id="11" name="TextBox 10"/>
            <p:cNvSpPr txBox="1"/>
            <p:nvPr/>
          </p:nvSpPr>
          <p:spPr>
            <a:xfrm>
              <a:off x="1138" y="2706"/>
              <a:ext cx="3384" cy="317"/>
            </a:xfrm>
            <a:prstGeom prst="rect">
              <a:avLst/>
            </a:prstGeom>
            <a:noFill/>
          </p:spPr>
          <p:txBody>
            <a:bodyPr wrap="square" lIns="27432" tIns="9144" rIns="27432" bIns="9144" anchor="ctr">
              <a:spAutoFit/>
            </a:bodyPr>
            <a:lstStyle/>
            <a:p>
              <a:pPr algn="l">
                <a:defRPr sz="950" b="1">
                  <a:solidFill>
                    <a:srgbClr val="0E9AA7"/>
                  </a:solidFill>
                  <a:latin typeface="Noto Sans SC" panose="020B0200000000000000" charset="-122"/>
                </a:defRPr>
              </a:pPr>
              <a:r>
                <a:rPr sz="1200" b="1">
                  <a:solidFill>
                    <a:srgbClr val="0E9AA7"/>
                  </a:solidFill>
                  <a:latin typeface="Noto Sans SC" panose="020B0200000000000000" charset="-122"/>
                </a:rPr>
                <a:t>Historical routine branch</a:t>
              </a:r>
            </a:p>
          </p:txBody>
        </p:sp>
        <p:sp>
          <p:nvSpPr>
            <p:cNvPr id="12" name="Rounded Rectangle 11"/>
            <p:cNvSpPr/>
            <p:nvPr/>
          </p:nvSpPr>
          <p:spPr>
            <a:xfrm>
              <a:off x="1541" y="3138"/>
              <a:ext cx="2952" cy="979"/>
            </a:xfrm>
            <a:prstGeom prst="roundRect">
              <a:avLst/>
            </a:prstGeom>
            <a:solidFill>
              <a:srgbClr val="FFFFFF"/>
            </a:solidFill>
            <a:ln w="9525">
              <a:solidFill>
                <a:srgbClr val="0E9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TextBox 12"/>
            <p:cNvSpPr txBox="1"/>
            <p:nvPr/>
          </p:nvSpPr>
          <p:spPr>
            <a:xfrm>
              <a:off x="1656" y="3223"/>
              <a:ext cx="2722" cy="320"/>
            </a:xfrm>
            <a:prstGeom prst="rect">
              <a:avLst/>
            </a:prstGeom>
            <a:noFill/>
          </p:spPr>
          <p:txBody>
            <a:bodyPr wrap="square" lIns="27432" tIns="9144" rIns="27432" bIns="9144" anchor="ctr">
              <a:spAutoFit/>
            </a:bodyPr>
            <a:lstStyle/>
            <a:p>
              <a:pPr algn="ctr">
                <a:defRPr sz="920" b="1">
                  <a:solidFill>
                    <a:srgbClr val="0E9AA7"/>
                  </a:solidFill>
                  <a:latin typeface="Noto Sans SC" panose="020B0200000000000000" charset="-122"/>
                </a:defRPr>
              </a:pPr>
              <a:r>
                <a:rPr sz="1200" b="1">
                  <a:solidFill>
                    <a:srgbClr val="0E9AA7"/>
                  </a:solidFill>
                  <a:latin typeface="Noto Sans SC" panose="020B0200000000000000" charset="-122"/>
                </a:rPr>
                <a:t>NHTS history</a:t>
              </a:r>
            </a:p>
          </p:txBody>
        </p:sp>
        <p:sp>
          <p:nvSpPr>
            <p:cNvPr id="14" name="TextBox 13"/>
            <p:cNvSpPr txBox="1"/>
            <p:nvPr/>
          </p:nvSpPr>
          <p:spPr>
            <a:xfrm>
              <a:off x="1685" y="3647"/>
              <a:ext cx="2664" cy="320"/>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2001 / 2009 / 2017</a:t>
              </a:r>
            </a:p>
          </p:txBody>
        </p:sp>
        <p:sp>
          <p:nvSpPr>
            <p:cNvPr id="15" name="Right Arrow 14"/>
            <p:cNvSpPr/>
            <p:nvPr/>
          </p:nvSpPr>
          <p:spPr>
            <a:xfrm>
              <a:off x="4608" y="3512"/>
              <a:ext cx="547" cy="20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Rounded Rectangle 15"/>
            <p:cNvSpPr/>
            <p:nvPr/>
          </p:nvSpPr>
          <p:spPr>
            <a:xfrm>
              <a:off x="5357" y="3138"/>
              <a:ext cx="2952" cy="979"/>
            </a:xfrm>
            <a:prstGeom prst="roundRect">
              <a:avLst/>
            </a:prstGeom>
            <a:solidFill>
              <a:srgbClr val="FFFFFF"/>
            </a:solidFill>
            <a:ln w="9525">
              <a:solidFill>
                <a:srgbClr val="0E9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TextBox 16"/>
            <p:cNvSpPr txBox="1"/>
            <p:nvPr/>
          </p:nvSpPr>
          <p:spPr>
            <a:xfrm>
              <a:off x="5063" y="3223"/>
              <a:ext cx="3540" cy="320"/>
            </a:xfrm>
            <a:prstGeom prst="rect">
              <a:avLst/>
            </a:prstGeom>
            <a:noFill/>
          </p:spPr>
          <p:txBody>
            <a:bodyPr wrap="square" lIns="27432" tIns="9144" rIns="27432" bIns="9144" anchor="ctr">
              <a:spAutoFit/>
            </a:bodyPr>
            <a:lstStyle/>
            <a:p>
              <a:pPr algn="ctr">
                <a:defRPr sz="920" b="1">
                  <a:solidFill>
                    <a:srgbClr val="0E9AA7"/>
                  </a:solidFill>
                  <a:latin typeface="Noto Sans SC" panose="020B0200000000000000" charset="-122"/>
                </a:defRPr>
              </a:pPr>
              <a:r>
                <a:rPr sz="1200" b="1" dirty="0">
                  <a:solidFill>
                    <a:srgbClr val="0E9AA7"/>
                  </a:solidFill>
                  <a:latin typeface="Noto Sans SC" panose="020B0200000000000000" charset="-122"/>
                </a:rPr>
                <a:t>Feature harmonization</a:t>
              </a:r>
            </a:p>
          </p:txBody>
        </p:sp>
        <p:sp>
          <p:nvSpPr>
            <p:cNvPr id="18" name="TextBox 17"/>
            <p:cNvSpPr txBox="1"/>
            <p:nvPr/>
          </p:nvSpPr>
          <p:spPr>
            <a:xfrm>
              <a:off x="5501" y="3502"/>
              <a:ext cx="2664" cy="611"/>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dirty="0">
                  <a:solidFill>
                    <a:srgbClr val="64748B"/>
                  </a:solidFill>
                  <a:latin typeface="Noto Sans SC" panose="020B0200000000000000" charset="-122"/>
                </a:rPr>
                <a:t>same household schema</a:t>
              </a:r>
            </a:p>
          </p:txBody>
        </p:sp>
        <p:sp>
          <p:nvSpPr>
            <p:cNvPr id="19" name="Right Arrow 18"/>
            <p:cNvSpPr/>
            <p:nvPr/>
          </p:nvSpPr>
          <p:spPr>
            <a:xfrm>
              <a:off x="8424" y="3512"/>
              <a:ext cx="547" cy="20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Rounded Rectangle 19"/>
            <p:cNvSpPr/>
            <p:nvPr/>
          </p:nvSpPr>
          <p:spPr>
            <a:xfrm>
              <a:off x="9173" y="3138"/>
              <a:ext cx="2952" cy="979"/>
            </a:xfrm>
            <a:prstGeom prst="roundRect">
              <a:avLst/>
            </a:prstGeom>
            <a:solidFill>
              <a:srgbClr val="FFFFFF"/>
            </a:solidFill>
            <a:ln w="9525">
              <a:solidFill>
                <a:srgbClr val="0E9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TextBox 20"/>
            <p:cNvSpPr txBox="1"/>
            <p:nvPr/>
          </p:nvSpPr>
          <p:spPr>
            <a:xfrm>
              <a:off x="9288" y="3223"/>
              <a:ext cx="2722" cy="320"/>
            </a:xfrm>
            <a:prstGeom prst="rect">
              <a:avLst/>
            </a:prstGeom>
            <a:noFill/>
          </p:spPr>
          <p:txBody>
            <a:bodyPr wrap="square" lIns="27432" tIns="9144" rIns="27432" bIns="9144" anchor="ctr">
              <a:spAutoFit/>
            </a:bodyPr>
            <a:lstStyle/>
            <a:p>
              <a:pPr algn="ctr">
                <a:defRPr sz="920" b="1">
                  <a:solidFill>
                    <a:srgbClr val="0E9AA7"/>
                  </a:solidFill>
                  <a:latin typeface="Noto Sans SC" panose="020B0200000000000000" charset="-122"/>
                </a:defRPr>
              </a:pPr>
              <a:r>
                <a:rPr sz="1200" b="1" dirty="0" err="1">
                  <a:solidFill>
                    <a:srgbClr val="0E9AA7"/>
                  </a:solidFill>
                  <a:latin typeface="Noto Sans SC" panose="020B0200000000000000" charset="-122"/>
                </a:rPr>
                <a:t>XGBoost</a:t>
              </a:r>
              <a:r>
                <a:rPr sz="1200" b="1" dirty="0">
                  <a:solidFill>
                    <a:srgbClr val="0E9AA7"/>
                  </a:solidFill>
                  <a:latin typeface="Noto Sans SC" panose="020B0200000000000000" charset="-122"/>
                </a:rPr>
                <a:t> CUDA</a:t>
              </a:r>
            </a:p>
          </p:txBody>
        </p:sp>
        <p:sp>
          <p:nvSpPr>
            <p:cNvPr id="22" name="TextBox 21"/>
            <p:cNvSpPr txBox="1"/>
            <p:nvPr/>
          </p:nvSpPr>
          <p:spPr>
            <a:xfrm>
              <a:off x="9317" y="3647"/>
              <a:ext cx="2664" cy="320"/>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learn f_hist(X)</a:t>
              </a:r>
            </a:p>
          </p:txBody>
        </p:sp>
        <p:sp>
          <p:nvSpPr>
            <p:cNvPr id="23" name="TextBox 22"/>
            <p:cNvSpPr txBox="1"/>
            <p:nvPr/>
          </p:nvSpPr>
          <p:spPr>
            <a:xfrm>
              <a:off x="1138" y="4722"/>
              <a:ext cx="3384" cy="317"/>
            </a:xfrm>
            <a:prstGeom prst="rect">
              <a:avLst/>
            </a:prstGeom>
            <a:noFill/>
          </p:spPr>
          <p:txBody>
            <a:bodyPr wrap="square" lIns="27432" tIns="9144" rIns="27432" bIns="9144" anchor="ctr">
              <a:spAutoFit/>
            </a:bodyPr>
            <a:lstStyle/>
            <a:p>
              <a:pPr algn="l">
                <a:defRPr sz="950" b="1">
                  <a:solidFill>
                    <a:srgbClr val="EA580C"/>
                  </a:solidFill>
                  <a:latin typeface="Noto Sans SC" panose="020B0200000000000000" charset="-122"/>
                </a:defRPr>
              </a:pPr>
              <a:r>
                <a:rPr sz="1200" b="1">
                  <a:solidFill>
                    <a:srgbClr val="EA580C"/>
                  </a:solidFill>
                  <a:latin typeface="Noto Sans SC" panose="020B0200000000000000" charset="-122"/>
                </a:rPr>
                <a:t>LLM event-prior branch</a:t>
              </a:r>
            </a:p>
          </p:txBody>
        </p:sp>
        <p:sp>
          <p:nvSpPr>
            <p:cNvPr id="24" name="Rounded Rectangle 23"/>
            <p:cNvSpPr/>
            <p:nvPr/>
          </p:nvSpPr>
          <p:spPr>
            <a:xfrm>
              <a:off x="1541" y="5154"/>
              <a:ext cx="2952" cy="979"/>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TextBox 24"/>
            <p:cNvSpPr txBox="1"/>
            <p:nvPr/>
          </p:nvSpPr>
          <p:spPr>
            <a:xfrm>
              <a:off x="1656" y="5239"/>
              <a:ext cx="2722" cy="320"/>
            </a:xfrm>
            <a:prstGeom prst="rect">
              <a:avLst/>
            </a:prstGeom>
            <a:noFill/>
          </p:spPr>
          <p:txBody>
            <a:bodyPr wrap="square" lIns="27432" tIns="9144" rIns="27432" bIns="9144" anchor="ctr">
              <a:spAutoFit/>
            </a:bodyPr>
            <a:lstStyle/>
            <a:p>
              <a:pPr algn="ctr">
                <a:defRPr sz="920" b="1">
                  <a:solidFill>
                    <a:srgbClr val="EA580C"/>
                  </a:solidFill>
                  <a:latin typeface="Noto Sans SC" panose="020B0200000000000000" charset="-122"/>
                </a:defRPr>
              </a:pPr>
              <a:r>
                <a:rPr sz="1200" b="1">
                  <a:solidFill>
                    <a:srgbClr val="EA580C"/>
                  </a:solidFill>
                  <a:latin typeface="Noto Sans SC" panose="020B0200000000000000" charset="-122"/>
                </a:rPr>
                <a:t>2022 cohort profile</a:t>
              </a:r>
            </a:p>
          </p:txBody>
        </p:sp>
        <p:sp>
          <p:nvSpPr>
            <p:cNvPr id="26" name="TextBox 25"/>
            <p:cNvSpPr txBox="1"/>
            <p:nvPr/>
          </p:nvSpPr>
          <p:spPr>
            <a:xfrm>
              <a:off x="1685" y="5518"/>
              <a:ext cx="2664" cy="611"/>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aggregated households</a:t>
              </a:r>
            </a:p>
          </p:txBody>
        </p:sp>
        <p:sp>
          <p:nvSpPr>
            <p:cNvPr id="27" name="Right Arrow 26"/>
            <p:cNvSpPr/>
            <p:nvPr/>
          </p:nvSpPr>
          <p:spPr>
            <a:xfrm>
              <a:off x="4608" y="5528"/>
              <a:ext cx="547" cy="20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Rounded Rectangle 27"/>
            <p:cNvSpPr/>
            <p:nvPr/>
          </p:nvSpPr>
          <p:spPr>
            <a:xfrm>
              <a:off x="5357" y="5154"/>
              <a:ext cx="2952" cy="979"/>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5472" y="5239"/>
              <a:ext cx="2722" cy="320"/>
            </a:xfrm>
            <a:prstGeom prst="rect">
              <a:avLst/>
            </a:prstGeom>
            <a:noFill/>
          </p:spPr>
          <p:txBody>
            <a:bodyPr wrap="square" lIns="27432" tIns="9144" rIns="27432" bIns="9144" anchor="ctr">
              <a:spAutoFit/>
            </a:bodyPr>
            <a:lstStyle/>
            <a:p>
              <a:pPr algn="ctr">
                <a:defRPr sz="920" b="1">
                  <a:solidFill>
                    <a:srgbClr val="EA580C"/>
                  </a:solidFill>
                  <a:latin typeface="Noto Sans SC" panose="020B0200000000000000" charset="-122"/>
                </a:defRPr>
              </a:pPr>
              <a:r>
                <a:rPr sz="1200" b="1">
                  <a:solidFill>
                    <a:srgbClr val="EA580C"/>
                  </a:solidFill>
                  <a:latin typeface="Noto Sans SC" panose="020B0200000000000000" charset="-122"/>
                </a:rPr>
                <a:t>GPT-5.5 prompt</a:t>
              </a:r>
            </a:p>
          </p:txBody>
        </p:sp>
        <p:sp>
          <p:nvSpPr>
            <p:cNvPr id="30" name="TextBox 29"/>
            <p:cNvSpPr txBox="1"/>
            <p:nvPr/>
          </p:nvSpPr>
          <p:spPr>
            <a:xfrm>
              <a:off x="5501" y="5518"/>
              <a:ext cx="2664" cy="611"/>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pandemic mechanisms</a:t>
              </a:r>
            </a:p>
          </p:txBody>
        </p:sp>
        <p:sp>
          <p:nvSpPr>
            <p:cNvPr id="31" name="Right Arrow 30"/>
            <p:cNvSpPr/>
            <p:nvPr/>
          </p:nvSpPr>
          <p:spPr>
            <a:xfrm>
              <a:off x="8424" y="5528"/>
              <a:ext cx="547" cy="202"/>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Rounded Rectangle 31"/>
            <p:cNvSpPr/>
            <p:nvPr/>
          </p:nvSpPr>
          <p:spPr>
            <a:xfrm>
              <a:off x="9173" y="5154"/>
              <a:ext cx="2952" cy="979"/>
            </a:xfrm>
            <a:prstGeom prst="roundRect">
              <a:avLst/>
            </a:prstGeom>
            <a:solidFill>
              <a:srgbClr val="FFFFFF"/>
            </a:solidFill>
            <a:ln w="9525">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9288" y="5239"/>
              <a:ext cx="2722" cy="320"/>
            </a:xfrm>
            <a:prstGeom prst="rect">
              <a:avLst/>
            </a:prstGeom>
            <a:noFill/>
          </p:spPr>
          <p:txBody>
            <a:bodyPr wrap="square" lIns="27432" tIns="9144" rIns="27432" bIns="9144" anchor="ctr">
              <a:spAutoFit/>
            </a:bodyPr>
            <a:lstStyle/>
            <a:p>
              <a:pPr algn="ctr">
                <a:defRPr sz="920" b="1">
                  <a:solidFill>
                    <a:srgbClr val="EA580C"/>
                  </a:solidFill>
                  <a:latin typeface="Noto Sans SC" panose="020B0200000000000000" charset="-122"/>
                </a:defRPr>
              </a:pPr>
              <a:r>
                <a:rPr sz="1200" b="1">
                  <a:solidFill>
                    <a:srgbClr val="EA580C"/>
                  </a:solidFill>
                  <a:latin typeface="Noto Sans SC" panose="020B0200000000000000" charset="-122"/>
                </a:rPr>
                <a:t>Validated event prior</a:t>
              </a:r>
            </a:p>
          </p:txBody>
        </p:sp>
        <p:sp>
          <p:nvSpPr>
            <p:cNvPr id="34" name="TextBox 33"/>
            <p:cNvSpPr txBox="1"/>
            <p:nvPr/>
          </p:nvSpPr>
          <p:spPr>
            <a:xfrm>
              <a:off x="9317" y="5663"/>
              <a:ext cx="2664" cy="320"/>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s_event in [0, 1]</a:t>
              </a:r>
            </a:p>
          </p:txBody>
        </p:sp>
        <p:sp>
          <p:nvSpPr>
            <p:cNvPr id="35" name="Rounded Rectangle 34"/>
            <p:cNvSpPr/>
            <p:nvPr/>
          </p:nvSpPr>
          <p:spPr>
            <a:xfrm>
              <a:off x="1138" y="6882"/>
              <a:ext cx="11016" cy="1699"/>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TextBox 35"/>
            <p:cNvSpPr txBox="1"/>
            <p:nvPr/>
          </p:nvSpPr>
          <p:spPr>
            <a:xfrm>
              <a:off x="1469" y="7268"/>
              <a:ext cx="1685" cy="611"/>
            </a:xfrm>
            <a:prstGeom prst="rect">
              <a:avLst/>
            </a:prstGeom>
            <a:noFill/>
          </p:spPr>
          <p:txBody>
            <a:bodyPr wrap="square" lIns="27432" tIns="9144" rIns="27432" bIns="9144" anchor="ctr">
              <a:spAutoFit/>
            </a:bodyPr>
            <a:lstStyle/>
            <a:p>
              <a:pPr algn="l">
                <a:defRPr sz="1000" b="1">
                  <a:solidFill>
                    <a:srgbClr val="22C55E"/>
                  </a:solidFill>
                  <a:latin typeface="Noto Sans SC" panose="020B0200000000000000" charset="-122"/>
                </a:defRPr>
              </a:pPr>
              <a:r>
                <a:rPr sz="1200" b="1" dirty="0">
                  <a:solidFill>
                    <a:srgbClr val="22C55E"/>
                  </a:solidFill>
                  <a:latin typeface="Noto Sans SC" panose="020B0200000000000000" charset="-122"/>
                </a:rPr>
                <a:t>Fixed no-label adapter</a:t>
              </a:r>
            </a:p>
          </p:txBody>
        </p:sp>
        <p:sp>
          <p:nvSpPr>
            <p:cNvPr id="37" name="TextBox 36"/>
            <p:cNvSpPr txBox="1"/>
            <p:nvPr/>
          </p:nvSpPr>
          <p:spPr>
            <a:xfrm>
              <a:off x="4061" y="7183"/>
              <a:ext cx="7560" cy="320"/>
            </a:xfrm>
            <a:prstGeom prst="rect">
              <a:avLst/>
            </a:prstGeom>
            <a:noFill/>
          </p:spPr>
          <p:txBody>
            <a:bodyPr wrap="square" lIns="27432" tIns="9144" rIns="27432" bIns="9144" anchor="ctr">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ŷ_2022 = f_hist(X) × clip(1 − α × s_event, min_factor, 1)</a:t>
              </a:r>
            </a:p>
          </p:txBody>
        </p:sp>
        <p:sp>
          <p:nvSpPr>
            <p:cNvPr id="38" name="TextBox 37"/>
            <p:cNvSpPr txBox="1"/>
            <p:nvPr/>
          </p:nvSpPr>
          <p:spPr>
            <a:xfrm>
              <a:off x="4061" y="7616"/>
              <a:ext cx="7560" cy="320"/>
            </a:xfrm>
            <a:prstGeom prst="rect">
              <a:avLst/>
            </a:prstGeom>
            <a:noFill/>
          </p:spPr>
          <p:txBody>
            <a:bodyPr wrap="square" lIns="27432" tIns="9144" rIns="27432" bIns="9144" anchor="ctr">
              <a:spAutoFit/>
            </a:bodyPr>
            <a:lstStyle/>
            <a:p>
              <a:pPr algn="l">
                <a:defRPr sz="920" b="0">
                  <a:solidFill>
                    <a:srgbClr val="64748B"/>
                  </a:solidFill>
                  <a:latin typeface="Noto Sans SC" panose="020B0200000000000000" charset="-122"/>
                </a:defRPr>
              </a:pPr>
              <a:r>
                <a:rPr sz="1200" b="0" dirty="0">
                  <a:solidFill>
                    <a:srgbClr val="64748B"/>
                  </a:solidFill>
                  <a:latin typeface="Noto Sans SC" panose="020B0200000000000000" charset="-122"/>
                </a:rPr>
                <a:t>low-confidence cohort -&gt; global pressure fallback</a:t>
              </a:r>
            </a:p>
          </p:txBody>
        </p:sp>
        <p:sp>
          <p:nvSpPr>
            <p:cNvPr id="39" name="TextBox 38"/>
            <p:cNvSpPr txBox="1"/>
            <p:nvPr/>
          </p:nvSpPr>
          <p:spPr>
            <a:xfrm>
              <a:off x="4061" y="8019"/>
              <a:ext cx="7560" cy="320"/>
            </a:xfrm>
            <a:prstGeom prst="rect">
              <a:avLst/>
            </a:prstGeom>
            <a:noFill/>
          </p:spPr>
          <p:txBody>
            <a:bodyPr wrap="square" lIns="27432" tIns="9144" rIns="27432" bIns="9144" anchor="ctr">
              <a:spAutoFit/>
            </a:bodyPr>
            <a:lstStyle/>
            <a:p>
              <a:pPr algn="l">
                <a:defRPr sz="920" b="1">
                  <a:solidFill>
                    <a:srgbClr val="BE123C"/>
                  </a:solidFill>
                  <a:latin typeface="Noto Sans SC" panose="020B0200000000000000" charset="-122"/>
                </a:defRPr>
              </a:pPr>
              <a:r>
                <a:rPr sz="1200" b="1">
                  <a:solidFill>
                    <a:srgbClr val="BE123C"/>
                  </a:solidFill>
                  <a:latin typeface="Noto Sans SC" panose="020B0200000000000000" charset="-122"/>
                </a:rPr>
                <a:t>2022 labels enter only here: final evaluation</a:t>
              </a:r>
            </a:p>
          </p:txBody>
        </p:sp>
        <p:sp>
          <p:nvSpPr>
            <p:cNvPr id="41" name="Right Arrow 40"/>
            <p:cNvSpPr/>
            <p:nvPr/>
          </p:nvSpPr>
          <p:spPr>
            <a:xfrm>
              <a:off x="12211" y="5349"/>
              <a:ext cx="688" cy="63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13061" y="6911"/>
              <a:ext cx="3600" cy="317"/>
            </a:xfrm>
            <a:prstGeom prst="rect">
              <a:avLst/>
            </a:prstGeom>
            <a:noFill/>
          </p:spPr>
          <p:txBody>
            <a:bodyPr wrap="square" lIns="27432" tIns="9144" rIns="27432" bIns="9144" anchor="ctr">
              <a:spAutoFit/>
            </a:bodyPr>
            <a:lstStyle/>
            <a:p>
              <a:pPr algn="l">
                <a:defRPr sz="1000" b="1">
                  <a:solidFill>
                    <a:srgbClr val="22C55E"/>
                  </a:solidFill>
                  <a:latin typeface="Noto Sans SC" panose="020B0200000000000000" charset="-122"/>
                </a:defRPr>
              </a:pPr>
              <a:r>
                <a:rPr sz="1200" b="1">
                  <a:solidFill>
                    <a:srgbClr val="22C55E"/>
                  </a:solidFill>
                  <a:latin typeface="Noto Sans SC" panose="020B0200000000000000" charset="-122"/>
                </a:rPr>
                <a:t>Output behavior system</a:t>
              </a:r>
            </a:p>
          </p:txBody>
        </p:sp>
        <p:sp>
          <p:nvSpPr>
            <p:cNvPr id="43" name="Rounded Rectangle 42"/>
            <p:cNvSpPr/>
            <p:nvPr/>
          </p:nvSpPr>
          <p:spPr>
            <a:xfrm>
              <a:off x="13061" y="7415"/>
              <a:ext cx="2952" cy="893"/>
            </a:xfrm>
            <a:prstGeom prst="roundRect">
              <a:avLst/>
            </a:prstGeom>
            <a:solidFill>
              <a:srgbClr val="FFFFFF"/>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4" name="TextBox 43"/>
            <p:cNvSpPr txBox="1"/>
            <p:nvPr/>
          </p:nvSpPr>
          <p:spPr>
            <a:xfrm>
              <a:off x="13176" y="7499"/>
              <a:ext cx="2722" cy="320"/>
            </a:xfrm>
            <a:prstGeom prst="rect">
              <a:avLst/>
            </a:prstGeom>
            <a:noFill/>
          </p:spPr>
          <p:txBody>
            <a:bodyPr wrap="square" lIns="27432" tIns="9144" rIns="27432" bIns="9144" anchor="ctr">
              <a:spAutoFit/>
            </a:bodyPr>
            <a:lstStyle/>
            <a:p>
              <a:pPr algn="ctr">
                <a:defRPr sz="920" b="1">
                  <a:solidFill>
                    <a:srgbClr val="22C55E"/>
                  </a:solidFill>
                  <a:latin typeface="Noto Sans SC" panose="020B0200000000000000" charset="-122"/>
                </a:defRPr>
              </a:pPr>
              <a:r>
                <a:rPr sz="1200" b="1">
                  <a:solidFill>
                    <a:srgbClr val="22C55E"/>
                  </a:solidFill>
                  <a:latin typeface="Noto Sans SC" panose="020B0200000000000000" charset="-122"/>
                </a:rPr>
                <a:t>Trip generation</a:t>
              </a:r>
            </a:p>
          </p:txBody>
        </p:sp>
        <p:sp>
          <p:nvSpPr>
            <p:cNvPr id="45" name="TextBox 44"/>
            <p:cNvSpPr txBox="1"/>
            <p:nvPr/>
          </p:nvSpPr>
          <p:spPr>
            <a:xfrm>
              <a:off x="13205" y="7881"/>
              <a:ext cx="2664" cy="320"/>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household CNTTDHH</a:t>
              </a:r>
            </a:p>
          </p:txBody>
        </p:sp>
        <p:sp>
          <p:nvSpPr>
            <p:cNvPr id="46" name="Rounded Rectangle 45"/>
            <p:cNvSpPr/>
            <p:nvPr/>
          </p:nvSpPr>
          <p:spPr>
            <a:xfrm>
              <a:off x="15941" y="7415"/>
              <a:ext cx="2304" cy="893"/>
            </a:xfrm>
            <a:prstGeom prst="roundRect">
              <a:avLst/>
            </a:prstGeom>
            <a:solidFill>
              <a:srgbClr val="FFFFFF"/>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7" name="TextBox 46"/>
            <p:cNvSpPr txBox="1"/>
            <p:nvPr/>
          </p:nvSpPr>
          <p:spPr>
            <a:xfrm>
              <a:off x="16056" y="7499"/>
              <a:ext cx="2074" cy="320"/>
            </a:xfrm>
            <a:prstGeom prst="rect">
              <a:avLst/>
            </a:prstGeom>
            <a:noFill/>
          </p:spPr>
          <p:txBody>
            <a:bodyPr wrap="square" lIns="27432" tIns="9144" rIns="27432" bIns="9144" anchor="ctr">
              <a:spAutoFit/>
            </a:bodyPr>
            <a:lstStyle/>
            <a:p>
              <a:pPr algn="ctr">
                <a:defRPr sz="920" b="1">
                  <a:solidFill>
                    <a:srgbClr val="22C55E"/>
                  </a:solidFill>
                  <a:latin typeface="Noto Sans SC" panose="020B0200000000000000" charset="-122"/>
                </a:defRPr>
              </a:pPr>
              <a:r>
                <a:rPr sz="1200" b="1">
                  <a:solidFill>
                    <a:srgbClr val="22C55E"/>
                  </a:solidFill>
                  <a:latin typeface="Noto Sans SC" panose="020B0200000000000000" charset="-122"/>
                </a:rPr>
                <a:t>Mode shares</a:t>
              </a:r>
            </a:p>
          </p:txBody>
        </p:sp>
        <p:sp>
          <p:nvSpPr>
            <p:cNvPr id="48" name="TextBox 47"/>
            <p:cNvSpPr txBox="1"/>
            <p:nvPr/>
          </p:nvSpPr>
          <p:spPr>
            <a:xfrm>
              <a:off x="16085" y="7881"/>
              <a:ext cx="2016" cy="320"/>
            </a:xfrm>
            <a:prstGeom prst="rect">
              <a:avLst/>
            </a:prstGeom>
            <a:noFill/>
          </p:spPr>
          <p:txBody>
            <a:bodyPr wrap="square" lIns="27432" tIns="9144" rIns="27432" bIns="9144" anchor="ctr">
              <a:spAutoFit/>
            </a:bodyPr>
            <a:lstStyle/>
            <a:p>
              <a:pPr algn="ctr">
                <a:defRPr sz="780" b="0">
                  <a:solidFill>
                    <a:srgbClr val="64748B"/>
                  </a:solidFill>
                  <a:latin typeface="Noto Sans SC" panose="020B0200000000000000" charset="-122"/>
                </a:defRPr>
              </a:pPr>
              <a:r>
                <a:rPr sz="1200" b="0">
                  <a:solidFill>
                    <a:srgbClr val="64748B"/>
                  </a:solidFill>
                  <a:latin typeface="Noto Sans SC" panose="020B0200000000000000" charset="-122"/>
                </a:rPr>
                <a:t>transit signal</a:t>
              </a:r>
            </a:p>
          </p:txBody>
        </p:sp>
        <p:sp>
          <p:nvSpPr>
            <p:cNvPr id="49" name="Right Arrow 48"/>
            <p:cNvSpPr/>
            <p:nvPr/>
          </p:nvSpPr>
          <p:spPr>
            <a:xfrm>
              <a:off x="12226" y="7602"/>
              <a:ext cx="605" cy="230"/>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3061" y="2951"/>
              <a:ext cx="4392" cy="3744"/>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421" y="3239"/>
              <a:ext cx="3672" cy="317"/>
            </a:xfrm>
            <a:prstGeom prst="rect">
              <a:avLst/>
            </a:prstGeom>
            <a:noFill/>
          </p:spPr>
          <p:txBody>
            <a:bodyPr wrap="square" lIns="27432" tIns="9144" rIns="27432" bIns="9144" anchor="ctr">
              <a:spAutoFit/>
            </a:bodyPr>
            <a:lstStyle/>
            <a:p>
              <a:pPr algn="ctr">
                <a:defRPr sz="1050" b="1">
                  <a:solidFill>
                    <a:srgbClr val="BE123C"/>
                  </a:solidFill>
                  <a:latin typeface="Noto Sans SC" panose="020B0200000000000000" charset="-122"/>
                </a:defRPr>
              </a:pPr>
              <a:r>
                <a:rPr sz="1050" b="1">
                  <a:solidFill>
                    <a:srgbClr val="BE123C"/>
                  </a:solidFill>
                  <a:latin typeface="Noto Sans SC" panose="020B0200000000000000" charset="-122"/>
                </a:rPr>
                <a:t>Leakage guardrails</a:t>
              </a:r>
            </a:p>
          </p:txBody>
        </p:sp>
        <p:sp>
          <p:nvSpPr>
            <p:cNvPr id="52" name="Rectangle 51"/>
            <p:cNvSpPr/>
            <p:nvPr/>
          </p:nvSpPr>
          <p:spPr>
            <a:xfrm>
              <a:off x="13349" y="3771"/>
              <a:ext cx="1944" cy="605"/>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3406" y="3887"/>
              <a:ext cx="1829"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禁止进入 LLM</a:t>
              </a:r>
            </a:p>
          </p:txBody>
        </p:sp>
        <p:sp>
          <p:nvSpPr>
            <p:cNvPr id="54" name="Rectangle 53"/>
            <p:cNvSpPr/>
            <p:nvPr/>
          </p:nvSpPr>
          <p:spPr>
            <a:xfrm>
              <a:off x="15293" y="3771"/>
              <a:ext cx="1944" cy="605"/>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350" y="3887"/>
              <a:ext cx="1829"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原因</a:t>
              </a:r>
            </a:p>
          </p:txBody>
        </p:sp>
        <p:sp>
          <p:nvSpPr>
            <p:cNvPr id="56" name="Rectangle 55"/>
            <p:cNvSpPr/>
            <p:nvPr/>
          </p:nvSpPr>
          <p:spPr>
            <a:xfrm>
              <a:off x="13349" y="4376"/>
              <a:ext cx="194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3435" y="4477"/>
              <a:ext cx="177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CNTTDHH</a:t>
              </a:r>
            </a:p>
          </p:txBody>
        </p:sp>
        <p:sp>
          <p:nvSpPr>
            <p:cNvPr id="58" name="Rectangle 57"/>
            <p:cNvSpPr/>
            <p:nvPr/>
          </p:nvSpPr>
          <p:spPr>
            <a:xfrm>
              <a:off x="15293" y="4376"/>
              <a:ext cx="194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5379" y="4477"/>
              <a:ext cx="1771"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目标标签</a:t>
              </a:r>
            </a:p>
          </p:txBody>
        </p:sp>
        <p:sp>
          <p:nvSpPr>
            <p:cNvPr id="60" name="Rectangle 59"/>
            <p:cNvSpPr/>
            <p:nvPr/>
          </p:nvSpPr>
          <p:spPr>
            <a:xfrm>
              <a:off x="13349" y="4981"/>
              <a:ext cx="194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3435" y="5082"/>
              <a:ext cx="177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WTHHFIN</a:t>
              </a:r>
            </a:p>
          </p:txBody>
        </p:sp>
        <p:sp>
          <p:nvSpPr>
            <p:cNvPr id="62" name="Rectangle 61"/>
            <p:cNvSpPr/>
            <p:nvPr/>
          </p:nvSpPr>
          <p:spPr>
            <a:xfrm>
              <a:off x="15293" y="4981"/>
              <a:ext cx="194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5379" y="5082"/>
              <a:ext cx="1771"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样本权重</a:t>
              </a:r>
            </a:p>
          </p:txBody>
        </p:sp>
        <p:sp>
          <p:nvSpPr>
            <p:cNvPr id="64" name="Rectangle 63"/>
            <p:cNvSpPr/>
            <p:nvPr/>
          </p:nvSpPr>
          <p:spPr>
            <a:xfrm>
              <a:off x="13349" y="5586"/>
              <a:ext cx="194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3435" y="5687"/>
              <a:ext cx="177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HOUSEID</a:t>
              </a:r>
            </a:p>
          </p:txBody>
        </p:sp>
        <p:sp>
          <p:nvSpPr>
            <p:cNvPr id="66" name="Rectangle 65"/>
            <p:cNvSpPr/>
            <p:nvPr/>
          </p:nvSpPr>
          <p:spPr>
            <a:xfrm>
              <a:off x="15293" y="5586"/>
              <a:ext cx="194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5379" y="5687"/>
              <a:ext cx="1771"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个体标识</a:t>
              </a:r>
            </a:p>
          </p:txBody>
        </p:sp>
        <p:sp>
          <p:nvSpPr>
            <p:cNvPr id="68" name="Right Arrow 40"/>
            <p:cNvSpPr/>
            <p:nvPr/>
          </p:nvSpPr>
          <p:spPr>
            <a:xfrm>
              <a:off x="12237" y="3543"/>
              <a:ext cx="688" cy="63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grpSp>
      <p:sp>
        <p:nvSpPr>
          <p:cNvPr id="8"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文本框 8"/>
          <p:cNvSpPr txBox="1"/>
          <p:nvPr/>
        </p:nvSpPr>
        <p:spPr>
          <a:xfrm>
            <a:off x="7287895" y="680085"/>
            <a:ext cx="3890010" cy="882015"/>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技术路线</a:t>
            </a:r>
          </a:p>
        </p:txBody>
      </p:sp>
      <p:sp>
        <p:nvSpPr>
          <p:cNvPr id="5" name="AutoShape 2"/>
          <p:cNvSpPr/>
          <p:nvPr/>
        </p:nvSpPr>
        <p:spPr>
          <a:xfrm>
            <a:off x="762000" y="874395"/>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3000" y="267970"/>
            <a:ext cx="8412480" cy="287020"/>
          </a:xfrm>
          <a:prstGeom prst="rect">
            <a:avLst/>
          </a:prstGeom>
          <a:noFill/>
        </p:spPr>
        <p:txBody>
          <a:bodyPr wrap="square" lIns="27432" tIns="9144" rIns="27432" bIns="9144" anchor="ctr">
            <a:spAutoFit/>
          </a:bodyPr>
          <a:lstStyle/>
          <a:p>
            <a:pPr algn="l">
              <a:defRPr sz="1750" b="1">
                <a:solidFill>
                  <a:srgbClr val="1F2937"/>
                </a:solidFill>
                <a:latin typeface="Noto Sans SC" panose="020B0200000000000000" charset="-122"/>
              </a:defRPr>
            </a:pPr>
            <a:endParaRPr sz="1750" b="1">
              <a:solidFill>
                <a:srgbClr val="1F2937"/>
              </a:solidFill>
              <a:latin typeface="Noto Sans SC" panose="020B0200000000000000" charset="-122"/>
            </a:endParaRPr>
          </a:p>
        </p:txBody>
      </p:sp>
      <p:grpSp>
        <p:nvGrpSpPr>
          <p:cNvPr id="9" name="组合 8"/>
          <p:cNvGrpSpPr/>
          <p:nvPr/>
        </p:nvGrpSpPr>
        <p:grpSpPr>
          <a:xfrm>
            <a:off x="931545" y="1814195"/>
            <a:ext cx="10149840" cy="2687955"/>
            <a:chOff x="979" y="1699"/>
            <a:chExt cx="15984" cy="4233"/>
          </a:xfrm>
        </p:grpSpPr>
        <p:sp>
          <p:nvSpPr>
            <p:cNvPr id="11" name="Rectangle 10"/>
            <p:cNvSpPr/>
            <p:nvPr/>
          </p:nvSpPr>
          <p:spPr>
            <a:xfrm>
              <a:off x="979" y="1699"/>
              <a:ext cx="3384" cy="605"/>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7" y="1814"/>
              <a:ext cx="3269"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LLM output</a:t>
              </a:r>
            </a:p>
          </p:txBody>
        </p:sp>
        <p:sp>
          <p:nvSpPr>
            <p:cNvPr id="13" name="Rectangle 12"/>
            <p:cNvSpPr/>
            <p:nvPr/>
          </p:nvSpPr>
          <p:spPr>
            <a:xfrm>
              <a:off x="4363" y="1699"/>
              <a:ext cx="6408" cy="605"/>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21" y="1814"/>
              <a:ext cx="6293"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变量含义</a:t>
              </a:r>
            </a:p>
          </p:txBody>
        </p:sp>
        <p:sp>
          <p:nvSpPr>
            <p:cNvPr id="15" name="Rectangle 14"/>
            <p:cNvSpPr/>
            <p:nvPr/>
          </p:nvSpPr>
          <p:spPr>
            <a:xfrm>
              <a:off x="10771" y="1699"/>
              <a:ext cx="6192" cy="605"/>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829" y="1814"/>
              <a:ext cx="6077"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进入模型的位置</a:t>
              </a:r>
            </a:p>
          </p:txBody>
        </p:sp>
        <p:sp>
          <p:nvSpPr>
            <p:cNvPr id="17" name="Rectangle 16"/>
            <p:cNvSpPr/>
            <p:nvPr/>
          </p:nvSpPr>
          <p:spPr>
            <a:xfrm>
              <a:off x="979" y="2304"/>
              <a:ext cx="33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6" y="2405"/>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trip_suppression</a:t>
              </a:r>
            </a:p>
          </p:txBody>
        </p:sp>
        <p:sp>
          <p:nvSpPr>
            <p:cNvPr id="19" name="Rectangle 18"/>
            <p:cNvSpPr/>
            <p:nvPr/>
          </p:nvSpPr>
          <p:spPr>
            <a:xfrm>
              <a:off x="4363" y="2304"/>
              <a:ext cx="6408"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0" y="2405"/>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总体出行折减压力</a:t>
              </a:r>
            </a:p>
          </p:txBody>
        </p:sp>
        <p:sp>
          <p:nvSpPr>
            <p:cNvPr id="21" name="Rectangle 20"/>
            <p:cNvSpPr/>
            <p:nvPr/>
          </p:nvSpPr>
          <p:spPr>
            <a:xfrm>
              <a:off x="10771" y="2304"/>
              <a:ext cx="619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58" y="2405"/>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修正 total trips</a:t>
              </a:r>
            </a:p>
          </p:txBody>
        </p:sp>
        <p:sp>
          <p:nvSpPr>
            <p:cNvPr id="23" name="Rectangle 22"/>
            <p:cNvSpPr/>
            <p:nvPr/>
          </p:nvSpPr>
          <p:spPr>
            <a:xfrm>
              <a:off x="979" y="2909"/>
              <a:ext cx="338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6" y="3010"/>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remote_work</a:t>
              </a:r>
            </a:p>
          </p:txBody>
        </p:sp>
        <p:sp>
          <p:nvSpPr>
            <p:cNvPr id="25" name="Rectangle 24"/>
            <p:cNvSpPr/>
            <p:nvPr/>
          </p:nvSpPr>
          <p:spPr>
            <a:xfrm>
              <a:off x="4363" y="2909"/>
              <a:ext cx="6408"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50" y="3010"/>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通勤被远程办公替代的可能性</a:t>
              </a:r>
            </a:p>
          </p:txBody>
        </p:sp>
        <p:sp>
          <p:nvSpPr>
            <p:cNvPr id="27" name="Rectangle 26"/>
            <p:cNvSpPr/>
            <p:nvPr/>
          </p:nvSpPr>
          <p:spPr>
            <a:xfrm>
              <a:off x="10771" y="2909"/>
              <a:ext cx="619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858" y="3010"/>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解释出行下降来源</a:t>
              </a:r>
            </a:p>
          </p:txBody>
        </p:sp>
        <p:sp>
          <p:nvSpPr>
            <p:cNvPr id="29" name="Rectangle 28"/>
            <p:cNvSpPr/>
            <p:nvPr/>
          </p:nvSpPr>
          <p:spPr>
            <a:xfrm>
              <a:off x="979" y="3514"/>
              <a:ext cx="33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66" y="3614"/>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transit_avoidance</a:t>
              </a:r>
            </a:p>
          </p:txBody>
        </p:sp>
        <p:sp>
          <p:nvSpPr>
            <p:cNvPr id="31" name="Rectangle 30"/>
            <p:cNvSpPr/>
            <p:nvPr/>
          </p:nvSpPr>
          <p:spPr>
            <a:xfrm>
              <a:off x="4363" y="3514"/>
              <a:ext cx="6408"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50" y="3614"/>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公共交通规避倾向</a:t>
              </a:r>
            </a:p>
          </p:txBody>
        </p:sp>
        <p:sp>
          <p:nvSpPr>
            <p:cNvPr id="33" name="Rectangle 32"/>
            <p:cNvSpPr/>
            <p:nvPr/>
          </p:nvSpPr>
          <p:spPr>
            <a:xfrm>
              <a:off x="10771" y="3514"/>
              <a:ext cx="619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858" y="3614"/>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修正 transit share</a:t>
              </a:r>
            </a:p>
          </p:txBody>
        </p:sp>
        <p:sp>
          <p:nvSpPr>
            <p:cNvPr id="35" name="Rectangle 34"/>
            <p:cNvSpPr/>
            <p:nvPr/>
          </p:nvSpPr>
          <p:spPr>
            <a:xfrm>
              <a:off x="979" y="4118"/>
              <a:ext cx="338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6" y="4219"/>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delivery_substitution</a:t>
              </a:r>
            </a:p>
          </p:txBody>
        </p:sp>
        <p:sp>
          <p:nvSpPr>
            <p:cNvPr id="37" name="Rectangle 36"/>
            <p:cNvSpPr/>
            <p:nvPr/>
          </p:nvSpPr>
          <p:spPr>
            <a:xfrm>
              <a:off x="4363" y="4118"/>
              <a:ext cx="6408"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50" y="4219"/>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购物/服务被线上替代</a:t>
              </a:r>
            </a:p>
          </p:txBody>
        </p:sp>
        <p:sp>
          <p:nvSpPr>
            <p:cNvPr id="39" name="Rectangle 38"/>
            <p:cNvSpPr/>
            <p:nvPr/>
          </p:nvSpPr>
          <p:spPr>
            <a:xfrm>
              <a:off x="10771" y="4118"/>
              <a:ext cx="619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858" y="4219"/>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解释非通勤出行下降</a:t>
              </a:r>
            </a:p>
          </p:txBody>
        </p:sp>
        <p:sp>
          <p:nvSpPr>
            <p:cNvPr id="41" name="Rectangle 40"/>
            <p:cNvSpPr/>
            <p:nvPr/>
          </p:nvSpPr>
          <p:spPr>
            <a:xfrm>
              <a:off x="979" y="4723"/>
              <a:ext cx="33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66" y="4824"/>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recovery_sensitivity</a:t>
              </a:r>
            </a:p>
          </p:txBody>
        </p:sp>
        <p:sp>
          <p:nvSpPr>
            <p:cNvPr id="43" name="Rectangle 42"/>
            <p:cNvSpPr/>
            <p:nvPr/>
          </p:nvSpPr>
          <p:spPr>
            <a:xfrm>
              <a:off x="4363" y="4723"/>
              <a:ext cx="6408"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50" y="4824"/>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恢复到常态出行的能力</a:t>
              </a:r>
            </a:p>
          </p:txBody>
        </p:sp>
        <p:sp>
          <p:nvSpPr>
            <p:cNvPr id="45" name="Rectangle 44"/>
            <p:cNvSpPr/>
            <p:nvPr/>
          </p:nvSpPr>
          <p:spPr>
            <a:xfrm>
              <a:off x="10771" y="4723"/>
              <a:ext cx="619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858" y="4824"/>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刻画 rebound 差异</a:t>
              </a:r>
            </a:p>
          </p:txBody>
        </p:sp>
        <p:sp>
          <p:nvSpPr>
            <p:cNvPr id="47" name="Rectangle 46"/>
            <p:cNvSpPr/>
            <p:nvPr/>
          </p:nvSpPr>
          <p:spPr>
            <a:xfrm>
              <a:off x="979" y="5328"/>
              <a:ext cx="338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66" y="5429"/>
              <a:ext cx="3211"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confidence</a:t>
              </a:r>
            </a:p>
          </p:txBody>
        </p:sp>
        <p:sp>
          <p:nvSpPr>
            <p:cNvPr id="49" name="Rectangle 48"/>
            <p:cNvSpPr/>
            <p:nvPr/>
          </p:nvSpPr>
          <p:spPr>
            <a:xfrm>
              <a:off x="4363" y="5328"/>
              <a:ext cx="6408"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50" y="5429"/>
              <a:ext cx="6235"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LLM 对判断的自评置信度</a:t>
              </a:r>
            </a:p>
          </p:txBody>
        </p:sp>
        <p:sp>
          <p:nvSpPr>
            <p:cNvPr id="51" name="Rectangle 50"/>
            <p:cNvSpPr/>
            <p:nvPr/>
          </p:nvSpPr>
          <p:spPr>
            <a:xfrm>
              <a:off x="10771" y="5328"/>
              <a:ext cx="619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858" y="5429"/>
              <a:ext cx="6019"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质量检查信号</a:t>
              </a:r>
            </a:p>
          </p:txBody>
        </p:sp>
      </p:grpSp>
      <p:grpSp>
        <p:nvGrpSpPr>
          <p:cNvPr id="8" name="组合 7"/>
          <p:cNvGrpSpPr/>
          <p:nvPr/>
        </p:nvGrpSpPr>
        <p:grpSpPr>
          <a:xfrm>
            <a:off x="1317625" y="4792345"/>
            <a:ext cx="9418320" cy="1535430"/>
            <a:chOff x="1181" y="6984"/>
            <a:chExt cx="14832" cy="2418"/>
          </a:xfrm>
        </p:grpSpPr>
        <p:sp>
          <p:nvSpPr>
            <p:cNvPr id="53" name="Rectangle 52"/>
            <p:cNvSpPr/>
            <p:nvPr/>
          </p:nvSpPr>
          <p:spPr>
            <a:xfrm>
              <a:off x="1181" y="6984"/>
              <a:ext cx="7416" cy="605"/>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238" y="7099"/>
              <a:ext cx="7301"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LLM 输入</a:t>
              </a:r>
            </a:p>
          </p:txBody>
        </p:sp>
        <p:sp>
          <p:nvSpPr>
            <p:cNvPr id="55" name="Rectangle 54"/>
            <p:cNvSpPr/>
            <p:nvPr/>
          </p:nvSpPr>
          <p:spPr>
            <a:xfrm>
              <a:off x="8597" y="6984"/>
              <a:ext cx="7416" cy="605"/>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654" y="7099"/>
              <a:ext cx="7301" cy="403"/>
            </a:xfrm>
            <a:prstGeom prst="rect">
              <a:avLst/>
            </a:prstGeom>
            <a:noFill/>
          </p:spPr>
          <p:txBody>
            <a:bodyPr wrap="square" lIns="27432" tIns="9144" rIns="27432" bIns="9144" anchor="ctr">
              <a:spAutoFit/>
            </a:bodyPr>
            <a:lstStyle/>
            <a:p>
              <a:pPr algn="ctr">
                <a:defRPr sz="1200" b="1">
                  <a:solidFill>
                    <a:srgbClr val="FFFFFF"/>
                  </a:solidFill>
                  <a:latin typeface="Noto Sans SC" panose="020B0200000000000000" charset="-122"/>
                </a:defRPr>
              </a:pPr>
              <a:r>
                <a:rPr sz="1200" b="1">
                  <a:solidFill>
                    <a:srgbClr val="FFFFFF"/>
                  </a:solidFill>
                  <a:latin typeface="Noto Sans SC" panose="020B0200000000000000" charset="-122"/>
                </a:rPr>
                <a:t>明确排除</a:t>
              </a:r>
            </a:p>
          </p:txBody>
        </p:sp>
        <p:sp>
          <p:nvSpPr>
            <p:cNvPr id="57" name="Rectangle 56"/>
            <p:cNvSpPr/>
            <p:nvPr/>
          </p:nvSpPr>
          <p:spPr>
            <a:xfrm>
              <a:off x="1181" y="7589"/>
              <a:ext cx="741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267" y="7690"/>
              <a:ext cx="7243"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cohort-level household profile</a:t>
              </a:r>
            </a:p>
          </p:txBody>
        </p:sp>
        <p:sp>
          <p:nvSpPr>
            <p:cNvPr id="59" name="Rectangle 58"/>
            <p:cNvSpPr/>
            <p:nvPr/>
          </p:nvSpPr>
          <p:spPr>
            <a:xfrm>
              <a:off x="8597" y="7589"/>
              <a:ext cx="741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83" y="7690"/>
              <a:ext cx="7243"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CNTTDHH / trip count label</a:t>
              </a:r>
            </a:p>
          </p:txBody>
        </p:sp>
        <p:sp>
          <p:nvSpPr>
            <p:cNvPr id="61" name="Rectangle 60"/>
            <p:cNvSpPr/>
            <p:nvPr/>
          </p:nvSpPr>
          <p:spPr>
            <a:xfrm>
              <a:off x="1181" y="8194"/>
              <a:ext cx="741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267" y="8294"/>
              <a:ext cx="7243"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urban context, vehicles, workers</a:t>
              </a:r>
            </a:p>
          </p:txBody>
        </p:sp>
        <p:sp>
          <p:nvSpPr>
            <p:cNvPr id="63" name="Rectangle 62"/>
            <p:cNvSpPr/>
            <p:nvPr/>
          </p:nvSpPr>
          <p:spPr>
            <a:xfrm>
              <a:off x="8597" y="8194"/>
              <a:ext cx="741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683" y="8294"/>
              <a:ext cx="7243"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sample weights / household IDs</a:t>
              </a:r>
            </a:p>
          </p:txBody>
        </p:sp>
        <p:sp>
          <p:nvSpPr>
            <p:cNvPr id="65" name="Rectangle 64"/>
            <p:cNvSpPr/>
            <p:nvPr/>
          </p:nvSpPr>
          <p:spPr>
            <a:xfrm>
              <a:off x="1181" y="8798"/>
              <a:ext cx="741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267" y="8899"/>
              <a:ext cx="7243" cy="403"/>
            </a:xfrm>
            <a:prstGeom prst="rect">
              <a:avLst/>
            </a:prstGeom>
            <a:noFill/>
          </p:spPr>
          <p:txBody>
            <a:bodyPr wrap="square" lIns="27432" tIns="9144" rIns="27432" bIns="9144" anchor="t">
              <a:spAutoFit/>
            </a:bodyPr>
            <a:lstStyle/>
            <a:p>
              <a:pPr algn="l">
                <a:defRPr sz="1200" b="1">
                  <a:solidFill>
                    <a:srgbClr val="1F2937"/>
                  </a:solidFill>
                  <a:latin typeface="Noto Sans SC" panose="020B0200000000000000" charset="-122"/>
                </a:defRPr>
              </a:pPr>
              <a:r>
                <a:rPr sz="1200" b="1">
                  <a:solidFill>
                    <a:srgbClr val="1F2937"/>
                  </a:solidFill>
                  <a:latin typeface="Noto Sans SC" panose="020B0200000000000000" charset="-122"/>
                </a:rPr>
                <a:t>generic 2022 pandemic context</a:t>
              </a:r>
            </a:p>
          </p:txBody>
        </p:sp>
        <p:sp>
          <p:nvSpPr>
            <p:cNvPr id="67" name="Rectangle 66"/>
            <p:cNvSpPr/>
            <p:nvPr/>
          </p:nvSpPr>
          <p:spPr>
            <a:xfrm>
              <a:off x="8597" y="8798"/>
              <a:ext cx="741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683" y="8899"/>
              <a:ext cx="7243" cy="403"/>
            </a:xfrm>
            <a:prstGeom prst="rect">
              <a:avLst/>
            </a:prstGeom>
            <a:noFill/>
          </p:spPr>
          <p:txBody>
            <a:bodyPr wrap="square" lIns="27432" tIns="9144" rIns="27432" bIns="9144" anchor="t">
              <a:spAutoFit/>
            </a:bodyPr>
            <a:lstStyle/>
            <a:p>
              <a:pPr algn="l">
                <a:defRPr sz="1200" b="0">
                  <a:solidFill>
                    <a:srgbClr val="1F2937"/>
                  </a:solidFill>
                  <a:latin typeface="Noto Sans SC" panose="020B0200000000000000" charset="-122"/>
                </a:defRPr>
              </a:pPr>
              <a:r>
                <a:rPr sz="1200" b="0">
                  <a:solidFill>
                    <a:srgbClr val="1F2937"/>
                  </a:solidFill>
                  <a:latin typeface="Noto Sans SC" panose="020B0200000000000000" charset="-122"/>
                </a:rPr>
                <a:t>aggregate 2022 outcomes</a:t>
              </a:r>
            </a:p>
          </p:txBody>
        </p:sp>
      </p:gr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文本框 69"/>
          <p:cNvSpPr txBox="1"/>
          <p:nvPr/>
        </p:nvSpPr>
        <p:spPr>
          <a:xfrm>
            <a:off x="7287895" y="554990"/>
            <a:ext cx="3890010" cy="11303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defRPr sz="1750" b="1">
                <a:solidFill>
                  <a:srgbClr val="1F2937"/>
                </a:solidFill>
                <a:latin typeface="Noto Sans SC" panose="020B0200000000000000" charset="-122"/>
              </a:defRPr>
            </a:pPr>
            <a:r>
              <a:rPr sz="2400" dirty="0">
                <a:sym typeface="+mn-ea"/>
              </a:rPr>
              <a:t>LLM </a:t>
            </a:r>
            <a:r>
              <a:rPr sz="2400" dirty="0" err="1">
                <a:sym typeface="+mn-ea"/>
              </a:rPr>
              <a:t>事件先验</a:t>
            </a:r>
            <a:endParaRPr lang="zh-CN" altLang="en-US" sz="2400" dirty="0">
              <a:sym typeface="Noto Sans SC" panose="020B0200000000000000" charset="-122"/>
            </a:endParaRPr>
          </a:p>
        </p:txBody>
      </p:sp>
      <p:sp>
        <p:nvSpPr>
          <p:cNvPr id="3" name="AutoShape 2"/>
          <p:cNvSpPr/>
          <p:nvPr/>
        </p:nvSpPr>
        <p:spPr>
          <a:xfrm>
            <a:off x="762000" y="874395"/>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9FBD0C-1B0E-884A-3BDA-1776983DD5C0}"/>
            </a:ext>
          </a:extLst>
        </p:cNvPr>
        <p:cNvGrpSpPr/>
        <p:nvPr/>
      </p:nvGrpSpPr>
      <p:grpSpPr>
        <a:xfrm>
          <a:off x="0" y="0"/>
          <a:ext cx="0" cy="0"/>
          <a:chOff x="0" y="0"/>
          <a:chExt cx="0" cy="0"/>
        </a:xfrm>
      </p:grpSpPr>
      <p:sp>
        <p:nvSpPr>
          <p:cNvPr id="163" name="AutoShape 2">
            <a:extLst>
              <a:ext uri="{FF2B5EF4-FFF2-40B4-BE49-F238E27FC236}">
                <a16:creationId xmlns:a16="http://schemas.microsoft.com/office/drawing/2014/main" id="{E2ED8795-EF47-1EE9-14C9-702FF4979B99}"/>
              </a:ext>
            </a:extLst>
          </p:cNvPr>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algn="r">
              <a:lnSpc>
                <a:spcPct val="125000"/>
              </a:lnSpc>
              <a:defRPr/>
            </a:pPr>
            <a:r>
              <a:rPr lang="en" altLang="zh-CN" sz="2400" dirty="0">
                <a:sym typeface="+mn-ea"/>
              </a:rPr>
              <a:t>LLM</a:t>
            </a:r>
            <a:r>
              <a:rPr lang="zh-CN" altLang="en-US" sz="2400" dirty="0">
                <a:sym typeface="+mn-ea"/>
              </a:rPr>
              <a:t> </a:t>
            </a:r>
            <a:r>
              <a:rPr lang="zh-CN" altLang="en-US" sz="2400" b="1" dirty="0">
                <a:solidFill>
                  <a:srgbClr val="333333"/>
                </a:solidFill>
                <a:latin typeface="Noto Sans SC" panose="020B0200000000000000" charset="-122"/>
                <a:ea typeface="Noto Sans SC" panose="020B0200000000000000" charset="-122"/>
                <a:cs typeface="Noto Sans SC" panose="020B0200000000000000" charset="-122"/>
              </a:rPr>
              <a:t>使用方法</a:t>
            </a:r>
          </a:p>
        </p:txBody>
      </p:sp>
      <p:sp>
        <p:nvSpPr>
          <p:cNvPr id="74" name="AutoShape 3">
            <a:extLst>
              <a:ext uri="{FF2B5EF4-FFF2-40B4-BE49-F238E27FC236}">
                <a16:creationId xmlns:a16="http://schemas.microsoft.com/office/drawing/2014/main" id="{8CAEF640-5A28-2CCB-DD83-911D690112F8}"/>
              </a:ext>
            </a:extLst>
          </p:cNvPr>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8" name="AutoShape 2">
            <a:extLst>
              <a:ext uri="{FF2B5EF4-FFF2-40B4-BE49-F238E27FC236}">
                <a16:creationId xmlns:a16="http://schemas.microsoft.com/office/drawing/2014/main" id="{F399F586-CDD7-3E1B-74FC-06B5B2278EBB}"/>
              </a:ext>
            </a:extLst>
          </p:cNvPr>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
        <p:nvSpPr>
          <p:cNvPr id="2" name="Rounded Rectangle 10">
            <a:extLst>
              <a:ext uri="{FF2B5EF4-FFF2-40B4-BE49-F238E27FC236}">
                <a16:creationId xmlns:a16="http://schemas.microsoft.com/office/drawing/2014/main" id="{5D3C7C43-62BB-E341-199B-4E8BC58364BA}"/>
              </a:ext>
            </a:extLst>
          </p:cNvPr>
          <p:cNvSpPr/>
          <p:nvPr/>
        </p:nvSpPr>
        <p:spPr>
          <a:xfrm>
            <a:off x="530352" y="1724787"/>
            <a:ext cx="1993392" cy="987552"/>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11">
            <a:extLst>
              <a:ext uri="{FF2B5EF4-FFF2-40B4-BE49-F238E27FC236}">
                <a16:creationId xmlns:a16="http://schemas.microsoft.com/office/drawing/2014/main" id="{FADD1397-5F89-5429-F526-20749C208F0B}"/>
              </a:ext>
            </a:extLst>
          </p:cNvPr>
          <p:cNvSpPr/>
          <p:nvPr/>
        </p:nvSpPr>
        <p:spPr>
          <a:xfrm>
            <a:off x="530352" y="1724787"/>
            <a:ext cx="1993392" cy="50292"/>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2">
            <a:extLst>
              <a:ext uri="{FF2B5EF4-FFF2-40B4-BE49-F238E27FC236}">
                <a16:creationId xmlns:a16="http://schemas.microsoft.com/office/drawing/2014/main" id="{2924B8E3-D525-1A8D-E8B4-2DF303B5A7C0}"/>
              </a:ext>
            </a:extLst>
          </p:cNvPr>
          <p:cNvSpPr txBox="1"/>
          <p:nvPr/>
        </p:nvSpPr>
        <p:spPr>
          <a:xfrm>
            <a:off x="640080" y="1907667"/>
            <a:ext cx="1773936" cy="219456"/>
          </a:xfrm>
          <a:prstGeom prst="rect">
            <a:avLst/>
          </a:prstGeom>
          <a:noFill/>
        </p:spPr>
        <p:txBody>
          <a:bodyPr wrap="square" lIns="27432" tIns="9144" rIns="27432" bIns="9144" anchor="ctr">
            <a:spAutoFit/>
          </a:bodyPr>
          <a:lstStyle/>
          <a:p>
            <a:pPr algn="ctr">
              <a:defRPr sz="1150" b="1">
                <a:solidFill>
                  <a:srgbClr val="BE123C"/>
                </a:solidFill>
                <a:latin typeface="Microsoft YaHei"/>
              </a:defRPr>
            </a:pPr>
            <a:r>
              <a:rPr sz="1150" b="1">
                <a:solidFill>
                  <a:srgbClr val="BE123C"/>
                </a:solidFill>
                <a:latin typeface="Microsoft YaHei"/>
              </a:rPr>
              <a:t>Direct LLM</a:t>
            </a:r>
          </a:p>
        </p:txBody>
      </p:sp>
      <p:sp>
        <p:nvSpPr>
          <p:cNvPr id="5" name="TextBox 13">
            <a:extLst>
              <a:ext uri="{FF2B5EF4-FFF2-40B4-BE49-F238E27FC236}">
                <a16:creationId xmlns:a16="http://schemas.microsoft.com/office/drawing/2014/main" id="{2F9784A6-0D8B-87C1-1401-F2FC388DBB62}"/>
              </a:ext>
            </a:extLst>
          </p:cNvPr>
          <p:cNvSpPr txBox="1"/>
          <p:nvPr/>
        </p:nvSpPr>
        <p:spPr>
          <a:xfrm>
            <a:off x="658368" y="2191131"/>
            <a:ext cx="1737360" cy="347472"/>
          </a:xfrm>
          <a:prstGeom prst="rect">
            <a:avLst/>
          </a:prstGeom>
          <a:noFill/>
        </p:spPr>
        <p:txBody>
          <a:bodyPr wrap="square" lIns="27432" tIns="9144" rIns="27432" bIns="9144" anchor="ctr">
            <a:spAutoFit/>
          </a:bodyPr>
          <a:lstStyle/>
          <a:p>
            <a:pPr algn="ctr">
              <a:defRPr sz="1000" b="0">
                <a:solidFill>
                  <a:srgbClr val="64748B"/>
                </a:solidFill>
                <a:latin typeface="Microsoft YaHei"/>
              </a:defRPr>
            </a:pPr>
            <a:r>
              <a:rPr sz="1000" b="0">
                <a:solidFill>
                  <a:srgbClr val="64748B"/>
                </a:solidFill>
                <a:latin typeface="Microsoft YaHei"/>
              </a:rPr>
              <a:t>逐户预测成本高；校准弱</a:t>
            </a:r>
          </a:p>
        </p:txBody>
      </p:sp>
      <p:sp>
        <p:nvSpPr>
          <p:cNvPr id="6" name="Right Arrow 14">
            <a:extLst>
              <a:ext uri="{FF2B5EF4-FFF2-40B4-BE49-F238E27FC236}">
                <a16:creationId xmlns:a16="http://schemas.microsoft.com/office/drawing/2014/main" id="{28F38D63-0475-6E93-AA51-E27A742CDB31}"/>
              </a:ext>
            </a:extLst>
          </p:cNvPr>
          <p:cNvSpPr/>
          <p:nvPr/>
        </p:nvSpPr>
        <p:spPr>
          <a:xfrm>
            <a:off x="2560320" y="2163699"/>
            <a:ext cx="219456"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15">
            <a:extLst>
              <a:ext uri="{FF2B5EF4-FFF2-40B4-BE49-F238E27FC236}">
                <a16:creationId xmlns:a16="http://schemas.microsoft.com/office/drawing/2014/main" id="{478716EF-EC91-6C5B-0B94-8FAFEC49CEC1}"/>
              </a:ext>
            </a:extLst>
          </p:cNvPr>
          <p:cNvSpPr/>
          <p:nvPr/>
        </p:nvSpPr>
        <p:spPr>
          <a:xfrm>
            <a:off x="2816352" y="1724787"/>
            <a:ext cx="1993392" cy="987552"/>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16">
            <a:extLst>
              <a:ext uri="{FF2B5EF4-FFF2-40B4-BE49-F238E27FC236}">
                <a16:creationId xmlns:a16="http://schemas.microsoft.com/office/drawing/2014/main" id="{590509F2-0090-8C03-0A55-78217D2C0B52}"/>
              </a:ext>
            </a:extLst>
          </p:cNvPr>
          <p:cNvSpPr/>
          <p:nvPr/>
        </p:nvSpPr>
        <p:spPr>
          <a:xfrm>
            <a:off x="2816352" y="1724787"/>
            <a:ext cx="1993392" cy="5029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7">
            <a:extLst>
              <a:ext uri="{FF2B5EF4-FFF2-40B4-BE49-F238E27FC236}">
                <a16:creationId xmlns:a16="http://schemas.microsoft.com/office/drawing/2014/main" id="{8EAC1D0C-7E5D-D3CD-2EB1-BC126A13654F}"/>
              </a:ext>
            </a:extLst>
          </p:cNvPr>
          <p:cNvSpPr txBox="1"/>
          <p:nvPr/>
        </p:nvSpPr>
        <p:spPr>
          <a:xfrm>
            <a:off x="2926080" y="1907667"/>
            <a:ext cx="1773936" cy="219456"/>
          </a:xfrm>
          <a:prstGeom prst="rect">
            <a:avLst/>
          </a:prstGeom>
          <a:noFill/>
        </p:spPr>
        <p:txBody>
          <a:bodyPr wrap="square" lIns="27432" tIns="9144" rIns="27432" bIns="9144" anchor="ctr">
            <a:spAutoFit/>
          </a:bodyPr>
          <a:lstStyle/>
          <a:p>
            <a:pPr algn="ctr">
              <a:defRPr sz="1150" b="1">
                <a:solidFill>
                  <a:srgbClr val="00796B"/>
                </a:solidFill>
                <a:latin typeface="Microsoft YaHei"/>
              </a:defRPr>
            </a:pPr>
            <a:r>
              <a:rPr sz="1150" b="1">
                <a:solidFill>
                  <a:srgbClr val="00796B"/>
                </a:solidFill>
                <a:latin typeface="Microsoft YaHei"/>
              </a:rPr>
              <a:t>Cohort batch</a:t>
            </a:r>
          </a:p>
        </p:txBody>
      </p:sp>
      <p:sp>
        <p:nvSpPr>
          <p:cNvPr id="10" name="TextBox 18">
            <a:extLst>
              <a:ext uri="{FF2B5EF4-FFF2-40B4-BE49-F238E27FC236}">
                <a16:creationId xmlns:a16="http://schemas.microsoft.com/office/drawing/2014/main" id="{C6D1C535-9479-2D38-B5FD-47D2011548CC}"/>
              </a:ext>
            </a:extLst>
          </p:cNvPr>
          <p:cNvSpPr txBox="1"/>
          <p:nvPr/>
        </p:nvSpPr>
        <p:spPr>
          <a:xfrm>
            <a:off x="2944368" y="2191131"/>
            <a:ext cx="1737360" cy="347472"/>
          </a:xfrm>
          <a:prstGeom prst="rect">
            <a:avLst/>
          </a:prstGeom>
          <a:noFill/>
        </p:spPr>
        <p:txBody>
          <a:bodyPr wrap="square" lIns="27432" tIns="9144" rIns="27432" bIns="9144" anchor="ctr">
            <a:spAutoFit/>
          </a:bodyPr>
          <a:lstStyle/>
          <a:p>
            <a:pPr algn="ctr">
              <a:defRPr sz="1000" b="0">
                <a:solidFill>
                  <a:srgbClr val="64748B"/>
                </a:solidFill>
                <a:latin typeface="Microsoft YaHei"/>
              </a:defRPr>
            </a:pPr>
            <a:r>
              <a:rPr sz="1000" b="0">
                <a:solidFill>
                  <a:srgbClr val="64748B"/>
                </a:solidFill>
                <a:latin typeface="Microsoft YaHei"/>
              </a:rPr>
              <a:t>1,327 cohorts -&gt; 89 prompts</a:t>
            </a:r>
          </a:p>
        </p:txBody>
      </p:sp>
      <p:sp>
        <p:nvSpPr>
          <p:cNvPr id="44" name="Right Arrow 19">
            <a:extLst>
              <a:ext uri="{FF2B5EF4-FFF2-40B4-BE49-F238E27FC236}">
                <a16:creationId xmlns:a16="http://schemas.microsoft.com/office/drawing/2014/main" id="{7514462B-6F11-FD6C-7B5B-5B32F61B2DCA}"/>
              </a:ext>
            </a:extLst>
          </p:cNvPr>
          <p:cNvSpPr/>
          <p:nvPr/>
        </p:nvSpPr>
        <p:spPr>
          <a:xfrm>
            <a:off x="4846320" y="2163699"/>
            <a:ext cx="219456"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0">
            <a:extLst>
              <a:ext uri="{FF2B5EF4-FFF2-40B4-BE49-F238E27FC236}">
                <a16:creationId xmlns:a16="http://schemas.microsoft.com/office/drawing/2014/main" id="{A3C323C6-A66D-95F7-FE18-BA0AAD86AB82}"/>
              </a:ext>
            </a:extLst>
          </p:cNvPr>
          <p:cNvSpPr/>
          <p:nvPr/>
        </p:nvSpPr>
        <p:spPr>
          <a:xfrm>
            <a:off x="5102352" y="1724787"/>
            <a:ext cx="1993392" cy="987552"/>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21">
            <a:extLst>
              <a:ext uri="{FF2B5EF4-FFF2-40B4-BE49-F238E27FC236}">
                <a16:creationId xmlns:a16="http://schemas.microsoft.com/office/drawing/2014/main" id="{5915C5F9-B17C-DEED-0139-9B380A43E820}"/>
              </a:ext>
            </a:extLst>
          </p:cNvPr>
          <p:cNvSpPr/>
          <p:nvPr/>
        </p:nvSpPr>
        <p:spPr>
          <a:xfrm>
            <a:off x="5102352" y="1724787"/>
            <a:ext cx="1993392" cy="5029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22">
            <a:extLst>
              <a:ext uri="{FF2B5EF4-FFF2-40B4-BE49-F238E27FC236}">
                <a16:creationId xmlns:a16="http://schemas.microsoft.com/office/drawing/2014/main" id="{7585BB55-3F77-1A61-8332-319BC39988D2}"/>
              </a:ext>
            </a:extLst>
          </p:cNvPr>
          <p:cNvSpPr txBox="1"/>
          <p:nvPr/>
        </p:nvSpPr>
        <p:spPr>
          <a:xfrm>
            <a:off x="5212080" y="1907667"/>
            <a:ext cx="1773936" cy="219456"/>
          </a:xfrm>
          <a:prstGeom prst="rect">
            <a:avLst/>
          </a:prstGeom>
          <a:noFill/>
        </p:spPr>
        <p:txBody>
          <a:bodyPr wrap="square" lIns="27432" tIns="9144" rIns="27432" bIns="9144" anchor="ctr">
            <a:spAutoFit/>
          </a:bodyPr>
          <a:lstStyle/>
          <a:p>
            <a:pPr algn="ctr">
              <a:defRPr sz="1150" b="1">
                <a:solidFill>
                  <a:srgbClr val="EA580C"/>
                </a:solidFill>
                <a:latin typeface="Microsoft YaHei"/>
              </a:defRPr>
            </a:pPr>
            <a:r>
              <a:rPr sz="1150" b="1">
                <a:solidFill>
                  <a:srgbClr val="EA580C"/>
                </a:solidFill>
                <a:latin typeface="Microsoft YaHei"/>
              </a:rPr>
              <a:t>Structured priors</a:t>
            </a:r>
          </a:p>
        </p:txBody>
      </p:sp>
      <p:sp>
        <p:nvSpPr>
          <p:cNvPr id="50" name="TextBox 23">
            <a:extLst>
              <a:ext uri="{FF2B5EF4-FFF2-40B4-BE49-F238E27FC236}">
                <a16:creationId xmlns:a16="http://schemas.microsoft.com/office/drawing/2014/main" id="{507550C0-1A6A-E58D-2DA8-16FD31880C50}"/>
              </a:ext>
            </a:extLst>
          </p:cNvPr>
          <p:cNvSpPr txBox="1"/>
          <p:nvPr/>
        </p:nvSpPr>
        <p:spPr>
          <a:xfrm>
            <a:off x="5230368" y="2191131"/>
            <a:ext cx="1737360" cy="347472"/>
          </a:xfrm>
          <a:prstGeom prst="rect">
            <a:avLst/>
          </a:prstGeom>
          <a:noFill/>
        </p:spPr>
        <p:txBody>
          <a:bodyPr wrap="square" lIns="27432" tIns="9144" rIns="27432" bIns="9144" anchor="ctr">
            <a:spAutoFit/>
          </a:bodyPr>
          <a:lstStyle/>
          <a:p>
            <a:pPr algn="ctr">
              <a:defRPr sz="1000" b="0">
                <a:solidFill>
                  <a:srgbClr val="64748B"/>
                </a:solidFill>
                <a:latin typeface="Microsoft YaHei"/>
              </a:defRPr>
            </a:pPr>
            <a:r>
              <a:rPr sz="1000" b="0">
                <a:solidFill>
                  <a:srgbClr val="64748B"/>
                </a:solidFill>
                <a:latin typeface="Microsoft YaHei"/>
              </a:rPr>
              <a:t>JSON schema -&gt; event variables</a:t>
            </a:r>
          </a:p>
        </p:txBody>
      </p:sp>
      <p:sp>
        <p:nvSpPr>
          <p:cNvPr id="51" name="Right Arrow 24">
            <a:extLst>
              <a:ext uri="{FF2B5EF4-FFF2-40B4-BE49-F238E27FC236}">
                <a16:creationId xmlns:a16="http://schemas.microsoft.com/office/drawing/2014/main" id="{C343E7FC-7407-AEA2-E818-D0D2EAD966BA}"/>
              </a:ext>
            </a:extLst>
          </p:cNvPr>
          <p:cNvSpPr/>
          <p:nvPr/>
        </p:nvSpPr>
        <p:spPr>
          <a:xfrm>
            <a:off x="7132320" y="2163699"/>
            <a:ext cx="219456"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25">
            <a:extLst>
              <a:ext uri="{FF2B5EF4-FFF2-40B4-BE49-F238E27FC236}">
                <a16:creationId xmlns:a16="http://schemas.microsoft.com/office/drawing/2014/main" id="{2F11088F-32B1-46AA-A14A-7F01F9EE58FA}"/>
              </a:ext>
            </a:extLst>
          </p:cNvPr>
          <p:cNvSpPr/>
          <p:nvPr/>
        </p:nvSpPr>
        <p:spPr>
          <a:xfrm>
            <a:off x="7388352" y="1724787"/>
            <a:ext cx="1993392" cy="987552"/>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26">
            <a:extLst>
              <a:ext uri="{FF2B5EF4-FFF2-40B4-BE49-F238E27FC236}">
                <a16:creationId xmlns:a16="http://schemas.microsoft.com/office/drawing/2014/main" id="{A39E5252-33B9-3C22-5C97-792A1401A9A4}"/>
              </a:ext>
            </a:extLst>
          </p:cNvPr>
          <p:cNvSpPr/>
          <p:nvPr/>
        </p:nvSpPr>
        <p:spPr>
          <a:xfrm>
            <a:off x="7388352" y="1724787"/>
            <a:ext cx="1993392" cy="5029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27">
            <a:extLst>
              <a:ext uri="{FF2B5EF4-FFF2-40B4-BE49-F238E27FC236}">
                <a16:creationId xmlns:a16="http://schemas.microsoft.com/office/drawing/2014/main" id="{6747A2BA-60FF-90BF-539A-9180C583E1CF}"/>
              </a:ext>
            </a:extLst>
          </p:cNvPr>
          <p:cNvSpPr txBox="1"/>
          <p:nvPr/>
        </p:nvSpPr>
        <p:spPr>
          <a:xfrm>
            <a:off x="7498079" y="1907667"/>
            <a:ext cx="1773936" cy="219456"/>
          </a:xfrm>
          <a:prstGeom prst="rect">
            <a:avLst/>
          </a:prstGeom>
          <a:noFill/>
        </p:spPr>
        <p:txBody>
          <a:bodyPr wrap="square" lIns="27432" tIns="9144" rIns="27432" bIns="9144" anchor="ctr">
            <a:spAutoFit/>
          </a:bodyPr>
          <a:lstStyle/>
          <a:p>
            <a:pPr algn="ctr">
              <a:defRPr sz="1150" b="1">
                <a:solidFill>
                  <a:srgbClr val="198754"/>
                </a:solidFill>
                <a:latin typeface="Microsoft YaHei"/>
              </a:defRPr>
            </a:pPr>
            <a:r>
              <a:rPr sz="1150" b="1">
                <a:solidFill>
                  <a:srgbClr val="198754"/>
                </a:solidFill>
                <a:latin typeface="Microsoft YaHei"/>
              </a:rPr>
              <a:t>Rule adapter</a:t>
            </a:r>
          </a:p>
        </p:txBody>
      </p:sp>
      <p:sp>
        <p:nvSpPr>
          <p:cNvPr id="55" name="TextBox 28">
            <a:extLst>
              <a:ext uri="{FF2B5EF4-FFF2-40B4-BE49-F238E27FC236}">
                <a16:creationId xmlns:a16="http://schemas.microsoft.com/office/drawing/2014/main" id="{6E4A6FFE-0566-FF61-100B-A61156238F0B}"/>
              </a:ext>
            </a:extLst>
          </p:cNvPr>
          <p:cNvSpPr txBox="1"/>
          <p:nvPr/>
        </p:nvSpPr>
        <p:spPr>
          <a:xfrm>
            <a:off x="7516368" y="2191131"/>
            <a:ext cx="1737360" cy="347472"/>
          </a:xfrm>
          <a:prstGeom prst="rect">
            <a:avLst/>
          </a:prstGeom>
          <a:noFill/>
        </p:spPr>
        <p:txBody>
          <a:bodyPr wrap="square" lIns="27432" tIns="9144" rIns="27432" bIns="9144" anchor="ctr">
            <a:spAutoFit/>
          </a:bodyPr>
          <a:lstStyle/>
          <a:p>
            <a:pPr algn="ctr">
              <a:defRPr sz="1000" b="0">
                <a:solidFill>
                  <a:srgbClr val="64748B"/>
                </a:solidFill>
                <a:latin typeface="Microsoft YaHei"/>
              </a:defRPr>
            </a:pPr>
            <a:r>
              <a:rPr sz="1000" b="0">
                <a:solidFill>
                  <a:srgbClr val="64748B"/>
                </a:solidFill>
                <a:latin typeface="Microsoft YaHei"/>
              </a:rPr>
              <a:t>fixed no-label correction</a:t>
            </a:r>
          </a:p>
        </p:txBody>
      </p:sp>
      <p:sp>
        <p:nvSpPr>
          <p:cNvPr id="56" name="Right Arrow 29">
            <a:extLst>
              <a:ext uri="{FF2B5EF4-FFF2-40B4-BE49-F238E27FC236}">
                <a16:creationId xmlns:a16="http://schemas.microsoft.com/office/drawing/2014/main" id="{FA231A21-8540-558A-E51A-5F1CCAD04A88}"/>
              </a:ext>
            </a:extLst>
          </p:cNvPr>
          <p:cNvSpPr/>
          <p:nvPr/>
        </p:nvSpPr>
        <p:spPr>
          <a:xfrm>
            <a:off x="9418320" y="2163699"/>
            <a:ext cx="219456" cy="12801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30">
            <a:extLst>
              <a:ext uri="{FF2B5EF4-FFF2-40B4-BE49-F238E27FC236}">
                <a16:creationId xmlns:a16="http://schemas.microsoft.com/office/drawing/2014/main" id="{05B3EB7F-47BD-FA4E-4D79-E0C90B92D34A}"/>
              </a:ext>
            </a:extLst>
          </p:cNvPr>
          <p:cNvSpPr/>
          <p:nvPr/>
        </p:nvSpPr>
        <p:spPr>
          <a:xfrm>
            <a:off x="9674352" y="1724787"/>
            <a:ext cx="1993392" cy="987552"/>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31">
            <a:extLst>
              <a:ext uri="{FF2B5EF4-FFF2-40B4-BE49-F238E27FC236}">
                <a16:creationId xmlns:a16="http://schemas.microsoft.com/office/drawing/2014/main" id="{4B9CCB17-954B-0039-FDDF-A8CB69BD115E}"/>
              </a:ext>
            </a:extLst>
          </p:cNvPr>
          <p:cNvSpPr/>
          <p:nvPr/>
        </p:nvSpPr>
        <p:spPr>
          <a:xfrm>
            <a:off x="9674352" y="1724787"/>
            <a:ext cx="1993392" cy="50292"/>
          </a:xfrm>
          <a:prstGeom prst="rect">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32">
            <a:extLst>
              <a:ext uri="{FF2B5EF4-FFF2-40B4-BE49-F238E27FC236}">
                <a16:creationId xmlns:a16="http://schemas.microsoft.com/office/drawing/2014/main" id="{AAC5DD96-1D8E-564E-C3EF-8FA7A6A0293C}"/>
              </a:ext>
            </a:extLst>
          </p:cNvPr>
          <p:cNvSpPr txBox="1"/>
          <p:nvPr/>
        </p:nvSpPr>
        <p:spPr>
          <a:xfrm>
            <a:off x="9784080" y="1907667"/>
            <a:ext cx="1773936" cy="219456"/>
          </a:xfrm>
          <a:prstGeom prst="rect">
            <a:avLst/>
          </a:prstGeom>
          <a:noFill/>
        </p:spPr>
        <p:txBody>
          <a:bodyPr wrap="square" lIns="27432" tIns="9144" rIns="27432" bIns="9144" anchor="ctr">
            <a:spAutoFit/>
          </a:bodyPr>
          <a:lstStyle/>
          <a:p>
            <a:pPr algn="ctr">
              <a:defRPr sz="1150" b="1">
                <a:solidFill>
                  <a:srgbClr val="5B21B6"/>
                </a:solidFill>
                <a:latin typeface="Microsoft YaHei"/>
              </a:defRPr>
            </a:pPr>
            <a:r>
              <a:rPr sz="1150" b="1">
                <a:solidFill>
                  <a:srgbClr val="5B21B6"/>
                </a:solidFill>
                <a:latin typeface="Microsoft YaHei"/>
              </a:rPr>
              <a:t>Confidence gate</a:t>
            </a:r>
          </a:p>
        </p:txBody>
      </p:sp>
      <p:sp>
        <p:nvSpPr>
          <p:cNvPr id="60" name="TextBox 33">
            <a:extLst>
              <a:ext uri="{FF2B5EF4-FFF2-40B4-BE49-F238E27FC236}">
                <a16:creationId xmlns:a16="http://schemas.microsoft.com/office/drawing/2014/main" id="{1EBB1CA3-D86B-1ECB-E657-5700AC221D9C}"/>
              </a:ext>
            </a:extLst>
          </p:cNvPr>
          <p:cNvSpPr txBox="1"/>
          <p:nvPr/>
        </p:nvSpPr>
        <p:spPr>
          <a:xfrm>
            <a:off x="9802368" y="2191131"/>
            <a:ext cx="1737360" cy="347472"/>
          </a:xfrm>
          <a:prstGeom prst="rect">
            <a:avLst/>
          </a:prstGeom>
          <a:noFill/>
        </p:spPr>
        <p:txBody>
          <a:bodyPr wrap="square" lIns="27432" tIns="9144" rIns="27432" bIns="9144" anchor="ctr">
            <a:spAutoFit/>
          </a:bodyPr>
          <a:lstStyle/>
          <a:p>
            <a:pPr algn="ctr">
              <a:defRPr sz="1000" b="0">
                <a:solidFill>
                  <a:srgbClr val="64748B"/>
                </a:solidFill>
                <a:latin typeface="Microsoft YaHei"/>
              </a:defRPr>
            </a:pPr>
            <a:r>
              <a:rPr sz="1000" b="0">
                <a:solidFill>
                  <a:srgbClr val="64748B"/>
                </a:solidFill>
                <a:latin typeface="Microsoft YaHei"/>
              </a:rPr>
              <a:t>global fallback; online LLM optional</a:t>
            </a:r>
          </a:p>
        </p:txBody>
      </p:sp>
      <p:sp>
        <p:nvSpPr>
          <p:cNvPr id="61" name="Rounded Rectangle 34">
            <a:extLst>
              <a:ext uri="{FF2B5EF4-FFF2-40B4-BE49-F238E27FC236}">
                <a16:creationId xmlns:a16="http://schemas.microsoft.com/office/drawing/2014/main" id="{398A653E-2857-0B4A-6A57-58B572EA7FAA}"/>
              </a:ext>
            </a:extLst>
          </p:cNvPr>
          <p:cNvSpPr/>
          <p:nvPr/>
        </p:nvSpPr>
        <p:spPr>
          <a:xfrm>
            <a:off x="868680" y="3036951"/>
            <a:ext cx="2148840" cy="7680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35">
            <a:extLst>
              <a:ext uri="{FF2B5EF4-FFF2-40B4-BE49-F238E27FC236}">
                <a16:creationId xmlns:a16="http://schemas.microsoft.com/office/drawing/2014/main" id="{1074BC78-0447-C6B2-97EC-34DB0B163336}"/>
              </a:ext>
            </a:extLst>
          </p:cNvPr>
          <p:cNvSpPr/>
          <p:nvPr/>
        </p:nvSpPr>
        <p:spPr>
          <a:xfrm>
            <a:off x="868680" y="3036951"/>
            <a:ext cx="50292" cy="7680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36">
            <a:extLst>
              <a:ext uri="{FF2B5EF4-FFF2-40B4-BE49-F238E27FC236}">
                <a16:creationId xmlns:a16="http://schemas.microsoft.com/office/drawing/2014/main" id="{3C435BB4-B159-9703-E2CD-40B3F775A1C0}"/>
              </a:ext>
            </a:extLst>
          </p:cNvPr>
          <p:cNvSpPr txBox="1"/>
          <p:nvPr/>
        </p:nvSpPr>
        <p:spPr>
          <a:xfrm>
            <a:off x="996695" y="3110103"/>
            <a:ext cx="1929384" cy="164592"/>
          </a:xfrm>
          <a:prstGeom prst="rect">
            <a:avLst/>
          </a:prstGeom>
          <a:noFill/>
        </p:spPr>
        <p:txBody>
          <a:bodyPr wrap="square" lIns="27432" tIns="9144" rIns="27432" bIns="9144" anchor="ctr">
            <a:spAutoFit/>
          </a:bodyPr>
          <a:lstStyle/>
          <a:p>
            <a:pPr algn="l">
              <a:defRPr sz="780" b="1">
                <a:solidFill>
                  <a:srgbClr val="64748B"/>
                </a:solidFill>
                <a:latin typeface="Microsoft YaHei"/>
              </a:defRPr>
            </a:pPr>
            <a:r>
              <a:rPr sz="780" b="1">
                <a:solidFill>
                  <a:srgbClr val="64748B"/>
                </a:solidFill>
                <a:latin typeface="Microsoft YaHei"/>
              </a:rPr>
              <a:t>Household requests</a:t>
            </a:r>
          </a:p>
        </p:txBody>
      </p:sp>
      <p:sp>
        <p:nvSpPr>
          <p:cNvPr id="64" name="TextBox 37">
            <a:extLst>
              <a:ext uri="{FF2B5EF4-FFF2-40B4-BE49-F238E27FC236}">
                <a16:creationId xmlns:a16="http://schemas.microsoft.com/office/drawing/2014/main" id="{9B7A3B3F-4AFF-B4E1-5793-F0E69EB9EA9F}"/>
              </a:ext>
            </a:extLst>
          </p:cNvPr>
          <p:cNvSpPr txBox="1"/>
          <p:nvPr/>
        </p:nvSpPr>
        <p:spPr>
          <a:xfrm>
            <a:off x="996695" y="3283839"/>
            <a:ext cx="1929384" cy="292608"/>
          </a:xfrm>
          <a:prstGeom prst="rect">
            <a:avLst/>
          </a:prstGeom>
          <a:noFill/>
        </p:spPr>
        <p:txBody>
          <a:bodyPr wrap="square" lIns="27432" tIns="9144" rIns="27432" bIns="9144" anchor="ctr">
            <a:spAutoFit/>
          </a:bodyPr>
          <a:lstStyle/>
          <a:p>
            <a:pPr algn="l">
              <a:defRPr sz="1600" b="1">
                <a:solidFill>
                  <a:srgbClr val="2563EB"/>
                </a:solidFill>
                <a:latin typeface="Microsoft YaHei"/>
              </a:defRPr>
            </a:pPr>
            <a:r>
              <a:rPr sz="1600" b="1">
                <a:solidFill>
                  <a:srgbClr val="2563EB"/>
                </a:solidFill>
                <a:latin typeface="Microsoft YaHei"/>
              </a:rPr>
              <a:t>-98.9%</a:t>
            </a:r>
          </a:p>
        </p:txBody>
      </p:sp>
      <p:sp>
        <p:nvSpPr>
          <p:cNvPr id="65" name="TextBox 38">
            <a:extLst>
              <a:ext uri="{FF2B5EF4-FFF2-40B4-BE49-F238E27FC236}">
                <a16:creationId xmlns:a16="http://schemas.microsoft.com/office/drawing/2014/main" id="{67A8191E-8CC0-E2FF-A2D7-A57152E0A710}"/>
              </a:ext>
            </a:extLst>
          </p:cNvPr>
          <p:cNvSpPr txBox="1"/>
          <p:nvPr/>
        </p:nvSpPr>
        <p:spPr>
          <a:xfrm>
            <a:off x="996695" y="3594735"/>
            <a:ext cx="1929384" cy="182880"/>
          </a:xfrm>
          <a:prstGeom prst="rect">
            <a:avLst/>
          </a:prstGeom>
          <a:noFill/>
        </p:spPr>
        <p:txBody>
          <a:bodyPr wrap="square" lIns="27432" tIns="9144" rIns="27432" bIns="9144" anchor="ctr">
            <a:spAutoFit/>
          </a:bodyPr>
          <a:lstStyle/>
          <a:p>
            <a:pPr algn="l">
              <a:defRPr sz="750" b="0">
                <a:solidFill>
                  <a:srgbClr val="64748B"/>
                </a:solidFill>
                <a:latin typeface="Microsoft YaHei"/>
              </a:defRPr>
            </a:pPr>
            <a:r>
              <a:rPr sz="750" b="0">
                <a:solidFill>
                  <a:srgbClr val="64748B"/>
                </a:solidFill>
                <a:latin typeface="Microsoft YaHei"/>
              </a:rPr>
              <a:t>7893 -&gt; 89 prompts</a:t>
            </a:r>
          </a:p>
        </p:txBody>
      </p:sp>
      <p:sp>
        <p:nvSpPr>
          <p:cNvPr id="66" name="Rounded Rectangle 39">
            <a:extLst>
              <a:ext uri="{FF2B5EF4-FFF2-40B4-BE49-F238E27FC236}">
                <a16:creationId xmlns:a16="http://schemas.microsoft.com/office/drawing/2014/main" id="{1BD1E87F-856B-E554-8956-503E3D9E5020}"/>
              </a:ext>
            </a:extLst>
          </p:cNvPr>
          <p:cNvSpPr/>
          <p:nvPr/>
        </p:nvSpPr>
        <p:spPr>
          <a:xfrm>
            <a:off x="3337560" y="3036951"/>
            <a:ext cx="2148840" cy="7680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40">
            <a:extLst>
              <a:ext uri="{FF2B5EF4-FFF2-40B4-BE49-F238E27FC236}">
                <a16:creationId xmlns:a16="http://schemas.microsoft.com/office/drawing/2014/main" id="{10537780-15BA-C826-5D5D-B1E6E8E7910A}"/>
              </a:ext>
            </a:extLst>
          </p:cNvPr>
          <p:cNvSpPr/>
          <p:nvPr/>
        </p:nvSpPr>
        <p:spPr>
          <a:xfrm>
            <a:off x="3337560" y="3036951"/>
            <a:ext cx="50292" cy="768096"/>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41">
            <a:extLst>
              <a:ext uri="{FF2B5EF4-FFF2-40B4-BE49-F238E27FC236}">
                <a16:creationId xmlns:a16="http://schemas.microsoft.com/office/drawing/2014/main" id="{284B8E3C-A789-65DB-77C9-C16245FDCC7B}"/>
              </a:ext>
            </a:extLst>
          </p:cNvPr>
          <p:cNvSpPr txBox="1"/>
          <p:nvPr/>
        </p:nvSpPr>
        <p:spPr>
          <a:xfrm>
            <a:off x="3465576" y="3110103"/>
            <a:ext cx="1929384" cy="164592"/>
          </a:xfrm>
          <a:prstGeom prst="rect">
            <a:avLst/>
          </a:prstGeom>
          <a:noFill/>
        </p:spPr>
        <p:txBody>
          <a:bodyPr wrap="square" lIns="27432" tIns="9144" rIns="27432" bIns="9144" anchor="ctr">
            <a:spAutoFit/>
          </a:bodyPr>
          <a:lstStyle/>
          <a:p>
            <a:pPr algn="l">
              <a:defRPr sz="780" b="1">
                <a:solidFill>
                  <a:srgbClr val="64748B"/>
                </a:solidFill>
                <a:latin typeface="Microsoft YaHei"/>
              </a:defRPr>
            </a:pPr>
            <a:r>
              <a:rPr sz="780" b="1">
                <a:solidFill>
                  <a:srgbClr val="64748B"/>
                </a:solidFill>
                <a:latin typeface="Microsoft YaHei"/>
              </a:rPr>
              <a:t>Batch size</a:t>
            </a:r>
          </a:p>
        </p:txBody>
      </p:sp>
      <p:sp>
        <p:nvSpPr>
          <p:cNvPr id="69" name="TextBox 42">
            <a:extLst>
              <a:ext uri="{FF2B5EF4-FFF2-40B4-BE49-F238E27FC236}">
                <a16:creationId xmlns:a16="http://schemas.microsoft.com/office/drawing/2014/main" id="{157AA65B-3ABC-2422-E26D-6098EE111DEC}"/>
              </a:ext>
            </a:extLst>
          </p:cNvPr>
          <p:cNvSpPr txBox="1"/>
          <p:nvPr/>
        </p:nvSpPr>
        <p:spPr>
          <a:xfrm>
            <a:off x="3465576" y="3283839"/>
            <a:ext cx="1929384" cy="292608"/>
          </a:xfrm>
          <a:prstGeom prst="rect">
            <a:avLst/>
          </a:prstGeom>
          <a:noFill/>
        </p:spPr>
        <p:txBody>
          <a:bodyPr wrap="square" lIns="27432" tIns="9144" rIns="27432" bIns="9144" anchor="ctr">
            <a:spAutoFit/>
          </a:bodyPr>
          <a:lstStyle/>
          <a:p>
            <a:pPr algn="l">
              <a:defRPr sz="1600" b="1">
                <a:solidFill>
                  <a:srgbClr val="00796B"/>
                </a:solidFill>
                <a:latin typeface="Microsoft YaHei"/>
              </a:defRPr>
            </a:pPr>
            <a:r>
              <a:rPr sz="1600" b="1">
                <a:solidFill>
                  <a:srgbClr val="00796B"/>
                </a:solidFill>
                <a:latin typeface="Microsoft YaHei"/>
              </a:rPr>
              <a:t>15</a:t>
            </a:r>
          </a:p>
        </p:txBody>
      </p:sp>
      <p:sp>
        <p:nvSpPr>
          <p:cNvPr id="70" name="TextBox 43">
            <a:extLst>
              <a:ext uri="{FF2B5EF4-FFF2-40B4-BE49-F238E27FC236}">
                <a16:creationId xmlns:a16="http://schemas.microsoft.com/office/drawing/2014/main" id="{4E2D6B96-4705-7640-74C4-53F0B3FEBFD0}"/>
              </a:ext>
            </a:extLst>
          </p:cNvPr>
          <p:cNvSpPr txBox="1"/>
          <p:nvPr/>
        </p:nvSpPr>
        <p:spPr>
          <a:xfrm>
            <a:off x="3465576" y="3594735"/>
            <a:ext cx="1929384" cy="182880"/>
          </a:xfrm>
          <a:prstGeom prst="rect">
            <a:avLst/>
          </a:prstGeom>
          <a:noFill/>
        </p:spPr>
        <p:txBody>
          <a:bodyPr wrap="square" lIns="27432" tIns="9144" rIns="27432" bIns="9144" anchor="ctr">
            <a:spAutoFit/>
          </a:bodyPr>
          <a:lstStyle/>
          <a:p>
            <a:pPr algn="l">
              <a:defRPr sz="750" b="0">
                <a:solidFill>
                  <a:srgbClr val="64748B"/>
                </a:solidFill>
                <a:latin typeface="Microsoft YaHei"/>
              </a:defRPr>
            </a:pPr>
            <a:r>
              <a:rPr sz="750" b="0">
                <a:solidFill>
                  <a:srgbClr val="64748B"/>
                </a:solidFill>
                <a:latin typeface="Microsoft YaHei"/>
              </a:rPr>
              <a:t>stable JSON parsing</a:t>
            </a:r>
          </a:p>
        </p:txBody>
      </p:sp>
      <p:sp>
        <p:nvSpPr>
          <p:cNvPr id="72" name="Rounded Rectangle 44">
            <a:extLst>
              <a:ext uri="{FF2B5EF4-FFF2-40B4-BE49-F238E27FC236}">
                <a16:creationId xmlns:a16="http://schemas.microsoft.com/office/drawing/2014/main" id="{42328D5F-CDA4-6167-06CE-1FF710E61D04}"/>
              </a:ext>
            </a:extLst>
          </p:cNvPr>
          <p:cNvSpPr/>
          <p:nvPr/>
        </p:nvSpPr>
        <p:spPr>
          <a:xfrm>
            <a:off x="5806440" y="3036951"/>
            <a:ext cx="2148840" cy="7680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45">
            <a:extLst>
              <a:ext uri="{FF2B5EF4-FFF2-40B4-BE49-F238E27FC236}">
                <a16:creationId xmlns:a16="http://schemas.microsoft.com/office/drawing/2014/main" id="{802AF8CD-7827-9133-3FDE-7FB298D06790}"/>
              </a:ext>
            </a:extLst>
          </p:cNvPr>
          <p:cNvSpPr/>
          <p:nvPr/>
        </p:nvSpPr>
        <p:spPr>
          <a:xfrm>
            <a:off x="5806440" y="3036951"/>
            <a:ext cx="50292" cy="768096"/>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46">
            <a:extLst>
              <a:ext uri="{FF2B5EF4-FFF2-40B4-BE49-F238E27FC236}">
                <a16:creationId xmlns:a16="http://schemas.microsoft.com/office/drawing/2014/main" id="{58C85E5B-4726-17F7-331C-9D82EE604C26}"/>
              </a:ext>
            </a:extLst>
          </p:cNvPr>
          <p:cNvSpPr txBox="1"/>
          <p:nvPr/>
        </p:nvSpPr>
        <p:spPr>
          <a:xfrm>
            <a:off x="5934455" y="3110103"/>
            <a:ext cx="1929384" cy="164592"/>
          </a:xfrm>
          <a:prstGeom prst="rect">
            <a:avLst/>
          </a:prstGeom>
          <a:noFill/>
        </p:spPr>
        <p:txBody>
          <a:bodyPr wrap="square" lIns="27432" tIns="9144" rIns="27432" bIns="9144" anchor="ctr">
            <a:spAutoFit/>
          </a:bodyPr>
          <a:lstStyle/>
          <a:p>
            <a:pPr algn="l">
              <a:defRPr sz="780" b="1">
                <a:solidFill>
                  <a:srgbClr val="64748B"/>
                </a:solidFill>
                <a:latin typeface="Microsoft YaHei"/>
              </a:defRPr>
            </a:pPr>
            <a:r>
              <a:rPr sz="780" b="1">
                <a:solidFill>
                  <a:srgbClr val="64748B"/>
                </a:solidFill>
                <a:latin typeface="Microsoft YaHei"/>
              </a:rPr>
              <a:t>Main inference</a:t>
            </a:r>
          </a:p>
        </p:txBody>
      </p:sp>
      <p:sp>
        <p:nvSpPr>
          <p:cNvPr id="76" name="TextBox 47">
            <a:extLst>
              <a:ext uri="{FF2B5EF4-FFF2-40B4-BE49-F238E27FC236}">
                <a16:creationId xmlns:a16="http://schemas.microsoft.com/office/drawing/2014/main" id="{5FF36BA7-77CD-5DED-43BF-2F962EA32C6D}"/>
              </a:ext>
            </a:extLst>
          </p:cNvPr>
          <p:cNvSpPr txBox="1"/>
          <p:nvPr/>
        </p:nvSpPr>
        <p:spPr>
          <a:xfrm>
            <a:off x="5934455" y="3283839"/>
            <a:ext cx="1929384" cy="292608"/>
          </a:xfrm>
          <a:prstGeom prst="rect">
            <a:avLst/>
          </a:prstGeom>
          <a:noFill/>
        </p:spPr>
        <p:txBody>
          <a:bodyPr wrap="square" lIns="27432" tIns="9144" rIns="27432" bIns="9144" anchor="ctr">
            <a:spAutoFit/>
          </a:bodyPr>
          <a:lstStyle/>
          <a:p>
            <a:pPr algn="l">
              <a:defRPr sz="1600" b="1">
                <a:solidFill>
                  <a:srgbClr val="198754"/>
                </a:solidFill>
                <a:latin typeface="Microsoft YaHei"/>
              </a:defRPr>
            </a:pPr>
            <a:r>
              <a:rPr sz="1600" b="1" dirty="0">
                <a:solidFill>
                  <a:srgbClr val="198754"/>
                </a:solidFill>
                <a:latin typeface="Microsoft YaHei"/>
              </a:rPr>
              <a:t>0 LLM</a:t>
            </a:r>
          </a:p>
        </p:txBody>
      </p:sp>
      <p:sp>
        <p:nvSpPr>
          <p:cNvPr id="77" name="TextBox 48">
            <a:extLst>
              <a:ext uri="{FF2B5EF4-FFF2-40B4-BE49-F238E27FC236}">
                <a16:creationId xmlns:a16="http://schemas.microsoft.com/office/drawing/2014/main" id="{712937A5-9F39-4BDA-41C2-EAB759D961D0}"/>
              </a:ext>
            </a:extLst>
          </p:cNvPr>
          <p:cNvSpPr txBox="1"/>
          <p:nvPr/>
        </p:nvSpPr>
        <p:spPr>
          <a:xfrm>
            <a:off x="5934455" y="3594735"/>
            <a:ext cx="1929384" cy="182880"/>
          </a:xfrm>
          <a:prstGeom prst="rect">
            <a:avLst/>
          </a:prstGeom>
          <a:noFill/>
        </p:spPr>
        <p:txBody>
          <a:bodyPr wrap="square" lIns="27432" tIns="9144" rIns="27432" bIns="9144" anchor="ctr">
            <a:spAutoFit/>
          </a:bodyPr>
          <a:lstStyle/>
          <a:p>
            <a:pPr algn="l">
              <a:defRPr sz="750" b="0">
                <a:solidFill>
                  <a:srgbClr val="64748B"/>
                </a:solidFill>
                <a:latin typeface="Microsoft YaHei"/>
              </a:defRPr>
            </a:pPr>
            <a:r>
              <a:rPr sz="750" b="0">
                <a:solidFill>
                  <a:srgbClr val="64748B"/>
                </a:solidFill>
                <a:latin typeface="Microsoft YaHei"/>
              </a:rPr>
              <a:t>adapter is deterministic</a:t>
            </a:r>
          </a:p>
        </p:txBody>
      </p:sp>
      <p:sp>
        <p:nvSpPr>
          <p:cNvPr id="78" name="Rounded Rectangle 49">
            <a:extLst>
              <a:ext uri="{FF2B5EF4-FFF2-40B4-BE49-F238E27FC236}">
                <a16:creationId xmlns:a16="http://schemas.microsoft.com/office/drawing/2014/main" id="{EF1D2C8D-84FC-52EF-4248-48035DBFDBB9}"/>
              </a:ext>
            </a:extLst>
          </p:cNvPr>
          <p:cNvSpPr/>
          <p:nvPr/>
        </p:nvSpPr>
        <p:spPr>
          <a:xfrm>
            <a:off x="8275320" y="3036951"/>
            <a:ext cx="2148840" cy="7680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50">
            <a:extLst>
              <a:ext uri="{FF2B5EF4-FFF2-40B4-BE49-F238E27FC236}">
                <a16:creationId xmlns:a16="http://schemas.microsoft.com/office/drawing/2014/main" id="{5CDB5D9D-8D96-5685-4CAF-D3E28FBE1BF7}"/>
              </a:ext>
            </a:extLst>
          </p:cNvPr>
          <p:cNvSpPr/>
          <p:nvPr/>
        </p:nvSpPr>
        <p:spPr>
          <a:xfrm>
            <a:off x="8275320" y="3036951"/>
            <a:ext cx="50292" cy="768096"/>
          </a:xfrm>
          <a:prstGeom prst="rect">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51">
            <a:extLst>
              <a:ext uri="{FF2B5EF4-FFF2-40B4-BE49-F238E27FC236}">
                <a16:creationId xmlns:a16="http://schemas.microsoft.com/office/drawing/2014/main" id="{D7EFF261-9FE1-96DA-F003-68DA0CC5BC1F}"/>
              </a:ext>
            </a:extLst>
          </p:cNvPr>
          <p:cNvSpPr txBox="1"/>
          <p:nvPr/>
        </p:nvSpPr>
        <p:spPr>
          <a:xfrm>
            <a:off x="8403336" y="3110103"/>
            <a:ext cx="1929384" cy="164592"/>
          </a:xfrm>
          <a:prstGeom prst="rect">
            <a:avLst/>
          </a:prstGeom>
          <a:noFill/>
        </p:spPr>
        <p:txBody>
          <a:bodyPr wrap="square" lIns="27432" tIns="9144" rIns="27432" bIns="9144" anchor="ctr">
            <a:spAutoFit/>
          </a:bodyPr>
          <a:lstStyle/>
          <a:p>
            <a:pPr algn="l">
              <a:defRPr sz="780" b="1">
                <a:solidFill>
                  <a:srgbClr val="64748B"/>
                </a:solidFill>
                <a:latin typeface="Microsoft YaHei"/>
              </a:defRPr>
            </a:pPr>
            <a:r>
              <a:rPr sz="780" b="1">
                <a:solidFill>
                  <a:srgbClr val="64748B"/>
                </a:solidFill>
                <a:latin typeface="Microsoft YaHei"/>
              </a:rPr>
              <a:t>Optional fallback</a:t>
            </a:r>
          </a:p>
        </p:txBody>
      </p:sp>
      <p:sp>
        <p:nvSpPr>
          <p:cNvPr id="81" name="TextBox 52">
            <a:extLst>
              <a:ext uri="{FF2B5EF4-FFF2-40B4-BE49-F238E27FC236}">
                <a16:creationId xmlns:a16="http://schemas.microsoft.com/office/drawing/2014/main" id="{67961B9D-ABD2-370C-F2EC-B21524EC0F43}"/>
              </a:ext>
            </a:extLst>
          </p:cNvPr>
          <p:cNvSpPr txBox="1"/>
          <p:nvPr/>
        </p:nvSpPr>
        <p:spPr>
          <a:xfrm>
            <a:off x="8403336" y="3283839"/>
            <a:ext cx="1929384" cy="292608"/>
          </a:xfrm>
          <a:prstGeom prst="rect">
            <a:avLst/>
          </a:prstGeom>
          <a:noFill/>
        </p:spPr>
        <p:txBody>
          <a:bodyPr wrap="square" lIns="27432" tIns="9144" rIns="27432" bIns="9144" anchor="ctr">
            <a:spAutoFit/>
          </a:bodyPr>
          <a:lstStyle/>
          <a:p>
            <a:pPr algn="l">
              <a:defRPr sz="1600" b="1">
                <a:solidFill>
                  <a:srgbClr val="5B21B6"/>
                </a:solidFill>
                <a:latin typeface="Microsoft YaHei"/>
              </a:defRPr>
            </a:pPr>
            <a:r>
              <a:rPr sz="1600" b="1">
                <a:solidFill>
                  <a:srgbClr val="5B21B6"/>
                </a:solidFill>
                <a:latin typeface="Microsoft YaHei"/>
              </a:rPr>
              <a:t>low-conf</a:t>
            </a:r>
          </a:p>
        </p:txBody>
      </p:sp>
      <p:sp>
        <p:nvSpPr>
          <p:cNvPr id="82" name="TextBox 53">
            <a:extLst>
              <a:ext uri="{FF2B5EF4-FFF2-40B4-BE49-F238E27FC236}">
                <a16:creationId xmlns:a16="http://schemas.microsoft.com/office/drawing/2014/main" id="{5DEA1BD1-AEF6-7B78-577D-C3ABB90704EE}"/>
              </a:ext>
            </a:extLst>
          </p:cNvPr>
          <p:cNvSpPr txBox="1"/>
          <p:nvPr/>
        </p:nvSpPr>
        <p:spPr>
          <a:xfrm>
            <a:off x="8403336" y="3594735"/>
            <a:ext cx="1929384" cy="182880"/>
          </a:xfrm>
          <a:prstGeom prst="rect">
            <a:avLst/>
          </a:prstGeom>
          <a:noFill/>
        </p:spPr>
        <p:txBody>
          <a:bodyPr wrap="square" lIns="27432" tIns="9144" rIns="27432" bIns="9144" anchor="ctr">
            <a:spAutoFit/>
          </a:bodyPr>
          <a:lstStyle/>
          <a:p>
            <a:pPr algn="l">
              <a:defRPr sz="750" b="0">
                <a:solidFill>
                  <a:srgbClr val="64748B"/>
                </a:solidFill>
                <a:latin typeface="Microsoft YaHei"/>
              </a:defRPr>
            </a:pPr>
            <a:r>
              <a:rPr sz="750" b="0">
                <a:solidFill>
                  <a:srgbClr val="64748B"/>
                </a:solidFill>
                <a:latin typeface="Microsoft YaHei"/>
              </a:rPr>
              <a:t>deployment extension</a:t>
            </a:r>
          </a:p>
        </p:txBody>
      </p:sp>
      <p:sp>
        <p:nvSpPr>
          <p:cNvPr id="83" name="Rectangle 54">
            <a:extLst>
              <a:ext uri="{FF2B5EF4-FFF2-40B4-BE49-F238E27FC236}">
                <a16:creationId xmlns:a16="http://schemas.microsoft.com/office/drawing/2014/main" id="{CD091AA9-B726-96E7-1844-8E9AD77182B4}"/>
              </a:ext>
            </a:extLst>
          </p:cNvPr>
          <p:cNvSpPr/>
          <p:nvPr/>
        </p:nvSpPr>
        <p:spPr>
          <a:xfrm>
            <a:off x="749808" y="4131057"/>
            <a:ext cx="214884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55">
            <a:extLst>
              <a:ext uri="{FF2B5EF4-FFF2-40B4-BE49-F238E27FC236}">
                <a16:creationId xmlns:a16="http://schemas.microsoft.com/office/drawing/2014/main" id="{5A2A1282-438E-BE37-A26D-9EAE264BC813}"/>
              </a:ext>
            </a:extLst>
          </p:cNvPr>
          <p:cNvSpPr txBox="1"/>
          <p:nvPr/>
        </p:nvSpPr>
        <p:spPr>
          <a:xfrm>
            <a:off x="786384" y="4204209"/>
            <a:ext cx="2075688" cy="256031"/>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b="1">
                <a:solidFill>
                  <a:srgbClr val="FFFFFF"/>
                </a:solidFill>
                <a:latin typeface="Microsoft YaHei"/>
              </a:rPr>
              <a:t>部署层</a:t>
            </a:r>
          </a:p>
        </p:txBody>
      </p:sp>
      <p:sp>
        <p:nvSpPr>
          <p:cNvPr id="85" name="Rectangle 56">
            <a:extLst>
              <a:ext uri="{FF2B5EF4-FFF2-40B4-BE49-F238E27FC236}">
                <a16:creationId xmlns:a16="http://schemas.microsoft.com/office/drawing/2014/main" id="{595BDC97-9756-42C8-B8CF-2E8AF6EE2C2D}"/>
              </a:ext>
            </a:extLst>
          </p:cNvPr>
          <p:cNvSpPr/>
          <p:nvPr/>
        </p:nvSpPr>
        <p:spPr>
          <a:xfrm>
            <a:off x="2898648" y="4131057"/>
            <a:ext cx="379476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57">
            <a:extLst>
              <a:ext uri="{FF2B5EF4-FFF2-40B4-BE49-F238E27FC236}">
                <a16:creationId xmlns:a16="http://schemas.microsoft.com/office/drawing/2014/main" id="{F62B6DA6-29CF-0BFF-2B9D-DBAB3A348DF0}"/>
              </a:ext>
            </a:extLst>
          </p:cNvPr>
          <p:cNvSpPr txBox="1"/>
          <p:nvPr/>
        </p:nvSpPr>
        <p:spPr>
          <a:xfrm>
            <a:off x="2935224" y="4204209"/>
            <a:ext cx="3721608" cy="256031"/>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b="1">
                <a:solidFill>
                  <a:srgbClr val="FFFFFF"/>
                </a:solidFill>
                <a:latin typeface="Microsoft YaHei"/>
              </a:rPr>
              <a:t>在本研究中的角色</a:t>
            </a:r>
          </a:p>
        </p:txBody>
      </p:sp>
      <p:sp>
        <p:nvSpPr>
          <p:cNvPr id="87" name="Rectangle 58">
            <a:extLst>
              <a:ext uri="{FF2B5EF4-FFF2-40B4-BE49-F238E27FC236}">
                <a16:creationId xmlns:a16="http://schemas.microsoft.com/office/drawing/2014/main" id="{B5B698D4-10CE-246F-AF85-9BE1E59DF205}"/>
              </a:ext>
            </a:extLst>
          </p:cNvPr>
          <p:cNvSpPr/>
          <p:nvPr/>
        </p:nvSpPr>
        <p:spPr>
          <a:xfrm>
            <a:off x="6693408" y="4131057"/>
            <a:ext cx="4114800" cy="384048"/>
          </a:xfrm>
          <a:prstGeom prst="rect">
            <a:avLst/>
          </a:prstGeom>
          <a:solidFill>
            <a:srgbClr val="0E7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59">
            <a:extLst>
              <a:ext uri="{FF2B5EF4-FFF2-40B4-BE49-F238E27FC236}">
                <a16:creationId xmlns:a16="http://schemas.microsoft.com/office/drawing/2014/main" id="{91DF7994-AA11-4AB7-D471-678096584875}"/>
              </a:ext>
            </a:extLst>
          </p:cNvPr>
          <p:cNvSpPr txBox="1"/>
          <p:nvPr/>
        </p:nvSpPr>
        <p:spPr>
          <a:xfrm>
            <a:off x="6729984" y="4204209"/>
            <a:ext cx="4041648" cy="256031"/>
          </a:xfrm>
          <a:prstGeom prst="rect">
            <a:avLst/>
          </a:prstGeom>
          <a:noFill/>
        </p:spPr>
        <p:txBody>
          <a:bodyPr wrap="square" lIns="27432" tIns="9144" rIns="27432" bIns="9144" anchor="ctr">
            <a:spAutoFit/>
          </a:bodyPr>
          <a:lstStyle/>
          <a:p>
            <a:pPr algn="ctr">
              <a:defRPr sz="1200" b="1">
                <a:solidFill>
                  <a:srgbClr val="FFFFFF"/>
                </a:solidFill>
                <a:latin typeface="Microsoft YaHei"/>
              </a:defRPr>
            </a:pPr>
            <a:r>
              <a:rPr sz="1200" b="1">
                <a:solidFill>
                  <a:srgbClr val="FFFFFF"/>
                </a:solidFill>
                <a:latin typeface="Microsoft YaHei"/>
              </a:rPr>
              <a:t>为什么这样设计</a:t>
            </a:r>
          </a:p>
        </p:txBody>
      </p:sp>
      <p:sp>
        <p:nvSpPr>
          <p:cNvPr id="89" name="Rectangle 60">
            <a:extLst>
              <a:ext uri="{FF2B5EF4-FFF2-40B4-BE49-F238E27FC236}">
                <a16:creationId xmlns:a16="http://schemas.microsoft.com/office/drawing/2014/main" id="{76EA739E-0009-14C2-9DEC-37226F014CDF}"/>
              </a:ext>
            </a:extLst>
          </p:cNvPr>
          <p:cNvSpPr/>
          <p:nvPr/>
        </p:nvSpPr>
        <p:spPr>
          <a:xfrm>
            <a:off x="749808" y="4515105"/>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61">
            <a:extLst>
              <a:ext uri="{FF2B5EF4-FFF2-40B4-BE49-F238E27FC236}">
                <a16:creationId xmlns:a16="http://schemas.microsoft.com/office/drawing/2014/main" id="{0FA0BF88-E6CB-E45C-D839-9955660B099E}"/>
              </a:ext>
            </a:extLst>
          </p:cNvPr>
          <p:cNvSpPr txBox="1"/>
          <p:nvPr/>
        </p:nvSpPr>
        <p:spPr>
          <a:xfrm>
            <a:off x="804671" y="4579113"/>
            <a:ext cx="2039112" cy="256031"/>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Batch prior</a:t>
            </a:r>
          </a:p>
        </p:txBody>
      </p:sp>
      <p:sp>
        <p:nvSpPr>
          <p:cNvPr id="91" name="Rectangle 62">
            <a:extLst>
              <a:ext uri="{FF2B5EF4-FFF2-40B4-BE49-F238E27FC236}">
                <a16:creationId xmlns:a16="http://schemas.microsoft.com/office/drawing/2014/main" id="{9F66BCBD-878B-7470-FE6F-CFB1936F19AB}"/>
              </a:ext>
            </a:extLst>
          </p:cNvPr>
          <p:cNvSpPr/>
          <p:nvPr/>
        </p:nvSpPr>
        <p:spPr>
          <a:xfrm>
            <a:off x="2898648" y="4515105"/>
            <a:ext cx="379476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63">
            <a:extLst>
              <a:ext uri="{FF2B5EF4-FFF2-40B4-BE49-F238E27FC236}">
                <a16:creationId xmlns:a16="http://schemas.microsoft.com/office/drawing/2014/main" id="{04C544A9-AEE5-C7DF-8CFA-E881611909F6}"/>
              </a:ext>
            </a:extLst>
          </p:cNvPr>
          <p:cNvSpPr txBox="1"/>
          <p:nvPr/>
        </p:nvSpPr>
        <p:spPr>
          <a:xfrm>
            <a:off x="2953512" y="4579113"/>
            <a:ext cx="368503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离线生成 cohort 级情境先验</a:t>
            </a:r>
          </a:p>
        </p:txBody>
      </p:sp>
      <p:sp>
        <p:nvSpPr>
          <p:cNvPr id="93" name="Rectangle 64">
            <a:extLst>
              <a:ext uri="{FF2B5EF4-FFF2-40B4-BE49-F238E27FC236}">
                <a16:creationId xmlns:a16="http://schemas.microsoft.com/office/drawing/2014/main" id="{7263DEF3-7AC8-9180-B58E-51DB8EF20086}"/>
              </a:ext>
            </a:extLst>
          </p:cNvPr>
          <p:cNvSpPr/>
          <p:nvPr/>
        </p:nvSpPr>
        <p:spPr>
          <a:xfrm>
            <a:off x="6693408" y="4515105"/>
            <a:ext cx="411480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65">
            <a:extLst>
              <a:ext uri="{FF2B5EF4-FFF2-40B4-BE49-F238E27FC236}">
                <a16:creationId xmlns:a16="http://schemas.microsoft.com/office/drawing/2014/main" id="{C24273BE-2B26-CE26-15B9-FFD34BBD5E71}"/>
              </a:ext>
            </a:extLst>
          </p:cNvPr>
          <p:cNvSpPr txBox="1"/>
          <p:nvPr/>
        </p:nvSpPr>
        <p:spPr>
          <a:xfrm>
            <a:off x="6748272" y="4579113"/>
            <a:ext cx="400507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保留 LLM 泛化能力，避免逐户调用</a:t>
            </a:r>
          </a:p>
        </p:txBody>
      </p:sp>
      <p:sp>
        <p:nvSpPr>
          <p:cNvPr id="95" name="Rectangle 66">
            <a:extLst>
              <a:ext uri="{FF2B5EF4-FFF2-40B4-BE49-F238E27FC236}">
                <a16:creationId xmlns:a16="http://schemas.microsoft.com/office/drawing/2014/main" id="{25A40780-F4BB-901A-7A2E-4C04AC34FFD1}"/>
              </a:ext>
            </a:extLst>
          </p:cNvPr>
          <p:cNvSpPr/>
          <p:nvPr/>
        </p:nvSpPr>
        <p:spPr>
          <a:xfrm>
            <a:off x="749808" y="4899153"/>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67">
            <a:extLst>
              <a:ext uri="{FF2B5EF4-FFF2-40B4-BE49-F238E27FC236}">
                <a16:creationId xmlns:a16="http://schemas.microsoft.com/office/drawing/2014/main" id="{D630DA3F-1FD0-27DD-CE6A-85475B9775CD}"/>
              </a:ext>
            </a:extLst>
          </p:cNvPr>
          <p:cNvSpPr txBox="1"/>
          <p:nvPr/>
        </p:nvSpPr>
        <p:spPr>
          <a:xfrm>
            <a:off x="804671" y="4963161"/>
            <a:ext cx="2039112" cy="256031"/>
          </a:xfrm>
          <a:prstGeom prst="rect">
            <a:avLst/>
          </a:prstGeom>
          <a:noFill/>
        </p:spPr>
        <p:txBody>
          <a:bodyPr wrap="square" lIns="27432" tIns="9144" rIns="27432" bIns="9144" anchor="t">
            <a:spAutoFit/>
          </a:bodyPr>
          <a:lstStyle/>
          <a:p>
            <a:r>
              <a:t>Rule extraction</a:t>
            </a:r>
          </a:p>
        </p:txBody>
      </p:sp>
      <p:sp>
        <p:nvSpPr>
          <p:cNvPr id="97" name="Rectangle 68">
            <a:extLst>
              <a:ext uri="{FF2B5EF4-FFF2-40B4-BE49-F238E27FC236}">
                <a16:creationId xmlns:a16="http://schemas.microsoft.com/office/drawing/2014/main" id="{330EA26B-3FCF-BF9A-549E-75BD251C937C}"/>
              </a:ext>
            </a:extLst>
          </p:cNvPr>
          <p:cNvSpPr/>
          <p:nvPr/>
        </p:nvSpPr>
        <p:spPr>
          <a:xfrm>
            <a:off x="2898648" y="4899153"/>
            <a:ext cx="379476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69">
            <a:extLst>
              <a:ext uri="{FF2B5EF4-FFF2-40B4-BE49-F238E27FC236}">
                <a16:creationId xmlns:a16="http://schemas.microsoft.com/office/drawing/2014/main" id="{F557ABEA-2EE9-19C9-A0A7-08F4060EECA7}"/>
              </a:ext>
            </a:extLst>
          </p:cNvPr>
          <p:cNvSpPr txBox="1"/>
          <p:nvPr/>
        </p:nvSpPr>
        <p:spPr>
          <a:xfrm>
            <a:off x="2953512" y="4963161"/>
            <a:ext cx="368503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把自然语言判断压缩成 s_event 和 fixed adapter</a:t>
            </a:r>
          </a:p>
        </p:txBody>
      </p:sp>
      <p:sp>
        <p:nvSpPr>
          <p:cNvPr id="99" name="Rectangle 70">
            <a:extLst>
              <a:ext uri="{FF2B5EF4-FFF2-40B4-BE49-F238E27FC236}">
                <a16:creationId xmlns:a16="http://schemas.microsoft.com/office/drawing/2014/main" id="{607218AC-C8E0-C33C-A57C-037365AA6E3C}"/>
              </a:ext>
            </a:extLst>
          </p:cNvPr>
          <p:cNvSpPr/>
          <p:nvPr/>
        </p:nvSpPr>
        <p:spPr>
          <a:xfrm>
            <a:off x="6693408" y="4899153"/>
            <a:ext cx="411480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71">
            <a:extLst>
              <a:ext uri="{FF2B5EF4-FFF2-40B4-BE49-F238E27FC236}">
                <a16:creationId xmlns:a16="http://schemas.microsoft.com/office/drawing/2014/main" id="{AF188D31-EAF4-BBA8-6F0F-B19ED0807FAA}"/>
              </a:ext>
            </a:extLst>
          </p:cNvPr>
          <p:cNvSpPr txBox="1"/>
          <p:nvPr/>
        </p:nvSpPr>
        <p:spPr>
          <a:xfrm>
            <a:off x="6748272" y="4963161"/>
            <a:ext cx="400507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比直接 LLM 输出 CNTTDHH 更可审计</a:t>
            </a:r>
          </a:p>
        </p:txBody>
      </p:sp>
      <p:sp>
        <p:nvSpPr>
          <p:cNvPr id="101" name="Rectangle 72">
            <a:extLst>
              <a:ext uri="{FF2B5EF4-FFF2-40B4-BE49-F238E27FC236}">
                <a16:creationId xmlns:a16="http://schemas.microsoft.com/office/drawing/2014/main" id="{03775DC3-B4B2-769D-55F5-8856ADB943D7}"/>
              </a:ext>
            </a:extLst>
          </p:cNvPr>
          <p:cNvSpPr/>
          <p:nvPr/>
        </p:nvSpPr>
        <p:spPr>
          <a:xfrm>
            <a:off x="749808" y="5283201"/>
            <a:ext cx="214884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73">
            <a:extLst>
              <a:ext uri="{FF2B5EF4-FFF2-40B4-BE49-F238E27FC236}">
                <a16:creationId xmlns:a16="http://schemas.microsoft.com/office/drawing/2014/main" id="{233D8B51-D0C0-413A-D391-0B41ACABA5EC}"/>
              </a:ext>
            </a:extLst>
          </p:cNvPr>
          <p:cNvSpPr txBox="1"/>
          <p:nvPr/>
        </p:nvSpPr>
        <p:spPr>
          <a:xfrm>
            <a:off x="804671" y="5347209"/>
            <a:ext cx="2039112" cy="256031"/>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Confidence gate</a:t>
            </a:r>
          </a:p>
        </p:txBody>
      </p:sp>
      <p:sp>
        <p:nvSpPr>
          <p:cNvPr id="103" name="Rectangle 74">
            <a:extLst>
              <a:ext uri="{FF2B5EF4-FFF2-40B4-BE49-F238E27FC236}">
                <a16:creationId xmlns:a16="http://schemas.microsoft.com/office/drawing/2014/main" id="{5074A60C-36DA-C4F0-1E1A-B2FA551B530D}"/>
              </a:ext>
            </a:extLst>
          </p:cNvPr>
          <p:cNvSpPr/>
          <p:nvPr/>
        </p:nvSpPr>
        <p:spPr>
          <a:xfrm>
            <a:off x="2898648" y="5283201"/>
            <a:ext cx="379476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75">
            <a:extLst>
              <a:ext uri="{FF2B5EF4-FFF2-40B4-BE49-F238E27FC236}">
                <a16:creationId xmlns:a16="http://schemas.microsoft.com/office/drawing/2014/main" id="{1BAFF5CA-C52F-0830-95D1-37C38513205F}"/>
              </a:ext>
            </a:extLst>
          </p:cNvPr>
          <p:cNvSpPr txBox="1"/>
          <p:nvPr/>
        </p:nvSpPr>
        <p:spPr>
          <a:xfrm>
            <a:off x="2953512" y="5347209"/>
            <a:ext cx="368503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低置信 cohort 退回 global pressure</a:t>
            </a:r>
          </a:p>
        </p:txBody>
      </p:sp>
      <p:sp>
        <p:nvSpPr>
          <p:cNvPr id="105" name="Rectangle 76">
            <a:extLst>
              <a:ext uri="{FF2B5EF4-FFF2-40B4-BE49-F238E27FC236}">
                <a16:creationId xmlns:a16="http://schemas.microsoft.com/office/drawing/2014/main" id="{15D1FAC7-0EAD-6FB8-247E-B840B5789985}"/>
              </a:ext>
            </a:extLst>
          </p:cNvPr>
          <p:cNvSpPr/>
          <p:nvPr/>
        </p:nvSpPr>
        <p:spPr>
          <a:xfrm>
            <a:off x="6693408" y="5283201"/>
            <a:ext cx="4114800" cy="384048"/>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77">
            <a:extLst>
              <a:ext uri="{FF2B5EF4-FFF2-40B4-BE49-F238E27FC236}">
                <a16:creationId xmlns:a16="http://schemas.microsoft.com/office/drawing/2014/main" id="{06371838-8715-F25C-CEA1-606601DBCCB3}"/>
              </a:ext>
            </a:extLst>
          </p:cNvPr>
          <p:cNvSpPr txBox="1"/>
          <p:nvPr/>
        </p:nvSpPr>
        <p:spPr>
          <a:xfrm>
            <a:off x="6748272" y="5347209"/>
            <a:ext cx="400507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主实验保持 no-label、可复现</a:t>
            </a:r>
          </a:p>
        </p:txBody>
      </p:sp>
      <p:sp>
        <p:nvSpPr>
          <p:cNvPr id="107" name="Rectangle 78">
            <a:extLst>
              <a:ext uri="{FF2B5EF4-FFF2-40B4-BE49-F238E27FC236}">
                <a16:creationId xmlns:a16="http://schemas.microsoft.com/office/drawing/2014/main" id="{D6318E2A-4FDF-CF67-C669-EED744DB8F06}"/>
              </a:ext>
            </a:extLst>
          </p:cNvPr>
          <p:cNvSpPr/>
          <p:nvPr/>
        </p:nvSpPr>
        <p:spPr>
          <a:xfrm>
            <a:off x="749808" y="5667249"/>
            <a:ext cx="214884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79">
            <a:extLst>
              <a:ext uri="{FF2B5EF4-FFF2-40B4-BE49-F238E27FC236}">
                <a16:creationId xmlns:a16="http://schemas.microsoft.com/office/drawing/2014/main" id="{4EFED93C-DEE5-8304-3A94-DFA53D68314D}"/>
              </a:ext>
            </a:extLst>
          </p:cNvPr>
          <p:cNvSpPr txBox="1"/>
          <p:nvPr/>
        </p:nvSpPr>
        <p:spPr>
          <a:xfrm>
            <a:off x="804671" y="5731257"/>
            <a:ext cx="2039112" cy="256031"/>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a:solidFill>
                  <a:srgbClr val="0F172A"/>
                </a:solidFill>
                <a:latin typeface="Microsoft YaHei"/>
              </a:rPr>
              <a:t>LLM fallback</a:t>
            </a:r>
          </a:p>
        </p:txBody>
      </p:sp>
      <p:sp>
        <p:nvSpPr>
          <p:cNvPr id="109" name="Rectangle 80">
            <a:extLst>
              <a:ext uri="{FF2B5EF4-FFF2-40B4-BE49-F238E27FC236}">
                <a16:creationId xmlns:a16="http://schemas.microsoft.com/office/drawing/2014/main" id="{A281235E-5B25-B2F3-C11A-7ADDB8F01934}"/>
              </a:ext>
            </a:extLst>
          </p:cNvPr>
          <p:cNvSpPr/>
          <p:nvPr/>
        </p:nvSpPr>
        <p:spPr>
          <a:xfrm>
            <a:off x="2898648" y="5667249"/>
            <a:ext cx="379476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81">
            <a:extLst>
              <a:ext uri="{FF2B5EF4-FFF2-40B4-BE49-F238E27FC236}">
                <a16:creationId xmlns:a16="http://schemas.microsoft.com/office/drawing/2014/main" id="{589BB7E9-CB7F-BB3F-F2FE-6E40EF6C2D0D}"/>
              </a:ext>
            </a:extLst>
          </p:cNvPr>
          <p:cNvSpPr txBox="1"/>
          <p:nvPr/>
        </p:nvSpPr>
        <p:spPr>
          <a:xfrm>
            <a:off x="2953512" y="5731257"/>
            <a:ext cx="368503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作为线上部署扩展，不进入主结果</a:t>
            </a:r>
          </a:p>
        </p:txBody>
      </p:sp>
      <p:sp>
        <p:nvSpPr>
          <p:cNvPr id="111" name="Rectangle 82">
            <a:extLst>
              <a:ext uri="{FF2B5EF4-FFF2-40B4-BE49-F238E27FC236}">
                <a16:creationId xmlns:a16="http://schemas.microsoft.com/office/drawing/2014/main" id="{6BCD888D-3118-25CB-9F04-88FE6BB697D3}"/>
              </a:ext>
            </a:extLst>
          </p:cNvPr>
          <p:cNvSpPr/>
          <p:nvPr/>
        </p:nvSpPr>
        <p:spPr>
          <a:xfrm>
            <a:off x="6693408" y="5667249"/>
            <a:ext cx="4114800" cy="384048"/>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83">
            <a:extLst>
              <a:ext uri="{FF2B5EF4-FFF2-40B4-BE49-F238E27FC236}">
                <a16:creationId xmlns:a16="http://schemas.microsoft.com/office/drawing/2014/main" id="{BDF4FDA4-3A36-10C4-3168-2EE467AFD462}"/>
              </a:ext>
            </a:extLst>
          </p:cNvPr>
          <p:cNvSpPr txBox="1"/>
          <p:nvPr/>
        </p:nvSpPr>
        <p:spPr>
          <a:xfrm>
            <a:off x="6748272" y="5731257"/>
            <a:ext cx="4005072" cy="256031"/>
          </a:xfrm>
          <a:prstGeom prst="rect">
            <a:avLst/>
          </a:prstGeom>
          <a:noFill/>
        </p:spPr>
        <p:txBody>
          <a:bodyPr wrap="square" lIns="27432" tIns="9144" rIns="27432" bIns="9144" anchor="t">
            <a:spAutoFit/>
          </a:bodyPr>
          <a:lstStyle/>
          <a:p>
            <a:pPr algn="l">
              <a:defRPr sz="1200" b="0">
                <a:solidFill>
                  <a:srgbClr val="0F172A"/>
                </a:solidFill>
                <a:latin typeface="Microsoft YaHei"/>
              </a:defRPr>
            </a:pPr>
            <a:r>
              <a:rPr sz="1200" b="0">
                <a:solidFill>
                  <a:srgbClr val="0F172A"/>
                </a:solidFill>
                <a:latin typeface="Microsoft YaHei"/>
              </a:rPr>
              <a:t>有预算时处理边界样本</a:t>
            </a:r>
          </a:p>
        </p:txBody>
      </p:sp>
    </p:spTree>
    <p:extLst>
      <p:ext uri="{BB962C8B-B14F-4D97-AF65-F5344CB8AC3E}">
        <p14:creationId xmlns:p14="http://schemas.microsoft.com/office/powerpoint/2010/main" val="260745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23645" y="2007235"/>
            <a:ext cx="9646920" cy="3566160"/>
            <a:chOff x="749" y="1613"/>
            <a:chExt cx="15192" cy="5616"/>
          </a:xfrm>
        </p:grpSpPr>
        <p:sp>
          <p:nvSpPr>
            <p:cNvPr id="11" name="Rectangle 10"/>
            <p:cNvSpPr/>
            <p:nvPr/>
          </p:nvSpPr>
          <p:spPr>
            <a:xfrm>
              <a:off x="749" y="1613"/>
              <a:ext cx="3096"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6" y="1714"/>
              <a:ext cx="2981"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Method</a:t>
              </a:r>
            </a:p>
          </p:txBody>
        </p:sp>
        <p:sp>
          <p:nvSpPr>
            <p:cNvPr id="13" name="Rectangle 12"/>
            <p:cNvSpPr/>
            <p:nvPr/>
          </p:nvSpPr>
          <p:spPr>
            <a:xfrm>
              <a:off x="3845" y="1613"/>
              <a:ext cx="1440"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02" y="1714"/>
              <a:ext cx="1325"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传统基线</a:t>
              </a:r>
            </a:p>
          </p:txBody>
        </p:sp>
        <p:sp>
          <p:nvSpPr>
            <p:cNvPr id="15" name="Rectangle 14"/>
            <p:cNvSpPr/>
            <p:nvPr/>
          </p:nvSpPr>
          <p:spPr>
            <a:xfrm>
              <a:off x="5285" y="1613"/>
              <a:ext cx="1296"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2" y="1714"/>
              <a:ext cx="1181"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LLM先验</a:t>
              </a:r>
            </a:p>
          </p:txBody>
        </p:sp>
        <p:sp>
          <p:nvSpPr>
            <p:cNvPr id="17" name="Rectangle 16"/>
            <p:cNvSpPr/>
            <p:nvPr/>
          </p:nvSpPr>
          <p:spPr>
            <a:xfrm>
              <a:off x="6581" y="1613"/>
              <a:ext cx="1368"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38" y="1714"/>
              <a:ext cx="1253"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2022标签</a:t>
              </a:r>
            </a:p>
          </p:txBody>
        </p:sp>
        <p:sp>
          <p:nvSpPr>
            <p:cNvPr id="19" name="Rectangle 18"/>
            <p:cNvSpPr/>
            <p:nvPr/>
          </p:nvSpPr>
          <p:spPr>
            <a:xfrm>
              <a:off x="7949" y="1613"/>
              <a:ext cx="6912"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06" y="1714"/>
              <a:ext cx="6797"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对比作用</a:t>
              </a:r>
            </a:p>
          </p:txBody>
        </p:sp>
        <p:sp>
          <p:nvSpPr>
            <p:cNvPr id="21" name="Rectangle 20"/>
            <p:cNvSpPr/>
            <p:nvPr/>
          </p:nvSpPr>
          <p:spPr>
            <a:xfrm>
              <a:off x="14861" y="1613"/>
              <a:ext cx="1080" cy="562"/>
            </a:xfrm>
            <a:prstGeom prst="rect">
              <a:avLst/>
            </a:prstGeom>
            <a:solidFill>
              <a:srgbClr val="11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918" y="1714"/>
              <a:ext cx="965" cy="389"/>
            </a:xfrm>
            <a:prstGeom prst="rect">
              <a:avLst/>
            </a:prstGeom>
            <a:noFill/>
          </p:spPr>
          <p:txBody>
            <a:bodyPr wrap="square" lIns="27432" tIns="9144" rIns="27432" bIns="9144" anchor="ctr">
              <a:spAutoFit/>
            </a:bodyPr>
            <a:lstStyle/>
            <a:p>
              <a:pPr algn="ctr">
                <a:defRPr sz="1050" b="1">
                  <a:solidFill>
                    <a:srgbClr val="FFFFFF"/>
                  </a:solidFill>
                  <a:latin typeface="Noto Sans SC" panose="020B0200000000000000" charset="-122"/>
                </a:defRPr>
              </a:pPr>
              <a:r>
                <a:rPr sz="1050" b="1">
                  <a:solidFill>
                    <a:srgbClr val="FFFFFF"/>
                  </a:solidFill>
                  <a:latin typeface="Noto Sans SC" panose="020B0200000000000000" charset="-122"/>
                </a:rPr>
                <a:t>wMAE</a:t>
              </a:r>
            </a:p>
          </p:txBody>
        </p:sp>
        <p:sp>
          <p:nvSpPr>
            <p:cNvPr id="23" name="Rectangle 22"/>
            <p:cNvSpPr/>
            <p:nvPr/>
          </p:nvSpPr>
          <p:spPr>
            <a:xfrm>
              <a:off x="749" y="2174"/>
              <a:ext cx="30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5" y="2261"/>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Historical mean</a:t>
              </a:r>
            </a:p>
          </p:txBody>
        </p:sp>
        <p:sp>
          <p:nvSpPr>
            <p:cNvPr id="25" name="Rectangle 24"/>
            <p:cNvSpPr/>
            <p:nvPr/>
          </p:nvSpPr>
          <p:spPr>
            <a:xfrm>
              <a:off x="3845" y="2174"/>
              <a:ext cx="144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17" y="2261"/>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27" name="Rectangle 26"/>
            <p:cNvSpPr/>
            <p:nvPr/>
          </p:nvSpPr>
          <p:spPr>
            <a:xfrm>
              <a:off x="5285" y="2174"/>
              <a:ext cx="12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57" y="2261"/>
              <a:ext cx="1152"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29" name="Rectangle 28"/>
            <p:cNvSpPr/>
            <p:nvPr/>
          </p:nvSpPr>
          <p:spPr>
            <a:xfrm>
              <a:off x="6581" y="2174"/>
              <a:ext cx="1368"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3" y="2261"/>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31" name="Rectangle 30"/>
            <p:cNvSpPr/>
            <p:nvPr/>
          </p:nvSpPr>
          <p:spPr>
            <a:xfrm>
              <a:off x="7949" y="2174"/>
              <a:ext cx="6912"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35" y="2261"/>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只保留历史平均水平</a:t>
              </a:r>
            </a:p>
          </p:txBody>
        </p:sp>
        <p:sp>
          <p:nvSpPr>
            <p:cNvPr id="33" name="Rectangle 32"/>
            <p:cNvSpPr/>
            <p:nvPr/>
          </p:nvSpPr>
          <p:spPr>
            <a:xfrm>
              <a:off x="14861" y="2174"/>
              <a:ext cx="108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947" y="2261"/>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5.51</a:t>
              </a:r>
            </a:p>
          </p:txBody>
        </p:sp>
        <p:sp>
          <p:nvSpPr>
            <p:cNvPr id="35" name="Rectangle 34"/>
            <p:cNvSpPr/>
            <p:nvPr/>
          </p:nvSpPr>
          <p:spPr>
            <a:xfrm>
              <a:off x="749" y="2736"/>
              <a:ext cx="30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5" y="2822"/>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Ordinary XGBoost</a:t>
              </a:r>
            </a:p>
          </p:txBody>
        </p:sp>
        <p:sp>
          <p:nvSpPr>
            <p:cNvPr id="37" name="Rectangle 36"/>
            <p:cNvSpPr/>
            <p:nvPr/>
          </p:nvSpPr>
          <p:spPr>
            <a:xfrm>
              <a:off x="3845" y="2736"/>
              <a:ext cx="144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917" y="2822"/>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39" name="Rectangle 38"/>
            <p:cNvSpPr/>
            <p:nvPr/>
          </p:nvSpPr>
          <p:spPr>
            <a:xfrm>
              <a:off x="5285" y="2736"/>
              <a:ext cx="12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57" y="2822"/>
              <a:ext cx="1152"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41" name="Rectangle 40"/>
            <p:cNvSpPr/>
            <p:nvPr/>
          </p:nvSpPr>
          <p:spPr>
            <a:xfrm>
              <a:off x="6581" y="2736"/>
              <a:ext cx="1368"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53" y="2822"/>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43" name="Rectangle 42"/>
            <p:cNvSpPr/>
            <p:nvPr/>
          </p:nvSpPr>
          <p:spPr>
            <a:xfrm>
              <a:off x="7949" y="2736"/>
              <a:ext cx="6912"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35" y="2822"/>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传统方法：家庭属性 -&gt; 出行次数</a:t>
              </a:r>
            </a:p>
          </p:txBody>
        </p:sp>
        <p:sp>
          <p:nvSpPr>
            <p:cNvPr id="45" name="Rectangle 44"/>
            <p:cNvSpPr/>
            <p:nvPr/>
          </p:nvSpPr>
          <p:spPr>
            <a:xfrm>
              <a:off x="14861" y="2736"/>
              <a:ext cx="108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4947" y="2822"/>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4.34</a:t>
              </a:r>
            </a:p>
          </p:txBody>
        </p:sp>
        <p:sp>
          <p:nvSpPr>
            <p:cNvPr id="47" name="Rectangle 46"/>
            <p:cNvSpPr/>
            <p:nvPr/>
          </p:nvSpPr>
          <p:spPr>
            <a:xfrm>
              <a:off x="749" y="3298"/>
              <a:ext cx="30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35" y="3384"/>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Trend / indicator</a:t>
              </a:r>
            </a:p>
          </p:txBody>
        </p:sp>
        <p:sp>
          <p:nvSpPr>
            <p:cNvPr id="49" name="Rectangle 48"/>
            <p:cNvSpPr/>
            <p:nvPr/>
          </p:nvSpPr>
          <p:spPr>
            <a:xfrm>
              <a:off x="3845" y="3298"/>
              <a:ext cx="144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917" y="3384"/>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51" name="Rectangle 50"/>
            <p:cNvSpPr/>
            <p:nvPr/>
          </p:nvSpPr>
          <p:spPr>
            <a:xfrm>
              <a:off x="5285" y="3298"/>
              <a:ext cx="12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357" y="3384"/>
              <a:ext cx="1152"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53" name="Rectangle 52"/>
            <p:cNvSpPr/>
            <p:nvPr/>
          </p:nvSpPr>
          <p:spPr>
            <a:xfrm>
              <a:off x="6581" y="3298"/>
              <a:ext cx="1368"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53" y="3384"/>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55" name="Rectangle 54"/>
            <p:cNvSpPr/>
            <p:nvPr/>
          </p:nvSpPr>
          <p:spPr>
            <a:xfrm>
              <a:off x="7949" y="3298"/>
              <a:ext cx="6912"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035" y="3384"/>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统一趋势修正，不区分疫情机制</a:t>
              </a:r>
            </a:p>
          </p:txBody>
        </p:sp>
        <p:sp>
          <p:nvSpPr>
            <p:cNvPr id="57" name="Rectangle 56"/>
            <p:cNvSpPr/>
            <p:nvPr/>
          </p:nvSpPr>
          <p:spPr>
            <a:xfrm>
              <a:off x="14861" y="3298"/>
              <a:ext cx="108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4947" y="3384"/>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4.15</a:t>
              </a:r>
            </a:p>
          </p:txBody>
        </p:sp>
        <p:sp>
          <p:nvSpPr>
            <p:cNvPr id="59" name="Rectangle 58"/>
            <p:cNvSpPr/>
            <p:nvPr/>
          </p:nvSpPr>
          <p:spPr>
            <a:xfrm>
              <a:off x="749" y="3859"/>
              <a:ext cx="30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35" y="3946"/>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LLM-only pressure</a:t>
              </a:r>
            </a:p>
          </p:txBody>
        </p:sp>
        <p:sp>
          <p:nvSpPr>
            <p:cNvPr id="61" name="Rectangle 60"/>
            <p:cNvSpPr/>
            <p:nvPr/>
          </p:nvSpPr>
          <p:spPr>
            <a:xfrm>
              <a:off x="3845" y="3859"/>
              <a:ext cx="144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917" y="3946"/>
              <a:ext cx="1296"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63" name="Rectangle 62"/>
            <p:cNvSpPr/>
            <p:nvPr/>
          </p:nvSpPr>
          <p:spPr>
            <a:xfrm>
              <a:off x="5285" y="3859"/>
              <a:ext cx="12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57" y="3946"/>
              <a:ext cx="1152"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65" name="Rectangle 64"/>
            <p:cNvSpPr/>
            <p:nvPr/>
          </p:nvSpPr>
          <p:spPr>
            <a:xfrm>
              <a:off x="6581" y="3859"/>
              <a:ext cx="1368"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653" y="3946"/>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67" name="Rectangle 66"/>
            <p:cNvSpPr/>
            <p:nvPr/>
          </p:nvSpPr>
          <p:spPr>
            <a:xfrm>
              <a:off x="7949" y="3859"/>
              <a:ext cx="6912"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35" y="3946"/>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只有事件方向，缺少 household baseline</a:t>
              </a:r>
            </a:p>
          </p:txBody>
        </p:sp>
        <p:sp>
          <p:nvSpPr>
            <p:cNvPr id="69" name="Rectangle 68"/>
            <p:cNvSpPr/>
            <p:nvPr/>
          </p:nvSpPr>
          <p:spPr>
            <a:xfrm>
              <a:off x="14861" y="3859"/>
              <a:ext cx="108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4947" y="3946"/>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2.72</a:t>
              </a:r>
            </a:p>
          </p:txBody>
        </p:sp>
        <p:sp>
          <p:nvSpPr>
            <p:cNvPr id="71" name="Rectangle 70"/>
            <p:cNvSpPr/>
            <p:nvPr/>
          </p:nvSpPr>
          <p:spPr>
            <a:xfrm>
              <a:off x="749" y="4421"/>
              <a:ext cx="30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35" y="4507"/>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Zero-shot rule tree</a:t>
              </a:r>
            </a:p>
          </p:txBody>
        </p:sp>
        <p:sp>
          <p:nvSpPr>
            <p:cNvPr id="73" name="Rectangle 72"/>
            <p:cNvSpPr/>
            <p:nvPr/>
          </p:nvSpPr>
          <p:spPr>
            <a:xfrm>
              <a:off x="3845" y="4421"/>
              <a:ext cx="144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917" y="4507"/>
              <a:ext cx="1296"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75" name="Rectangle 74"/>
            <p:cNvSpPr/>
            <p:nvPr/>
          </p:nvSpPr>
          <p:spPr>
            <a:xfrm>
              <a:off x="5285" y="4421"/>
              <a:ext cx="12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357" y="4507"/>
              <a:ext cx="1152"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77" name="Rectangle 76"/>
            <p:cNvSpPr/>
            <p:nvPr/>
          </p:nvSpPr>
          <p:spPr>
            <a:xfrm>
              <a:off x="6581" y="4421"/>
              <a:ext cx="1368"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653" y="4507"/>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79" name="Rectangle 78"/>
            <p:cNvSpPr/>
            <p:nvPr/>
          </p:nvSpPr>
          <p:spPr>
            <a:xfrm>
              <a:off x="7949" y="4421"/>
              <a:ext cx="6912"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035" y="4507"/>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LLM 直接构建规则树，无数值校准</a:t>
              </a:r>
            </a:p>
          </p:txBody>
        </p:sp>
        <p:sp>
          <p:nvSpPr>
            <p:cNvPr id="81" name="Rectangle 80"/>
            <p:cNvSpPr/>
            <p:nvPr/>
          </p:nvSpPr>
          <p:spPr>
            <a:xfrm>
              <a:off x="14861" y="4421"/>
              <a:ext cx="108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4947" y="4507"/>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2.60</a:t>
              </a:r>
            </a:p>
          </p:txBody>
        </p:sp>
        <p:sp>
          <p:nvSpPr>
            <p:cNvPr id="83" name="Rectangle 82"/>
            <p:cNvSpPr/>
            <p:nvPr/>
          </p:nvSpPr>
          <p:spPr>
            <a:xfrm>
              <a:off x="749" y="4982"/>
              <a:ext cx="30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35" y="5069"/>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Rule + 500 history</a:t>
              </a:r>
            </a:p>
          </p:txBody>
        </p:sp>
        <p:sp>
          <p:nvSpPr>
            <p:cNvPr id="85" name="Rectangle 84"/>
            <p:cNvSpPr/>
            <p:nvPr/>
          </p:nvSpPr>
          <p:spPr>
            <a:xfrm>
              <a:off x="3845" y="4982"/>
              <a:ext cx="144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917" y="5069"/>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87" name="Rectangle 86"/>
            <p:cNvSpPr/>
            <p:nvPr/>
          </p:nvSpPr>
          <p:spPr>
            <a:xfrm>
              <a:off x="5285" y="4982"/>
              <a:ext cx="12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357" y="5069"/>
              <a:ext cx="1152"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89" name="Rectangle 88"/>
            <p:cNvSpPr/>
            <p:nvPr/>
          </p:nvSpPr>
          <p:spPr>
            <a:xfrm>
              <a:off x="6581" y="4982"/>
              <a:ext cx="1368"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653" y="5069"/>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91" name="Rectangle 90"/>
            <p:cNvSpPr/>
            <p:nvPr/>
          </p:nvSpPr>
          <p:spPr>
            <a:xfrm>
              <a:off x="7949" y="4982"/>
              <a:ext cx="6912"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035" y="5069"/>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LLM 规则 + 少量历史标签校准</a:t>
              </a:r>
            </a:p>
          </p:txBody>
        </p:sp>
        <p:sp>
          <p:nvSpPr>
            <p:cNvPr id="93" name="Rectangle 92"/>
            <p:cNvSpPr/>
            <p:nvPr/>
          </p:nvSpPr>
          <p:spPr>
            <a:xfrm>
              <a:off x="14861" y="4982"/>
              <a:ext cx="108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4947" y="5069"/>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2.77</a:t>
              </a:r>
            </a:p>
          </p:txBody>
        </p:sp>
        <p:sp>
          <p:nvSpPr>
            <p:cNvPr id="95" name="Rectangle 94"/>
            <p:cNvSpPr/>
            <p:nvPr/>
          </p:nvSpPr>
          <p:spPr>
            <a:xfrm>
              <a:off x="749" y="5544"/>
              <a:ext cx="30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835" y="5630"/>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Global event rule</a:t>
              </a:r>
            </a:p>
          </p:txBody>
        </p:sp>
        <p:sp>
          <p:nvSpPr>
            <p:cNvPr id="97" name="Rectangle 96"/>
            <p:cNvSpPr/>
            <p:nvPr/>
          </p:nvSpPr>
          <p:spPr>
            <a:xfrm>
              <a:off x="3845" y="5544"/>
              <a:ext cx="144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917" y="5630"/>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99" name="Rectangle 98"/>
            <p:cNvSpPr/>
            <p:nvPr/>
          </p:nvSpPr>
          <p:spPr>
            <a:xfrm>
              <a:off x="5285" y="5544"/>
              <a:ext cx="12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5357" y="5630"/>
              <a:ext cx="1152"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101" name="Rectangle 100"/>
            <p:cNvSpPr/>
            <p:nvPr/>
          </p:nvSpPr>
          <p:spPr>
            <a:xfrm>
              <a:off x="6581" y="5544"/>
              <a:ext cx="1368"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653" y="5630"/>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103" name="Rectangle 102"/>
            <p:cNvSpPr/>
            <p:nvPr/>
          </p:nvSpPr>
          <p:spPr>
            <a:xfrm>
              <a:off x="7949" y="5544"/>
              <a:ext cx="6912"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035" y="5630"/>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所有家庭使用同一疫情折减</a:t>
              </a:r>
            </a:p>
          </p:txBody>
        </p:sp>
        <p:sp>
          <p:nvSpPr>
            <p:cNvPr id="105" name="Rectangle 104"/>
            <p:cNvSpPr/>
            <p:nvPr/>
          </p:nvSpPr>
          <p:spPr>
            <a:xfrm>
              <a:off x="14861" y="5544"/>
              <a:ext cx="108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14947" y="5630"/>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2.52</a:t>
              </a:r>
            </a:p>
          </p:txBody>
        </p:sp>
        <p:sp>
          <p:nvSpPr>
            <p:cNvPr id="107" name="Rectangle 106"/>
            <p:cNvSpPr/>
            <p:nvPr/>
          </p:nvSpPr>
          <p:spPr>
            <a:xfrm>
              <a:off x="749" y="6106"/>
              <a:ext cx="30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35" y="6192"/>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Random pressure</a:t>
              </a:r>
            </a:p>
          </p:txBody>
        </p:sp>
        <p:sp>
          <p:nvSpPr>
            <p:cNvPr id="109" name="Rectangle 108"/>
            <p:cNvSpPr/>
            <p:nvPr/>
          </p:nvSpPr>
          <p:spPr>
            <a:xfrm>
              <a:off x="3845" y="6106"/>
              <a:ext cx="144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3917" y="6192"/>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111" name="Rectangle 110"/>
            <p:cNvSpPr/>
            <p:nvPr/>
          </p:nvSpPr>
          <p:spPr>
            <a:xfrm>
              <a:off x="5285" y="6106"/>
              <a:ext cx="1296"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5357" y="6192"/>
              <a:ext cx="1152"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113" name="Rectangle 112"/>
            <p:cNvSpPr/>
            <p:nvPr/>
          </p:nvSpPr>
          <p:spPr>
            <a:xfrm>
              <a:off x="6581" y="6106"/>
              <a:ext cx="1368"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653" y="6192"/>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115" name="Rectangle 114"/>
            <p:cNvSpPr/>
            <p:nvPr/>
          </p:nvSpPr>
          <p:spPr>
            <a:xfrm>
              <a:off x="7949" y="6106"/>
              <a:ext cx="6912"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8035" y="6192"/>
              <a:ext cx="6739" cy="389"/>
            </a:xfrm>
            <a:prstGeom prst="rect">
              <a:avLst/>
            </a:prstGeom>
            <a:noFill/>
          </p:spPr>
          <p:txBody>
            <a:bodyPr wrap="square" lIns="27432" tIns="9144" rIns="27432" bIns="9144" anchor="ctr">
              <a:spAutoFit/>
            </a:bodyPr>
            <a:lstStyle/>
            <a:p>
              <a:pPr algn="l">
                <a:defRPr sz="1050" b="0">
                  <a:solidFill>
                    <a:srgbClr val="1F2937"/>
                  </a:solidFill>
                  <a:latin typeface="Noto Sans SC" panose="020B0200000000000000" charset="-122"/>
                </a:defRPr>
              </a:pPr>
              <a:r>
                <a:rPr sz="1050" b="0">
                  <a:solidFill>
                    <a:srgbClr val="1F2937"/>
                  </a:solidFill>
                  <a:latin typeface="Noto Sans SC" panose="020B0200000000000000" charset="-122"/>
                </a:rPr>
                <a:t>随机 pressure 对照</a:t>
              </a:r>
            </a:p>
          </p:txBody>
        </p:sp>
        <p:sp>
          <p:nvSpPr>
            <p:cNvPr id="117" name="Rectangle 116"/>
            <p:cNvSpPr/>
            <p:nvPr/>
          </p:nvSpPr>
          <p:spPr>
            <a:xfrm>
              <a:off x="14861" y="6106"/>
              <a:ext cx="1080" cy="562"/>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4947" y="6192"/>
              <a:ext cx="907" cy="389"/>
            </a:xfrm>
            <a:prstGeom prst="rect">
              <a:avLst/>
            </a:prstGeom>
            <a:noFill/>
          </p:spPr>
          <p:txBody>
            <a:bodyPr wrap="square" lIns="27432" tIns="9144" rIns="27432" bIns="9144" anchor="ctr">
              <a:spAutoFit/>
            </a:bodyPr>
            <a:lstStyle/>
            <a:p>
              <a:pPr algn="r">
                <a:defRPr sz="1050" b="0">
                  <a:solidFill>
                    <a:srgbClr val="1F2937"/>
                  </a:solidFill>
                  <a:latin typeface="Noto Sans SC" panose="020B0200000000000000" charset="-122"/>
                </a:defRPr>
              </a:pPr>
              <a:r>
                <a:rPr sz="1050" b="0">
                  <a:solidFill>
                    <a:srgbClr val="1F2937"/>
                  </a:solidFill>
                  <a:latin typeface="Noto Sans SC" panose="020B0200000000000000" charset="-122"/>
                </a:rPr>
                <a:t>2.65</a:t>
              </a:r>
            </a:p>
          </p:txBody>
        </p:sp>
        <p:sp>
          <p:nvSpPr>
            <p:cNvPr id="119" name="Rectangle 118"/>
            <p:cNvSpPr/>
            <p:nvPr/>
          </p:nvSpPr>
          <p:spPr>
            <a:xfrm>
              <a:off x="749" y="6667"/>
              <a:ext cx="30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835" y="6754"/>
              <a:ext cx="2923"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Hybrid gated</a:t>
              </a:r>
            </a:p>
          </p:txBody>
        </p:sp>
        <p:sp>
          <p:nvSpPr>
            <p:cNvPr id="121" name="Rectangle 120"/>
            <p:cNvSpPr/>
            <p:nvPr/>
          </p:nvSpPr>
          <p:spPr>
            <a:xfrm>
              <a:off x="3845" y="6667"/>
              <a:ext cx="144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3917" y="6754"/>
              <a:ext cx="1296"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123" name="Rectangle 122"/>
            <p:cNvSpPr/>
            <p:nvPr/>
          </p:nvSpPr>
          <p:spPr>
            <a:xfrm>
              <a:off x="5285" y="6667"/>
              <a:ext cx="1296"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357" y="6754"/>
              <a:ext cx="1152" cy="389"/>
            </a:xfrm>
            <a:prstGeom prst="rect">
              <a:avLst/>
            </a:prstGeom>
            <a:noFill/>
          </p:spPr>
          <p:txBody>
            <a:bodyPr wrap="square" lIns="27432" tIns="9144" rIns="27432" bIns="9144" anchor="ctr">
              <a:spAutoFit/>
            </a:bodyPr>
            <a:lstStyle/>
            <a:p>
              <a:pPr algn="ctr">
                <a:defRPr sz="1200" b="1">
                  <a:solidFill>
                    <a:srgbClr val="22C55E"/>
                  </a:solidFill>
                  <a:latin typeface="Noto Sans SC" panose="020B0200000000000000" charset="-122"/>
                </a:defRPr>
              </a:pPr>
              <a:r>
                <a:rPr sz="1200" b="1">
                  <a:solidFill>
                    <a:srgbClr val="22C55E"/>
                  </a:solidFill>
                  <a:latin typeface="Noto Sans SC" panose="020B0200000000000000" charset="-122"/>
                </a:rPr>
                <a:t>●</a:t>
              </a:r>
            </a:p>
          </p:txBody>
        </p:sp>
        <p:sp>
          <p:nvSpPr>
            <p:cNvPr id="125" name="Rectangle 124"/>
            <p:cNvSpPr/>
            <p:nvPr/>
          </p:nvSpPr>
          <p:spPr>
            <a:xfrm>
              <a:off x="6581" y="6667"/>
              <a:ext cx="1368"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653" y="6754"/>
              <a:ext cx="1224" cy="389"/>
            </a:xfrm>
            <a:prstGeom prst="rect">
              <a:avLst/>
            </a:prstGeom>
            <a:noFill/>
          </p:spPr>
          <p:txBody>
            <a:bodyPr wrap="square" lIns="27432" tIns="9144" rIns="27432" bIns="9144" anchor="ctr">
              <a:spAutoFit/>
            </a:bodyPr>
            <a:lstStyle/>
            <a:p>
              <a:pPr algn="ctr">
                <a:defRPr sz="1200" b="1">
                  <a:solidFill>
                    <a:srgbClr val="BE123C"/>
                  </a:solidFill>
                  <a:latin typeface="Noto Sans SC" panose="020B0200000000000000" charset="-122"/>
                </a:defRPr>
              </a:pPr>
              <a:r>
                <a:rPr sz="1200" b="1">
                  <a:solidFill>
                    <a:srgbClr val="BE123C"/>
                  </a:solidFill>
                  <a:latin typeface="Noto Sans SC" panose="020B0200000000000000" charset="-122"/>
                </a:rPr>
                <a:t>×</a:t>
              </a:r>
            </a:p>
          </p:txBody>
        </p:sp>
        <p:sp>
          <p:nvSpPr>
            <p:cNvPr id="127" name="Rectangle 126"/>
            <p:cNvSpPr/>
            <p:nvPr/>
          </p:nvSpPr>
          <p:spPr>
            <a:xfrm>
              <a:off x="7949" y="6667"/>
              <a:ext cx="6912"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035" y="6754"/>
              <a:ext cx="6739" cy="389"/>
            </a:xfrm>
            <a:prstGeom prst="rect">
              <a:avLst/>
            </a:prstGeom>
            <a:noFill/>
          </p:spPr>
          <p:txBody>
            <a:bodyPr wrap="square" lIns="27432" tIns="9144" rIns="27432" bIns="9144" anchor="ctr">
              <a:spAutoFit/>
            </a:bodyPr>
            <a:lstStyle/>
            <a:p>
              <a:pPr algn="l">
                <a:defRPr sz="1050" b="1">
                  <a:solidFill>
                    <a:srgbClr val="1F2937"/>
                  </a:solidFill>
                  <a:latin typeface="Noto Sans SC" panose="020B0200000000000000" charset="-122"/>
                </a:defRPr>
              </a:pPr>
              <a:r>
                <a:rPr sz="1050" b="1">
                  <a:solidFill>
                    <a:srgbClr val="1F2937"/>
                  </a:solidFill>
                  <a:latin typeface="Noto Sans SC" panose="020B0200000000000000" charset="-122"/>
                </a:rPr>
                <a:t>历史基线 × LLM 事件折减</a:t>
              </a:r>
            </a:p>
          </p:txBody>
        </p:sp>
        <p:sp>
          <p:nvSpPr>
            <p:cNvPr id="129" name="Rectangle 128"/>
            <p:cNvSpPr/>
            <p:nvPr/>
          </p:nvSpPr>
          <p:spPr>
            <a:xfrm>
              <a:off x="14861" y="6667"/>
              <a:ext cx="1080" cy="562"/>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4947" y="6754"/>
              <a:ext cx="907" cy="389"/>
            </a:xfrm>
            <a:prstGeom prst="rect">
              <a:avLst/>
            </a:prstGeom>
            <a:noFill/>
          </p:spPr>
          <p:txBody>
            <a:bodyPr wrap="square" lIns="27432" tIns="9144" rIns="27432" bIns="9144" anchor="ctr">
              <a:spAutoFit/>
            </a:bodyPr>
            <a:lstStyle/>
            <a:p>
              <a:pPr algn="r">
                <a:defRPr sz="1050" b="1">
                  <a:solidFill>
                    <a:srgbClr val="1F2937"/>
                  </a:solidFill>
                  <a:latin typeface="Noto Sans SC" panose="020B0200000000000000" charset="-122"/>
                </a:defRPr>
              </a:pPr>
              <a:r>
                <a:rPr sz="1050" b="1">
                  <a:solidFill>
                    <a:srgbClr val="1F2937"/>
                  </a:solidFill>
                  <a:latin typeface="Noto Sans SC" panose="020B0200000000000000" charset="-122"/>
                </a:rPr>
                <a:t>2.50</a:t>
              </a:r>
            </a:p>
          </p:txBody>
        </p:sp>
      </p:grpSp>
      <p:sp>
        <p:nvSpPr>
          <p:cNvPr id="131" name="TextBox 130"/>
          <p:cNvSpPr txBox="1"/>
          <p:nvPr/>
        </p:nvSpPr>
        <p:spPr>
          <a:xfrm>
            <a:off x="1154430" y="5693443"/>
            <a:ext cx="3383280" cy="203133"/>
          </a:xfrm>
          <a:prstGeom prst="rect">
            <a:avLst/>
          </a:prstGeom>
          <a:noFill/>
        </p:spPr>
        <p:txBody>
          <a:bodyPr wrap="square" lIns="27432" tIns="9144" rIns="27432" bIns="9144" anchor="ctr">
            <a:spAutoFit/>
          </a:bodyPr>
          <a:lstStyle/>
          <a:p>
            <a:pPr algn="l">
              <a:defRPr sz="1200" b="1">
                <a:solidFill>
                  <a:srgbClr val="64748B"/>
                </a:solidFill>
                <a:latin typeface="Noto Sans SC" panose="020B0200000000000000" charset="-122"/>
              </a:defRPr>
            </a:pPr>
            <a:r>
              <a:rPr sz="1200" b="1" dirty="0">
                <a:solidFill>
                  <a:srgbClr val="64748B"/>
                </a:solidFill>
                <a:latin typeface="Noto Sans SC" panose="020B0200000000000000" charset="-122"/>
              </a:rPr>
              <a:t>● </a:t>
            </a:r>
            <a:r>
              <a:rPr lang="zh-CN" altLang="en-US" sz="1200" b="1" dirty="0">
                <a:solidFill>
                  <a:srgbClr val="64748B"/>
                </a:solidFill>
                <a:latin typeface="Noto Sans SC" panose="020B0200000000000000" charset="-122"/>
              </a:rPr>
              <a:t>使用 </a:t>
            </a:r>
            <a:r>
              <a:rPr lang="en" sz="1200" b="1" dirty="0">
                <a:solidFill>
                  <a:srgbClr val="64748B"/>
                </a:solidFill>
                <a:latin typeface="Noto Sans SC" panose="020B0200000000000000" charset="-122"/>
              </a:rPr>
              <a:t>    </a:t>
            </a:r>
            <a:r>
              <a:rPr sz="1200" b="1" dirty="0">
                <a:solidFill>
                  <a:srgbClr val="64748B"/>
                </a:solidFill>
                <a:latin typeface="Noto Sans SC" panose="020B0200000000000000" charset="-122"/>
              </a:rPr>
              <a:t>× </a:t>
            </a:r>
            <a:r>
              <a:rPr sz="1200" b="1" dirty="0" err="1">
                <a:solidFill>
                  <a:srgbClr val="64748B"/>
                </a:solidFill>
                <a:latin typeface="Noto Sans SC" panose="020B0200000000000000" charset="-122"/>
              </a:rPr>
              <a:t>不使用</a:t>
            </a:r>
            <a:endParaRPr sz="1200" b="1" dirty="0">
              <a:solidFill>
                <a:srgbClr val="64748B"/>
              </a:solidFill>
              <a:latin typeface="Noto Sans SC" panose="020B0200000000000000" charset="-122"/>
            </a:endParaRPr>
          </a:p>
        </p:txBody>
      </p:sp>
      <p:sp>
        <p:nvSpPr>
          <p:cNvPr id="8" name="AutoShape 3"/>
          <p:cNvSpPr/>
          <p:nvPr/>
        </p:nvSpPr>
        <p:spPr>
          <a:xfrm>
            <a:off x="762000" y="1524000"/>
            <a:ext cx="10668000" cy="25400"/>
          </a:xfrm>
          <a:prstGeom prst="roundRect">
            <a:avLst>
              <a:gd name="adj" fmla="val 0"/>
            </a:avLst>
          </a:prstGeom>
          <a:solidFill>
            <a:srgbClr val="40E0D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文本框 8"/>
          <p:cNvSpPr txBox="1"/>
          <p:nvPr/>
        </p:nvSpPr>
        <p:spPr>
          <a:xfrm>
            <a:off x="7287895" y="708660"/>
            <a:ext cx="3890010" cy="85344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r"/>
            <a:r>
              <a:rPr lang="zh-CN" altLang="en-US" sz="2400" dirty="0">
                <a:sym typeface="Noto Sans SC" panose="020B0200000000000000" charset="-122"/>
              </a:rPr>
              <a:t>对比体系</a:t>
            </a:r>
          </a:p>
        </p:txBody>
      </p:sp>
      <p:sp>
        <p:nvSpPr>
          <p:cNvPr id="3" name="AutoShape 2"/>
          <p:cNvSpPr/>
          <p:nvPr/>
        </p:nvSpPr>
        <p:spPr>
          <a:xfrm>
            <a:off x="762000" y="874395"/>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组合 112"/>
          <p:cNvGrpSpPr/>
          <p:nvPr/>
        </p:nvGrpSpPr>
        <p:grpSpPr>
          <a:xfrm>
            <a:off x="899160" y="2047240"/>
            <a:ext cx="10368915" cy="4572000"/>
            <a:chOff x="797" y="1699"/>
            <a:chExt cx="16329" cy="7200"/>
          </a:xfrm>
        </p:grpSpPr>
        <p:sp>
          <p:nvSpPr>
            <p:cNvPr id="2" name="TextBox 10"/>
            <p:cNvSpPr txBox="1"/>
            <p:nvPr/>
          </p:nvSpPr>
          <p:spPr>
            <a:xfrm>
              <a:off x="936" y="1735"/>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Historical mean</a:t>
              </a:r>
            </a:p>
          </p:txBody>
        </p:sp>
        <p:sp>
          <p:nvSpPr>
            <p:cNvPr id="6" name="Rectangle 11"/>
            <p:cNvSpPr/>
            <p:nvPr/>
          </p:nvSpPr>
          <p:spPr>
            <a:xfrm>
              <a:off x="4320" y="1814"/>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12"/>
            <p:cNvSpPr/>
            <p:nvPr/>
          </p:nvSpPr>
          <p:spPr>
            <a:xfrm>
              <a:off x="4320" y="1814"/>
              <a:ext cx="4299" cy="245"/>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3"/>
            <p:cNvSpPr txBox="1"/>
            <p:nvPr/>
          </p:nvSpPr>
          <p:spPr>
            <a:xfrm>
              <a:off x="9144" y="1728"/>
              <a:ext cx="792" cy="346"/>
            </a:xfrm>
            <a:prstGeom prst="rect">
              <a:avLst/>
            </a:prstGeom>
            <a:noFill/>
          </p:spPr>
          <p:txBody>
            <a:bodyPr wrap="square" lIns="27432" tIns="9144" rIns="27432" bIns="9144" anchor="ctr">
              <a:spAutoFit/>
            </a:bodyPr>
            <a:lstStyle/>
            <a:p>
              <a:pPr algn="r">
                <a:defRPr sz="800" b="1">
                  <a:solidFill>
                    <a:srgbClr val="64748B"/>
                  </a:solidFill>
                  <a:latin typeface="微软雅黑" panose="020B0503020204020204" charset="-122"/>
                </a:defRPr>
              </a:pPr>
              <a:r>
                <a:rPr sz="800" b="1">
                  <a:solidFill>
                    <a:srgbClr val="64748B"/>
                  </a:solidFill>
                  <a:latin typeface="微软雅黑" panose="020B0503020204020204" charset="-122"/>
                </a:rPr>
                <a:t>5.51</a:t>
              </a:r>
            </a:p>
          </p:txBody>
        </p:sp>
        <p:sp>
          <p:nvSpPr>
            <p:cNvPr id="10" name="TextBox 14"/>
            <p:cNvSpPr txBox="1"/>
            <p:nvPr/>
          </p:nvSpPr>
          <p:spPr>
            <a:xfrm>
              <a:off x="936" y="2356"/>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Ordinary XGBoost</a:t>
              </a:r>
            </a:p>
          </p:txBody>
        </p:sp>
        <p:sp>
          <p:nvSpPr>
            <p:cNvPr id="65" name="Rectangle 15"/>
            <p:cNvSpPr/>
            <p:nvPr/>
          </p:nvSpPr>
          <p:spPr>
            <a:xfrm>
              <a:off x="4320" y="2435"/>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16"/>
            <p:cNvSpPr/>
            <p:nvPr/>
          </p:nvSpPr>
          <p:spPr>
            <a:xfrm>
              <a:off x="4320" y="2435"/>
              <a:ext cx="3383" cy="245"/>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17"/>
            <p:cNvSpPr txBox="1"/>
            <p:nvPr/>
          </p:nvSpPr>
          <p:spPr>
            <a:xfrm>
              <a:off x="9144" y="2349"/>
              <a:ext cx="792" cy="346"/>
            </a:xfrm>
            <a:prstGeom prst="rect">
              <a:avLst/>
            </a:prstGeom>
            <a:noFill/>
          </p:spPr>
          <p:txBody>
            <a:bodyPr wrap="square" lIns="27432" tIns="9144" rIns="27432" bIns="9144" anchor="ctr">
              <a:spAutoFit/>
            </a:bodyPr>
            <a:lstStyle/>
            <a:p>
              <a:pPr algn="r">
                <a:defRPr sz="800" b="1">
                  <a:solidFill>
                    <a:srgbClr val="BE123C"/>
                  </a:solidFill>
                  <a:latin typeface="微软雅黑" panose="020B0503020204020204" charset="-122"/>
                </a:defRPr>
              </a:pPr>
              <a:r>
                <a:rPr sz="800" b="1">
                  <a:solidFill>
                    <a:srgbClr val="BE123C"/>
                  </a:solidFill>
                  <a:latin typeface="微软雅黑" panose="020B0503020204020204" charset="-122"/>
                </a:rPr>
                <a:t>4.34</a:t>
              </a:r>
            </a:p>
          </p:txBody>
        </p:sp>
        <p:sp>
          <p:nvSpPr>
            <p:cNvPr id="68" name="TextBox 18"/>
            <p:cNvSpPr txBox="1"/>
            <p:nvPr/>
          </p:nvSpPr>
          <p:spPr>
            <a:xfrm>
              <a:off x="936" y="2977"/>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Trend / indicator</a:t>
              </a:r>
            </a:p>
          </p:txBody>
        </p:sp>
        <p:sp>
          <p:nvSpPr>
            <p:cNvPr id="69" name="Rectangle 19"/>
            <p:cNvSpPr/>
            <p:nvPr/>
          </p:nvSpPr>
          <p:spPr>
            <a:xfrm>
              <a:off x="4320" y="3056"/>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20"/>
            <p:cNvSpPr/>
            <p:nvPr/>
          </p:nvSpPr>
          <p:spPr>
            <a:xfrm>
              <a:off x="4320" y="3056"/>
              <a:ext cx="3237" cy="245"/>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21"/>
            <p:cNvSpPr txBox="1"/>
            <p:nvPr/>
          </p:nvSpPr>
          <p:spPr>
            <a:xfrm>
              <a:off x="9144" y="2970"/>
              <a:ext cx="792" cy="346"/>
            </a:xfrm>
            <a:prstGeom prst="rect">
              <a:avLst/>
            </a:prstGeom>
            <a:noFill/>
          </p:spPr>
          <p:txBody>
            <a:bodyPr wrap="square" lIns="27432" tIns="9144" rIns="27432" bIns="9144" anchor="ctr">
              <a:spAutoFit/>
            </a:bodyPr>
            <a:lstStyle/>
            <a:p>
              <a:pPr algn="r">
                <a:defRPr sz="800" b="1">
                  <a:solidFill>
                    <a:srgbClr val="EA580C"/>
                  </a:solidFill>
                  <a:latin typeface="微软雅黑" panose="020B0503020204020204" charset="-122"/>
                </a:defRPr>
              </a:pPr>
              <a:r>
                <a:rPr sz="800" b="1">
                  <a:solidFill>
                    <a:srgbClr val="EA580C"/>
                  </a:solidFill>
                  <a:latin typeface="微软雅黑" panose="020B0503020204020204" charset="-122"/>
                </a:rPr>
                <a:t>4.15</a:t>
              </a:r>
            </a:p>
          </p:txBody>
        </p:sp>
        <p:sp>
          <p:nvSpPr>
            <p:cNvPr id="72" name="TextBox 22"/>
            <p:cNvSpPr txBox="1"/>
            <p:nvPr/>
          </p:nvSpPr>
          <p:spPr>
            <a:xfrm>
              <a:off x="936" y="3598"/>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LLM-only pressure</a:t>
              </a:r>
            </a:p>
          </p:txBody>
        </p:sp>
        <p:sp>
          <p:nvSpPr>
            <p:cNvPr id="73" name="Rectangle 23"/>
            <p:cNvSpPr/>
            <p:nvPr/>
          </p:nvSpPr>
          <p:spPr>
            <a:xfrm>
              <a:off x="4320" y="3677"/>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24"/>
            <p:cNvSpPr/>
            <p:nvPr/>
          </p:nvSpPr>
          <p:spPr>
            <a:xfrm>
              <a:off x="4320" y="3677"/>
              <a:ext cx="2120" cy="245"/>
            </a:xfrm>
            <a:prstGeom prst="rect">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25"/>
            <p:cNvSpPr txBox="1"/>
            <p:nvPr/>
          </p:nvSpPr>
          <p:spPr>
            <a:xfrm>
              <a:off x="9144" y="3591"/>
              <a:ext cx="792" cy="346"/>
            </a:xfrm>
            <a:prstGeom prst="rect">
              <a:avLst/>
            </a:prstGeom>
            <a:noFill/>
          </p:spPr>
          <p:txBody>
            <a:bodyPr wrap="square" lIns="27432" tIns="9144" rIns="27432" bIns="9144" anchor="ctr">
              <a:spAutoFit/>
            </a:bodyPr>
            <a:lstStyle/>
            <a:p>
              <a:pPr algn="r">
                <a:defRPr sz="800" b="1">
                  <a:solidFill>
                    <a:srgbClr val="5B21B6"/>
                  </a:solidFill>
                  <a:latin typeface="微软雅黑" panose="020B0503020204020204" charset="-122"/>
                </a:defRPr>
              </a:pPr>
              <a:r>
                <a:rPr sz="800" b="1">
                  <a:solidFill>
                    <a:srgbClr val="5B21B6"/>
                  </a:solidFill>
                  <a:latin typeface="微软雅黑" panose="020B0503020204020204" charset="-122"/>
                </a:rPr>
                <a:t>2.72</a:t>
              </a:r>
            </a:p>
          </p:txBody>
        </p:sp>
        <p:sp>
          <p:nvSpPr>
            <p:cNvPr id="76" name="TextBox 26"/>
            <p:cNvSpPr txBox="1"/>
            <p:nvPr/>
          </p:nvSpPr>
          <p:spPr>
            <a:xfrm>
              <a:off x="936" y="4219"/>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Zero-shot rule tree</a:t>
              </a:r>
            </a:p>
          </p:txBody>
        </p:sp>
        <p:sp>
          <p:nvSpPr>
            <p:cNvPr id="77" name="Rectangle 27"/>
            <p:cNvSpPr/>
            <p:nvPr/>
          </p:nvSpPr>
          <p:spPr>
            <a:xfrm>
              <a:off x="4320" y="4298"/>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28"/>
            <p:cNvSpPr/>
            <p:nvPr/>
          </p:nvSpPr>
          <p:spPr>
            <a:xfrm>
              <a:off x="4320" y="4298"/>
              <a:ext cx="2030" cy="24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29"/>
            <p:cNvSpPr txBox="1"/>
            <p:nvPr/>
          </p:nvSpPr>
          <p:spPr>
            <a:xfrm>
              <a:off x="9144" y="4212"/>
              <a:ext cx="792" cy="346"/>
            </a:xfrm>
            <a:prstGeom prst="rect">
              <a:avLst/>
            </a:prstGeom>
            <a:noFill/>
          </p:spPr>
          <p:txBody>
            <a:bodyPr wrap="square" lIns="27432" tIns="9144" rIns="27432" bIns="9144" anchor="ctr">
              <a:spAutoFit/>
            </a:bodyPr>
            <a:lstStyle/>
            <a:p>
              <a:pPr algn="r">
                <a:defRPr sz="800" b="1">
                  <a:solidFill>
                    <a:srgbClr val="2563EB"/>
                  </a:solidFill>
                  <a:latin typeface="微软雅黑" panose="020B0503020204020204" charset="-122"/>
                </a:defRPr>
              </a:pPr>
              <a:r>
                <a:rPr sz="800" b="1">
                  <a:solidFill>
                    <a:srgbClr val="2563EB"/>
                  </a:solidFill>
                  <a:latin typeface="微软雅黑" panose="020B0503020204020204" charset="-122"/>
                </a:rPr>
                <a:t>2.60</a:t>
              </a:r>
            </a:p>
          </p:txBody>
        </p:sp>
        <p:sp>
          <p:nvSpPr>
            <p:cNvPr id="80" name="TextBox 30"/>
            <p:cNvSpPr txBox="1"/>
            <p:nvPr/>
          </p:nvSpPr>
          <p:spPr>
            <a:xfrm>
              <a:off x="936" y="4840"/>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Rule + 500 history</a:t>
              </a:r>
            </a:p>
          </p:txBody>
        </p:sp>
        <p:sp>
          <p:nvSpPr>
            <p:cNvPr id="81" name="Rectangle 31"/>
            <p:cNvSpPr/>
            <p:nvPr/>
          </p:nvSpPr>
          <p:spPr>
            <a:xfrm>
              <a:off x="4320" y="4919"/>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32"/>
            <p:cNvSpPr/>
            <p:nvPr/>
          </p:nvSpPr>
          <p:spPr>
            <a:xfrm>
              <a:off x="4320" y="4919"/>
              <a:ext cx="2162" cy="245"/>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33"/>
            <p:cNvSpPr txBox="1"/>
            <p:nvPr/>
          </p:nvSpPr>
          <p:spPr>
            <a:xfrm>
              <a:off x="9144" y="4833"/>
              <a:ext cx="792" cy="346"/>
            </a:xfrm>
            <a:prstGeom prst="rect">
              <a:avLst/>
            </a:prstGeom>
            <a:noFill/>
          </p:spPr>
          <p:txBody>
            <a:bodyPr wrap="square" lIns="27432" tIns="9144" rIns="27432" bIns="9144" anchor="ctr">
              <a:spAutoFit/>
            </a:bodyPr>
            <a:lstStyle/>
            <a:p>
              <a:pPr algn="r">
                <a:defRPr sz="800" b="1">
                  <a:solidFill>
                    <a:srgbClr val="EA580C"/>
                  </a:solidFill>
                  <a:latin typeface="微软雅黑" panose="020B0503020204020204" charset="-122"/>
                </a:defRPr>
              </a:pPr>
              <a:r>
                <a:rPr sz="800" b="1">
                  <a:solidFill>
                    <a:srgbClr val="EA580C"/>
                  </a:solidFill>
                  <a:latin typeface="微软雅黑" panose="020B0503020204020204" charset="-122"/>
                </a:rPr>
                <a:t>2.77</a:t>
              </a:r>
            </a:p>
          </p:txBody>
        </p:sp>
        <p:sp>
          <p:nvSpPr>
            <p:cNvPr id="84" name="TextBox 34"/>
            <p:cNvSpPr txBox="1"/>
            <p:nvPr/>
          </p:nvSpPr>
          <p:spPr>
            <a:xfrm>
              <a:off x="936" y="5461"/>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Global event rule</a:t>
              </a:r>
            </a:p>
          </p:txBody>
        </p:sp>
        <p:sp>
          <p:nvSpPr>
            <p:cNvPr id="85" name="Rectangle 35"/>
            <p:cNvSpPr/>
            <p:nvPr/>
          </p:nvSpPr>
          <p:spPr>
            <a:xfrm>
              <a:off x="4320" y="5540"/>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36"/>
            <p:cNvSpPr/>
            <p:nvPr/>
          </p:nvSpPr>
          <p:spPr>
            <a:xfrm>
              <a:off x="4320" y="5540"/>
              <a:ext cx="1967" cy="24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37"/>
            <p:cNvSpPr txBox="1"/>
            <p:nvPr/>
          </p:nvSpPr>
          <p:spPr>
            <a:xfrm>
              <a:off x="9144" y="5454"/>
              <a:ext cx="792" cy="346"/>
            </a:xfrm>
            <a:prstGeom prst="rect">
              <a:avLst/>
            </a:prstGeom>
            <a:noFill/>
          </p:spPr>
          <p:txBody>
            <a:bodyPr wrap="square" lIns="27432" tIns="9144" rIns="27432" bIns="9144" anchor="ctr">
              <a:spAutoFit/>
            </a:bodyPr>
            <a:lstStyle/>
            <a:p>
              <a:pPr algn="r">
                <a:defRPr sz="800" b="1">
                  <a:solidFill>
                    <a:srgbClr val="00796B"/>
                  </a:solidFill>
                  <a:latin typeface="微软雅黑" panose="020B0503020204020204" charset="-122"/>
                </a:defRPr>
              </a:pPr>
              <a:r>
                <a:rPr sz="800" b="1">
                  <a:solidFill>
                    <a:srgbClr val="00796B"/>
                  </a:solidFill>
                  <a:latin typeface="微软雅黑" panose="020B0503020204020204" charset="-122"/>
                </a:rPr>
                <a:t>2.52</a:t>
              </a:r>
            </a:p>
          </p:txBody>
        </p:sp>
        <p:sp>
          <p:nvSpPr>
            <p:cNvPr id="88" name="TextBox 38"/>
            <p:cNvSpPr txBox="1"/>
            <p:nvPr/>
          </p:nvSpPr>
          <p:spPr>
            <a:xfrm>
              <a:off x="936" y="6082"/>
              <a:ext cx="3240" cy="346"/>
            </a:xfrm>
            <a:prstGeom prst="rect">
              <a:avLst/>
            </a:prstGeom>
            <a:noFill/>
          </p:spPr>
          <p:txBody>
            <a:bodyPr wrap="square" lIns="27432" tIns="9144" rIns="27432" bIns="9144" anchor="ctr">
              <a:spAutoFit/>
            </a:bodyPr>
            <a:lstStyle/>
            <a:p>
              <a:pPr algn="l">
                <a:defRPr sz="780" b="0">
                  <a:solidFill>
                    <a:srgbClr val="0F172A"/>
                  </a:solidFill>
                  <a:latin typeface="微软雅黑" panose="020B0503020204020204" charset="-122"/>
                </a:defRPr>
              </a:pPr>
              <a:r>
                <a:rPr sz="780" b="0">
                  <a:solidFill>
                    <a:srgbClr val="0F172A"/>
                  </a:solidFill>
                  <a:latin typeface="微软雅黑" panose="020B0503020204020204" charset="-122"/>
                </a:rPr>
                <a:t>Hybrid gated</a:t>
              </a:r>
            </a:p>
          </p:txBody>
        </p:sp>
        <p:sp>
          <p:nvSpPr>
            <p:cNvPr id="89" name="Rectangle 39"/>
            <p:cNvSpPr/>
            <p:nvPr/>
          </p:nvSpPr>
          <p:spPr>
            <a:xfrm>
              <a:off x="4320" y="6161"/>
              <a:ext cx="4680" cy="24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40"/>
            <p:cNvSpPr/>
            <p:nvPr/>
          </p:nvSpPr>
          <p:spPr>
            <a:xfrm>
              <a:off x="4320" y="6161"/>
              <a:ext cx="1952" cy="245"/>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41"/>
            <p:cNvSpPr txBox="1"/>
            <p:nvPr/>
          </p:nvSpPr>
          <p:spPr>
            <a:xfrm>
              <a:off x="9144" y="6075"/>
              <a:ext cx="792" cy="346"/>
            </a:xfrm>
            <a:prstGeom prst="rect">
              <a:avLst/>
            </a:prstGeom>
            <a:noFill/>
          </p:spPr>
          <p:txBody>
            <a:bodyPr wrap="square" lIns="27432" tIns="9144" rIns="27432" bIns="9144" anchor="ctr">
              <a:spAutoFit/>
            </a:bodyPr>
            <a:lstStyle/>
            <a:p>
              <a:pPr algn="r">
                <a:defRPr sz="800" b="1">
                  <a:solidFill>
                    <a:srgbClr val="198754"/>
                  </a:solidFill>
                  <a:latin typeface="微软雅黑" panose="020B0503020204020204" charset="-122"/>
                </a:defRPr>
              </a:pPr>
              <a:r>
                <a:rPr sz="800" b="1">
                  <a:solidFill>
                    <a:srgbClr val="198754"/>
                  </a:solidFill>
                  <a:latin typeface="微软雅黑" panose="020B0503020204020204" charset="-122"/>
                </a:rPr>
                <a:t>2.50</a:t>
              </a:r>
            </a:p>
          </p:txBody>
        </p:sp>
        <p:sp>
          <p:nvSpPr>
            <p:cNvPr id="92" name="Rectangle 42"/>
            <p:cNvSpPr/>
            <p:nvPr/>
          </p:nvSpPr>
          <p:spPr>
            <a:xfrm>
              <a:off x="10296" y="1699"/>
              <a:ext cx="2952"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43"/>
            <p:cNvSpPr txBox="1"/>
            <p:nvPr/>
          </p:nvSpPr>
          <p:spPr>
            <a:xfrm>
              <a:off x="10354" y="1814"/>
              <a:ext cx="2837"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Method</a:t>
              </a:r>
            </a:p>
          </p:txBody>
        </p:sp>
        <p:sp>
          <p:nvSpPr>
            <p:cNvPr id="94" name="Rectangle 44"/>
            <p:cNvSpPr/>
            <p:nvPr/>
          </p:nvSpPr>
          <p:spPr>
            <a:xfrm>
              <a:off x="13248" y="1699"/>
              <a:ext cx="1296"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45"/>
            <p:cNvSpPr txBox="1"/>
            <p:nvPr/>
          </p:nvSpPr>
          <p:spPr>
            <a:xfrm>
              <a:off x="13306" y="1814"/>
              <a:ext cx="1181"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wMAE</a:t>
              </a:r>
            </a:p>
          </p:txBody>
        </p:sp>
        <p:sp>
          <p:nvSpPr>
            <p:cNvPr id="96" name="Rectangle 46"/>
            <p:cNvSpPr/>
            <p:nvPr/>
          </p:nvSpPr>
          <p:spPr>
            <a:xfrm>
              <a:off x="14544" y="1699"/>
              <a:ext cx="1296"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47"/>
            <p:cNvSpPr txBox="1"/>
            <p:nvPr/>
          </p:nvSpPr>
          <p:spPr>
            <a:xfrm>
              <a:off x="14602" y="1814"/>
              <a:ext cx="1181"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wBias</a:t>
              </a:r>
            </a:p>
          </p:txBody>
        </p:sp>
        <p:sp>
          <p:nvSpPr>
            <p:cNvPr id="98" name="Rectangle 48"/>
            <p:cNvSpPr/>
            <p:nvPr/>
          </p:nvSpPr>
          <p:spPr>
            <a:xfrm>
              <a:off x="15840" y="1699"/>
              <a:ext cx="1152"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49"/>
            <p:cNvSpPr txBox="1"/>
            <p:nvPr/>
          </p:nvSpPr>
          <p:spPr>
            <a:xfrm>
              <a:off x="15898" y="1814"/>
              <a:ext cx="1037"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wR2</a:t>
              </a:r>
            </a:p>
          </p:txBody>
        </p:sp>
        <p:sp>
          <p:nvSpPr>
            <p:cNvPr id="100" name="Rectangle 50"/>
            <p:cNvSpPr/>
            <p:nvPr/>
          </p:nvSpPr>
          <p:spPr>
            <a:xfrm>
              <a:off x="10296" y="2304"/>
              <a:ext cx="29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51"/>
            <p:cNvSpPr txBox="1"/>
            <p:nvPr/>
          </p:nvSpPr>
          <p:spPr>
            <a:xfrm>
              <a:off x="10382" y="2405"/>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Ordinary XGBoost</a:t>
              </a:r>
            </a:p>
          </p:txBody>
        </p:sp>
        <p:sp>
          <p:nvSpPr>
            <p:cNvPr id="102" name="Rectangle 52"/>
            <p:cNvSpPr/>
            <p:nvPr/>
          </p:nvSpPr>
          <p:spPr>
            <a:xfrm>
              <a:off x="13248" y="2304"/>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53"/>
            <p:cNvSpPr txBox="1"/>
            <p:nvPr/>
          </p:nvSpPr>
          <p:spPr>
            <a:xfrm>
              <a:off x="13334" y="2405"/>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4.338</a:t>
              </a:r>
            </a:p>
          </p:txBody>
        </p:sp>
        <p:sp>
          <p:nvSpPr>
            <p:cNvPr id="104" name="Rectangle 54"/>
            <p:cNvSpPr/>
            <p:nvPr/>
          </p:nvSpPr>
          <p:spPr>
            <a:xfrm>
              <a:off x="14544" y="2304"/>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55"/>
            <p:cNvSpPr txBox="1"/>
            <p:nvPr/>
          </p:nvSpPr>
          <p:spPr>
            <a:xfrm>
              <a:off x="14630" y="2405"/>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+3.605</a:t>
              </a:r>
            </a:p>
          </p:txBody>
        </p:sp>
        <p:sp>
          <p:nvSpPr>
            <p:cNvPr id="106" name="Rectangle 56"/>
            <p:cNvSpPr/>
            <p:nvPr/>
          </p:nvSpPr>
          <p:spPr>
            <a:xfrm>
              <a:off x="15840" y="2304"/>
              <a:ext cx="11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57"/>
            <p:cNvSpPr txBox="1"/>
            <p:nvPr/>
          </p:nvSpPr>
          <p:spPr>
            <a:xfrm>
              <a:off x="15926" y="2405"/>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-0.637</a:t>
              </a:r>
            </a:p>
          </p:txBody>
        </p:sp>
        <p:sp>
          <p:nvSpPr>
            <p:cNvPr id="108" name="Rectangle 58"/>
            <p:cNvSpPr/>
            <p:nvPr/>
          </p:nvSpPr>
          <p:spPr>
            <a:xfrm>
              <a:off x="10296" y="2909"/>
              <a:ext cx="29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59"/>
            <p:cNvSpPr txBox="1"/>
            <p:nvPr/>
          </p:nvSpPr>
          <p:spPr>
            <a:xfrm>
              <a:off x="10382" y="3010"/>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CatBoost GPU</a:t>
              </a:r>
            </a:p>
          </p:txBody>
        </p:sp>
        <p:sp>
          <p:nvSpPr>
            <p:cNvPr id="110" name="Rectangle 60"/>
            <p:cNvSpPr/>
            <p:nvPr/>
          </p:nvSpPr>
          <p:spPr>
            <a:xfrm>
              <a:off x="13248" y="2909"/>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61"/>
            <p:cNvSpPr txBox="1"/>
            <p:nvPr/>
          </p:nvSpPr>
          <p:spPr>
            <a:xfrm>
              <a:off x="13334" y="3010"/>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4.220</a:t>
              </a:r>
            </a:p>
          </p:txBody>
        </p:sp>
        <p:sp>
          <p:nvSpPr>
            <p:cNvPr id="112" name="Rectangle 62"/>
            <p:cNvSpPr/>
            <p:nvPr/>
          </p:nvSpPr>
          <p:spPr>
            <a:xfrm>
              <a:off x="14544" y="2909"/>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63"/>
            <p:cNvSpPr txBox="1"/>
            <p:nvPr/>
          </p:nvSpPr>
          <p:spPr>
            <a:xfrm>
              <a:off x="14630" y="3010"/>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+3.487</a:t>
              </a:r>
            </a:p>
          </p:txBody>
        </p:sp>
        <p:sp>
          <p:nvSpPr>
            <p:cNvPr id="115" name="Rectangle 64"/>
            <p:cNvSpPr/>
            <p:nvPr/>
          </p:nvSpPr>
          <p:spPr>
            <a:xfrm>
              <a:off x="15840" y="2909"/>
              <a:ext cx="11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65"/>
            <p:cNvSpPr txBox="1"/>
            <p:nvPr/>
          </p:nvSpPr>
          <p:spPr>
            <a:xfrm>
              <a:off x="15926" y="3010"/>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-0.571</a:t>
              </a:r>
            </a:p>
          </p:txBody>
        </p:sp>
        <p:sp>
          <p:nvSpPr>
            <p:cNvPr id="117" name="Rectangle 66"/>
            <p:cNvSpPr/>
            <p:nvPr/>
          </p:nvSpPr>
          <p:spPr>
            <a:xfrm>
              <a:off x="10296" y="3514"/>
              <a:ext cx="29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67"/>
            <p:cNvSpPr txBox="1"/>
            <p:nvPr/>
          </p:nvSpPr>
          <p:spPr>
            <a:xfrm>
              <a:off x="10382" y="3614"/>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LLM-only pressure</a:t>
              </a:r>
            </a:p>
          </p:txBody>
        </p:sp>
        <p:sp>
          <p:nvSpPr>
            <p:cNvPr id="119" name="Rectangle 68"/>
            <p:cNvSpPr/>
            <p:nvPr/>
          </p:nvSpPr>
          <p:spPr>
            <a:xfrm>
              <a:off x="13248" y="3514"/>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69"/>
            <p:cNvSpPr txBox="1"/>
            <p:nvPr/>
          </p:nvSpPr>
          <p:spPr>
            <a:xfrm>
              <a:off x="13334" y="3614"/>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2.718</a:t>
              </a:r>
            </a:p>
          </p:txBody>
        </p:sp>
        <p:sp>
          <p:nvSpPr>
            <p:cNvPr id="121" name="Rectangle 70"/>
            <p:cNvSpPr/>
            <p:nvPr/>
          </p:nvSpPr>
          <p:spPr>
            <a:xfrm>
              <a:off x="14544" y="3514"/>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71"/>
            <p:cNvSpPr txBox="1"/>
            <p:nvPr/>
          </p:nvSpPr>
          <p:spPr>
            <a:xfrm>
              <a:off x="14630" y="3614"/>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-0.373</a:t>
              </a:r>
            </a:p>
          </p:txBody>
        </p:sp>
        <p:sp>
          <p:nvSpPr>
            <p:cNvPr id="123" name="Rectangle 72"/>
            <p:cNvSpPr/>
            <p:nvPr/>
          </p:nvSpPr>
          <p:spPr>
            <a:xfrm>
              <a:off x="15840" y="3514"/>
              <a:ext cx="11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73"/>
            <p:cNvSpPr txBox="1"/>
            <p:nvPr/>
          </p:nvSpPr>
          <p:spPr>
            <a:xfrm>
              <a:off x="15926" y="3614"/>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0.079</a:t>
              </a:r>
            </a:p>
          </p:txBody>
        </p:sp>
        <p:sp>
          <p:nvSpPr>
            <p:cNvPr id="125" name="Rectangle 74"/>
            <p:cNvSpPr/>
            <p:nvPr/>
          </p:nvSpPr>
          <p:spPr>
            <a:xfrm>
              <a:off x="10296" y="4118"/>
              <a:ext cx="29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75"/>
            <p:cNvSpPr txBox="1"/>
            <p:nvPr/>
          </p:nvSpPr>
          <p:spPr>
            <a:xfrm>
              <a:off x="10382" y="4219"/>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Zero-shot tree</a:t>
              </a:r>
            </a:p>
          </p:txBody>
        </p:sp>
        <p:sp>
          <p:nvSpPr>
            <p:cNvPr id="127" name="Rectangle 76"/>
            <p:cNvSpPr/>
            <p:nvPr/>
          </p:nvSpPr>
          <p:spPr>
            <a:xfrm>
              <a:off x="13248" y="4118"/>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77"/>
            <p:cNvSpPr txBox="1"/>
            <p:nvPr/>
          </p:nvSpPr>
          <p:spPr>
            <a:xfrm>
              <a:off x="13334" y="4219"/>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2.602</a:t>
              </a:r>
            </a:p>
          </p:txBody>
        </p:sp>
        <p:sp>
          <p:nvSpPr>
            <p:cNvPr id="129" name="Rectangle 78"/>
            <p:cNvSpPr/>
            <p:nvPr/>
          </p:nvSpPr>
          <p:spPr>
            <a:xfrm>
              <a:off x="14544" y="4118"/>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79"/>
            <p:cNvSpPr txBox="1"/>
            <p:nvPr/>
          </p:nvSpPr>
          <p:spPr>
            <a:xfrm>
              <a:off x="14630" y="4219"/>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-0.407</a:t>
              </a:r>
            </a:p>
          </p:txBody>
        </p:sp>
        <p:sp>
          <p:nvSpPr>
            <p:cNvPr id="131" name="Rectangle 80"/>
            <p:cNvSpPr/>
            <p:nvPr/>
          </p:nvSpPr>
          <p:spPr>
            <a:xfrm>
              <a:off x="15840" y="4118"/>
              <a:ext cx="11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81"/>
            <p:cNvSpPr txBox="1"/>
            <p:nvPr/>
          </p:nvSpPr>
          <p:spPr>
            <a:xfrm>
              <a:off x="15926" y="4219"/>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0.151</a:t>
              </a:r>
            </a:p>
          </p:txBody>
        </p:sp>
        <p:sp>
          <p:nvSpPr>
            <p:cNvPr id="133" name="Rectangle 82"/>
            <p:cNvSpPr/>
            <p:nvPr/>
          </p:nvSpPr>
          <p:spPr>
            <a:xfrm>
              <a:off x="10296" y="4723"/>
              <a:ext cx="29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83"/>
            <p:cNvSpPr txBox="1"/>
            <p:nvPr/>
          </p:nvSpPr>
          <p:spPr>
            <a:xfrm>
              <a:off x="10382" y="4824"/>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Rule + 500 hist.</a:t>
              </a:r>
            </a:p>
          </p:txBody>
        </p:sp>
        <p:sp>
          <p:nvSpPr>
            <p:cNvPr id="135" name="Rectangle 84"/>
            <p:cNvSpPr/>
            <p:nvPr/>
          </p:nvSpPr>
          <p:spPr>
            <a:xfrm>
              <a:off x="13248" y="4723"/>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85"/>
            <p:cNvSpPr txBox="1"/>
            <p:nvPr/>
          </p:nvSpPr>
          <p:spPr>
            <a:xfrm>
              <a:off x="13334" y="4824"/>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2.772</a:t>
              </a:r>
            </a:p>
          </p:txBody>
        </p:sp>
        <p:sp>
          <p:nvSpPr>
            <p:cNvPr id="137" name="Rectangle 86"/>
            <p:cNvSpPr/>
            <p:nvPr/>
          </p:nvSpPr>
          <p:spPr>
            <a:xfrm>
              <a:off x="14544" y="4723"/>
              <a:ext cx="12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87"/>
            <p:cNvSpPr txBox="1"/>
            <p:nvPr/>
          </p:nvSpPr>
          <p:spPr>
            <a:xfrm>
              <a:off x="14630" y="4824"/>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+0.463</a:t>
              </a:r>
            </a:p>
          </p:txBody>
        </p:sp>
        <p:sp>
          <p:nvSpPr>
            <p:cNvPr id="139" name="Rectangle 88"/>
            <p:cNvSpPr/>
            <p:nvPr/>
          </p:nvSpPr>
          <p:spPr>
            <a:xfrm>
              <a:off x="15840" y="4723"/>
              <a:ext cx="1152"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89"/>
            <p:cNvSpPr txBox="1"/>
            <p:nvPr/>
          </p:nvSpPr>
          <p:spPr>
            <a:xfrm>
              <a:off x="15926" y="4824"/>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0.154</a:t>
              </a:r>
            </a:p>
          </p:txBody>
        </p:sp>
        <p:sp>
          <p:nvSpPr>
            <p:cNvPr id="141" name="Rectangle 90"/>
            <p:cNvSpPr/>
            <p:nvPr/>
          </p:nvSpPr>
          <p:spPr>
            <a:xfrm>
              <a:off x="10296" y="5328"/>
              <a:ext cx="29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91"/>
            <p:cNvSpPr txBox="1"/>
            <p:nvPr/>
          </p:nvSpPr>
          <p:spPr>
            <a:xfrm>
              <a:off x="10382" y="5429"/>
              <a:ext cx="2779"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Hybrid gated</a:t>
              </a:r>
            </a:p>
          </p:txBody>
        </p:sp>
        <p:sp>
          <p:nvSpPr>
            <p:cNvPr id="143" name="Rectangle 92"/>
            <p:cNvSpPr/>
            <p:nvPr/>
          </p:nvSpPr>
          <p:spPr>
            <a:xfrm>
              <a:off x="13248" y="5328"/>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93"/>
            <p:cNvSpPr txBox="1"/>
            <p:nvPr/>
          </p:nvSpPr>
          <p:spPr>
            <a:xfrm>
              <a:off x="13334" y="5429"/>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2.502</a:t>
              </a:r>
            </a:p>
          </p:txBody>
        </p:sp>
        <p:sp>
          <p:nvSpPr>
            <p:cNvPr id="145" name="Rectangle 94"/>
            <p:cNvSpPr/>
            <p:nvPr/>
          </p:nvSpPr>
          <p:spPr>
            <a:xfrm>
              <a:off x="14544" y="5328"/>
              <a:ext cx="12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95"/>
            <p:cNvSpPr txBox="1"/>
            <p:nvPr/>
          </p:nvSpPr>
          <p:spPr>
            <a:xfrm>
              <a:off x="14630" y="5429"/>
              <a:ext cx="11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-0.023</a:t>
              </a:r>
            </a:p>
          </p:txBody>
        </p:sp>
        <p:sp>
          <p:nvSpPr>
            <p:cNvPr id="147" name="Rectangle 96"/>
            <p:cNvSpPr/>
            <p:nvPr/>
          </p:nvSpPr>
          <p:spPr>
            <a:xfrm>
              <a:off x="15840" y="5328"/>
              <a:ext cx="1152"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97"/>
            <p:cNvSpPr txBox="1"/>
            <p:nvPr/>
          </p:nvSpPr>
          <p:spPr>
            <a:xfrm>
              <a:off x="15926" y="5429"/>
              <a:ext cx="979"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0.248</a:t>
              </a:r>
            </a:p>
          </p:txBody>
        </p:sp>
        <p:sp>
          <p:nvSpPr>
            <p:cNvPr id="149" name="Rounded Rectangle 98"/>
            <p:cNvSpPr/>
            <p:nvPr/>
          </p:nvSpPr>
          <p:spPr>
            <a:xfrm>
              <a:off x="10310" y="6221"/>
              <a:ext cx="2952" cy="1037"/>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99"/>
            <p:cNvSpPr/>
            <p:nvPr/>
          </p:nvSpPr>
          <p:spPr>
            <a:xfrm>
              <a:off x="10310" y="6221"/>
              <a:ext cx="79" cy="1037"/>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00"/>
            <p:cNvSpPr txBox="1"/>
            <p:nvPr/>
          </p:nvSpPr>
          <p:spPr>
            <a:xfrm>
              <a:off x="10512" y="6336"/>
              <a:ext cx="2606"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MAE reduction</a:t>
              </a:r>
            </a:p>
          </p:txBody>
        </p:sp>
        <p:sp>
          <p:nvSpPr>
            <p:cNvPr id="152" name="TextBox 101"/>
            <p:cNvSpPr txBox="1"/>
            <p:nvPr/>
          </p:nvSpPr>
          <p:spPr>
            <a:xfrm>
              <a:off x="10512" y="6610"/>
              <a:ext cx="2606" cy="461"/>
            </a:xfrm>
            <a:prstGeom prst="rect">
              <a:avLst/>
            </a:prstGeom>
            <a:noFill/>
          </p:spPr>
          <p:txBody>
            <a:bodyPr wrap="square" lIns="27432" tIns="9144" rIns="27432" bIns="9144" anchor="ctr">
              <a:spAutoFit/>
            </a:bodyPr>
            <a:lstStyle/>
            <a:p>
              <a:pPr algn="l">
                <a:defRPr sz="1600" b="1">
                  <a:solidFill>
                    <a:srgbClr val="198754"/>
                  </a:solidFill>
                  <a:latin typeface="微软雅黑" panose="020B0503020204020204" charset="-122"/>
                </a:defRPr>
              </a:pPr>
              <a:r>
                <a:rPr sz="1600" b="1">
                  <a:solidFill>
                    <a:srgbClr val="198754"/>
                  </a:solidFill>
                  <a:latin typeface="微软雅黑" panose="020B0503020204020204" charset="-122"/>
                </a:rPr>
                <a:t>-42.3%</a:t>
              </a:r>
            </a:p>
          </p:txBody>
        </p:sp>
        <p:sp>
          <p:nvSpPr>
            <p:cNvPr id="153" name="TextBox 102"/>
            <p:cNvSpPr txBox="1"/>
            <p:nvPr/>
          </p:nvSpPr>
          <p:spPr>
            <a:xfrm>
              <a:off x="10512" y="7099"/>
              <a:ext cx="2606"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primary vs XGBoost</a:t>
              </a:r>
            </a:p>
          </p:txBody>
        </p:sp>
        <p:sp>
          <p:nvSpPr>
            <p:cNvPr id="154" name="Rounded Rectangle 103"/>
            <p:cNvSpPr/>
            <p:nvPr/>
          </p:nvSpPr>
          <p:spPr>
            <a:xfrm>
              <a:off x="13608" y="6221"/>
              <a:ext cx="2952" cy="1037"/>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04"/>
            <p:cNvSpPr/>
            <p:nvPr/>
          </p:nvSpPr>
          <p:spPr>
            <a:xfrm>
              <a:off x="13608" y="6221"/>
              <a:ext cx="79" cy="103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05"/>
            <p:cNvSpPr txBox="1"/>
            <p:nvPr/>
          </p:nvSpPr>
          <p:spPr>
            <a:xfrm>
              <a:off x="13810" y="6336"/>
              <a:ext cx="2606"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Bias reduction</a:t>
              </a:r>
            </a:p>
          </p:txBody>
        </p:sp>
        <p:sp>
          <p:nvSpPr>
            <p:cNvPr id="157" name="TextBox 106"/>
            <p:cNvSpPr txBox="1"/>
            <p:nvPr/>
          </p:nvSpPr>
          <p:spPr>
            <a:xfrm>
              <a:off x="13810" y="6610"/>
              <a:ext cx="2606" cy="461"/>
            </a:xfrm>
            <a:prstGeom prst="rect">
              <a:avLst/>
            </a:prstGeom>
            <a:noFill/>
          </p:spPr>
          <p:txBody>
            <a:bodyPr wrap="square" lIns="27432" tIns="9144" rIns="27432" bIns="9144" anchor="ctr">
              <a:spAutoFit/>
            </a:bodyPr>
            <a:lstStyle/>
            <a:p>
              <a:pPr algn="l">
                <a:defRPr sz="1600" b="1">
                  <a:solidFill>
                    <a:srgbClr val="2563EB"/>
                  </a:solidFill>
                  <a:latin typeface="微软雅黑" panose="020B0503020204020204" charset="-122"/>
                </a:defRPr>
              </a:pPr>
              <a:r>
                <a:rPr sz="1600" b="1">
                  <a:solidFill>
                    <a:srgbClr val="2563EB"/>
                  </a:solidFill>
                  <a:latin typeface="微软雅黑" panose="020B0503020204020204" charset="-122"/>
                </a:rPr>
                <a:t>-99.4%</a:t>
              </a:r>
            </a:p>
          </p:txBody>
        </p:sp>
        <p:sp>
          <p:nvSpPr>
            <p:cNvPr id="158" name="TextBox 107"/>
            <p:cNvSpPr txBox="1"/>
            <p:nvPr/>
          </p:nvSpPr>
          <p:spPr>
            <a:xfrm>
              <a:off x="13810" y="7099"/>
              <a:ext cx="2606"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absolute weighted bias</a:t>
              </a:r>
            </a:p>
          </p:txBody>
        </p:sp>
        <p:sp>
          <p:nvSpPr>
            <p:cNvPr id="161" name="TextBox 110"/>
            <p:cNvSpPr txBox="1"/>
            <p:nvPr/>
          </p:nvSpPr>
          <p:spPr>
            <a:xfrm>
              <a:off x="797" y="7848"/>
              <a:ext cx="16329" cy="318"/>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CatBoost GPU、zero-shot LLM rule tree 和少量历史校准规则都没有超过主方法；加入 gated event adapter 后，wMAE 降到 2.50，bias 接近 0。</a:t>
              </a:r>
            </a:p>
          </p:txBody>
        </p:sp>
        <p:sp>
          <p:nvSpPr>
            <p:cNvPr id="162" name="TextBox 111"/>
            <p:cNvSpPr txBox="1"/>
            <p:nvPr/>
          </p:nvSpPr>
          <p:spPr>
            <a:xfrm>
              <a:off x="1440" y="8581"/>
              <a:ext cx="15307" cy="318"/>
            </a:xfrm>
            <a:prstGeom prst="rect">
              <a:avLst/>
            </a:prstGeom>
            <a:noFill/>
          </p:spPr>
          <p:txBody>
            <a:bodyPr wrap="square" lIns="27432" tIns="9144" rIns="27432" bIns="9144" anchor="t">
              <a:spAutoFit/>
            </a:bodyPr>
            <a:lstStyle/>
            <a:p>
              <a:pPr algn="l">
                <a:defRPr sz="1200" b="0">
                  <a:solidFill>
                    <a:srgbClr val="64748B"/>
                  </a:solidFill>
                  <a:latin typeface="微软雅黑" panose="020B0503020204020204" charset="-122"/>
                </a:defRPr>
              </a:pPr>
              <a:endParaRPr sz="1200" b="0">
                <a:solidFill>
                  <a:srgbClr val="64748B"/>
                </a:solidFill>
                <a:latin typeface="微软雅黑" panose="020B0503020204020204" charset="-122"/>
              </a:endParaRPr>
            </a:p>
          </p:txBody>
        </p:sp>
      </p:grpSp>
      <p:sp>
        <p:nvSpPr>
          <p:cNvPr id="163" name="AutoShape 2"/>
          <p:cNvSpPr/>
          <p:nvPr/>
        </p:nvSpPr>
        <p:spPr>
          <a:xfrm>
            <a:off x="5784215" y="825500"/>
            <a:ext cx="5645785"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en-US" sz="2400" b="1" dirty="0" err="1">
                <a:solidFill>
                  <a:srgbClr val="333333"/>
                </a:solidFill>
                <a:latin typeface="Noto Sans SC" panose="020B0200000000000000" charset="-122"/>
                <a:ea typeface="Noto Sans SC" panose="020B0200000000000000" charset="-122"/>
                <a:cs typeface="Noto Sans SC" panose="020B0200000000000000" charset="-122"/>
              </a:rPr>
              <a:t>结果分析</a:t>
            </a:r>
          </a:p>
        </p:txBody>
      </p:sp>
      <p:sp>
        <p:nvSpPr>
          <p:cNvPr id="166"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7" name="banner"/>
          <p:cNvSpPr/>
          <p:nvPr/>
        </p:nvSpPr>
        <p:spPr>
          <a:xfrm>
            <a:off x="594360" y="5808345"/>
            <a:ext cx="11200130" cy="66421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68" name="AutoShape 2"/>
          <p:cNvSpPr/>
          <p:nvPr/>
        </p:nvSpPr>
        <p:spPr>
          <a:xfrm>
            <a:off x="762000" y="874395"/>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banner"/>
          <p:cNvSpPr/>
          <p:nvPr/>
        </p:nvSpPr>
        <p:spPr>
          <a:xfrm>
            <a:off x="5812790" y="5796915"/>
            <a:ext cx="5947410" cy="721995"/>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75" name="banner"/>
          <p:cNvSpPr/>
          <p:nvPr/>
        </p:nvSpPr>
        <p:spPr>
          <a:xfrm>
            <a:off x="697230" y="5796915"/>
            <a:ext cx="4680585" cy="721995"/>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grpSp>
        <p:nvGrpSpPr>
          <p:cNvPr id="59" name="组合 58"/>
          <p:cNvGrpSpPr/>
          <p:nvPr/>
        </p:nvGrpSpPr>
        <p:grpSpPr>
          <a:xfrm>
            <a:off x="737235" y="2163445"/>
            <a:ext cx="5407660" cy="4055745"/>
            <a:chOff x="3945" y="3321"/>
            <a:chExt cx="8516" cy="6387"/>
          </a:xfrm>
        </p:grpSpPr>
        <p:sp>
          <p:nvSpPr>
            <p:cNvPr id="11" name="Rectangle 10"/>
            <p:cNvSpPr/>
            <p:nvPr/>
          </p:nvSpPr>
          <p:spPr>
            <a:xfrm>
              <a:off x="3987" y="3321"/>
              <a:ext cx="2521" cy="83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47" y="3594"/>
              <a:ext cx="2304" cy="318"/>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Metric</a:t>
              </a:r>
            </a:p>
          </p:txBody>
        </p:sp>
        <p:sp>
          <p:nvSpPr>
            <p:cNvPr id="13" name="Rectangle 12"/>
            <p:cNvSpPr/>
            <p:nvPr/>
          </p:nvSpPr>
          <p:spPr>
            <a:xfrm>
              <a:off x="6508" y="3321"/>
              <a:ext cx="2520" cy="83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66" y="3436"/>
              <a:ext cx="2405" cy="634"/>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Point</a:t>
              </a:r>
            </a:p>
          </p:txBody>
        </p:sp>
        <p:sp>
          <p:nvSpPr>
            <p:cNvPr id="15" name="Rectangle 14"/>
            <p:cNvSpPr/>
            <p:nvPr/>
          </p:nvSpPr>
          <p:spPr>
            <a:xfrm>
              <a:off x="9028" y="3321"/>
              <a:ext cx="2224" cy="83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86" y="3594"/>
              <a:ext cx="2166" cy="318"/>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95% CI</a:t>
              </a:r>
            </a:p>
          </p:txBody>
        </p:sp>
        <p:sp>
          <p:nvSpPr>
            <p:cNvPr id="17" name="Rectangle 16"/>
            <p:cNvSpPr/>
            <p:nvPr>
              <p:custDataLst>
                <p:tags r:id="rId1"/>
              </p:custDataLst>
            </p:nvPr>
          </p:nvSpPr>
          <p:spPr>
            <a:xfrm>
              <a:off x="3987" y="4156"/>
              <a:ext cx="2521"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custDataLst>
                <p:tags r:id="rId2"/>
              </p:custDataLst>
            </p:nvPr>
          </p:nvSpPr>
          <p:spPr>
            <a:xfrm>
              <a:off x="4147" y="4257"/>
              <a:ext cx="2275" cy="318"/>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Baseline wMAE</a:t>
              </a:r>
            </a:p>
          </p:txBody>
        </p:sp>
        <p:sp>
          <p:nvSpPr>
            <p:cNvPr id="19" name="Rectangle 18"/>
            <p:cNvSpPr/>
            <p:nvPr>
              <p:custDataLst>
                <p:tags r:id="rId3"/>
              </p:custDataLst>
            </p:nvPr>
          </p:nvSpPr>
          <p:spPr>
            <a:xfrm>
              <a:off x="6508" y="4156"/>
              <a:ext cx="2520"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custDataLst>
                <p:tags r:id="rId4"/>
              </p:custDataLst>
            </p:nvPr>
          </p:nvSpPr>
          <p:spPr>
            <a:xfrm>
              <a:off x="6595" y="4257"/>
              <a:ext cx="2347" cy="634"/>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4.338</a:t>
              </a:r>
            </a:p>
          </p:txBody>
        </p:sp>
        <p:sp>
          <p:nvSpPr>
            <p:cNvPr id="21" name="Rectangle 20"/>
            <p:cNvSpPr/>
            <p:nvPr>
              <p:custDataLst>
                <p:tags r:id="rId5"/>
              </p:custDataLst>
            </p:nvPr>
          </p:nvSpPr>
          <p:spPr>
            <a:xfrm>
              <a:off x="9028" y="4156"/>
              <a:ext cx="2224"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custDataLst>
                <p:tags r:id="rId6"/>
              </p:custDataLst>
            </p:nvPr>
          </p:nvSpPr>
          <p:spPr>
            <a:xfrm>
              <a:off x="9115" y="4257"/>
              <a:ext cx="2138" cy="318"/>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[4.242, 4.431]</a:t>
              </a:r>
            </a:p>
          </p:txBody>
        </p:sp>
        <p:sp>
          <p:nvSpPr>
            <p:cNvPr id="23" name="Rectangle 22"/>
            <p:cNvSpPr/>
            <p:nvPr>
              <p:custDataLst>
                <p:tags r:id="rId7"/>
              </p:custDataLst>
            </p:nvPr>
          </p:nvSpPr>
          <p:spPr>
            <a:xfrm>
              <a:off x="3987" y="4991"/>
              <a:ext cx="2521"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custDataLst>
                <p:tags r:id="rId8"/>
              </p:custDataLst>
            </p:nvPr>
          </p:nvSpPr>
          <p:spPr>
            <a:xfrm>
              <a:off x="4147" y="5092"/>
              <a:ext cx="2275" cy="318"/>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Hybrid wMAE</a:t>
              </a:r>
            </a:p>
          </p:txBody>
        </p:sp>
        <p:sp>
          <p:nvSpPr>
            <p:cNvPr id="25" name="Rectangle 24"/>
            <p:cNvSpPr/>
            <p:nvPr>
              <p:custDataLst>
                <p:tags r:id="rId9"/>
              </p:custDataLst>
            </p:nvPr>
          </p:nvSpPr>
          <p:spPr>
            <a:xfrm>
              <a:off x="6508" y="4991"/>
              <a:ext cx="2520"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custDataLst>
                <p:tags r:id="rId10"/>
              </p:custDataLst>
            </p:nvPr>
          </p:nvSpPr>
          <p:spPr>
            <a:xfrm>
              <a:off x="6595" y="5092"/>
              <a:ext cx="2347" cy="634"/>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2.502</a:t>
              </a:r>
            </a:p>
          </p:txBody>
        </p:sp>
        <p:sp>
          <p:nvSpPr>
            <p:cNvPr id="27" name="Rectangle 26"/>
            <p:cNvSpPr/>
            <p:nvPr>
              <p:custDataLst>
                <p:tags r:id="rId11"/>
              </p:custDataLst>
            </p:nvPr>
          </p:nvSpPr>
          <p:spPr>
            <a:xfrm>
              <a:off x="9028" y="4991"/>
              <a:ext cx="2224"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custDataLst>
                <p:tags r:id="rId12"/>
              </p:custDataLst>
            </p:nvPr>
          </p:nvSpPr>
          <p:spPr>
            <a:xfrm>
              <a:off x="9115" y="5092"/>
              <a:ext cx="2362" cy="318"/>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[2.429, 2.581]</a:t>
              </a:r>
            </a:p>
          </p:txBody>
        </p:sp>
        <p:sp>
          <p:nvSpPr>
            <p:cNvPr id="29" name="Rectangle 28"/>
            <p:cNvSpPr/>
            <p:nvPr>
              <p:custDataLst>
                <p:tags r:id="rId13"/>
              </p:custDataLst>
            </p:nvPr>
          </p:nvSpPr>
          <p:spPr>
            <a:xfrm>
              <a:off x="3987" y="5827"/>
              <a:ext cx="2521"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custDataLst>
                <p:tags r:id="rId14"/>
              </p:custDataLst>
            </p:nvPr>
          </p:nvSpPr>
          <p:spPr>
            <a:xfrm>
              <a:off x="4147" y="5927"/>
              <a:ext cx="2275" cy="318"/>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Hybrid bias</a:t>
              </a:r>
            </a:p>
          </p:txBody>
        </p:sp>
        <p:sp>
          <p:nvSpPr>
            <p:cNvPr id="31" name="Rectangle 30"/>
            <p:cNvSpPr/>
            <p:nvPr>
              <p:custDataLst>
                <p:tags r:id="rId15"/>
              </p:custDataLst>
            </p:nvPr>
          </p:nvSpPr>
          <p:spPr>
            <a:xfrm>
              <a:off x="6508" y="5827"/>
              <a:ext cx="2520"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custDataLst>
                <p:tags r:id="rId16"/>
              </p:custDataLst>
            </p:nvPr>
          </p:nvSpPr>
          <p:spPr>
            <a:xfrm>
              <a:off x="6595" y="5927"/>
              <a:ext cx="2347" cy="634"/>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-0.023</a:t>
              </a:r>
            </a:p>
          </p:txBody>
        </p:sp>
        <p:sp>
          <p:nvSpPr>
            <p:cNvPr id="33" name="Rectangle 32"/>
            <p:cNvSpPr/>
            <p:nvPr>
              <p:custDataLst>
                <p:tags r:id="rId17"/>
              </p:custDataLst>
            </p:nvPr>
          </p:nvSpPr>
          <p:spPr>
            <a:xfrm>
              <a:off x="9028" y="5827"/>
              <a:ext cx="2224" cy="83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custDataLst>
                <p:tags r:id="rId18"/>
              </p:custDataLst>
            </p:nvPr>
          </p:nvSpPr>
          <p:spPr>
            <a:xfrm>
              <a:off x="9115" y="5927"/>
              <a:ext cx="2640" cy="318"/>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[-0.130, +0.088]</a:t>
              </a:r>
            </a:p>
          </p:txBody>
        </p:sp>
        <p:sp>
          <p:nvSpPr>
            <p:cNvPr id="35" name="Rectangle 34"/>
            <p:cNvSpPr/>
            <p:nvPr>
              <p:custDataLst>
                <p:tags r:id="rId19"/>
              </p:custDataLst>
            </p:nvPr>
          </p:nvSpPr>
          <p:spPr>
            <a:xfrm>
              <a:off x="3987" y="6662"/>
              <a:ext cx="2521"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custDataLst>
                <p:tags r:id="rId20"/>
              </p:custDataLst>
            </p:nvPr>
          </p:nvSpPr>
          <p:spPr>
            <a:xfrm>
              <a:off x="4147" y="6763"/>
              <a:ext cx="2275" cy="318"/>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Within 2 trips</a:t>
              </a:r>
            </a:p>
          </p:txBody>
        </p:sp>
        <p:sp>
          <p:nvSpPr>
            <p:cNvPr id="37" name="Rectangle 36"/>
            <p:cNvSpPr/>
            <p:nvPr>
              <p:custDataLst>
                <p:tags r:id="rId21"/>
              </p:custDataLst>
            </p:nvPr>
          </p:nvSpPr>
          <p:spPr>
            <a:xfrm>
              <a:off x="6508" y="6662"/>
              <a:ext cx="2520"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custDataLst>
                <p:tags r:id="rId22"/>
              </p:custDataLst>
            </p:nvPr>
          </p:nvSpPr>
          <p:spPr>
            <a:xfrm>
              <a:off x="6595" y="6763"/>
              <a:ext cx="2347" cy="634"/>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54.0%</a:t>
              </a:r>
            </a:p>
          </p:txBody>
        </p:sp>
        <p:sp>
          <p:nvSpPr>
            <p:cNvPr id="39" name="Rectangle 38"/>
            <p:cNvSpPr/>
            <p:nvPr>
              <p:custDataLst>
                <p:tags r:id="rId23"/>
              </p:custDataLst>
            </p:nvPr>
          </p:nvSpPr>
          <p:spPr>
            <a:xfrm>
              <a:off x="9028" y="6662"/>
              <a:ext cx="2224" cy="83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custDataLst>
                <p:tags r:id="rId24"/>
              </p:custDataLst>
            </p:nvPr>
          </p:nvSpPr>
          <p:spPr>
            <a:xfrm>
              <a:off x="9115" y="6763"/>
              <a:ext cx="3346" cy="383"/>
            </a:xfrm>
            <a:prstGeom prst="rect">
              <a:avLst/>
            </a:prstGeom>
            <a:noFill/>
          </p:spPr>
          <p:txBody>
            <a:bodyPr wrap="square" lIns="27432" tIns="9144" rIns="27432" bIns="9144" anchor="t">
              <a:no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[52.6%, 55.3%]</a:t>
              </a:r>
            </a:p>
          </p:txBody>
        </p:sp>
        <p:grpSp>
          <p:nvGrpSpPr>
            <p:cNvPr id="57" name="组合 56"/>
            <p:cNvGrpSpPr/>
            <p:nvPr/>
          </p:nvGrpSpPr>
          <p:grpSpPr>
            <a:xfrm>
              <a:off x="3945" y="7719"/>
              <a:ext cx="3816" cy="1324"/>
              <a:chOff x="13222" y="6117"/>
              <a:chExt cx="3816" cy="1324"/>
            </a:xfrm>
          </p:grpSpPr>
          <p:sp>
            <p:nvSpPr>
              <p:cNvPr id="41" name="Rounded Rectangle 40"/>
              <p:cNvSpPr/>
              <p:nvPr/>
            </p:nvSpPr>
            <p:spPr>
              <a:xfrm>
                <a:off x="13222" y="6117"/>
                <a:ext cx="2537" cy="1325"/>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424" y="6232"/>
                <a:ext cx="3614"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MAE gain</a:t>
                </a:r>
              </a:p>
            </p:txBody>
          </p:sp>
          <p:sp>
            <p:nvSpPr>
              <p:cNvPr id="44" name="TextBox 43"/>
              <p:cNvSpPr txBox="1"/>
              <p:nvPr/>
            </p:nvSpPr>
            <p:spPr>
              <a:xfrm>
                <a:off x="13424" y="6506"/>
                <a:ext cx="3614" cy="461"/>
              </a:xfrm>
              <a:prstGeom prst="rect">
                <a:avLst/>
              </a:prstGeom>
              <a:noFill/>
            </p:spPr>
            <p:txBody>
              <a:bodyPr wrap="square" lIns="27432" tIns="9144" rIns="27432" bIns="9144" anchor="ctr">
                <a:spAutoFit/>
              </a:bodyPr>
              <a:lstStyle/>
              <a:p>
                <a:pPr algn="l">
                  <a:defRPr sz="1600" b="1">
                    <a:solidFill>
                      <a:srgbClr val="198754"/>
                    </a:solidFill>
                    <a:latin typeface="微软雅黑" panose="020B0503020204020204" charset="-122"/>
                  </a:defRPr>
                </a:pPr>
                <a:r>
                  <a:rPr sz="1600" b="1">
                    <a:solidFill>
                      <a:srgbClr val="198754"/>
                    </a:solidFill>
                    <a:latin typeface="微软雅黑" panose="020B0503020204020204" charset="-122"/>
                  </a:rPr>
                  <a:t>1.84</a:t>
                </a:r>
              </a:p>
            </p:txBody>
          </p:sp>
          <p:sp>
            <p:nvSpPr>
              <p:cNvPr id="45" name="TextBox 44"/>
              <p:cNvSpPr txBox="1"/>
              <p:nvPr/>
            </p:nvSpPr>
            <p:spPr>
              <a:xfrm>
                <a:off x="13424" y="6995"/>
                <a:ext cx="3614"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CI [1.74, 1.93]</a:t>
                </a:r>
              </a:p>
            </p:txBody>
          </p:sp>
        </p:grpSp>
        <p:grpSp>
          <p:nvGrpSpPr>
            <p:cNvPr id="58" name="组合 57"/>
            <p:cNvGrpSpPr/>
            <p:nvPr/>
          </p:nvGrpSpPr>
          <p:grpSpPr>
            <a:xfrm>
              <a:off x="6737" y="7719"/>
              <a:ext cx="3816" cy="1324"/>
              <a:chOff x="13222" y="7845"/>
              <a:chExt cx="3816" cy="1324"/>
            </a:xfrm>
          </p:grpSpPr>
          <p:sp>
            <p:nvSpPr>
              <p:cNvPr id="46" name="Rounded Rectangle 45"/>
              <p:cNvSpPr/>
              <p:nvPr/>
            </p:nvSpPr>
            <p:spPr>
              <a:xfrm>
                <a:off x="13222" y="7845"/>
                <a:ext cx="2537" cy="1325"/>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3424" y="7960"/>
                <a:ext cx="3614"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Bias gain</a:t>
                </a:r>
              </a:p>
            </p:txBody>
          </p:sp>
          <p:sp>
            <p:nvSpPr>
              <p:cNvPr id="49" name="TextBox 48"/>
              <p:cNvSpPr txBox="1"/>
              <p:nvPr/>
            </p:nvSpPr>
            <p:spPr>
              <a:xfrm>
                <a:off x="13424" y="8234"/>
                <a:ext cx="3614" cy="461"/>
              </a:xfrm>
              <a:prstGeom prst="rect">
                <a:avLst/>
              </a:prstGeom>
              <a:noFill/>
            </p:spPr>
            <p:txBody>
              <a:bodyPr wrap="square" lIns="27432" tIns="9144" rIns="27432" bIns="9144" anchor="ctr">
                <a:spAutoFit/>
              </a:bodyPr>
              <a:lstStyle/>
              <a:p>
                <a:pPr algn="l">
                  <a:defRPr sz="1600" b="1">
                    <a:solidFill>
                      <a:srgbClr val="2563EB"/>
                    </a:solidFill>
                    <a:latin typeface="微软雅黑" panose="020B0503020204020204" charset="-122"/>
                  </a:defRPr>
                </a:pPr>
                <a:r>
                  <a:rPr sz="1600" b="1">
                    <a:solidFill>
                      <a:srgbClr val="2563EB"/>
                    </a:solidFill>
                    <a:latin typeface="微软雅黑" panose="020B0503020204020204" charset="-122"/>
                  </a:rPr>
                  <a:t>3.56</a:t>
                </a:r>
              </a:p>
            </p:txBody>
          </p:sp>
          <p:sp>
            <p:nvSpPr>
              <p:cNvPr id="50" name="TextBox 49"/>
              <p:cNvSpPr txBox="1"/>
              <p:nvPr/>
            </p:nvSpPr>
            <p:spPr>
              <a:xfrm>
                <a:off x="13424" y="8723"/>
                <a:ext cx="3614"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CI [3.36, 3.67]</a:t>
                </a:r>
              </a:p>
            </p:txBody>
          </p:sp>
        </p:grpSp>
        <p:sp>
          <p:nvSpPr>
            <p:cNvPr id="53" name="TextBox 52"/>
            <p:cNvSpPr txBox="1"/>
            <p:nvPr/>
          </p:nvSpPr>
          <p:spPr>
            <a:xfrm>
              <a:off x="3987" y="9202"/>
              <a:ext cx="7354" cy="507"/>
            </a:xfrm>
            <a:prstGeom prst="rect">
              <a:avLst/>
            </a:prstGeom>
            <a:noFill/>
          </p:spPr>
          <p:txBody>
            <a:bodyPr wrap="square" lIns="27432" tIns="9144" rIns="27432" bIns="9144" anchor="t">
              <a:noAutofit/>
            </a:bodyPr>
            <a:lstStyle/>
            <a:p>
              <a:pPr algn="l">
                <a:defRPr sz="1200" b="1">
                  <a:solidFill>
                    <a:srgbClr val="0F172A"/>
                  </a:solidFill>
                  <a:latin typeface="微软雅黑" panose="020B0503020204020204" charset="-122"/>
                </a:defRPr>
              </a:pPr>
              <a:r>
                <a:rPr sz="1200" b="1" dirty="0" err="1">
                  <a:solidFill>
                    <a:srgbClr val="0F172A"/>
                  </a:solidFill>
                  <a:latin typeface="微软雅黑" panose="020B0503020204020204" charset="-122"/>
                </a:rPr>
                <a:t>结果说明：主方法的</a:t>
              </a:r>
              <a:r>
                <a:rPr sz="1200" b="1" dirty="0">
                  <a:solidFill>
                    <a:srgbClr val="0F172A"/>
                  </a:solidFill>
                  <a:latin typeface="微软雅黑" panose="020B0503020204020204" charset="-122"/>
                </a:rPr>
                <a:t> MAE </a:t>
              </a:r>
              <a:r>
                <a:rPr sz="1200" b="1" dirty="0" err="1">
                  <a:solidFill>
                    <a:srgbClr val="0F172A"/>
                  </a:solidFill>
                  <a:latin typeface="微软雅黑" panose="020B0503020204020204" charset="-122"/>
                </a:rPr>
                <a:t>改善和</a:t>
              </a:r>
              <a:r>
                <a:rPr sz="1200" b="1" dirty="0">
                  <a:solidFill>
                    <a:srgbClr val="0F172A"/>
                  </a:solidFill>
                  <a:latin typeface="微软雅黑" panose="020B0503020204020204" charset="-122"/>
                </a:rPr>
                <a:t> bias </a:t>
              </a:r>
              <a:r>
                <a:rPr sz="1200" b="1" dirty="0" err="1">
                  <a:solidFill>
                    <a:srgbClr val="0F172A"/>
                  </a:solidFill>
                  <a:latin typeface="微软雅黑" panose="020B0503020204020204" charset="-122"/>
                </a:rPr>
                <a:t>改善不是单个点估计的偶然波动，paired</a:t>
              </a:r>
              <a:r>
                <a:rPr sz="1200" b="1" dirty="0">
                  <a:solidFill>
                    <a:srgbClr val="0F172A"/>
                  </a:solidFill>
                  <a:latin typeface="微软雅黑" panose="020B0503020204020204" charset="-122"/>
                </a:rPr>
                <a:t> CI </a:t>
              </a:r>
              <a:r>
                <a:rPr sz="1200" b="1" dirty="0" err="1">
                  <a:solidFill>
                    <a:srgbClr val="0F172A"/>
                  </a:solidFill>
                  <a:latin typeface="微软雅黑" panose="020B0503020204020204" charset="-122"/>
                </a:rPr>
                <a:t>保持为正</a:t>
              </a:r>
              <a:r>
                <a:rPr sz="1200" b="1" dirty="0">
                  <a:solidFill>
                    <a:srgbClr val="0F172A"/>
                  </a:solidFill>
                  <a:latin typeface="微软雅黑" panose="020B0503020204020204" charset="-122"/>
                </a:rPr>
                <a:t>。</a:t>
              </a:r>
            </a:p>
          </p:txBody>
        </p:sp>
      </p:gr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0" name="文本框 69"/>
          <p:cNvSpPr txBox="1"/>
          <p:nvPr/>
        </p:nvSpPr>
        <p:spPr>
          <a:xfrm>
            <a:off x="762000" y="1583055"/>
            <a:ext cx="2396490" cy="497205"/>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l">
              <a:defRPr sz="1750" b="1">
                <a:solidFill>
                  <a:srgbClr val="1F2937"/>
                </a:solidFill>
                <a:latin typeface="Noto Sans SC" panose="020B0200000000000000" charset="-122"/>
              </a:defRPr>
            </a:pPr>
            <a:r>
              <a:rPr lang="zh-CN" altLang="en-US" sz="1800" dirty="0">
                <a:sym typeface="Noto Sans SC" panose="020B0200000000000000" charset="-122"/>
              </a:rPr>
              <a:t>统计验证</a:t>
            </a:r>
          </a:p>
        </p:txBody>
      </p:sp>
      <p:pic>
        <p:nvPicPr>
          <p:cNvPr id="60" name="Picture 10" descr="mae_bias_tradeoff.png"/>
          <p:cNvPicPr>
            <a:picLocks noChangeAspect="1"/>
          </p:cNvPicPr>
          <p:nvPr/>
        </p:nvPicPr>
        <p:blipFill>
          <a:blip r:embed="rId26"/>
          <a:stretch>
            <a:fillRect/>
          </a:stretch>
        </p:blipFill>
        <p:spPr>
          <a:xfrm>
            <a:off x="5888863" y="2194052"/>
            <a:ext cx="5871784" cy="3451539"/>
          </a:xfrm>
          <a:prstGeom prst="rect">
            <a:avLst/>
          </a:prstGeom>
        </p:spPr>
      </p:pic>
      <p:sp>
        <p:nvSpPr>
          <p:cNvPr id="61" name="文本框 60"/>
          <p:cNvSpPr txBox="1"/>
          <p:nvPr/>
        </p:nvSpPr>
        <p:spPr>
          <a:xfrm>
            <a:off x="5812155" y="5897880"/>
            <a:ext cx="5948045" cy="460375"/>
          </a:xfrm>
          <a:prstGeom prst="rect">
            <a:avLst/>
          </a:prstGeom>
          <a:noFill/>
        </p:spPr>
        <p:txBody>
          <a:bodyPr wrap="square" rtlCol="0" anchor="t">
            <a:spAutoFit/>
          </a:bodyPr>
          <a:lstStyle/>
          <a:p>
            <a:pPr algn="l">
              <a:defRPr sz="1200" b="1">
                <a:solidFill>
                  <a:srgbClr val="0F172A"/>
                </a:solidFill>
                <a:latin typeface="微软雅黑" panose="020B0503020204020204" charset="-122"/>
              </a:defRPr>
            </a:pPr>
            <a:r>
              <a:rPr sz="1200" b="1" dirty="0">
                <a:solidFill>
                  <a:srgbClr val="0F172A"/>
                </a:solidFill>
                <a:latin typeface="微软雅黑" panose="020B0503020204020204" charset="-122"/>
                <a:sym typeface="+mn-ea"/>
              </a:rPr>
              <a:t>Hybrid </a:t>
            </a:r>
            <a:r>
              <a:rPr sz="1200" b="1" dirty="0" err="1">
                <a:solidFill>
                  <a:srgbClr val="0F172A"/>
                </a:solidFill>
                <a:latin typeface="微软雅黑" panose="020B0503020204020204" charset="-122"/>
                <a:sym typeface="+mn-ea"/>
              </a:rPr>
              <a:t>位于低误差、低偏差区域；普通</a:t>
            </a:r>
            <a:r>
              <a:rPr sz="1200" b="1" dirty="0">
                <a:solidFill>
                  <a:srgbClr val="0F172A"/>
                </a:solidFill>
                <a:latin typeface="微软雅黑" panose="020B0503020204020204" charset="-122"/>
                <a:sym typeface="+mn-ea"/>
              </a:rPr>
              <a:t> </a:t>
            </a:r>
            <a:r>
              <a:rPr sz="1200" b="1" dirty="0" err="1">
                <a:solidFill>
                  <a:srgbClr val="0F172A"/>
                </a:solidFill>
                <a:latin typeface="微软雅黑" panose="020B0503020204020204" charset="-122"/>
                <a:sym typeface="+mn-ea"/>
              </a:rPr>
              <a:t>XGBoost</a:t>
            </a:r>
            <a:r>
              <a:rPr sz="1200" b="1" dirty="0">
                <a:solidFill>
                  <a:srgbClr val="0F172A"/>
                </a:solidFill>
                <a:latin typeface="微软雅黑" panose="020B0503020204020204" charset="-122"/>
                <a:sym typeface="+mn-ea"/>
              </a:rPr>
              <a:t> </a:t>
            </a:r>
            <a:r>
              <a:rPr sz="1200" b="1" dirty="0" err="1">
                <a:solidFill>
                  <a:srgbClr val="0F172A"/>
                </a:solidFill>
                <a:latin typeface="微软雅黑" panose="020B0503020204020204" charset="-122"/>
                <a:sym typeface="+mn-ea"/>
              </a:rPr>
              <a:t>的偏差较大，说明</a:t>
            </a:r>
            <a:r>
              <a:rPr sz="1200" b="1" dirty="0">
                <a:solidFill>
                  <a:srgbClr val="0F172A"/>
                </a:solidFill>
                <a:latin typeface="微软雅黑" panose="020B0503020204020204" charset="-122"/>
                <a:sym typeface="+mn-ea"/>
              </a:rPr>
              <a:t> 2022 </a:t>
            </a:r>
            <a:r>
              <a:rPr sz="1200" b="1" dirty="0" err="1">
                <a:solidFill>
                  <a:srgbClr val="0F172A"/>
                </a:solidFill>
                <a:latin typeface="微软雅黑" panose="020B0503020204020204" charset="-122"/>
                <a:sym typeface="+mn-ea"/>
              </a:rPr>
              <a:t>的整体高估不能只靠家庭表格变量解决</a:t>
            </a:r>
            <a:r>
              <a:rPr sz="1200" b="1" dirty="0">
                <a:solidFill>
                  <a:srgbClr val="0F172A"/>
                </a:solidFill>
                <a:latin typeface="微软雅黑" panose="020B0503020204020204" charset="-122"/>
                <a:sym typeface="+mn-ea"/>
              </a:rPr>
              <a:t>。</a:t>
            </a:r>
            <a:endParaRPr lang="zh-CN" altLang="en-US" sz="1200" b="1" dirty="0">
              <a:solidFill>
                <a:srgbClr val="0F172A"/>
              </a:solidFill>
              <a:latin typeface="微软雅黑" panose="020B0503020204020204" charset="-122"/>
              <a:sym typeface="+mn-ea"/>
            </a:endParaRPr>
          </a:p>
        </p:txBody>
      </p:sp>
      <p:sp>
        <p:nvSpPr>
          <p:cNvPr id="62" name="文本框 61"/>
          <p:cNvSpPr txBox="1"/>
          <p:nvPr/>
        </p:nvSpPr>
        <p:spPr>
          <a:xfrm>
            <a:off x="5888990" y="1628140"/>
            <a:ext cx="2396490" cy="497205"/>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indent="0">
              <a:lnSpc>
                <a:spcPct val="125000"/>
              </a:lnSpc>
              <a:defRPr sz="3200" b="1">
                <a:solidFill>
                  <a:srgbClr val="1F2937"/>
                </a:solidFill>
                <a:latin typeface="Noto Sans SC" panose="020B0200000000000000" charset="-122"/>
                <a:ea typeface="Noto Sans SC" panose="020B0200000000000000" charset="-122"/>
                <a:cs typeface="Noto Sans SC" panose="020B0200000000000000" charset="-122"/>
              </a:defRPr>
            </a:lvl1pPr>
          </a:lstStyle>
          <a:p>
            <a:pPr algn="l">
              <a:defRPr sz="1750" b="1">
                <a:solidFill>
                  <a:srgbClr val="1F2937"/>
                </a:solidFill>
                <a:latin typeface="Noto Sans SC" panose="020B0200000000000000" charset="-122"/>
              </a:defRPr>
            </a:pPr>
            <a:r>
              <a:rPr sz="1800">
                <a:solidFill>
                  <a:srgbClr val="0F172A"/>
                </a:solidFill>
                <a:latin typeface="微软雅黑" panose="020B0503020204020204" charset="-122"/>
                <a:sym typeface="+mn-ea"/>
              </a:rPr>
              <a:t>误差与偏差权衡</a:t>
            </a:r>
            <a:endParaRPr lang="zh-CN" altLang="en-US" sz="1800" dirty="0">
              <a:sym typeface="Noto Sans SC" panose="020B0200000000000000" charset="-122"/>
            </a:endParaRPr>
          </a:p>
        </p:txBody>
      </p:sp>
      <p:sp>
        <p:nvSpPr>
          <p:cNvPr id="64" name="AutoShape 2"/>
          <p:cNvSpPr/>
          <p:nvPr/>
        </p:nvSpPr>
        <p:spPr>
          <a:xfrm>
            <a:off x="5784215" y="825500"/>
            <a:ext cx="5645785"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en-US" sz="2400" b="1" dirty="0" err="1">
                <a:solidFill>
                  <a:srgbClr val="333333"/>
                </a:solidFill>
                <a:latin typeface="Noto Sans SC" panose="020B0200000000000000" charset="-122"/>
                <a:ea typeface="Noto Sans SC" panose="020B0200000000000000" charset="-122"/>
                <a:cs typeface="Noto Sans SC" panose="020B0200000000000000" charset="-122"/>
              </a:rPr>
              <a:t>结果分析</a:t>
            </a:r>
          </a:p>
        </p:txBody>
      </p:sp>
      <p:sp>
        <p:nvSpPr>
          <p:cNvPr id="168" name="AutoShape 2"/>
          <p:cNvSpPr/>
          <p:nvPr/>
        </p:nvSpPr>
        <p:spPr>
          <a:xfrm>
            <a:off x="762000" y="874395"/>
            <a:ext cx="1066800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1736CC8F-9BA1-313C-5A0E-EA757DB37DE0}"/>
              </a:ext>
            </a:extLst>
          </p:cNvPr>
          <p:cNvSpPr>
            <a:spLocks noGrp="1" noRot="1" noMove="1" noResize="1" noEditPoints="1" noAdjustHandles="1" noChangeArrowheads="1" noChangeShapeType="1"/>
          </p:cNvSpPr>
          <p:nvPr/>
        </p:nvSpPr>
        <p:spPr>
          <a:xfrm>
            <a:off x="0" y="0"/>
            <a:ext cx="12192000" cy="6858000"/>
          </a:xfrm>
          <a:prstGeom prst="roundRect">
            <a:avLst>
              <a:gd name="adj" fmla="val 0"/>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11" name="Picture 10" descr="trip_pareto_frontier.png"/>
          <p:cNvPicPr>
            <a:picLocks noChangeAspect="1"/>
          </p:cNvPicPr>
          <p:nvPr/>
        </p:nvPicPr>
        <p:blipFill>
          <a:blip r:embed="rId2"/>
          <a:stretch>
            <a:fillRect/>
          </a:stretch>
        </p:blipFill>
        <p:spPr>
          <a:xfrm>
            <a:off x="390525" y="1519204"/>
            <a:ext cx="5394960" cy="3300446"/>
          </a:xfrm>
          <a:prstGeom prst="rect">
            <a:avLst/>
          </a:prstGeom>
        </p:spPr>
      </p:pic>
      <p:pic>
        <p:nvPicPr>
          <p:cNvPr id="12" name="Picture 11" descr="behavior_system_improvement.png"/>
          <p:cNvPicPr>
            <a:picLocks noChangeAspect="1"/>
          </p:cNvPicPr>
          <p:nvPr/>
        </p:nvPicPr>
        <p:blipFill>
          <a:blip r:embed="rId3"/>
          <a:stretch>
            <a:fillRect/>
          </a:stretch>
        </p:blipFill>
        <p:spPr>
          <a:xfrm>
            <a:off x="6031547" y="1460500"/>
            <a:ext cx="5074920" cy="2865837"/>
          </a:xfrm>
          <a:prstGeom prst="rect">
            <a:avLst/>
          </a:prstGeom>
        </p:spPr>
      </p:pic>
      <p:grpSp>
        <p:nvGrpSpPr>
          <p:cNvPr id="57" name="组合 56"/>
          <p:cNvGrpSpPr/>
          <p:nvPr/>
        </p:nvGrpSpPr>
        <p:grpSpPr>
          <a:xfrm>
            <a:off x="631645" y="4936622"/>
            <a:ext cx="5275541" cy="1445657"/>
            <a:chOff x="1181" y="7191"/>
            <a:chExt cx="9072" cy="2486"/>
          </a:xfrm>
        </p:grpSpPr>
        <p:sp>
          <p:nvSpPr>
            <p:cNvPr id="13" name="Rectangle 12"/>
            <p:cNvSpPr/>
            <p:nvPr/>
          </p:nvSpPr>
          <p:spPr>
            <a:xfrm>
              <a:off x="1181" y="7200"/>
              <a:ext cx="2376" cy="619"/>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1238" y="7349"/>
              <a:ext cx="2261" cy="349"/>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Preference</a:t>
              </a:r>
            </a:p>
          </p:txBody>
        </p:sp>
        <p:sp>
          <p:nvSpPr>
            <p:cNvPr id="15" name="Rectangle 14"/>
            <p:cNvSpPr/>
            <p:nvPr/>
          </p:nvSpPr>
          <p:spPr>
            <a:xfrm>
              <a:off x="3557" y="7200"/>
              <a:ext cx="3096" cy="619"/>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3614" y="7349"/>
              <a:ext cx="2981" cy="349"/>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Selected method</a:t>
              </a:r>
            </a:p>
          </p:txBody>
        </p:sp>
        <p:sp>
          <p:nvSpPr>
            <p:cNvPr id="17" name="Rectangle 16"/>
            <p:cNvSpPr/>
            <p:nvPr/>
          </p:nvSpPr>
          <p:spPr>
            <a:xfrm>
              <a:off x="6653" y="7200"/>
              <a:ext cx="1152" cy="619"/>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6710" y="7349"/>
              <a:ext cx="1037" cy="349"/>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wMAE</a:t>
              </a:r>
            </a:p>
          </p:txBody>
        </p:sp>
        <p:sp>
          <p:nvSpPr>
            <p:cNvPr id="19" name="Rectangle 18"/>
            <p:cNvSpPr/>
            <p:nvPr/>
          </p:nvSpPr>
          <p:spPr>
            <a:xfrm>
              <a:off x="7805" y="7200"/>
              <a:ext cx="1152" cy="619"/>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7862" y="7349"/>
              <a:ext cx="1037" cy="349"/>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|bias|</a:t>
              </a:r>
            </a:p>
          </p:txBody>
        </p:sp>
        <p:sp>
          <p:nvSpPr>
            <p:cNvPr id="21" name="Rectangle 20"/>
            <p:cNvSpPr/>
            <p:nvPr/>
          </p:nvSpPr>
          <p:spPr>
            <a:xfrm>
              <a:off x="8957" y="7200"/>
              <a:ext cx="1296" cy="619"/>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9014" y="7191"/>
              <a:ext cx="1181" cy="667"/>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LLM req.</a:t>
              </a:r>
            </a:p>
          </p:txBody>
        </p:sp>
        <p:sp>
          <p:nvSpPr>
            <p:cNvPr id="23" name="Rectangle 22"/>
            <p:cNvSpPr/>
            <p:nvPr/>
          </p:nvSpPr>
          <p:spPr>
            <a:xfrm>
              <a:off x="1181" y="7819"/>
              <a:ext cx="237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1267" y="7920"/>
              <a:ext cx="2203" cy="32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100" b="1" dirty="0">
                  <a:solidFill>
                    <a:srgbClr val="0F172A"/>
                  </a:solidFill>
                  <a:latin typeface="微软雅黑" panose="020B0503020204020204" charset="-122"/>
                </a:rPr>
                <a:t>Calibration</a:t>
              </a:r>
            </a:p>
          </p:txBody>
        </p:sp>
        <p:sp>
          <p:nvSpPr>
            <p:cNvPr id="25" name="Rectangle 24"/>
            <p:cNvSpPr/>
            <p:nvPr/>
          </p:nvSpPr>
          <p:spPr>
            <a:xfrm>
              <a:off x="3557" y="7819"/>
              <a:ext cx="309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6" name="TextBox 25"/>
            <p:cNvSpPr txBox="1"/>
            <p:nvPr/>
          </p:nvSpPr>
          <p:spPr>
            <a:xfrm>
              <a:off x="3643" y="7920"/>
              <a:ext cx="29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dirty="0">
                  <a:solidFill>
                    <a:srgbClr val="0F172A"/>
                  </a:solidFill>
                  <a:latin typeface="微软雅黑" panose="020B0503020204020204" charset="-122"/>
                </a:rPr>
                <a:t>Gated LLM</a:t>
              </a:r>
            </a:p>
          </p:txBody>
        </p:sp>
        <p:sp>
          <p:nvSpPr>
            <p:cNvPr id="27" name="Rectangle 26"/>
            <p:cNvSpPr/>
            <p:nvPr/>
          </p:nvSpPr>
          <p:spPr>
            <a:xfrm>
              <a:off x="6653" y="7819"/>
              <a:ext cx="1152"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TextBox 27"/>
            <p:cNvSpPr txBox="1"/>
            <p:nvPr/>
          </p:nvSpPr>
          <p:spPr>
            <a:xfrm>
              <a:off x="6739" y="7920"/>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2.502</a:t>
              </a:r>
            </a:p>
          </p:txBody>
        </p:sp>
        <p:sp>
          <p:nvSpPr>
            <p:cNvPr id="29" name="Rectangle 28"/>
            <p:cNvSpPr/>
            <p:nvPr/>
          </p:nvSpPr>
          <p:spPr>
            <a:xfrm>
              <a:off x="7805" y="7819"/>
              <a:ext cx="1152"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0" name="TextBox 29"/>
            <p:cNvSpPr txBox="1"/>
            <p:nvPr/>
          </p:nvSpPr>
          <p:spPr>
            <a:xfrm>
              <a:off x="7891" y="7920"/>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0.023</a:t>
              </a:r>
            </a:p>
          </p:txBody>
        </p:sp>
        <p:sp>
          <p:nvSpPr>
            <p:cNvPr id="31" name="Rectangle 30"/>
            <p:cNvSpPr/>
            <p:nvPr/>
          </p:nvSpPr>
          <p:spPr>
            <a:xfrm>
              <a:off x="8957" y="7819"/>
              <a:ext cx="129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TextBox 31"/>
            <p:cNvSpPr txBox="1"/>
            <p:nvPr/>
          </p:nvSpPr>
          <p:spPr>
            <a:xfrm>
              <a:off x="9043" y="7920"/>
              <a:ext cx="11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89</a:t>
              </a:r>
            </a:p>
          </p:txBody>
        </p:sp>
        <p:sp>
          <p:nvSpPr>
            <p:cNvPr id="33" name="Rectangle 32"/>
            <p:cNvSpPr/>
            <p:nvPr/>
          </p:nvSpPr>
          <p:spPr>
            <a:xfrm>
              <a:off x="1181" y="8438"/>
              <a:ext cx="2376" cy="619"/>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4" name="TextBox 33"/>
            <p:cNvSpPr txBox="1"/>
            <p:nvPr/>
          </p:nvSpPr>
          <p:spPr>
            <a:xfrm>
              <a:off x="1267" y="8539"/>
              <a:ext cx="2203" cy="32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100" b="1">
                  <a:solidFill>
                    <a:srgbClr val="0F172A"/>
                  </a:solidFill>
                  <a:latin typeface="微软雅黑" panose="020B0503020204020204" charset="-122"/>
                </a:rPr>
                <a:t>Balanced / main</a:t>
              </a:r>
            </a:p>
          </p:txBody>
        </p:sp>
        <p:sp>
          <p:nvSpPr>
            <p:cNvPr id="35" name="Rectangle 34"/>
            <p:cNvSpPr/>
            <p:nvPr/>
          </p:nvSpPr>
          <p:spPr>
            <a:xfrm>
              <a:off x="3557" y="8438"/>
              <a:ext cx="3096" cy="619"/>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TextBox 35"/>
            <p:cNvSpPr txBox="1"/>
            <p:nvPr/>
          </p:nvSpPr>
          <p:spPr>
            <a:xfrm>
              <a:off x="3643" y="8539"/>
              <a:ext cx="29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Gated LLM</a:t>
              </a:r>
            </a:p>
          </p:txBody>
        </p:sp>
        <p:sp>
          <p:nvSpPr>
            <p:cNvPr id="37" name="Rectangle 36"/>
            <p:cNvSpPr/>
            <p:nvPr/>
          </p:nvSpPr>
          <p:spPr>
            <a:xfrm>
              <a:off x="6653" y="8438"/>
              <a:ext cx="1152" cy="619"/>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6739" y="8539"/>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2.502</a:t>
              </a:r>
            </a:p>
          </p:txBody>
        </p:sp>
        <p:sp>
          <p:nvSpPr>
            <p:cNvPr id="39" name="Rectangle 38"/>
            <p:cNvSpPr/>
            <p:nvPr/>
          </p:nvSpPr>
          <p:spPr>
            <a:xfrm>
              <a:off x="7805" y="8438"/>
              <a:ext cx="1152" cy="619"/>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0" name="TextBox 39"/>
            <p:cNvSpPr txBox="1"/>
            <p:nvPr/>
          </p:nvSpPr>
          <p:spPr>
            <a:xfrm>
              <a:off x="7891" y="8539"/>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0.023</a:t>
              </a:r>
            </a:p>
          </p:txBody>
        </p:sp>
        <p:sp>
          <p:nvSpPr>
            <p:cNvPr id="41" name="Rectangle 40"/>
            <p:cNvSpPr/>
            <p:nvPr/>
          </p:nvSpPr>
          <p:spPr>
            <a:xfrm>
              <a:off x="8957" y="8438"/>
              <a:ext cx="1296" cy="619"/>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9043" y="8539"/>
              <a:ext cx="11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89</a:t>
              </a:r>
            </a:p>
          </p:txBody>
        </p:sp>
        <p:sp>
          <p:nvSpPr>
            <p:cNvPr id="43" name="Rectangle 42"/>
            <p:cNvSpPr/>
            <p:nvPr/>
          </p:nvSpPr>
          <p:spPr>
            <a:xfrm>
              <a:off x="1181" y="9058"/>
              <a:ext cx="237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4" name="TextBox 43"/>
            <p:cNvSpPr txBox="1"/>
            <p:nvPr/>
          </p:nvSpPr>
          <p:spPr>
            <a:xfrm>
              <a:off x="1267" y="9158"/>
              <a:ext cx="2203" cy="32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100" b="1">
                  <a:solidFill>
                    <a:srgbClr val="0F172A"/>
                  </a:solidFill>
                  <a:latin typeface="微软雅黑" panose="020B0503020204020204" charset="-122"/>
                </a:rPr>
                <a:t>Low-cost</a:t>
              </a:r>
            </a:p>
          </p:txBody>
        </p:sp>
        <p:sp>
          <p:nvSpPr>
            <p:cNvPr id="45" name="Rectangle 44"/>
            <p:cNvSpPr/>
            <p:nvPr/>
          </p:nvSpPr>
          <p:spPr>
            <a:xfrm>
              <a:off x="3557" y="9058"/>
              <a:ext cx="309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6" name="TextBox 45"/>
            <p:cNvSpPr txBox="1"/>
            <p:nvPr/>
          </p:nvSpPr>
          <p:spPr>
            <a:xfrm>
              <a:off x="3643" y="9158"/>
              <a:ext cx="29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Global prior</a:t>
              </a:r>
            </a:p>
          </p:txBody>
        </p:sp>
        <p:sp>
          <p:nvSpPr>
            <p:cNvPr id="47" name="Rectangle 46"/>
            <p:cNvSpPr/>
            <p:nvPr/>
          </p:nvSpPr>
          <p:spPr>
            <a:xfrm>
              <a:off x="6653" y="9058"/>
              <a:ext cx="1152"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8" name="TextBox 47"/>
            <p:cNvSpPr txBox="1"/>
            <p:nvPr/>
          </p:nvSpPr>
          <p:spPr>
            <a:xfrm>
              <a:off x="6739" y="9158"/>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2.553</a:t>
              </a:r>
            </a:p>
          </p:txBody>
        </p:sp>
        <p:sp>
          <p:nvSpPr>
            <p:cNvPr id="49" name="Rectangle 48"/>
            <p:cNvSpPr/>
            <p:nvPr/>
          </p:nvSpPr>
          <p:spPr>
            <a:xfrm>
              <a:off x="7805" y="9058"/>
              <a:ext cx="1152"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0" name="TextBox 49"/>
            <p:cNvSpPr txBox="1"/>
            <p:nvPr/>
          </p:nvSpPr>
          <p:spPr>
            <a:xfrm>
              <a:off x="7891" y="9158"/>
              <a:ext cx="979"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0.123</a:t>
              </a:r>
            </a:p>
          </p:txBody>
        </p:sp>
        <p:sp>
          <p:nvSpPr>
            <p:cNvPr id="51" name="Rectangle 50"/>
            <p:cNvSpPr/>
            <p:nvPr/>
          </p:nvSpPr>
          <p:spPr>
            <a:xfrm>
              <a:off x="8957" y="9058"/>
              <a:ext cx="1296" cy="619"/>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2" name="TextBox 51"/>
            <p:cNvSpPr txBox="1"/>
            <p:nvPr/>
          </p:nvSpPr>
          <p:spPr>
            <a:xfrm>
              <a:off x="9043" y="9158"/>
              <a:ext cx="1123" cy="349"/>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1</a:t>
              </a:r>
            </a:p>
          </p:txBody>
        </p:sp>
      </p:gr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多目标选择</a:t>
            </a:r>
          </a:p>
        </p:txBody>
      </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grpSp>
        <p:nvGrpSpPr>
          <p:cNvPr id="3" name="组合 2">
            <a:extLst>
              <a:ext uri="{FF2B5EF4-FFF2-40B4-BE49-F238E27FC236}">
                <a16:creationId xmlns:a16="http://schemas.microsoft.com/office/drawing/2014/main" id="{123D4D5C-37D2-CD75-0F24-C3491620583A}"/>
              </a:ext>
            </a:extLst>
          </p:cNvPr>
          <p:cNvGrpSpPr/>
          <p:nvPr/>
        </p:nvGrpSpPr>
        <p:grpSpPr>
          <a:xfrm>
            <a:off x="7038465" y="4926588"/>
            <a:ext cx="3749039" cy="1243585"/>
            <a:chOff x="7360920" y="4736591"/>
            <a:chExt cx="3749039" cy="914401"/>
          </a:xfrm>
        </p:grpSpPr>
        <p:sp>
          <p:nvSpPr>
            <p:cNvPr id="4" name="Rounded Rectangle 52">
              <a:extLst>
                <a:ext uri="{FF2B5EF4-FFF2-40B4-BE49-F238E27FC236}">
                  <a16:creationId xmlns:a16="http://schemas.microsoft.com/office/drawing/2014/main" id="{898BE58D-EF09-49F9-BDBB-B695BA937289}"/>
                </a:ext>
              </a:extLst>
            </p:cNvPr>
            <p:cNvSpPr/>
            <p:nvPr/>
          </p:nvSpPr>
          <p:spPr>
            <a:xfrm>
              <a:off x="7360920" y="4736591"/>
              <a:ext cx="3749039" cy="914401"/>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53">
              <a:extLst>
                <a:ext uri="{FF2B5EF4-FFF2-40B4-BE49-F238E27FC236}">
                  <a16:creationId xmlns:a16="http://schemas.microsoft.com/office/drawing/2014/main" id="{F9E868C7-F4D4-016D-FD7E-297429E25F28}"/>
                </a:ext>
              </a:extLst>
            </p:cNvPr>
            <p:cNvSpPr/>
            <p:nvPr/>
          </p:nvSpPr>
          <p:spPr>
            <a:xfrm>
              <a:off x="7360920" y="4736592"/>
              <a:ext cx="50292" cy="914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6" name="TextBox 54">
            <a:extLst>
              <a:ext uri="{FF2B5EF4-FFF2-40B4-BE49-F238E27FC236}">
                <a16:creationId xmlns:a16="http://schemas.microsoft.com/office/drawing/2014/main" id="{34DC9948-7EE7-2793-61FD-A753DF97F5C9}"/>
              </a:ext>
            </a:extLst>
          </p:cNvPr>
          <p:cNvSpPr txBox="1"/>
          <p:nvPr/>
        </p:nvSpPr>
        <p:spPr>
          <a:xfrm>
            <a:off x="7203057" y="5018028"/>
            <a:ext cx="3456432" cy="572464"/>
          </a:xfrm>
          <a:prstGeom prst="rect">
            <a:avLst/>
          </a:prstGeom>
          <a:noFill/>
        </p:spPr>
        <p:txBody>
          <a:bodyPr wrap="square" lIns="27432" tIns="9144" rIns="27432" bIns="9144" anchor="t">
            <a:spAutoFit/>
          </a:bodyPr>
          <a:lstStyle/>
          <a:p>
            <a:pPr algn="l">
              <a:defRPr sz="1200" b="1">
                <a:solidFill>
                  <a:srgbClr val="0F172A"/>
                </a:solidFill>
                <a:latin typeface="Microsoft YaHei"/>
              </a:defRPr>
            </a:pPr>
            <a:r>
              <a:rPr sz="1200" b="1" dirty="0">
                <a:solidFill>
                  <a:srgbClr val="0F172A"/>
                </a:solidFill>
                <a:latin typeface="Microsoft YaHei"/>
              </a:rPr>
              <a:t>LLM </a:t>
            </a:r>
            <a:r>
              <a:rPr sz="1200" b="1" dirty="0" err="1">
                <a:solidFill>
                  <a:srgbClr val="0F172A"/>
                </a:solidFill>
                <a:latin typeface="Microsoft YaHei"/>
              </a:rPr>
              <a:t>不是直接报一个答案，而是把事件机制转成候选修正；最终由规划目标选择</a:t>
            </a:r>
            <a:r>
              <a:rPr sz="1200" b="1" dirty="0">
                <a:solidFill>
                  <a:srgbClr val="0F172A"/>
                </a:solidFill>
                <a:latin typeface="Microsoft YaHei"/>
              </a:rPr>
              <a:t> Pareto operating point。</a:t>
            </a:r>
          </a:p>
        </p:txBody>
      </p:sp>
      <p:sp>
        <p:nvSpPr>
          <p:cNvPr id="7" name="TextBox 55">
            <a:extLst>
              <a:ext uri="{FF2B5EF4-FFF2-40B4-BE49-F238E27FC236}">
                <a16:creationId xmlns:a16="http://schemas.microsoft.com/office/drawing/2014/main" id="{F146FDFA-E8BF-8CFC-B4E4-E58BCF8B1F6A}"/>
              </a:ext>
            </a:extLst>
          </p:cNvPr>
          <p:cNvSpPr txBox="1"/>
          <p:nvPr/>
        </p:nvSpPr>
        <p:spPr>
          <a:xfrm>
            <a:off x="7203057" y="5609622"/>
            <a:ext cx="3456432" cy="356616"/>
          </a:xfrm>
          <a:prstGeom prst="rect">
            <a:avLst/>
          </a:prstGeom>
          <a:noFill/>
        </p:spPr>
        <p:txBody>
          <a:bodyPr wrap="square" lIns="27432" tIns="9144" rIns="27432" bIns="9144" anchor="t">
            <a:spAutoFit/>
          </a:bodyPr>
          <a:lstStyle/>
          <a:p>
            <a:pPr algn="l">
              <a:defRPr sz="1200" b="0">
                <a:solidFill>
                  <a:srgbClr val="64748B"/>
                </a:solidFill>
                <a:latin typeface="Microsoft YaHei"/>
              </a:defRPr>
            </a:pPr>
            <a:r>
              <a:rPr sz="1200" b="0" dirty="0">
                <a:solidFill>
                  <a:srgbClr val="64748B"/>
                </a:solidFill>
                <a:latin typeface="Microsoft YaHei"/>
              </a:rPr>
              <a:t>Key message: LLM supplies event mechanisms; the solver selects a planning operating point.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error_distribution.png"/>
          <p:cNvPicPr>
            <a:picLocks noChangeAspect="1"/>
          </p:cNvPicPr>
          <p:nvPr/>
        </p:nvPicPr>
        <p:blipFill>
          <a:blip r:embed="rId2"/>
          <a:stretch>
            <a:fillRect/>
          </a:stretch>
        </p:blipFill>
        <p:spPr>
          <a:xfrm>
            <a:off x="594360" y="1932305"/>
            <a:ext cx="5349240" cy="3420345"/>
          </a:xfrm>
          <a:prstGeom prst="rect">
            <a:avLst/>
          </a:prstGeom>
        </p:spPr>
      </p:pic>
      <p:pic>
        <p:nvPicPr>
          <p:cNvPr id="12" name="Picture 11" descr="tolerance_curve.png"/>
          <p:cNvPicPr>
            <a:picLocks noChangeAspect="1"/>
          </p:cNvPicPr>
          <p:nvPr/>
        </p:nvPicPr>
        <p:blipFill>
          <a:blip r:embed="rId3"/>
          <a:stretch>
            <a:fillRect/>
          </a:stretch>
        </p:blipFill>
        <p:spPr>
          <a:xfrm>
            <a:off x="6263640" y="1932305"/>
            <a:ext cx="5166360" cy="3366270"/>
          </a:xfrm>
          <a:prstGeom prst="rect">
            <a:avLst/>
          </a:prstGeom>
        </p:spPr>
      </p:pic>
      <p:sp>
        <p:nvSpPr>
          <p:cNvPr id="17" name="文本框 16"/>
          <p:cNvSpPr txBox="1"/>
          <p:nvPr/>
        </p:nvSpPr>
        <p:spPr>
          <a:xfrm>
            <a:off x="709930" y="5968365"/>
            <a:ext cx="10683875" cy="275590"/>
          </a:xfrm>
          <a:prstGeom prst="rect">
            <a:avLst/>
          </a:prstGeom>
          <a:noFill/>
        </p:spPr>
        <p:txBody>
          <a:bodyPr wrap="square" rtlCol="0"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sym typeface="+mn-ea"/>
              </a:rPr>
              <a:t>传统监督模型误差分布整体偏正，说明它系统性高估 2022 出行；事件修正后误差更集中，容忍阈值内覆盖率更高。</a:t>
            </a:r>
            <a:endParaRPr lang="zh-CN" altLang="en-US" sz="1200" b="1">
              <a:solidFill>
                <a:srgbClr val="0F172A"/>
              </a:solidFill>
              <a:latin typeface="微软雅黑" panose="020B0503020204020204" charset="-122"/>
              <a:sym typeface="+mn-ea"/>
            </a:endParaRPr>
          </a:p>
        </p:txBody>
      </p:sp>
      <p:sp>
        <p:nvSpPr>
          <p:cNvPr id="18"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误差分布与容忍度</a:t>
            </a:r>
          </a:p>
        </p:txBody>
      </p:sp>
      <p:sp>
        <p:nvSpPr>
          <p:cNvPr id="1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5" name="banner"/>
          <p:cNvSpPr/>
          <p:nvPr/>
        </p:nvSpPr>
        <p:spPr>
          <a:xfrm>
            <a:off x="594360" y="5808345"/>
            <a:ext cx="10866120" cy="66421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pressure_quintile_gain.png"/>
          <p:cNvPicPr>
            <a:picLocks noChangeAspect="1"/>
          </p:cNvPicPr>
          <p:nvPr/>
        </p:nvPicPr>
        <p:blipFill>
          <a:blip r:embed="rId2"/>
          <a:stretch>
            <a:fillRect/>
          </a:stretch>
        </p:blipFill>
        <p:spPr>
          <a:xfrm>
            <a:off x="594360" y="1938655"/>
            <a:ext cx="5349240" cy="3550665"/>
          </a:xfrm>
          <a:prstGeom prst="rect">
            <a:avLst/>
          </a:prstGeom>
        </p:spPr>
      </p:pic>
      <p:pic>
        <p:nvPicPr>
          <p:cNvPr id="12" name="Picture 11" descr="event_prior_heatmap.png"/>
          <p:cNvPicPr>
            <a:picLocks noChangeAspect="1"/>
          </p:cNvPicPr>
          <p:nvPr/>
        </p:nvPicPr>
        <p:blipFill>
          <a:blip r:embed="rId3"/>
          <a:stretch>
            <a:fillRect/>
          </a:stretch>
        </p:blipFill>
        <p:spPr>
          <a:xfrm>
            <a:off x="6328410" y="1707641"/>
            <a:ext cx="4526280" cy="4012902"/>
          </a:xfrm>
          <a:prstGeom prst="rect">
            <a:avLst/>
          </a:prstGeom>
        </p:spPr>
      </p:pic>
      <p:sp>
        <p:nvSpPr>
          <p:cNvPr id="17" name="文本框 16"/>
          <p:cNvSpPr txBox="1"/>
          <p:nvPr/>
        </p:nvSpPr>
        <p:spPr>
          <a:xfrm>
            <a:off x="787400" y="5887720"/>
            <a:ext cx="10798175" cy="275590"/>
          </a:xfrm>
          <a:prstGeom prst="rect">
            <a:avLst/>
          </a:prstGeom>
          <a:noFill/>
        </p:spPr>
        <p:txBody>
          <a:bodyPr wrap="square" rtlCol="0"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sym typeface="+mn-ea"/>
              </a:rPr>
              <a:t>LLM pressure 与疫情机制相符：高 pressure 组需要更强出行折减，remote work、transit avoidance 等先验之间也呈现可解释相关。</a:t>
            </a:r>
            <a:endParaRPr lang="zh-CN" altLang="en-US" sz="1200" b="1">
              <a:solidFill>
                <a:srgbClr val="0F172A"/>
              </a:solidFill>
              <a:latin typeface="微软雅黑" panose="020B0503020204020204" charset="-122"/>
              <a:sym typeface="+mn-ea"/>
            </a:endParaRPr>
          </a:p>
        </p:txBody>
      </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疫情影响异质性</a:t>
            </a:r>
          </a:p>
        </p:txBody>
      </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5" name="banner"/>
          <p:cNvSpPr/>
          <p:nvPr/>
        </p:nvSpPr>
        <p:spPr>
          <a:xfrm>
            <a:off x="594360" y="5808345"/>
            <a:ext cx="10332085" cy="66421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banner"/>
          <p:cNvSpPr/>
          <p:nvPr/>
        </p:nvSpPr>
        <p:spPr>
          <a:xfrm>
            <a:off x="6130925" y="5598160"/>
            <a:ext cx="5298440" cy="92075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11" name="Picture 10" descr="permutation_null_mae.png"/>
          <p:cNvPicPr>
            <a:picLocks noChangeAspect="1"/>
          </p:cNvPicPr>
          <p:nvPr>
            <p:custDataLst>
              <p:tags r:id="rId1"/>
            </p:custDataLst>
          </p:nvPr>
        </p:nvPicPr>
        <p:blipFill>
          <a:blip r:embed="rId6"/>
          <a:stretch>
            <a:fillRect/>
          </a:stretch>
        </p:blipFill>
        <p:spPr>
          <a:xfrm>
            <a:off x="300228" y="1785518"/>
            <a:ext cx="5669280" cy="3636689"/>
          </a:xfrm>
          <a:prstGeom prst="rect">
            <a:avLst/>
          </a:prstGeom>
        </p:spPr>
      </p:pic>
      <p:sp>
        <p:nvSpPr>
          <p:cNvPr id="36" name="文本框 35"/>
          <p:cNvSpPr txBox="1"/>
          <p:nvPr>
            <p:custDataLst>
              <p:tags r:id="rId2"/>
            </p:custDataLst>
          </p:nvPr>
        </p:nvSpPr>
        <p:spPr>
          <a:xfrm>
            <a:off x="460375" y="5775960"/>
            <a:ext cx="5274945" cy="840105"/>
          </a:xfrm>
          <a:prstGeom prst="rect">
            <a:avLst/>
          </a:prstGeom>
          <a:noFill/>
        </p:spPr>
        <p:txBody>
          <a:bodyPr wrap="square" rtlCol="0" anchor="t">
            <a:noAutofit/>
          </a:bodyPr>
          <a:lstStyle/>
          <a:p>
            <a:pPr algn="l">
              <a:defRPr sz="1200" b="1">
                <a:solidFill>
                  <a:srgbClr val="0F172A"/>
                </a:solidFill>
                <a:latin typeface="微软雅黑" panose="020B0503020204020204" charset="-122"/>
              </a:defRPr>
            </a:pPr>
            <a:r>
              <a:rPr sz="1200" b="1" dirty="0" err="1">
                <a:solidFill>
                  <a:srgbClr val="0F172A"/>
                </a:solidFill>
                <a:latin typeface="微软雅黑" panose="020B0503020204020204" charset="-122"/>
                <a:sym typeface="+mn-ea"/>
              </a:rPr>
              <a:t>真实</a:t>
            </a:r>
            <a:r>
              <a:rPr sz="1200" b="1" dirty="0">
                <a:solidFill>
                  <a:srgbClr val="0F172A"/>
                </a:solidFill>
                <a:latin typeface="微软雅黑" panose="020B0503020204020204" charset="-122"/>
                <a:sym typeface="+mn-ea"/>
              </a:rPr>
              <a:t> LLM pressure </a:t>
            </a:r>
            <a:r>
              <a:rPr sz="1200" b="1" dirty="0" err="1">
                <a:solidFill>
                  <a:srgbClr val="0F172A"/>
                </a:solidFill>
                <a:latin typeface="微软雅黑" panose="020B0503020204020204" charset="-122"/>
                <a:sym typeface="+mn-ea"/>
              </a:rPr>
              <a:t>的误差低于</a:t>
            </a:r>
            <a:r>
              <a:rPr sz="1200" b="1" dirty="0">
                <a:solidFill>
                  <a:srgbClr val="0F172A"/>
                </a:solidFill>
                <a:latin typeface="微软雅黑" panose="020B0503020204020204" charset="-122"/>
                <a:sym typeface="+mn-ea"/>
              </a:rPr>
              <a:t> 500 </a:t>
            </a:r>
            <a:r>
              <a:rPr sz="1200" b="1" dirty="0" err="1">
                <a:solidFill>
                  <a:srgbClr val="0F172A"/>
                </a:solidFill>
                <a:latin typeface="微软雅黑" panose="020B0503020204020204" charset="-122"/>
                <a:sym typeface="+mn-ea"/>
              </a:rPr>
              <a:t>次随机分配；同时</a:t>
            </a:r>
            <a:r>
              <a:rPr sz="1200" b="1" dirty="0">
                <a:solidFill>
                  <a:srgbClr val="0F172A"/>
                </a:solidFill>
                <a:latin typeface="微软雅黑" panose="020B0503020204020204" charset="-122"/>
                <a:sym typeface="+mn-ea"/>
              </a:rPr>
              <a:t> global pressure </a:t>
            </a:r>
            <a:r>
              <a:rPr sz="1200" b="1" dirty="0" err="1">
                <a:solidFill>
                  <a:srgbClr val="0F172A"/>
                </a:solidFill>
                <a:latin typeface="微软雅黑" panose="020B0503020204020204" charset="-122"/>
                <a:sym typeface="+mn-ea"/>
              </a:rPr>
              <a:t>也很强，说明主贡献是疫情事件层面的修正，cohort</a:t>
            </a:r>
            <a:r>
              <a:rPr sz="1200" b="1" dirty="0">
                <a:solidFill>
                  <a:srgbClr val="0F172A"/>
                </a:solidFill>
                <a:latin typeface="微软雅黑" panose="020B0503020204020204" charset="-122"/>
                <a:sym typeface="+mn-ea"/>
              </a:rPr>
              <a:t> </a:t>
            </a:r>
            <a:r>
              <a:rPr sz="1200" b="1" dirty="0" err="1">
                <a:solidFill>
                  <a:srgbClr val="0F172A"/>
                </a:solidFill>
                <a:latin typeface="微软雅黑" panose="020B0503020204020204" charset="-122"/>
                <a:sym typeface="+mn-ea"/>
              </a:rPr>
              <a:t>排序是增量信息</a:t>
            </a:r>
            <a:r>
              <a:rPr sz="1200" b="1" dirty="0">
                <a:solidFill>
                  <a:srgbClr val="0F172A"/>
                </a:solidFill>
                <a:latin typeface="微软雅黑" panose="020B0503020204020204" charset="-122"/>
                <a:sym typeface="+mn-ea"/>
              </a:rPr>
              <a:t>。</a:t>
            </a:r>
            <a:endParaRPr lang="zh-CN" altLang="en-US" sz="1200" b="1" dirty="0">
              <a:solidFill>
                <a:srgbClr val="0F172A"/>
              </a:solidFill>
              <a:latin typeface="微软雅黑" panose="020B0503020204020204" charset="-122"/>
              <a:sym typeface="+mn-ea"/>
            </a:endParaRPr>
          </a:p>
        </p:txBody>
      </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稳健性检验</a:t>
            </a:r>
          </a:p>
        </p:txBody>
      </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7" name="Picture 10" descr="subgroup_gain_top.png"/>
          <p:cNvPicPr>
            <a:picLocks noChangeAspect="1"/>
          </p:cNvPicPr>
          <p:nvPr>
            <p:custDataLst>
              <p:tags r:id="rId3"/>
            </p:custDataLst>
          </p:nvPr>
        </p:nvPicPr>
        <p:blipFill>
          <a:blip r:embed="rId7"/>
          <a:stretch>
            <a:fillRect/>
          </a:stretch>
        </p:blipFill>
        <p:spPr>
          <a:xfrm>
            <a:off x="5918835" y="1868170"/>
            <a:ext cx="5897880" cy="3554095"/>
          </a:xfrm>
          <a:prstGeom prst="rect">
            <a:avLst/>
          </a:prstGeom>
        </p:spPr>
      </p:pic>
      <p:sp>
        <p:nvSpPr>
          <p:cNvPr id="38" name="文本框 37"/>
          <p:cNvSpPr txBox="1"/>
          <p:nvPr>
            <p:custDataLst>
              <p:tags r:id="rId4"/>
            </p:custDataLst>
          </p:nvPr>
        </p:nvSpPr>
        <p:spPr>
          <a:xfrm>
            <a:off x="6130925" y="5774690"/>
            <a:ext cx="5623560" cy="680720"/>
          </a:xfrm>
          <a:prstGeom prst="rect">
            <a:avLst/>
          </a:prstGeom>
          <a:noFill/>
        </p:spPr>
        <p:txBody>
          <a:bodyPr wrap="square" rtlCol="0" anchor="t">
            <a:no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sym typeface="+mn-ea"/>
              </a:rPr>
              <a:t>分组结果显示，改进不只来自总体均值；worst-subgroup wMAE 从 8.38 降到 4.71，所有纳入分组均优于历史 XGBoost。</a:t>
            </a:r>
            <a:endParaRPr lang="zh-CN" altLang="en-US" sz="1200" b="1">
              <a:solidFill>
                <a:srgbClr val="0F172A"/>
              </a:solidFill>
              <a:latin typeface="微软雅黑" panose="020B0503020204020204" charset="-122"/>
              <a:sym typeface="+mn-ea"/>
            </a:endParaRPr>
          </a:p>
        </p:txBody>
      </p:sp>
      <p:sp>
        <p:nvSpPr>
          <p:cNvPr id="75" name="banner"/>
          <p:cNvSpPr/>
          <p:nvPr/>
        </p:nvSpPr>
        <p:spPr>
          <a:xfrm>
            <a:off x="374015" y="5598160"/>
            <a:ext cx="5298440" cy="92075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banner"/>
          <p:cNvSpPr/>
          <p:nvPr/>
        </p:nvSpPr>
        <p:spPr>
          <a:xfrm>
            <a:off x="828040" y="1831975"/>
            <a:ext cx="10415905" cy="120269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grpSp>
        <p:nvGrpSpPr>
          <p:cNvPr id="65" name="组合 64"/>
          <p:cNvGrpSpPr/>
          <p:nvPr/>
        </p:nvGrpSpPr>
        <p:grpSpPr>
          <a:xfrm>
            <a:off x="969010" y="2065655"/>
            <a:ext cx="10378440" cy="3986530"/>
            <a:chOff x="1080" y="2331"/>
            <a:chExt cx="16344" cy="6278"/>
          </a:xfrm>
        </p:grpSpPr>
        <p:sp>
          <p:nvSpPr>
            <p:cNvPr id="11" name="Rounded Rectangle 10"/>
            <p:cNvSpPr/>
            <p:nvPr/>
          </p:nvSpPr>
          <p:spPr>
            <a:xfrm>
              <a:off x="1080" y="2331"/>
              <a:ext cx="3528" cy="12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0" y="2331"/>
              <a:ext cx="79" cy="129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2" y="2446"/>
              <a:ext cx="318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Exact rounded</a:t>
              </a:r>
            </a:p>
          </p:txBody>
        </p:sp>
        <p:sp>
          <p:nvSpPr>
            <p:cNvPr id="14" name="TextBox 13"/>
            <p:cNvSpPr txBox="1"/>
            <p:nvPr/>
          </p:nvSpPr>
          <p:spPr>
            <a:xfrm>
              <a:off x="1282" y="2720"/>
              <a:ext cx="3182" cy="461"/>
            </a:xfrm>
            <a:prstGeom prst="rect">
              <a:avLst/>
            </a:prstGeom>
            <a:noFill/>
          </p:spPr>
          <p:txBody>
            <a:bodyPr wrap="square" lIns="27432" tIns="9144" rIns="27432" bIns="9144" anchor="ctr">
              <a:spAutoFit/>
            </a:bodyPr>
            <a:lstStyle/>
            <a:p>
              <a:pPr algn="l">
                <a:defRPr sz="1600" b="1">
                  <a:solidFill>
                    <a:srgbClr val="2563EB"/>
                  </a:solidFill>
                  <a:latin typeface="微软雅黑" panose="020B0503020204020204" charset="-122"/>
                </a:defRPr>
              </a:pPr>
              <a:r>
                <a:rPr sz="1600" b="1">
                  <a:solidFill>
                    <a:srgbClr val="2563EB"/>
                  </a:solidFill>
                  <a:latin typeface="微软雅黑" panose="020B0503020204020204" charset="-122"/>
                </a:rPr>
                <a:t>17.7%</a:t>
              </a:r>
            </a:p>
          </p:txBody>
        </p:sp>
        <p:sp>
          <p:nvSpPr>
            <p:cNvPr id="15" name="TextBox 14"/>
            <p:cNvSpPr txBox="1"/>
            <p:nvPr/>
          </p:nvSpPr>
          <p:spPr>
            <a:xfrm>
              <a:off x="1282" y="3209"/>
              <a:ext cx="318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household accuracy</a:t>
              </a:r>
            </a:p>
          </p:txBody>
        </p:sp>
        <p:sp>
          <p:nvSpPr>
            <p:cNvPr id="16" name="Rounded Rectangle 15"/>
            <p:cNvSpPr/>
            <p:nvPr/>
          </p:nvSpPr>
          <p:spPr>
            <a:xfrm>
              <a:off x="5011" y="2331"/>
              <a:ext cx="3528" cy="12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11" y="2331"/>
              <a:ext cx="79" cy="1296"/>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3" y="2446"/>
              <a:ext cx="318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Within 2 trips</a:t>
              </a:r>
            </a:p>
          </p:txBody>
        </p:sp>
        <p:sp>
          <p:nvSpPr>
            <p:cNvPr id="19" name="TextBox 18"/>
            <p:cNvSpPr txBox="1"/>
            <p:nvPr/>
          </p:nvSpPr>
          <p:spPr>
            <a:xfrm>
              <a:off x="5213" y="2720"/>
              <a:ext cx="3182" cy="461"/>
            </a:xfrm>
            <a:prstGeom prst="rect">
              <a:avLst/>
            </a:prstGeom>
            <a:noFill/>
          </p:spPr>
          <p:txBody>
            <a:bodyPr wrap="square" lIns="27432" tIns="9144" rIns="27432" bIns="9144" anchor="ctr">
              <a:spAutoFit/>
            </a:bodyPr>
            <a:lstStyle/>
            <a:p>
              <a:pPr algn="l">
                <a:defRPr sz="1600" b="1">
                  <a:solidFill>
                    <a:srgbClr val="198754"/>
                  </a:solidFill>
                  <a:latin typeface="微软雅黑" panose="020B0503020204020204" charset="-122"/>
                </a:defRPr>
              </a:pPr>
              <a:r>
                <a:rPr sz="1600" b="1">
                  <a:solidFill>
                    <a:srgbClr val="198754"/>
                  </a:solidFill>
                  <a:latin typeface="微软雅黑" panose="020B0503020204020204" charset="-122"/>
                </a:rPr>
                <a:t>54.5%</a:t>
              </a:r>
            </a:p>
          </p:txBody>
        </p:sp>
        <p:sp>
          <p:nvSpPr>
            <p:cNvPr id="20" name="TextBox 19"/>
            <p:cNvSpPr txBox="1"/>
            <p:nvPr/>
          </p:nvSpPr>
          <p:spPr>
            <a:xfrm>
              <a:off x="5213" y="3209"/>
              <a:ext cx="318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practical tolerance</a:t>
              </a:r>
            </a:p>
          </p:txBody>
        </p:sp>
        <p:sp>
          <p:nvSpPr>
            <p:cNvPr id="21" name="Rounded Rectangle 20"/>
            <p:cNvSpPr/>
            <p:nvPr/>
          </p:nvSpPr>
          <p:spPr>
            <a:xfrm>
              <a:off x="8942" y="2331"/>
              <a:ext cx="3528" cy="12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42" y="2331"/>
              <a:ext cx="79" cy="129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 y="2446"/>
              <a:ext cx="318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Within 3 trips</a:t>
              </a:r>
            </a:p>
          </p:txBody>
        </p:sp>
        <p:sp>
          <p:nvSpPr>
            <p:cNvPr id="24" name="TextBox 23"/>
            <p:cNvSpPr txBox="1"/>
            <p:nvPr/>
          </p:nvSpPr>
          <p:spPr>
            <a:xfrm>
              <a:off x="9144" y="2720"/>
              <a:ext cx="3182" cy="461"/>
            </a:xfrm>
            <a:prstGeom prst="rect">
              <a:avLst/>
            </a:prstGeom>
            <a:noFill/>
          </p:spPr>
          <p:txBody>
            <a:bodyPr wrap="square" lIns="27432" tIns="9144" rIns="27432" bIns="9144" anchor="ctr">
              <a:spAutoFit/>
            </a:bodyPr>
            <a:lstStyle/>
            <a:p>
              <a:pPr algn="l">
                <a:defRPr sz="1600" b="1">
                  <a:solidFill>
                    <a:srgbClr val="EA580C"/>
                  </a:solidFill>
                  <a:latin typeface="微软雅黑" panose="020B0503020204020204" charset="-122"/>
                </a:defRPr>
              </a:pPr>
              <a:r>
                <a:rPr sz="1600" b="1">
                  <a:solidFill>
                    <a:srgbClr val="EA580C"/>
                  </a:solidFill>
                  <a:latin typeface="微软雅黑" panose="020B0503020204020204" charset="-122"/>
                </a:rPr>
                <a:t>71.2%</a:t>
              </a:r>
            </a:p>
          </p:txBody>
        </p:sp>
        <p:sp>
          <p:nvSpPr>
            <p:cNvPr id="25" name="TextBox 24"/>
            <p:cNvSpPr txBox="1"/>
            <p:nvPr/>
          </p:nvSpPr>
          <p:spPr>
            <a:xfrm>
              <a:off x="9144" y="3209"/>
              <a:ext cx="318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broad tolerance</a:t>
              </a:r>
            </a:p>
          </p:txBody>
        </p:sp>
        <p:sp>
          <p:nvSpPr>
            <p:cNvPr id="26" name="Rounded Rectangle 25"/>
            <p:cNvSpPr/>
            <p:nvPr/>
          </p:nvSpPr>
          <p:spPr>
            <a:xfrm>
              <a:off x="12874" y="2331"/>
              <a:ext cx="3528" cy="1296"/>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2874" y="2331"/>
              <a:ext cx="79" cy="1296"/>
            </a:xfrm>
            <a:prstGeom prst="rect">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075" y="2446"/>
              <a:ext cx="318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Weighted R2</a:t>
              </a:r>
            </a:p>
          </p:txBody>
        </p:sp>
        <p:sp>
          <p:nvSpPr>
            <p:cNvPr id="29" name="TextBox 28"/>
            <p:cNvSpPr txBox="1"/>
            <p:nvPr/>
          </p:nvSpPr>
          <p:spPr>
            <a:xfrm>
              <a:off x="13075" y="2720"/>
              <a:ext cx="3182" cy="461"/>
            </a:xfrm>
            <a:prstGeom prst="rect">
              <a:avLst/>
            </a:prstGeom>
            <a:noFill/>
          </p:spPr>
          <p:txBody>
            <a:bodyPr wrap="square" lIns="27432" tIns="9144" rIns="27432" bIns="9144" anchor="ctr">
              <a:spAutoFit/>
            </a:bodyPr>
            <a:lstStyle/>
            <a:p>
              <a:pPr algn="l">
                <a:defRPr sz="1600" b="1">
                  <a:solidFill>
                    <a:srgbClr val="5B21B6"/>
                  </a:solidFill>
                  <a:latin typeface="微软雅黑" panose="020B0503020204020204" charset="-122"/>
                </a:defRPr>
              </a:pPr>
              <a:r>
                <a:rPr sz="1600" b="1">
                  <a:solidFill>
                    <a:srgbClr val="5B21B6"/>
                  </a:solidFill>
                  <a:latin typeface="微软雅黑" panose="020B0503020204020204" charset="-122"/>
                </a:rPr>
                <a:t>0.248</a:t>
              </a:r>
            </a:p>
          </p:txBody>
        </p:sp>
        <p:sp>
          <p:nvSpPr>
            <p:cNvPr id="30" name="TextBox 29"/>
            <p:cNvSpPr txBox="1"/>
            <p:nvPr/>
          </p:nvSpPr>
          <p:spPr>
            <a:xfrm>
              <a:off x="13075" y="3209"/>
              <a:ext cx="318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primary gated rule</a:t>
              </a:r>
            </a:p>
          </p:txBody>
        </p:sp>
        <p:sp>
          <p:nvSpPr>
            <p:cNvPr id="31" name="TextBox 30"/>
            <p:cNvSpPr txBox="1"/>
            <p:nvPr/>
          </p:nvSpPr>
          <p:spPr>
            <a:xfrm>
              <a:off x="1181" y="4448"/>
              <a:ext cx="3312" cy="346"/>
            </a:xfrm>
            <a:prstGeom prst="rect">
              <a:avLst/>
            </a:prstGeom>
            <a:noFill/>
          </p:spPr>
          <p:txBody>
            <a:bodyPr wrap="square" lIns="27432" tIns="9144" rIns="27432" bIns="9144" anchor="ctr">
              <a:spAutoFit/>
            </a:bodyPr>
            <a:lstStyle/>
            <a:p>
              <a:pPr algn="l">
                <a:defRPr sz="1050" b="1">
                  <a:solidFill>
                    <a:srgbClr val="00796B"/>
                  </a:solidFill>
                  <a:latin typeface="微软雅黑" panose="020B0503020204020204" charset="-122"/>
                </a:defRPr>
              </a:pPr>
              <a:r>
                <a:rPr sz="1050" b="1">
                  <a:solidFill>
                    <a:srgbClr val="00796B"/>
                  </a:solidFill>
                  <a:latin typeface="微软雅黑" panose="020B0503020204020204" charset="-122"/>
                </a:rPr>
                <a:t>Weighted bias comparison</a:t>
              </a:r>
            </a:p>
          </p:txBody>
        </p:sp>
        <p:sp>
          <p:nvSpPr>
            <p:cNvPr id="32" name="Rectangle 31"/>
            <p:cNvSpPr/>
            <p:nvPr/>
          </p:nvSpPr>
          <p:spPr>
            <a:xfrm>
              <a:off x="5000" y="4981"/>
              <a:ext cx="22" cy="338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27" y="8393"/>
              <a:ext cx="346" cy="216"/>
            </a:xfrm>
            <a:prstGeom prst="rect">
              <a:avLst/>
            </a:prstGeom>
            <a:noFill/>
          </p:spPr>
          <p:txBody>
            <a:bodyPr wrap="square" lIns="27432" tIns="9144" rIns="27432" bIns="9144" anchor="ctr">
              <a:spAutoFit/>
            </a:bodyPr>
            <a:lstStyle/>
            <a:p>
              <a:pPr algn="ctr">
                <a:defRPr sz="700" b="1">
                  <a:solidFill>
                    <a:srgbClr val="64748B"/>
                  </a:solidFill>
                  <a:latin typeface="微软雅黑" panose="020B0503020204020204" charset="-122"/>
                </a:defRPr>
              </a:pPr>
              <a:r>
                <a:rPr sz="700" b="1">
                  <a:solidFill>
                    <a:srgbClr val="64748B"/>
                  </a:solidFill>
                  <a:latin typeface="微软雅黑" panose="020B0503020204020204" charset="-122"/>
                </a:rPr>
                <a:t>0</a:t>
              </a:r>
            </a:p>
          </p:txBody>
        </p:sp>
        <p:sp>
          <p:nvSpPr>
            <p:cNvPr id="34" name="TextBox 33"/>
            <p:cNvSpPr txBox="1"/>
            <p:nvPr/>
          </p:nvSpPr>
          <p:spPr>
            <a:xfrm>
              <a:off x="1181" y="5197"/>
              <a:ext cx="2232" cy="317"/>
            </a:xfrm>
            <a:prstGeom prst="rect">
              <a:avLst/>
            </a:prstGeom>
            <a:noFill/>
          </p:spPr>
          <p:txBody>
            <a:bodyPr wrap="square" lIns="27432" tIns="9144" rIns="27432" bIns="9144" anchor="ctr">
              <a:spAutoFit/>
            </a:bodyPr>
            <a:lstStyle/>
            <a:p>
              <a:pPr algn="l">
                <a:defRPr sz="750" b="0">
                  <a:solidFill>
                    <a:srgbClr val="0F172A"/>
                  </a:solidFill>
                  <a:latin typeface="微软雅黑" panose="020B0503020204020204" charset="-122"/>
                </a:defRPr>
              </a:pPr>
              <a:r>
                <a:rPr sz="750" b="0">
                  <a:solidFill>
                    <a:srgbClr val="0F172A"/>
                  </a:solidFill>
                  <a:latin typeface="微软雅黑" panose="020B0503020204020204" charset="-122"/>
                </a:rPr>
                <a:t>Historical mean</a:t>
              </a:r>
            </a:p>
          </p:txBody>
        </p:sp>
        <p:sp>
          <p:nvSpPr>
            <p:cNvPr id="35" name="Rectangle 34"/>
            <p:cNvSpPr/>
            <p:nvPr/>
          </p:nvSpPr>
          <p:spPr>
            <a:xfrm>
              <a:off x="5000" y="5240"/>
              <a:ext cx="3098" cy="21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98" y="5182"/>
              <a:ext cx="720" cy="346"/>
            </a:xfrm>
            <a:prstGeom prst="rect">
              <a:avLst/>
            </a:prstGeom>
            <a:noFill/>
          </p:spPr>
          <p:txBody>
            <a:bodyPr wrap="square" lIns="27432" tIns="9144" rIns="27432" bIns="9144" anchor="ctr">
              <a:spAutoFit/>
            </a:bodyPr>
            <a:lstStyle/>
            <a:p>
              <a:pPr algn="l">
                <a:defRPr sz="750" b="1">
                  <a:solidFill>
                    <a:srgbClr val="64748B"/>
                  </a:solidFill>
                  <a:latin typeface="微软雅黑" panose="020B0503020204020204" charset="-122"/>
                </a:defRPr>
              </a:pPr>
              <a:r>
                <a:rPr sz="750" b="1">
                  <a:solidFill>
                    <a:srgbClr val="64748B"/>
                  </a:solidFill>
                  <a:latin typeface="微软雅黑" panose="020B0503020204020204" charset="-122"/>
                </a:rPr>
                <a:t>+4.50</a:t>
              </a:r>
            </a:p>
          </p:txBody>
        </p:sp>
        <p:sp>
          <p:nvSpPr>
            <p:cNvPr id="37" name="TextBox 36"/>
            <p:cNvSpPr txBox="1"/>
            <p:nvPr/>
          </p:nvSpPr>
          <p:spPr>
            <a:xfrm>
              <a:off x="1181" y="5888"/>
              <a:ext cx="2232" cy="317"/>
            </a:xfrm>
            <a:prstGeom prst="rect">
              <a:avLst/>
            </a:prstGeom>
            <a:noFill/>
          </p:spPr>
          <p:txBody>
            <a:bodyPr wrap="square" lIns="27432" tIns="9144" rIns="27432" bIns="9144" anchor="ctr">
              <a:spAutoFit/>
            </a:bodyPr>
            <a:lstStyle/>
            <a:p>
              <a:pPr algn="l">
                <a:defRPr sz="750" b="0">
                  <a:solidFill>
                    <a:srgbClr val="0F172A"/>
                  </a:solidFill>
                  <a:latin typeface="微软雅黑" panose="020B0503020204020204" charset="-122"/>
                </a:defRPr>
              </a:pPr>
              <a:r>
                <a:rPr sz="750" b="0">
                  <a:solidFill>
                    <a:srgbClr val="0F172A"/>
                  </a:solidFill>
                  <a:latin typeface="微软雅黑" panose="020B0503020204020204" charset="-122"/>
                </a:rPr>
                <a:t>Ordinary XGBoost</a:t>
              </a:r>
            </a:p>
          </p:txBody>
        </p:sp>
        <p:sp>
          <p:nvSpPr>
            <p:cNvPr id="38" name="Rectangle 37"/>
            <p:cNvSpPr/>
            <p:nvPr/>
          </p:nvSpPr>
          <p:spPr>
            <a:xfrm>
              <a:off x="5000" y="5931"/>
              <a:ext cx="2482" cy="216"/>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482" y="5873"/>
              <a:ext cx="720" cy="346"/>
            </a:xfrm>
            <a:prstGeom prst="rect">
              <a:avLst/>
            </a:prstGeom>
            <a:noFill/>
          </p:spPr>
          <p:txBody>
            <a:bodyPr wrap="square" lIns="27432" tIns="9144" rIns="27432" bIns="9144" anchor="ctr">
              <a:spAutoFit/>
            </a:bodyPr>
            <a:lstStyle/>
            <a:p>
              <a:pPr algn="l">
                <a:defRPr sz="750" b="1">
                  <a:solidFill>
                    <a:srgbClr val="BE123C"/>
                  </a:solidFill>
                  <a:latin typeface="微软雅黑" panose="020B0503020204020204" charset="-122"/>
                </a:defRPr>
              </a:pPr>
              <a:r>
                <a:rPr sz="750" b="1">
                  <a:solidFill>
                    <a:srgbClr val="BE123C"/>
                  </a:solidFill>
                  <a:latin typeface="微软雅黑" panose="020B0503020204020204" charset="-122"/>
                </a:rPr>
                <a:t>+3.61</a:t>
              </a:r>
            </a:p>
          </p:txBody>
        </p:sp>
        <p:sp>
          <p:nvSpPr>
            <p:cNvPr id="40" name="TextBox 39"/>
            <p:cNvSpPr txBox="1"/>
            <p:nvPr/>
          </p:nvSpPr>
          <p:spPr>
            <a:xfrm>
              <a:off x="1181" y="6579"/>
              <a:ext cx="2232" cy="317"/>
            </a:xfrm>
            <a:prstGeom prst="rect">
              <a:avLst/>
            </a:prstGeom>
            <a:noFill/>
          </p:spPr>
          <p:txBody>
            <a:bodyPr wrap="square" lIns="27432" tIns="9144" rIns="27432" bIns="9144" anchor="ctr">
              <a:spAutoFit/>
            </a:bodyPr>
            <a:lstStyle/>
            <a:p>
              <a:pPr algn="l">
                <a:defRPr sz="750" b="0">
                  <a:solidFill>
                    <a:srgbClr val="0F172A"/>
                  </a:solidFill>
                  <a:latin typeface="微软雅黑" panose="020B0503020204020204" charset="-122"/>
                </a:defRPr>
              </a:pPr>
              <a:r>
                <a:rPr sz="750" b="0">
                  <a:solidFill>
                    <a:srgbClr val="0F172A"/>
                  </a:solidFill>
                  <a:latin typeface="微软雅黑" panose="020B0503020204020204" charset="-122"/>
                </a:rPr>
                <a:t>Trend / indicator</a:t>
              </a:r>
            </a:p>
          </p:txBody>
        </p:sp>
        <p:sp>
          <p:nvSpPr>
            <p:cNvPr id="41" name="Rectangle 40"/>
            <p:cNvSpPr/>
            <p:nvPr/>
          </p:nvSpPr>
          <p:spPr>
            <a:xfrm>
              <a:off x="5000" y="6622"/>
              <a:ext cx="2305" cy="216"/>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05" y="6565"/>
              <a:ext cx="720" cy="346"/>
            </a:xfrm>
            <a:prstGeom prst="rect">
              <a:avLst/>
            </a:prstGeom>
            <a:noFill/>
          </p:spPr>
          <p:txBody>
            <a:bodyPr wrap="square" lIns="27432" tIns="9144" rIns="27432" bIns="9144" anchor="ctr">
              <a:spAutoFit/>
            </a:bodyPr>
            <a:lstStyle/>
            <a:p>
              <a:pPr algn="l">
                <a:defRPr sz="750" b="1">
                  <a:solidFill>
                    <a:srgbClr val="EA580C"/>
                  </a:solidFill>
                  <a:latin typeface="微软雅黑" panose="020B0503020204020204" charset="-122"/>
                </a:defRPr>
              </a:pPr>
              <a:r>
                <a:rPr sz="750" b="1">
                  <a:solidFill>
                    <a:srgbClr val="EA580C"/>
                  </a:solidFill>
                  <a:latin typeface="微软雅黑" panose="020B0503020204020204" charset="-122"/>
                </a:rPr>
                <a:t>+3.35</a:t>
              </a:r>
            </a:p>
          </p:txBody>
        </p:sp>
        <p:sp>
          <p:nvSpPr>
            <p:cNvPr id="43" name="TextBox 42"/>
            <p:cNvSpPr txBox="1"/>
            <p:nvPr/>
          </p:nvSpPr>
          <p:spPr>
            <a:xfrm>
              <a:off x="1181" y="7270"/>
              <a:ext cx="2232" cy="317"/>
            </a:xfrm>
            <a:prstGeom prst="rect">
              <a:avLst/>
            </a:prstGeom>
            <a:noFill/>
          </p:spPr>
          <p:txBody>
            <a:bodyPr wrap="square" lIns="27432" tIns="9144" rIns="27432" bIns="9144" anchor="ctr">
              <a:spAutoFit/>
            </a:bodyPr>
            <a:lstStyle/>
            <a:p>
              <a:pPr algn="l">
                <a:defRPr sz="750" b="0">
                  <a:solidFill>
                    <a:srgbClr val="0F172A"/>
                  </a:solidFill>
                  <a:latin typeface="微软雅黑" panose="020B0503020204020204" charset="-122"/>
                </a:defRPr>
              </a:pPr>
              <a:r>
                <a:rPr sz="750" b="0">
                  <a:solidFill>
                    <a:srgbClr val="0F172A"/>
                  </a:solidFill>
                  <a:latin typeface="微软雅黑" panose="020B0503020204020204" charset="-122"/>
                </a:rPr>
                <a:t>LLM-only pressure</a:t>
              </a:r>
            </a:p>
          </p:txBody>
        </p:sp>
        <p:sp>
          <p:nvSpPr>
            <p:cNvPr id="44" name="Rectangle 43"/>
            <p:cNvSpPr/>
            <p:nvPr/>
          </p:nvSpPr>
          <p:spPr>
            <a:xfrm>
              <a:off x="4743" y="7313"/>
              <a:ext cx="257" cy="216"/>
            </a:xfrm>
            <a:prstGeom prst="rect">
              <a:avLst/>
            </a:prstGeom>
            <a:solidFill>
              <a:srgbClr val="5B21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23" y="7256"/>
              <a:ext cx="720" cy="346"/>
            </a:xfrm>
            <a:prstGeom prst="rect">
              <a:avLst/>
            </a:prstGeom>
            <a:noFill/>
          </p:spPr>
          <p:txBody>
            <a:bodyPr wrap="square" lIns="27432" tIns="9144" rIns="27432" bIns="9144" anchor="ctr">
              <a:spAutoFit/>
            </a:bodyPr>
            <a:lstStyle/>
            <a:p>
              <a:pPr algn="l">
                <a:defRPr sz="750" b="1">
                  <a:solidFill>
                    <a:srgbClr val="5B21B6"/>
                  </a:solidFill>
                  <a:latin typeface="微软雅黑" panose="020B0503020204020204" charset="-122"/>
                </a:defRPr>
              </a:pPr>
              <a:r>
                <a:rPr sz="750" b="1">
                  <a:solidFill>
                    <a:srgbClr val="5B21B6"/>
                  </a:solidFill>
                  <a:latin typeface="微软雅黑" panose="020B0503020204020204" charset="-122"/>
                </a:rPr>
                <a:t>-0.37</a:t>
              </a:r>
            </a:p>
          </p:txBody>
        </p:sp>
        <p:sp>
          <p:nvSpPr>
            <p:cNvPr id="46" name="TextBox 45"/>
            <p:cNvSpPr txBox="1"/>
            <p:nvPr/>
          </p:nvSpPr>
          <p:spPr>
            <a:xfrm>
              <a:off x="1181" y="7961"/>
              <a:ext cx="2232" cy="317"/>
            </a:xfrm>
            <a:prstGeom prst="rect">
              <a:avLst/>
            </a:prstGeom>
            <a:noFill/>
          </p:spPr>
          <p:txBody>
            <a:bodyPr wrap="square" lIns="27432" tIns="9144" rIns="27432" bIns="9144" anchor="ctr">
              <a:spAutoFit/>
            </a:bodyPr>
            <a:lstStyle/>
            <a:p>
              <a:pPr algn="l">
                <a:defRPr sz="750" b="0">
                  <a:solidFill>
                    <a:srgbClr val="0F172A"/>
                  </a:solidFill>
                  <a:latin typeface="微软雅黑" panose="020B0503020204020204" charset="-122"/>
                </a:defRPr>
              </a:pPr>
              <a:r>
                <a:rPr sz="750" b="0">
                  <a:solidFill>
                    <a:srgbClr val="0F172A"/>
                  </a:solidFill>
                  <a:latin typeface="微软雅黑" panose="020B0503020204020204" charset="-122"/>
                </a:rPr>
                <a:t>Hybrid gated</a:t>
              </a:r>
            </a:p>
          </p:txBody>
        </p:sp>
        <p:sp>
          <p:nvSpPr>
            <p:cNvPr id="47" name="Rectangle 46"/>
            <p:cNvSpPr/>
            <p:nvPr/>
          </p:nvSpPr>
          <p:spPr>
            <a:xfrm>
              <a:off x="4984" y="8005"/>
              <a:ext cx="16" cy="216"/>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264" y="7947"/>
              <a:ext cx="720" cy="346"/>
            </a:xfrm>
            <a:prstGeom prst="rect">
              <a:avLst/>
            </a:prstGeom>
            <a:noFill/>
          </p:spPr>
          <p:txBody>
            <a:bodyPr wrap="square" lIns="27432" tIns="9144" rIns="27432" bIns="9144" anchor="ctr">
              <a:spAutoFit/>
            </a:bodyPr>
            <a:lstStyle/>
            <a:p>
              <a:pPr algn="l">
                <a:defRPr sz="750" b="1">
                  <a:solidFill>
                    <a:srgbClr val="198754"/>
                  </a:solidFill>
                  <a:latin typeface="微软雅黑" panose="020B0503020204020204" charset="-122"/>
                </a:defRPr>
              </a:pPr>
              <a:r>
                <a:rPr sz="750" b="1">
                  <a:solidFill>
                    <a:srgbClr val="198754"/>
                  </a:solidFill>
                  <a:latin typeface="微软雅黑" panose="020B0503020204020204" charset="-122"/>
                </a:rPr>
                <a:t>-0.02</a:t>
              </a:r>
            </a:p>
          </p:txBody>
        </p:sp>
        <p:sp>
          <p:nvSpPr>
            <p:cNvPr id="49" name="Rectangle 48"/>
            <p:cNvSpPr/>
            <p:nvPr/>
          </p:nvSpPr>
          <p:spPr>
            <a:xfrm>
              <a:off x="9144" y="4837"/>
              <a:ext cx="3960" cy="893"/>
            </a:xfrm>
            <a:prstGeom prst="rect">
              <a:avLst/>
            </a:prstGeom>
            <a:solidFill>
              <a:srgbClr val="183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02" y="4952"/>
              <a:ext cx="3845" cy="691"/>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Observation</a:t>
              </a:r>
            </a:p>
          </p:txBody>
        </p:sp>
        <p:sp>
          <p:nvSpPr>
            <p:cNvPr id="51" name="Rectangle 50"/>
            <p:cNvSpPr/>
            <p:nvPr/>
          </p:nvSpPr>
          <p:spPr>
            <a:xfrm>
              <a:off x="13104" y="4837"/>
              <a:ext cx="4320" cy="893"/>
            </a:xfrm>
            <a:prstGeom prst="rect">
              <a:avLst/>
            </a:prstGeom>
            <a:solidFill>
              <a:srgbClr val="183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162" y="4952"/>
              <a:ext cx="4205" cy="691"/>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Interpretation</a:t>
              </a:r>
            </a:p>
          </p:txBody>
        </p:sp>
        <p:sp>
          <p:nvSpPr>
            <p:cNvPr id="53" name="Rectangle 52"/>
            <p:cNvSpPr/>
            <p:nvPr/>
          </p:nvSpPr>
          <p:spPr>
            <a:xfrm>
              <a:off x="9144" y="5729"/>
              <a:ext cx="3960" cy="893"/>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230" y="5830"/>
              <a:ext cx="3787" cy="691"/>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XGBoost: household signal + positive bias</a:t>
              </a:r>
            </a:p>
          </p:txBody>
        </p:sp>
        <p:sp>
          <p:nvSpPr>
            <p:cNvPr id="55" name="Rectangle 54"/>
            <p:cNvSpPr/>
            <p:nvPr/>
          </p:nvSpPr>
          <p:spPr>
            <a:xfrm>
              <a:off x="13104" y="5729"/>
              <a:ext cx="4320" cy="893"/>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3190" y="5830"/>
              <a:ext cx="4147" cy="691"/>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history routine is too high for 2022</a:t>
              </a:r>
            </a:p>
          </p:txBody>
        </p:sp>
        <p:sp>
          <p:nvSpPr>
            <p:cNvPr id="57" name="Rectangle 56"/>
            <p:cNvSpPr/>
            <p:nvPr/>
          </p:nvSpPr>
          <p:spPr>
            <a:xfrm>
              <a:off x="9144" y="6622"/>
              <a:ext cx="3960" cy="893"/>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230" y="6723"/>
              <a:ext cx="3787" cy="691"/>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LLM-only: direction useful, calibration weak</a:t>
              </a:r>
            </a:p>
          </p:txBody>
        </p:sp>
        <p:sp>
          <p:nvSpPr>
            <p:cNvPr id="59" name="Rectangle 58"/>
            <p:cNvSpPr/>
            <p:nvPr/>
          </p:nvSpPr>
          <p:spPr>
            <a:xfrm>
              <a:off x="13104" y="6622"/>
              <a:ext cx="4320" cy="893"/>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3190" y="6723"/>
              <a:ext cx="4147" cy="691"/>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event semantics cannot replace household baseline</a:t>
              </a:r>
            </a:p>
          </p:txBody>
        </p:sp>
        <p:sp>
          <p:nvSpPr>
            <p:cNvPr id="61" name="Rectangle 60"/>
            <p:cNvSpPr/>
            <p:nvPr/>
          </p:nvSpPr>
          <p:spPr>
            <a:xfrm>
              <a:off x="9144" y="7515"/>
              <a:ext cx="3960" cy="893"/>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230" y="7616"/>
              <a:ext cx="3787" cy="691"/>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Hybrid: bias close to zero</a:t>
              </a:r>
            </a:p>
          </p:txBody>
        </p:sp>
        <p:sp>
          <p:nvSpPr>
            <p:cNvPr id="63" name="Rectangle 62"/>
            <p:cNvSpPr/>
            <p:nvPr/>
          </p:nvSpPr>
          <p:spPr>
            <a:xfrm>
              <a:off x="13104" y="7515"/>
              <a:ext cx="4320" cy="893"/>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3190" y="7616"/>
              <a:ext cx="4147" cy="691"/>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routine demand and event response are separated</a:t>
              </a:r>
            </a:p>
          </p:txBody>
        </p:sp>
      </p:gr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误差</a:t>
            </a:r>
          </a:p>
        </p:txBody>
      </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229611" y="1678161"/>
            <a:ext cx="2194560" cy="326243"/>
          </a:xfrm>
          <a:prstGeom prst="rect">
            <a:avLst/>
          </a:prstGeom>
          <a:noFill/>
        </p:spPr>
        <p:txBody>
          <a:bodyPr wrap="square" lIns="27432" tIns="9144" rIns="27432" bIns="9144" anchor="ctr">
            <a:spAutoFit/>
          </a:bodyPr>
          <a:lstStyle/>
          <a:p>
            <a:pPr algn="ctr">
              <a:defRPr sz="800" b="1">
                <a:solidFill>
                  <a:srgbClr val="64748B"/>
                </a:solidFill>
                <a:latin typeface="微软雅黑" panose="020B0503020204020204" charset="-122"/>
              </a:defRPr>
            </a:pPr>
            <a:r>
              <a:rPr sz="2000" b="1" dirty="0" err="1">
                <a:solidFill>
                  <a:srgbClr val="64748B"/>
                </a:solidFill>
                <a:latin typeface="微软雅黑" panose="020B0503020204020204" charset="-122"/>
              </a:rPr>
              <a:t>事件信息弱</a:t>
            </a:r>
            <a:endParaRPr sz="2000" b="1" dirty="0">
              <a:solidFill>
                <a:srgbClr val="64748B"/>
              </a:solidFill>
              <a:latin typeface="微软雅黑" panose="020B0503020204020204" charset="-122"/>
            </a:endParaRPr>
          </a:p>
        </p:txBody>
      </p:sp>
      <p:sp>
        <p:nvSpPr>
          <p:cNvPr id="15" name="TextBox 14"/>
          <p:cNvSpPr txBox="1"/>
          <p:nvPr/>
        </p:nvSpPr>
        <p:spPr>
          <a:xfrm>
            <a:off x="7862570" y="1678161"/>
            <a:ext cx="2194560" cy="326243"/>
          </a:xfrm>
          <a:prstGeom prst="rect">
            <a:avLst/>
          </a:prstGeom>
          <a:noFill/>
        </p:spPr>
        <p:txBody>
          <a:bodyPr wrap="square" lIns="27432" tIns="9144" rIns="27432" bIns="9144" anchor="ctr">
            <a:spAutoFit/>
          </a:bodyPr>
          <a:lstStyle/>
          <a:p>
            <a:pPr algn="ctr">
              <a:defRPr sz="800" b="1">
                <a:solidFill>
                  <a:srgbClr val="64748B"/>
                </a:solidFill>
                <a:latin typeface="微软雅黑" panose="020B0503020204020204" charset="-122"/>
              </a:defRPr>
            </a:pPr>
            <a:r>
              <a:rPr sz="2000" b="1">
                <a:solidFill>
                  <a:srgbClr val="64748B"/>
                </a:solidFill>
                <a:latin typeface="微软雅黑" panose="020B0503020204020204" charset="-122"/>
              </a:rPr>
              <a:t>事件信息强</a:t>
            </a:r>
          </a:p>
        </p:txBody>
      </p:sp>
      <p:grpSp>
        <p:nvGrpSpPr>
          <p:cNvPr id="37" name="组合 36"/>
          <p:cNvGrpSpPr/>
          <p:nvPr>
            <p:custDataLst>
              <p:tags r:id="rId1"/>
            </p:custDataLst>
          </p:nvPr>
        </p:nvGrpSpPr>
        <p:grpSpPr>
          <a:xfrm>
            <a:off x="836422" y="1745902"/>
            <a:ext cx="10638028" cy="4096512"/>
            <a:chOff x="-122428" y="1170432"/>
            <a:chExt cx="10638028" cy="4096512"/>
          </a:xfrm>
        </p:grpSpPr>
        <p:sp>
          <p:nvSpPr>
            <p:cNvPr id="12" name="Rectangle 11"/>
            <p:cNvSpPr/>
            <p:nvPr>
              <p:custDataLst>
                <p:tags r:id="rId2"/>
              </p:custDataLst>
            </p:nvPr>
          </p:nvSpPr>
          <p:spPr>
            <a:xfrm>
              <a:off x="5760720" y="1170432"/>
              <a:ext cx="10972" cy="409651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Rectangle 12"/>
            <p:cNvSpPr/>
            <p:nvPr>
              <p:custDataLst>
                <p:tags r:id="rId3"/>
              </p:custDataLst>
            </p:nvPr>
          </p:nvSpPr>
          <p:spPr>
            <a:xfrm>
              <a:off x="1051560" y="3218688"/>
              <a:ext cx="9464040" cy="1097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122428" y="2006409"/>
              <a:ext cx="1406525" cy="325120"/>
            </a:xfrm>
            <a:prstGeom prst="rect">
              <a:avLst/>
            </a:prstGeom>
            <a:noFill/>
          </p:spPr>
          <p:txBody>
            <a:bodyPr wrap="square" lIns="27432" tIns="9144" rIns="27432" bIns="9144" anchor="ctr">
              <a:spAutoFit/>
            </a:bodyPr>
            <a:lstStyle/>
            <a:p>
              <a:pPr algn="ctr">
                <a:defRPr sz="800" b="1">
                  <a:solidFill>
                    <a:srgbClr val="64748B"/>
                  </a:solidFill>
                  <a:latin typeface="微软雅黑" panose="020B0503020204020204" charset="-122"/>
                </a:defRPr>
              </a:pPr>
              <a:r>
                <a:rPr sz="2000" b="1" dirty="0" err="1">
                  <a:solidFill>
                    <a:srgbClr val="64748B"/>
                  </a:solidFill>
                  <a:latin typeface="微软雅黑" panose="020B0503020204020204" charset="-122"/>
                </a:rPr>
                <a:t>家庭基线弱</a:t>
              </a:r>
              <a:endParaRPr sz="2000" b="1" dirty="0">
                <a:solidFill>
                  <a:srgbClr val="64748B"/>
                </a:solidFill>
                <a:latin typeface="微软雅黑" panose="020B0503020204020204" charset="-122"/>
              </a:endParaRPr>
            </a:p>
          </p:txBody>
        </p:sp>
        <p:sp>
          <p:nvSpPr>
            <p:cNvPr id="17" name="TextBox 16"/>
            <p:cNvSpPr txBox="1"/>
            <p:nvPr/>
          </p:nvSpPr>
          <p:spPr>
            <a:xfrm>
              <a:off x="-122428" y="4155250"/>
              <a:ext cx="1406525" cy="325120"/>
            </a:xfrm>
            <a:prstGeom prst="rect">
              <a:avLst/>
            </a:prstGeom>
            <a:noFill/>
          </p:spPr>
          <p:txBody>
            <a:bodyPr wrap="square" lIns="27432" tIns="9144" rIns="27432" bIns="9144" anchor="ctr">
              <a:spAutoFit/>
            </a:bodyPr>
            <a:lstStyle/>
            <a:p>
              <a:pPr algn="ctr">
                <a:defRPr sz="800" b="1">
                  <a:solidFill>
                    <a:srgbClr val="64748B"/>
                  </a:solidFill>
                  <a:latin typeface="微软雅黑" panose="020B0503020204020204" charset="-122"/>
                </a:defRPr>
              </a:pPr>
              <a:r>
                <a:rPr sz="2000" b="1">
                  <a:solidFill>
                    <a:srgbClr val="64748B"/>
                  </a:solidFill>
                  <a:latin typeface="微软雅黑" panose="020B0503020204020204" charset="-122"/>
                </a:rPr>
                <a:t>家庭基线强</a:t>
              </a:r>
            </a:p>
          </p:txBody>
        </p:sp>
        <p:grpSp>
          <p:nvGrpSpPr>
            <p:cNvPr id="33" name="组合 32"/>
            <p:cNvGrpSpPr/>
            <p:nvPr/>
          </p:nvGrpSpPr>
          <p:grpSpPr>
            <a:xfrm>
              <a:off x="1645919" y="1622327"/>
              <a:ext cx="3679544" cy="1316738"/>
              <a:chOff x="1314908" y="1371599"/>
              <a:chExt cx="3679544" cy="1316738"/>
            </a:xfrm>
          </p:grpSpPr>
          <p:sp>
            <p:nvSpPr>
              <p:cNvPr id="18" name="Rounded Rectangle 17"/>
              <p:cNvSpPr/>
              <p:nvPr>
                <p:custDataLst>
                  <p:tags r:id="rId13"/>
                </p:custDataLst>
              </p:nvPr>
            </p:nvSpPr>
            <p:spPr>
              <a:xfrm>
                <a:off x="1314908" y="1371599"/>
                <a:ext cx="3679544" cy="1316738"/>
              </a:xfrm>
              <a:prstGeom prst="roundRect">
                <a:avLst/>
              </a:prstGeom>
              <a:solidFill>
                <a:srgbClr val="FFFFFF"/>
              </a:solidFill>
              <a:ln w="9525">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custDataLst>
                  <p:tags r:id="rId14"/>
                </p:custDataLst>
              </p:nvPr>
            </p:nvSpPr>
            <p:spPr>
              <a:xfrm>
                <a:off x="1673352" y="1718090"/>
                <a:ext cx="2962656" cy="203133"/>
              </a:xfrm>
              <a:prstGeom prst="rect">
                <a:avLst/>
              </a:prstGeom>
              <a:noFill/>
            </p:spPr>
            <p:txBody>
              <a:bodyPr wrap="square" lIns="27432" tIns="9144" rIns="27432" bIns="9144" anchor="ctr">
                <a:spAutoFit/>
              </a:bodyPr>
              <a:lstStyle/>
              <a:p>
                <a:pPr algn="ctr">
                  <a:defRPr sz="920" b="1">
                    <a:solidFill>
                      <a:srgbClr val="64748B"/>
                    </a:solidFill>
                    <a:latin typeface="微软雅黑" panose="020B0503020204020204" charset="-122"/>
                  </a:defRPr>
                </a:pPr>
                <a:r>
                  <a:rPr sz="1200" b="1">
                    <a:solidFill>
                      <a:srgbClr val="64748B"/>
                    </a:solidFill>
                    <a:latin typeface="微软雅黑" panose="020B0503020204020204" charset="-122"/>
                  </a:rPr>
                  <a:t>Historical mean</a:t>
                </a:r>
              </a:p>
            </p:txBody>
          </p:sp>
          <p:sp>
            <p:nvSpPr>
              <p:cNvPr id="20" name="TextBox 19"/>
              <p:cNvSpPr txBox="1"/>
              <p:nvPr>
                <p:custDataLst>
                  <p:tags r:id="rId15"/>
                </p:custDataLst>
              </p:nvPr>
            </p:nvSpPr>
            <p:spPr>
              <a:xfrm>
                <a:off x="1691640" y="1858036"/>
                <a:ext cx="2926079" cy="572464"/>
              </a:xfrm>
              <a:prstGeom prst="rect">
                <a:avLst/>
              </a:prstGeom>
              <a:noFill/>
            </p:spPr>
            <p:txBody>
              <a:bodyPr wrap="square" lIns="27432" tIns="9144" rIns="27432" bIns="9144" anchor="ctr">
                <a:spAutoFit/>
              </a:bodyPr>
              <a:lstStyle/>
              <a:p>
                <a:pPr algn="ctr">
                  <a:defRPr sz="780" b="0">
                    <a:solidFill>
                      <a:srgbClr val="64748B"/>
                    </a:solidFill>
                    <a:latin typeface="微软雅黑" panose="020B0503020204020204" charset="-122"/>
                  </a:defRPr>
                </a:pPr>
                <a:r>
                  <a:rPr sz="1200" b="0" dirty="0">
                    <a:solidFill>
                      <a:srgbClr val="64748B"/>
                    </a:solidFill>
                    <a:latin typeface="微软雅黑" panose="020B0503020204020204" charset="-122"/>
                  </a:rPr>
                  <a:t>neither household heterogeneity nor event semantics</a:t>
                </a:r>
                <a:br>
                  <a:rPr sz="1200" dirty="0"/>
                </a:br>
                <a:r>
                  <a:rPr sz="1200" b="0" dirty="0" err="1">
                    <a:solidFill>
                      <a:srgbClr val="64748B"/>
                    </a:solidFill>
                    <a:latin typeface="微软雅黑" panose="020B0503020204020204" charset="-122"/>
                  </a:rPr>
                  <a:t>wMAE</a:t>
                </a:r>
                <a:r>
                  <a:rPr sz="1200" b="0" dirty="0">
                    <a:solidFill>
                      <a:srgbClr val="64748B"/>
                    </a:solidFill>
                    <a:latin typeface="微软雅黑" panose="020B0503020204020204" charset="-122"/>
                  </a:rPr>
                  <a:t> 5.51</a:t>
                </a:r>
              </a:p>
            </p:txBody>
          </p:sp>
        </p:grpSp>
        <p:grpSp>
          <p:nvGrpSpPr>
            <p:cNvPr id="34" name="组合 33"/>
            <p:cNvGrpSpPr/>
            <p:nvPr/>
          </p:nvGrpSpPr>
          <p:grpSpPr>
            <a:xfrm>
              <a:off x="6214351" y="1622327"/>
              <a:ext cx="3344260" cy="1316738"/>
              <a:chOff x="6420310" y="1371599"/>
              <a:chExt cx="3344260" cy="1316738"/>
            </a:xfrm>
          </p:grpSpPr>
          <p:sp>
            <p:nvSpPr>
              <p:cNvPr id="21" name="Rounded Rectangle 20"/>
              <p:cNvSpPr/>
              <p:nvPr>
                <p:custDataLst>
                  <p:tags r:id="rId10"/>
                </p:custDataLst>
              </p:nvPr>
            </p:nvSpPr>
            <p:spPr>
              <a:xfrm>
                <a:off x="6420310" y="1371599"/>
                <a:ext cx="3344260" cy="1316738"/>
              </a:xfrm>
              <a:prstGeom prst="roundRect">
                <a:avLst/>
              </a:prstGeom>
              <a:solidFill>
                <a:srgbClr val="FFFFFF"/>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custDataLst>
                  <p:tags r:id="rId11"/>
                </p:custDataLst>
              </p:nvPr>
            </p:nvSpPr>
            <p:spPr>
              <a:xfrm>
                <a:off x="6611112" y="1718090"/>
                <a:ext cx="2962656" cy="203133"/>
              </a:xfrm>
              <a:prstGeom prst="rect">
                <a:avLst/>
              </a:prstGeom>
              <a:noFill/>
            </p:spPr>
            <p:txBody>
              <a:bodyPr wrap="square" lIns="27432" tIns="9144" rIns="27432" bIns="9144" anchor="ctr">
                <a:spAutoFit/>
              </a:bodyPr>
              <a:lstStyle/>
              <a:p>
                <a:pPr algn="ctr">
                  <a:defRPr sz="920" b="1">
                    <a:solidFill>
                      <a:srgbClr val="5B21B6"/>
                    </a:solidFill>
                    <a:latin typeface="微软雅黑" panose="020B0503020204020204" charset="-122"/>
                  </a:defRPr>
                </a:pPr>
                <a:r>
                  <a:rPr sz="1200" b="1">
                    <a:solidFill>
                      <a:srgbClr val="5B21B6"/>
                    </a:solidFill>
                    <a:latin typeface="微软雅黑" panose="020B0503020204020204" charset="-122"/>
                  </a:rPr>
                  <a:t>LLM-only pressure</a:t>
                </a:r>
              </a:p>
            </p:txBody>
          </p:sp>
          <p:sp>
            <p:nvSpPr>
              <p:cNvPr id="23" name="TextBox 22"/>
              <p:cNvSpPr txBox="1"/>
              <p:nvPr>
                <p:custDataLst>
                  <p:tags r:id="rId12"/>
                </p:custDataLst>
              </p:nvPr>
            </p:nvSpPr>
            <p:spPr>
              <a:xfrm>
                <a:off x="6629400" y="1858036"/>
                <a:ext cx="2926079" cy="572464"/>
              </a:xfrm>
              <a:prstGeom prst="rect">
                <a:avLst/>
              </a:prstGeom>
              <a:noFill/>
            </p:spPr>
            <p:txBody>
              <a:bodyPr wrap="square" lIns="27432" tIns="9144" rIns="27432" bIns="9144" anchor="ctr">
                <a:spAutoFit/>
              </a:bodyPr>
              <a:lstStyle/>
              <a:p>
                <a:pPr algn="ctr">
                  <a:defRPr sz="780" b="0">
                    <a:solidFill>
                      <a:srgbClr val="64748B"/>
                    </a:solidFill>
                    <a:latin typeface="微软雅黑" panose="020B0503020204020204" charset="-122"/>
                  </a:defRPr>
                </a:pPr>
                <a:r>
                  <a:rPr sz="1200" b="0" dirty="0">
                    <a:solidFill>
                      <a:srgbClr val="64748B"/>
                    </a:solidFill>
                    <a:latin typeface="微软雅黑" panose="020B0503020204020204" charset="-122"/>
                  </a:rPr>
                  <a:t>event direction without household baseline</a:t>
                </a:r>
                <a:br>
                  <a:rPr sz="1200" dirty="0"/>
                </a:br>
                <a:r>
                  <a:rPr sz="1200" b="0" dirty="0" err="1">
                    <a:solidFill>
                      <a:srgbClr val="64748B"/>
                    </a:solidFill>
                    <a:latin typeface="微软雅黑" panose="020B0503020204020204" charset="-122"/>
                  </a:rPr>
                  <a:t>wMAE</a:t>
                </a:r>
                <a:r>
                  <a:rPr sz="1200" b="0" dirty="0">
                    <a:solidFill>
                      <a:srgbClr val="64748B"/>
                    </a:solidFill>
                    <a:latin typeface="微软雅黑" panose="020B0503020204020204" charset="-122"/>
                  </a:rPr>
                  <a:t> 2.72</a:t>
                </a:r>
              </a:p>
            </p:txBody>
          </p:sp>
        </p:grpSp>
        <p:grpSp>
          <p:nvGrpSpPr>
            <p:cNvPr id="36" name="组合 35"/>
            <p:cNvGrpSpPr/>
            <p:nvPr/>
          </p:nvGrpSpPr>
          <p:grpSpPr>
            <a:xfrm>
              <a:off x="1645920" y="3482036"/>
              <a:ext cx="3679544" cy="1265526"/>
              <a:chOff x="1314908" y="3482036"/>
              <a:chExt cx="3679544" cy="1265526"/>
            </a:xfrm>
          </p:grpSpPr>
          <p:sp>
            <p:nvSpPr>
              <p:cNvPr id="24" name="Rounded Rectangle 23"/>
              <p:cNvSpPr/>
              <p:nvPr>
                <p:custDataLst>
                  <p:tags r:id="rId7"/>
                </p:custDataLst>
              </p:nvPr>
            </p:nvSpPr>
            <p:spPr>
              <a:xfrm>
                <a:off x="1314908" y="3482036"/>
                <a:ext cx="3679544" cy="1265526"/>
              </a:xfrm>
              <a:prstGeom prst="roundRect">
                <a:avLst/>
              </a:prstGeom>
              <a:solidFill>
                <a:srgbClr val="FFFFFF"/>
              </a:solidFill>
              <a:ln w="9525">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TextBox 24"/>
              <p:cNvSpPr txBox="1"/>
              <p:nvPr>
                <p:custDataLst>
                  <p:tags r:id="rId8"/>
                </p:custDataLst>
              </p:nvPr>
            </p:nvSpPr>
            <p:spPr>
              <a:xfrm>
                <a:off x="1673352" y="3802922"/>
                <a:ext cx="2962656" cy="203133"/>
              </a:xfrm>
              <a:prstGeom prst="rect">
                <a:avLst/>
              </a:prstGeom>
              <a:noFill/>
            </p:spPr>
            <p:txBody>
              <a:bodyPr wrap="square" lIns="27432" tIns="9144" rIns="27432" bIns="9144" anchor="ctr">
                <a:spAutoFit/>
              </a:bodyPr>
              <a:lstStyle/>
              <a:p>
                <a:pPr algn="ctr">
                  <a:defRPr sz="920" b="1">
                    <a:solidFill>
                      <a:srgbClr val="BE123C"/>
                    </a:solidFill>
                    <a:latin typeface="微软雅黑" panose="020B0503020204020204" charset="-122"/>
                  </a:defRPr>
                </a:pPr>
                <a:r>
                  <a:rPr sz="1200" b="1">
                    <a:solidFill>
                      <a:srgbClr val="BE123C"/>
                    </a:solidFill>
                    <a:latin typeface="微软雅黑" panose="020B0503020204020204" charset="-122"/>
                  </a:rPr>
                  <a:t>Ordinary XGBoost</a:t>
                </a:r>
              </a:p>
            </p:txBody>
          </p:sp>
          <p:sp>
            <p:nvSpPr>
              <p:cNvPr id="26" name="TextBox 25"/>
              <p:cNvSpPr txBox="1"/>
              <p:nvPr>
                <p:custDataLst>
                  <p:tags r:id="rId9"/>
                </p:custDataLst>
              </p:nvPr>
            </p:nvSpPr>
            <p:spPr>
              <a:xfrm>
                <a:off x="1691640" y="3942867"/>
                <a:ext cx="2926079" cy="572464"/>
              </a:xfrm>
              <a:prstGeom prst="rect">
                <a:avLst/>
              </a:prstGeom>
              <a:noFill/>
            </p:spPr>
            <p:txBody>
              <a:bodyPr wrap="square" lIns="27432" tIns="9144" rIns="27432" bIns="9144" anchor="ctr">
                <a:spAutoFit/>
              </a:bodyPr>
              <a:lstStyle/>
              <a:p>
                <a:pPr algn="ctr">
                  <a:defRPr sz="780" b="0">
                    <a:solidFill>
                      <a:srgbClr val="64748B"/>
                    </a:solidFill>
                    <a:latin typeface="微软雅黑" panose="020B0503020204020204" charset="-122"/>
                  </a:defRPr>
                </a:pPr>
                <a:r>
                  <a:rPr sz="1200" b="0" dirty="0">
                    <a:solidFill>
                      <a:srgbClr val="64748B"/>
                    </a:solidFill>
                    <a:latin typeface="微软雅黑" panose="020B0503020204020204" charset="-122"/>
                  </a:rPr>
                  <a:t>household grounding without pandemic semantics</a:t>
                </a:r>
                <a:br>
                  <a:rPr sz="1200" dirty="0"/>
                </a:br>
                <a:r>
                  <a:rPr sz="1200" b="0" dirty="0" err="1">
                    <a:solidFill>
                      <a:srgbClr val="64748B"/>
                    </a:solidFill>
                    <a:latin typeface="微软雅黑" panose="020B0503020204020204" charset="-122"/>
                  </a:rPr>
                  <a:t>wMAE</a:t>
                </a:r>
                <a:r>
                  <a:rPr sz="1200" b="0" dirty="0">
                    <a:solidFill>
                      <a:srgbClr val="64748B"/>
                    </a:solidFill>
                    <a:latin typeface="微软雅黑" panose="020B0503020204020204" charset="-122"/>
                  </a:rPr>
                  <a:t> 4.34</a:t>
                </a:r>
              </a:p>
            </p:txBody>
          </p:sp>
        </p:grpSp>
        <p:grpSp>
          <p:nvGrpSpPr>
            <p:cNvPr id="35" name="组合 34"/>
            <p:cNvGrpSpPr/>
            <p:nvPr/>
          </p:nvGrpSpPr>
          <p:grpSpPr>
            <a:xfrm>
              <a:off x="6206948" y="3482036"/>
              <a:ext cx="3344260" cy="1265526"/>
              <a:chOff x="6420310" y="3482036"/>
              <a:chExt cx="3344260" cy="1265526"/>
            </a:xfrm>
          </p:grpSpPr>
          <p:sp>
            <p:nvSpPr>
              <p:cNvPr id="27" name="Rounded Rectangle 26"/>
              <p:cNvSpPr/>
              <p:nvPr>
                <p:custDataLst>
                  <p:tags r:id="rId4"/>
                </p:custDataLst>
              </p:nvPr>
            </p:nvSpPr>
            <p:spPr>
              <a:xfrm>
                <a:off x="6420310" y="3482036"/>
                <a:ext cx="3344260" cy="1265526"/>
              </a:xfrm>
              <a:prstGeom prst="roundRect">
                <a:avLst/>
              </a:prstGeom>
              <a:solidFill>
                <a:srgbClr val="FFFFFF"/>
              </a:solidFill>
              <a:ln w="9525">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TextBox 27"/>
              <p:cNvSpPr txBox="1"/>
              <p:nvPr>
                <p:custDataLst>
                  <p:tags r:id="rId5"/>
                </p:custDataLst>
              </p:nvPr>
            </p:nvSpPr>
            <p:spPr>
              <a:xfrm>
                <a:off x="6611112" y="3802922"/>
                <a:ext cx="2962656" cy="203133"/>
              </a:xfrm>
              <a:prstGeom prst="rect">
                <a:avLst/>
              </a:prstGeom>
              <a:noFill/>
            </p:spPr>
            <p:txBody>
              <a:bodyPr wrap="square" lIns="27432" tIns="9144" rIns="27432" bIns="9144" anchor="ctr">
                <a:spAutoFit/>
              </a:bodyPr>
              <a:lstStyle/>
              <a:p>
                <a:pPr algn="ctr">
                  <a:defRPr sz="920" b="1">
                    <a:solidFill>
                      <a:srgbClr val="198754"/>
                    </a:solidFill>
                    <a:latin typeface="微软雅黑" panose="020B0503020204020204" charset="-122"/>
                  </a:defRPr>
                </a:pPr>
                <a:r>
                  <a:rPr sz="1200" b="1">
                    <a:solidFill>
                      <a:srgbClr val="198754"/>
                    </a:solidFill>
                    <a:latin typeface="微软雅黑" panose="020B0503020204020204" charset="-122"/>
                  </a:rPr>
                  <a:t>Hybrid gated</a:t>
                </a:r>
              </a:p>
            </p:txBody>
          </p:sp>
          <p:sp>
            <p:nvSpPr>
              <p:cNvPr id="29" name="TextBox 28"/>
              <p:cNvSpPr txBox="1"/>
              <p:nvPr>
                <p:custDataLst>
                  <p:tags r:id="rId6"/>
                </p:custDataLst>
              </p:nvPr>
            </p:nvSpPr>
            <p:spPr>
              <a:xfrm>
                <a:off x="6629400" y="4032503"/>
                <a:ext cx="2926079" cy="393192"/>
              </a:xfrm>
              <a:prstGeom prst="rect">
                <a:avLst/>
              </a:prstGeom>
              <a:noFill/>
            </p:spPr>
            <p:txBody>
              <a:bodyPr wrap="square" lIns="27432" tIns="9144" rIns="27432" bIns="9144" anchor="ctr">
                <a:spAutoFit/>
              </a:bodyPr>
              <a:lstStyle/>
              <a:p>
                <a:pPr algn="ctr">
                  <a:defRPr sz="780" b="0">
                    <a:solidFill>
                      <a:srgbClr val="64748B"/>
                    </a:solidFill>
                    <a:latin typeface="微软雅黑" panose="020B0503020204020204" charset="-122"/>
                  </a:defRPr>
                </a:pPr>
                <a:r>
                  <a:rPr sz="1200" b="0">
                    <a:solidFill>
                      <a:srgbClr val="64748B"/>
                    </a:solidFill>
                    <a:latin typeface="微软雅黑" panose="020B0503020204020204" charset="-122"/>
                  </a:rPr>
                  <a:t>household baseline + event prior</a:t>
                </a:r>
                <a:br>
                  <a:rPr sz="1200"/>
                </a:br>
                <a:r>
                  <a:rPr sz="1200" b="0">
                    <a:solidFill>
                      <a:srgbClr val="64748B"/>
                    </a:solidFill>
                    <a:latin typeface="微软雅黑" panose="020B0503020204020204" charset="-122"/>
                  </a:rPr>
                  <a:t>wMAE 2.50</a:t>
                </a:r>
              </a:p>
            </p:txBody>
          </p:sp>
        </p:grpSp>
      </p:grpSp>
      <p:grpSp>
        <p:nvGrpSpPr>
          <p:cNvPr id="38" name="组合 37"/>
          <p:cNvGrpSpPr/>
          <p:nvPr/>
        </p:nvGrpSpPr>
        <p:grpSpPr>
          <a:xfrm>
            <a:off x="1645920" y="6187108"/>
            <a:ext cx="9006840" cy="212278"/>
            <a:chOff x="1188720" y="5650009"/>
            <a:chExt cx="9006840" cy="212278"/>
          </a:xfrm>
        </p:grpSpPr>
        <p:sp>
          <p:nvSpPr>
            <p:cNvPr id="31" name="TextBox 30"/>
            <p:cNvSpPr txBox="1"/>
            <p:nvPr/>
          </p:nvSpPr>
          <p:spPr>
            <a:xfrm>
              <a:off x="1188720" y="5659154"/>
              <a:ext cx="914400" cy="203133"/>
            </a:xfrm>
            <a:prstGeom prst="rect">
              <a:avLst/>
            </a:prstGeom>
            <a:noFill/>
          </p:spPr>
          <p:txBody>
            <a:bodyPr wrap="square" lIns="27432" tIns="9144" rIns="27432" bIns="9144" anchor="ctr">
              <a:spAutoFit/>
            </a:bodyPr>
            <a:lstStyle/>
            <a:p>
              <a:pPr algn="l">
                <a:defRPr sz="900" b="1">
                  <a:solidFill>
                    <a:srgbClr val="EA580C"/>
                  </a:solidFill>
                  <a:latin typeface="微软雅黑" panose="020B0503020204020204" charset="-122"/>
                </a:defRPr>
              </a:pPr>
              <a:r>
                <a:rPr lang="zh-CN" altLang="en-US" sz="1200" b="1" dirty="0">
                  <a:solidFill>
                    <a:srgbClr val="EA580C"/>
                  </a:solidFill>
                  <a:latin typeface="微软雅黑" panose="020B0503020204020204" charset="-122"/>
                </a:rPr>
                <a:t>主线</a:t>
              </a:r>
              <a:endParaRPr sz="1200" b="1" dirty="0">
                <a:solidFill>
                  <a:srgbClr val="EA580C"/>
                </a:solidFill>
                <a:latin typeface="微软雅黑" panose="020B0503020204020204" charset="-122"/>
              </a:endParaRPr>
            </a:p>
          </p:txBody>
        </p:sp>
        <p:sp>
          <p:nvSpPr>
            <p:cNvPr id="32" name="TextBox 31"/>
            <p:cNvSpPr txBox="1"/>
            <p:nvPr/>
          </p:nvSpPr>
          <p:spPr>
            <a:xfrm>
              <a:off x="2148840" y="5650009"/>
              <a:ext cx="8046720" cy="203133"/>
            </a:xfrm>
            <a:prstGeom prst="rect">
              <a:avLst/>
            </a:prstGeom>
            <a:noFill/>
          </p:spPr>
          <p:txBody>
            <a:bodyPr wrap="square" lIns="27432" tIns="9144" rIns="27432" bIns="9144" anchor="ctr">
              <a:spAutoFit/>
            </a:bodyPr>
            <a:lstStyle/>
            <a:p>
              <a:pPr algn="l">
                <a:defRPr sz="1050" b="1">
                  <a:solidFill>
                    <a:srgbClr val="0F172A"/>
                  </a:solidFill>
                  <a:latin typeface="微软雅黑" panose="020B0503020204020204" charset="-122"/>
                </a:defRPr>
              </a:pPr>
              <a:r>
                <a:rPr sz="1200" b="1">
                  <a:solidFill>
                    <a:srgbClr val="0F172A"/>
                  </a:solidFill>
                  <a:latin typeface="微软雅黑" panose="020B0503020204020204" charset="-122"/>
                </a:rPr>
                <a:t>LLM-only has direction but weaker calibration: wMAE 2.72 -&gt; 2.50; wBias -0.37 -&gt; -0.02.</a:t>
              </a:r>
            </a:p>
          </p:txBody>
        </p:sp>
      </p:gr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en-US" altLang="zh-CN" sz="2400" b="1" dirty="0" err="1">
                <a:solidFill>
                  <a:srgbClr val="333333"/>
                </a:solidFill>
                <a:latin typeface="Noto Sans SC" panose="020B0200000000000000" charset="-122"/>
                <a:ea typeface="Noto Sans SC" panose="020B0200000000000000" charset="-122"/>
                <a:cs typeface="Noto Sans SC" panose="020B0200000000000000" charset="-122"/>
              </a:rPr>
              <a:t>LLM</a:t>
            </a: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的角色</a:t>
            </a:r>
          </a:p>
        </p:txBody>
      </p:sp>
      <p:sp>
        <p:nvSpPr>
          <p:cNvPr id="69"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75" name="banner"/>
          <p:cNvSpPr/>
          <p:nvPr/>
        </p:nvSpPr>
        <p:spPr>
          <a:xfrm>
            <a:off x="1467485" y="6094730"/>
            <a:ext cx="8808085" cy="424180"/>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banner"/>
          <p:cNvSpPr/>
          <p:nvPr/>
        </p:nvSpPr>
        <p:spPr>
          <a:xfrm>
            <a:off x="374015" y="5993765"/>
            <a:ext cx="11344910" cy="525145"/>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grpSp>
        <p:nvGrpSpPr>
          <p:cNvPr id="73" name="组合 72"/>
          <p:cNvGrpSpPr/>
          <p:nvPr/>
        </p:nvGrpSpPr>
        <p:grpSpPr>
          <a:xfrm>
            <a:off x="1123950" y="2259965"/>
            <a:ext cx="10305415" cy="3569335"/>
            <a:chOff x="1123" y="1987"/>
            <a:chExt cx="16229" cy="5621"/>
          </a:xfrm>
        </p:grpSpPr>
        <p:grpSp>
          <p:nvGrpSpPr>
            <p:cNvPr id="71" name="组合 70"/>
            <p:cNvGrpSpPr/>
            <p:nvPr/>
          </p:nvGrpSpPr>
          <p:grpSpPr>
            <a:xfrm>
              <a:off x="1123" y="2045"/>
              <a:ext cx="9029" cy="757"/>
              <a:chOff x="713232" y="1298448"/>
              <a:chExt cx="6236208" cy="384048"/>
            </a:xfrm>
          </p:grpSpPr>
          <p:sp>
            <p:nvSpPr>
              <p:cNvPr id="11" name="Rounded Rectangle 10"/>
              <p:cNvSpPr/>
              <p:nvPr/>
            </p:nvSpPr>
            <p:spPr>
              <a:xfrm>
                <a:off x="713232" y="1298448"/>
                <a:ext cx="749808"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74980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private</a:t>
                </a:r>
              </a:p>
            </p:txBody>
          </p:sp>
          <p:sp>
            <p:nvSpPr>
              <p:cNvPr id="13" name="Rounded Rectangle 12"/>
              <p:cNvSpPr/>
              <p:nvPr/>
            </p:nvSpPr>
            <p:spPr>
              <a:xfrm>
                <a:off x="1810512" y="1298448"/>
                <a:ext cx="749808"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184708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walk</a:t>
                </a:r>
              </a:p>
            </p:txBody>
          </p:sp>
          <p:sp>
            <p:nvSpPr>
              <p:cNvPr id="15" name="Rounded Rectangle 14"/>
              <p:cNvSpPr/>
              <p:nvPr/>
            </p:nvSpPr>
            <p:spPr>
              <a:xfrm>
                <a:off x="2907791" y="1298448"/>
                <a:ext cx="749808"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294436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bike</a:t>
                </a:r>
              </a:p>
            </p:txBody>
          </p:sp>
          <p:sp>
            <p:nvSpPr>
              <p:cNvPr id="17" name="Rounded Rectangle 16"/>
              <p:cNvSpPr/>
              <p:nvPr/>
            </p:nvSpPr>
            <p:spPr>
              <a:xfrm>
                <a:off x="4005072" y="1298448"/>
                <a:ext cx="749808" cy="38404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404164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transit</a:t>
                </a:r>
              </a:p>
            </p:txBody>
          </p:sp>
          <p:sp>
            <p:nvSpPr>
              <p:cNvPr id="19" name="Rounded Rectangle 18"/>
              <p:cNvSpPr/>
              <p:nvPr/>
            </p:nvSpPr>
            <p:spPr>
              <a:xfrm>
                <a:off x="5102352" y="1298448"/>
                <a:ext cx="749808"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513892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taxi</a:t>
                </a:r>
              </a:p>
            </p:txBody>
          </p:sp>
          <p:sp>
            <p:nvSpPr>
              <p:cNvPr id="21" name="Rounded Rectangle 20"/>
              <p:cNvSpPr/>
              <p:nvPr/>
            </p:nvSpPr>
            <p:spPr>
              <a:xfrm>
                <a:off x="6199632" y="1298448"/>
                <a:ext cx="749808"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6236208" y="1391085"/>
                <a:ext cx="676656" cy="162198"/>
              </a:xfrm>
              <a:prstGeom prst="rect">
                <a:avLst/>
              </a:prstGeom>
              <a:noFill/>
            </p:spPr>
            <p:txBody>
              <a:bodyPr wrap="square" lIns="27432" tIns="9144" rIns="27432" bIns="9144" anchor="ctr">
                <a:spAutoFit/>
              </a:bodyPr>
              <a:lstStyle/>
              <a:p>
                <a:pPr algn="ctr">
                  <a:defRPr sz="720" b="1">
                    <a:solidFill>
                      <a:srgbClr val="FFFFFF"/>
                    </a:solidFill>
                    <a:latin typeface="微软雅黑" panose="020B0503020204020204" charset="-122"/>
                  </a:defRPr>
                </a:pPr>
                <a:r>
                  <a:rPr sz="1200" b="1">
                    <a:solidFill>
                      <a:srgbClr val="FFFFFF"/>
                    </a:solidFill>
                    <a:latin typeface="微软雅黑" panose="020B0503020204020204" charset="-122"/>
                  </a:rPr>
                  <a:t>other</a:t>
                </a:r>
              </a:p>
            </p:txBody>
          </p:sp>
        </p:grpSp>
        <p:sp>
          <p:nvSpPr>
            <p:cNvPr id="23" name="TextBox 22"/>
            <p:cNvSpPr txBox="1"/>
            <p:nvPr/>
          </p:nvSpPr>
          <p:spPr>
            <a:xfrm>
              <a:off x="3240" y="2923"/>
              <a:ext cx="4680" cy="317"/>
            </a:xfrm>
            <a:prstGeom prst="rect">
              <a:avLst/>
            </a:prstGeom>
            <a:noFill/>
          </p:spPr>
          <p:txBody>
            <a:bodyPr wrap="square" lIns="27432" tIns="9144" rIns="27432" bIns="9144" anchor="ctr">
              <a:spAutoFit/>
            </a:bodyPr>
            <a:lstStyle/>
            <a:p>
              <a:pPr algn="ctr">
                <a:defRPr sz="900" b="1">
                  <a:solidFill>
                    <a:srgbClr val="64748B"/>
                  </a:solidFill>
                  <a:latin typeface="微软雅黑" panose="020B0503020204020204" charset="-122"/>
                </a:defRPr>
              </a:pPr>
              <a:r>
                <a:rPr sz="900" b="1">
                  <a:solidFill>
                    <a:srgbClr val="64748B"/>
                  </a:solidFill>
                  <a:latin typeface="微软雅黑" panose="020B0503020204020204" charset="-122"/>
                </a:rPr>
                <a:t>household mode-share vector</a:t>
              </a:r>
            </a:p>
          </p:txBody>
        </p:sp>
        <p:sp>
          <p:nvSpPr>
            <p:cNvPr id="24" name="Rectangle 23"/>
            <p:cNvSpPr/>
            <p:nvPr/>
          </p:nvSpPr>
          <p:spPr>
            <a:xfrm>
              <a:off x="1123" y="3917"/>
              <a:ext cx="3240"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1" y="4032"/>
              <a:ext cx="3125"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Method</a:t>
              </a:r>
            </a:p>
          </p:txBody>
        </p:sp>
        <p:sp>
          <p:nvSpPr>
            <p:cNvPr id="26" name="Rectangle 25"/>
            <p:cNvSpPr/>
            <p:nvPr/>
          </p:nvSpPr>
          <p:spPr>
            <a:xfrm>
              <a:off x="4363" y="3917"/>
              <a:ext cx="1584"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21" y="4032"/>
              <a:ext cx="1469"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weighted TV</a:t>
              </a:r>
            </a:p>
          </p:txBody>
        </p:sp>
        <p:sp>
          <p:nvSpPr>
            <p:cNvPr id="28" name="Rectangle 27"/>
            <p:cNvSpPr/>
            <p:nvPr/>
          </p:nvSpPr>
          <p:spPr>
            <a:xfrm>
              <a:off x="5947" y="3917"/>
              <a:ext cx="1584"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05" y="4032"/>
              <a:ext cx="1469"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transit MAE</a:t>
              </a:r>
            </a:p>
          </p:txBody>
        </p:sp>
        <p:sp>
          <p:nvSpPr>
            <p:cNvPr id="30" name="Rectangle 29"/>
            <p:cNvSpPr/>
            <p:nvPr/>
          </p:nvSpPr>
          <p:spPr>
            <a:xfrm>
              <a:off x="7531" y="3917"/>
              <a:ext cx="3096" cy="605"/>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89" y="4032"/>
              <a:ext cx="2981" cy="403"/>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Interpretation</a:t>
              </a:r>
            </a:p>
          </p:txBody>
        </p:sp>
        <p:sp>
          <p:nvSpPr>
            <p:cNvPr id="32" name="Rectangle 31"/>
            <p:cNvSpPr/>
            <p:nvPr/>
          </p:nvSpPr>
          <p:spPr>
            <a:xfrm>
              <a:off x="1123" y="4522"/>
              <a:ext cx="3240"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10" y="4622"/>
              <a:ext cx="3067"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Historical XGBoost</a:t>
              </a:r>
            </a:p>
          </p:txBody>
        </p:sp>
        <p:sp>
          <p:nvSpPr>
            <p:cNvPr id="34" name="Rectangle 33"/>
            <p:cNvSpPr/>
            <p:nvPr/>
          </p:nvSpPr>
          <p:spPr>
            <a:xfrm>
              <a:off x="4363" y="4522"/>
              <a:ext cx="15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50" y="4622"/>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0.2008</a:t>
              </a:r>
            </a:p>
          </p:txBody>
        </p:sp>
        <p:sp>
          <p:nvSpPr>
            <p:cNvPr id="36" name="Rectangle 35"/>
            <p:cNvSpPr/>
            <p:nvPr/>
          </p:nvSpPr>
          <p:spPr>
            <a:xfrm>
              <a:off x="5947" y="4522"/>
              <a:ext cx="15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34" y="4622"/>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0.0325</a:t>
              </a:r>
            </a:p>
          </p:txBody>
        </p:sp>
        <p:sp>
          <p:nvSpPr>
            <p:cNvPr id="38" name="Rectangle 37"/>
            <p:cNvSpPr/>
            <p:nvPr/>
          </p:nvSpPr>
          <p:spPr>
            <a:xfrm>
              <a:off x="7531" y="4522"/>
              <a:ext cx="30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18" y="4622"/>
              <a:ext cx="29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routine mode pattern</a:t>
              </a:r>
            </a:p>
          </p:txBody>
        </p:sp>
        <p:sp>
          <p:nvSpPr>
            <p:cNvPr id="40" name="Rectangle 39"/>
            <p:cNvSpPr/>
            <p:nvPr/>
          </p:nvSpPr>
          <p:spPr>
            <a:xfrm>
              <a:off x="1123" y="5126"/>
              <a:ext cx="3240"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210" y="5227"/>
              <a:ext cx="3067"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XGB + LLM prior</a:t>
              </a:r>
            </a:p>
          </p:txBody>
        </p:sp>
        <p:sp>
          <p:nvSpPr>
            <p:cNvPr id="42" name="Rectangle 41"/>
            <p:cNvSpPr/>
            <p:nvPr/>
          </p:nvSpPr>
          <p:spPr>
            <a:xfrm>
              <a:off x="4363" y="5126"/>
              <a:ext cx="158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50" y="5227"/>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0.1985</a:t>
              </a:r>
            </a:p>
          </p:txBody>
        </p:sp>
        <p:sp>
          <p:nvSpPr>
            <p:cNvPr id="44" name="Rectangle 43"/>
            <p:cNvSpPr/>
            <p:nvPr/>
          </p:nvSpPr>
          <p:spPr>
            <a:xfrm>
              <a:off x="5947" y="5126"/>
              <a:ext cx="1584"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034" y="5227"/>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0.0269</a:t>
              </a:r>
            </a:p>
          </p:txBody>
        </p:sp>
        <p:sp>
          <p:nvSpPr>
            <p:cNvPr id="46" name="Rectangle 45"/>
            <p:cNvSpPr/>
            <p:nvPr/>
          </p:nvSpPr>
          <p:spPr>
            <a:xfrm>
              <a:off x="7531" y="5126"/>
              <a:ext cx="3096" cy="605"/>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618" y="5227"/>
              <a:ext cx="29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transit correction</a:t>
              </a:r>
            </a:p>
          </p:txBody>
        </p:sp>
        <p:sp>
          <p:nvSpPr>
            <p:cNvPr id="48" name="Rectangle 47"/>
            <p:cNvSpPr/>
            <p:nvPr/>
          </p:nvSpPr>
          <p:spPr>
            <a:xfrm>
              <a:off x="1123" y="5731"/>
              <a:ext cx="3240"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210" y="5832"/>
              <a:ext cx="3067" cy="403"/>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Improvement</a:t>
              </a:r>
            </a:p>
          </p:txBody>
        </p:sp>
        <p:sp>
          <p:nvSpPr>
            <p:cNvPr id="50" name="Rectangle 49"/>
            <p:cNvSpPr/>
            <p:nvPr/>
          </p:nvSpPr>
          <p:spPr>
            <a:xfrm>
              <a:off x="4363" y="5731"/>
              <a:ext cx="15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0" y="5832"/>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1.1%</a:t>
              </a:r>
            </a:p>
          </p:txBody>
        </p:sp>
        <p:sp>
          <p:nvSpPr>
            <p:cNvPr id="52" name="Rectangle 51"/>
            <p:cNvSpPr/>
            <p:nvPr/>
          </p:nvSpPr>
          <p:spPr>
            <a:xfrm>
              <a:off x="5947" y="5731"/>
              <a:ext cx="1584"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34" y="5832"/>
              <a:ext cx="1411"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17.4%</a:t>
              </a:r>
            </a:p>
          </p:txBody>
        </p:sp>
        <p:sp>
          <p:nvSpPr>
            <p:cNvPr id="54" name="Rectangle 53"/>
            <p:cNvSpPr/>
            <p:nvPr/>
          </p:nvSpPr>
          <p:spPr>
            <a:xfrm>
              <a:off x="7531" y="5731"/>
              <a:ext cx="3096" cy="605"/>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618" y="5832"/>
              <a:ext cx="2923" cy="403"/>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clearer on transit</a:t>
              </a:r>
            </a:p>
          </p:txBody>
        </p:sp>
        <p:sp>
          <p:nvSpPr>
            <p:cNvPr id="56" name="Rounded Rectangle 55"/>
            <p:cNvSpPr/>
            <p:nvPr/>
          </p:nvSpPr>
          <p:spPr>
            <a:xfrm>
              <a:off x="10584" y="1987"/>
              <a:ext cx="3168" cy="1181"/>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584" y="1987"/>
              <a:ext cx="79" cy="1181"/>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786" y="2102"/>
              <a:ext cx="282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Mode-trip MAE</a:t>
              </a:r>
            </a:p>
          </p:txBody>
        </p:sp>
        <p:sp>
          <p:nvSpPr>
            <p:cNvPr id="59" name="TextBox 58"/>
            <p:cNvSpPr txBox="1"/>
            <p:nvPr/>
          </p:nvSpPr>
          <p:spPr>
            <a:xfrm>
              <a:off x="10786" y="2376"/>
              <a:ext cx="2822" cy="461"/>
            </a:xfrm>
            <a:prstGeom prst="rect">
              <a:avLst/>
            </a:prstGeom>
            <a:noFill/>
          </p:spPr>
          <p:txBody>
            <a:bodyPr wrap="square" lIns="27432" tIns="9144" rIns="27432" bIns="9144" anchor="ctr">
              <a:spAutoFit/>
            </a:bodyPr>
            <a:lstStyle/>
            <a:p>
              <a:pPr algn="l">
                <a:defRPr sz="1600" b="1">
                  <a:solidFill>
                    <a:srgbClr val="198754"/>
                  </a:solidFill>
                  <a:latin typeface="微软雅黑" panose="020B0503020204020204" charset="-122"/>
                </a:defRPr>
              </a:pPr>
              <a:r>
                <a:rPr sz="1600" b="1">
                  <a:solidFill>
                    <a:srgbClr val="198754"/>
                  </a:solidFill>
                  <a:latin typeface="微软雅黑" panose="020B0503020204020204" charset="-122"/>
                </a:rPr>
                <a:t>3.28</a:t>
              </a:r>
            </a:p>
          </p:txBody>
        </p:sp>
        <p:sp>
          <p:nvSpPr>
            <p:cNvPr id="60" name="TextBox 59"/>
            <p:cNvSpPr txBox="1"/>
            <p:nvPr/>
          </p:nvSpPr>
          <p:spPr>
            <a:xfrm>
              <a:off x="10786" y="2866"/>
              <a:ext cx="282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gated count × LLM mode</a:t>
              </a:r>
            </a:p>
          </p:txBody>
        </p:sp>
        <p:sp>
          <p:nvSpPr>
            <p:cNvPr id="61" name="Rounded Rectangle 60"/>
            <p:cNvSpPr/>
            <p:nvPr/>
          </p:nvSpPr>
          <p:spPr>
            <a:xfrm>
              <a:off x="14184" y="1987"/>
              <a:ext cx="3168" cy="1181"/>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4184" y="1987"/>
              <a:ext cx="79" cy="1181"/>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4386" y="2102"/>
              <a:ext cx="2822" cy="259"/>
            </a:xfrm>
            <a:prstGeom prst="rect">
              <a:avLst/>
            </a:prstGeom>
            <a:noFill/>
          </p:spPr>
          <p:txBody>
            <a:bodyPr wrap="square" lIns="27432" tIns="9144" rIns="27432" bIns="9144" anchor="ctr">
              <a:spAutoFit/>
            </a:bodyPr>
            <a:lstStyle/>
            <a:p>
              <a:pPr algn="l">
                <a:defRPr sz="780" b="1">
                  <a:solidFill>
                    <a:srgbClr val="64748B"/>
                  </a:solidFill>
                  <a:latin typeface="微软雅黑" panose="020B0503020204020204" charset="-122"/>
                </a:defRPr>
              </a:pPr>
              <a:r>
                <a:rPr sz="780" b="1">
                  <a:solidFill>
                    <a:srgbClr val="64748B"/>
                  </a:solidFill>
                  <a:latin typeface="微软雅黑" panose="020B0503020204020204" charset="-122"/>
                </a:rPr>
                <a:t>Reduction</a:t>
              </a:r>
            </a:p>
          </p:txBody>
        </p:sp>
        <p:sp>
          <p:nvSpPr>
            <p:cNvPr id="64" name="TextBox 63"/>
            <p:cNvSpPr txBox="1"/>
            <p:nvPr/>
          </p:nvSpPr>
          <p:spPr>
            <a:xfrm>
              <a:off x="14386" y="2376"/>
              <a:ext cx="2822" cy="461"/>
            </a:xfrm>
            <a:prstGeom prst="rect">
              <a:avLst/>
            </a:prstGeom>
            <a:noFill/>
          </p:spPr>
          <p:txBody>
            <a:bodyPr wrap="square" lIns="27432" tIns="9144" rIns="27432" bIns="9144" anchor="ctr">
              <a:spAutoFit/>
            </a:bodyPr>
            <a:lstStyle/>
            <a:p>
              <a:pPr algn="l">
                <a:defRPr sz="1600" b="1">
                  <a:solidFill>
                    <a:srgbClr val="2563EB"/>
                  </a:solidFill>
                  <a:latin typeface="微软雅黑" panose="020B0503020204020204" charset="-122"/>
                </a:defRPr>
              </a:pPr>
              <a:r>
                <a:rPr sz="1600" b="1">
                  <a:solidFill>
                    <a:srgbClr val="2563EB"/>
                  </a:solidFill>
                  <a:latin typeface="微软雅黑" panose="020B0503020204020204" charset="-122"/>
                </a:rPr>
                <a:t>32.3%</a:t>
              </a:r>
            </a:p>
          </p:txBody>
        </p:sp>
        <p:sp>
          <p:nvSpPr>
            <p:cNvPr id="65" name="TextBox 64"/>
            <p:cNvSpPr txBox="1"/>
            <p:nvPr/>
          </p:nvSpPr>
          <p:spPr>
            <a:xfrm>
              <a:off x="14386" y="2866"/>
              <a:ext cx="2822" cy="288"/>
            </a:xfrm>
            <a:prstGeom prst="rect">
              <a:avLst/>
            </a:prstGeom>
            <a:noFill/>
          </p:spPr>
          <p:txBody>
            <a:bodyPr wrap="square" lIns="27432" tIns="9144" rIns="27432" bIns="9144" anchor="ctr">
              <a:spAutoFit/>
            </a:bodyPr>
            <a:lstStyle/>
            <a:p>
              <a:pPr algn="l">
                <a:defRPr sz="750" b="0">
                  <a:solidFill>
                    <a:srgbClr val="64748B"/>
                  </a:solidFill>
                  <a:latin typeface="微软雅黑" panose="020B0503020204020204" charset="-122"/>
                </a:defRPr>
              </a:pPr>
              <a:r>
                <a:rPr sz="750" b="0">
                  <a:solidFill>
                    <a:srgbClr val="64748B"/>
                  </a:solidFill>
                  <a:latin typeface="微软雅黑" panose="020B0503020204020204" charset="-122"/>
                </a:rPr>
                <a:t>vs traditional combo</a:t>
              </a:r>
            </a:p>
          </p:txBody>
        </p:sp>
        <p:pic>
          <p:nvPicPr>
            <p:cNvPr id="66" name="Picture 65" descr="mode_component_mae.png"/>
            <p:cNvPicPr>
              <a:picLocks noChangeAspect="1"/>
            </p:cNvPicPr>
            <p:nvPr/>
          </p:nvPicPr>
          <p:blipFill>
            <a:blip r:embed="rId2"/>
            <a:stretch>
              <a:fillRect/>
            </a:stretch>
          </p:blipFill>
          <p:spPr>
            <a:xfrm>
              <a:off x="11165" y="3672"/>
              <a:ext cx="6187" cy="3936"/>
            </a:xfrm>
            <a:prstGeom prst="rect">
              <a:avLst/>
            </a:prstGeom>
          </p:spPr>
        </p:pic>
      </p:grpSp>
      <p:sp>
        <p:nvSpPr>
          <p:cNvPr id="72" name="文本框 71"/>
          <p:cNvSpPr txBox="1"/>
          <p:nvPr/>
        </p:nvSpPr>
        <p:spPr>
          <a:xfrm>
            <a:off x="762000" y="5993765"/>
            <a:ext cx="10213975" cy="275590"/>
          </a:xfrm>
          <a:prstGeom prst="rect">
            <a:avLst/>
          </a:prstGeom>
          <a:noFill/>
        </p:spPr>
        <p:txBody>
          <a:bodyPr wrap="square" rtlCol="0" anchor="t">
            <a:spAutoFit/>
          </a:bodyPr>
          <a:lstStyle/>
          <a:p>
            <a:pPr algn="l">
              <a:defRPr sz="1200" b="1">
                <a:solidFill>
                  <a:srgbClr val="0F172A"/>
                </a:solidFill>
                <a:latin typeface="微软雅黑" panose="020B0503020204020204" charset="-122"/>
              </a:defRPr>
            </a:pPr>
            <a:r>
              <a:rPr sz="1200" b="1" dirty="0" err="1">
                <a:solidFill>
                  <a:srgbClr val="0F172A"/>
                </a:solidFill>
                <a:latin typeface="微软雅黑" panose="020B0503020204020204" charset="-122"/>
                <a:sym typeface="+mn-ea"/>
              </a:rPr>
              <a:t>方式结构不是主要增益来源，但</a:t>
            </a:r>
            <a:r>
              <a:rPr lang="zh-CN" altLang="en-US" sz="1200" b="1" dirty="0">
                <a:solidFill>
                  <a:srgbClr val="0F172A"/>
                </a:solidFill>
                <a:latin typeface="微软雅黑" panose="020B0503020204020204" charset="-122"/>
                <a:sym typeface="+mn-ea"/>
              </a:rPr>
              <a:t>公共交通选择类别有</a:t>
            </a:r>
            <a:r>
              <a:rPr sz="1200" b="1" dirty="0" err="1">
                <a:solidFill>
                  <a:srgbClr val="0F172A"/>
                </a:solidFill>
                <a:latin typeface="微软雅黑" panose="020B0503020204020204" charset="-122"/>
                <a:sym typeface="+mn-ea"/>
              </a:rPr>
              <a:t>明显改善；这与疫情期间公共交通规避机制一致</a:t>
            </a:r>
            <a:r>
              <a:rPr sz="1200" b="1" dirty="0">
                <a:solidFill>
                  <a:srgbClr val="0F172A"/>
                </a:solidFill>
                <a:latin typeface="微软雅黑" panose="020B0503020204020204" charset="-122"/>
                <a:sym typeface="+mn-ea"/>
              </a:rPr>
              <a:t>。</a:t>
            </a:r>
            <a:endParaRPr lang="zh-CN" altLang="en-US" sz="1200" b="1" dirty="0">
              <a:solidFill>
                <a:srgbClr val="0F172A"/>
              </a:solidFill>
              <a:latin typeface="微软雅黑" panose="020B0503020204020204" charset="-122"/>
              <a:sym typeface="+mn-ea"/>
            </a:endParaRPr>
          </a:p>
        </p:txBody>
      </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综合行为输出</a:t>
            </a:r>
          </a:p>
        </p:txBody>
      </p:sp>
      <p:sp>
        <p:nvSpPr>
          <p:cNvPr id="74"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banner"/>
          <p:cNvSpPr/>
          <p:nvPr/>
        </p:nvSpPr>
        <p:spPr>
          <a:xfrm>
            <a:off x="440690" y="5699125"/>
            <a:ext cx="11344910" cy="807085"/>
          </a:xfrm>
          <a:prstGeom prst="roundRect">
            <a:avLst>
              <a:gd name="adj" fmla="val 7000"/>
            </a:avLst>
          </a:prstGeom>
          <a:solidFill>
            <a:srgbClr val="40E0D0">
              <a:alpha val="13000"/>
            </a:srgbClr>
          </a:solidFill>
          <a:ln w="9525">
            <a:solidFill>
              <a:srgbClr val="40E0D0">
                <a:alpha val="40000"/>
              </a:srgbClr>
            </a:solidFill>
          </a:ln>
        </p:spPr>
        <p:txBody>
          <a:bodyPr lIns="300000" tIns="120000" rIns="300000" bIns="120000" anchor="ctr"/>
          <a:lstStyle/>
          <a:p>
            <a:pPr>
              <a:spcAft>
                <a:spcPts val="500"/>
              </a:spcAft>
            </a:pPr>
            <a:endParaRPr lang="zh-CN" altLang="en-US" sz="1250" dirty="0">
              <a:solidFill>
                <a:srgbClr val="374151"/>
              </a:solidFill>
              <a:latin typeface="Noto Sans SC" panose="020B0200000000000000" charset="-122"/>
              <a:ea typeface="Noto Sans SC" panose="020B0200000000000000" charset="-122"/>
              <a:cs typeface="Noto Sans SC" panose="020B0200000000000000" charset="-122"/>
            </a:endParaRPr>
          </a:p>
        </p:txBody>
      </p:sp>
      <p:grpSp>
        <p:nvGrpSpPr>
          <p:cNvPr id="49" name="组合 48"/>
          <p:cNvGrpSpPr/>
          <p:nvPr/>
        </p:nvGrpSpPr>
        <p:grpSpPr>
          <a:xfrm>
            <a:off x="601980" y="2642870"/>
            <a:ext cx="10881360" cy="2632710"/>
            <a:chOff x="1037" y="1699"/>
            <a:chExt cx="17136" cy="4146"/>
          </a:xfrm>
        </p:grpSpPr>
        <p:pic>
          <p:nvPicPr>
            <p:cNvPr id="11" name="Picture 10" descr="purpose_distribution_shift.png"/>
            <p:cNvPicPr>
              <a:picLocks noChangeAspect="1"/>
            </p:cNvPicPr>
            <p:nvPr/>
          </p:nvPicPr>
          <p:blipFill>
            <a:blip r:embed="rId2"/>
            <a:stretch>
              <a:fillRect/>
            </a:stretch>
          </p:blipFill>
          <p:spPr>
            <a:xfrm>
              <a:off x="1037" y="1699"/>
              <a:ext cx="8280" cy="4146"/>
            </a:xfrm>
            <a:prstGeom prst="rect">
              <a:avLst/>
            </a:prstGeom>
          </p:spPr>
        </p:pic>
        <p:sp>
          <p:nvSpPr>
            <p:cNvPr id="12" name="Rectangle 11"/>
            <p:cNvSpPr/>
            <p:nvPr/>
          </p:nvSpPr>
          <p:spPr>
            <a:xfrm>
              <a:off x="9677" y="1843"/>
              <a:ext cx="3240" cy="806"/>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34" y="1958"/>
              <a:ext cx="3125" cy="605"/>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Method</a:t>
              </a:r>
            </a:p>
          </p:txBody>
        </p:sp>
        <p:sp>
          <p:nvSpPr>
            <p:cNvPr id="14" name="Rectangle 13"/>
            <p:cNvSpPr/>
            <p:nvPr/>
          </p:nvSpPr>
          <p:spPr>
            <a:xfrm>
              <a:off x="12917" y="1843"/>
              <a:ext cx="1224" cy="806"/>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974" y="1958"/>
              <a:ext cx="1109" cy="605"/>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TV</a:t>
              </a:r>
            </a:p>
          </p:txBody>
        </p:sp>
        <p:sp>
          <p:nvSpPr>
            <p:cNvPr id="16" name="Rectangle 15"/>
            <p:cNvSpPr/>
            <p:nvPr/>
          </p:nvSpPr>
          <p:spPr>
            <a:xfrm>
              <a:off x="14141" y="1843"/>
              <a:ext cx="1944" cy="806"/>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198" y="1958"/>
              <a:ext cx="1829" cy="605"/>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Component MAE</a:t>
              </a:r>
            </a:p>
          </p:txBody>
        </p:sp>
        <p:sp>
          <p:nvSpPr>
            <p:cNvPr id="18" name="Rectangle 17"/>
            <p:cNvSpPr/>
            <p:nvPr/>
          </p:nvSpPr>
          <p:spPr>
            <a:xfrm>
              <a:off x="16085" y="1843"/>
              <a:ext cx="2088" cy="806"/>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142" y="1958"/>
              <a:ext cx="1973" cy="605"/>
            </a:xfrm>
            <a:prstGeom prst="rect">
              <a:avLst/>
            </a:prstGeom>
            <a:noFill/>
          </p:spPr>
          <p:txBody>
            <a:bodyPr wrap="square" lIns="27432" tIns="9144" rIns="27432" bIns="9144" anchor="ctr">
              <a:spAutoFit/>
            </a:bodyPr>
            <a:lstStyle/>
            <a:p>
              <a:pPr algn="ctr">
                <a:defRPr sz="1200" b="1">
                  <a:solidFill>
                    <a:srgbClr val="FFFFFF"/>
                  </a:solidFill>
                  <a:latin typeface="微软雅黑" panose="020B0503020204020204" charset="-122"/>
                </a:defRPr>
              </a:pPr>
              <a:r>
                <a:rPr sz="1200" b="1">
                  <a:solidFill>
                    <a:srgbClr val="FFFFFF"/>
                  </a:solidFill>
                  <a:latin typeface="微软雅黑" panose="020B0503020204020204" charset="-122"/>
                </a:rPr>
                <a:t>Role</a:t>
              </a:r>
            </a:p>
          </p:txBody>
        </p:sp>
        <p:sp>
          <p:nvSpPr>
            <p:cNvPr id="20" name="Rectangle 19"/>
            <p:cNvSpPr/>
            <p:nvPr/>
          </p:nvSpPr>
          <p:spPr>
            <a:xfrm>
              <a:off x="9677" y="2650"/>
              <a:ext cx="3240"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3" y="2750"/>
              <a:ext cx="3067" cy="605"/>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Traditional XGBoost</a:t>
              </a:r>
            </a:p>
          </p:txBody>
        </p:sp>
        <p:sp>
          <p:nvSpPr>
            <p:cNvPr id="22" name="Rectangle 21"/>
            <p:cNvSpPr/>
            <p:nvPr/>
          </p:nvSpPr>
          <p:spPr>
            <a:xfrm>
              <a:off x="12917" y="2650"/>
              <a:ext cx="1224"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003" y="2750"/>
              <a:ext cx="105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0.566</a:t>
              </a:r>
            </a:p>
          </p:txBody>
        </p:sp>
        <p:sp>
          <p:nvSpPr>
            <p:cNvPr id="24" name="Rectangle 23"/>
            <p:cNvSpPr/>
            <p:nvPr/>
          </p:nvSpPr>
          <p:spPr>
            <a:xfrm>
              <a:off x="14141" y="2650"/>
              <a:ext cx="1944"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227" y="2750"/>
              <a:ext cx="177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0.202</a:t>
              </a:r>
            </a:p>
          </p:txBody>
        </p:sp>
        <p:sp>
          <p:nvSpPr>
            <p:cNvPr id="26" name="Rectangle 25"/>
            <p:cNvSpPr/>
            <p:nvPr/>
          </p:nvSpPr>
          <p:spPr>
            <a:xfrm>
              <a:off x="16085" y="2650"/>
              <a:ext cx="2088"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171" y="2750"/>
              <a:ext cx="1915"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strongest overall</a:t>
              </a:r>
            </a:p>
          </p:txBody>
        </p:sp>
        <p:sp>
          <p:nvSpPr>
            <p:cNvPr id="28" name="Rectangle 27"/>
            <p:cNvSpPr/>
            <p:nvPr/>
          </p:nvSpPr>
          <p:spPr>
            <a:xfrm>
              <a:off x="9677" y="3456"/>
              <a:ext cx="3240" cy="806"/>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63" y="3557"/>
              <a:ext cx="3067" cy="605"/>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LLM purpose prior</a:t>
              </a:r>
            </a:p>
          </p:txBody>
        </p:sp>
        <p:sp>
          <p:nvSpPr>
            <p:cNvPr id="30" name="Rectangle 29"/>
            <p:cNvSpPr/>
            <p:nvPr/>
          </p:nvSpPr>
          <p:spPr>
            <a:xfrm>
              <a:off x="12917" y="3456"/>
              <a:ext cx="1224" cy="806"/>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003" y="3557"/>
              <a:ext cx="105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0.586</a:t>
              </a:r>
            </a:p>
          </p:txBody>
        </p:sp>
        <p:sp>
          <p:nvSpPr>
            <p:cNvPr id="32" name="Rectangle 31"/>
            <p:cNvSpPr/>
            <p:nvPr/>
          </p:nvSpPr>
          <p:spPr>
            <a:xfrm>
              <a:off x="14141" y="3456"/>
              <a:ext cx="1944" cy="806"/>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4227" y="3557"/>
              <a:ext cx="177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0.201</a:t>
              </a:r>
            </a:p>
          </p:txBody>
        </p:sp>
        <p:sp>
          <p:nvSpPr>
            <p:cNvPr id="34" name="Rectangle 33"/>
            <p:cNvSpPr/>
            <p:nvPr/>
          </p:nvSpPr>
          <p:spPr>
            <a:xfrm>
              <a:off x="16085" y="3456"/>
              <a:ext cx="2088" cy="806"/>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6171" y="3557"/>
              <a:ext cx="1915"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directional components</a:t>
              </a:r>
            </a:p>
          </p:txBody>
        </p:sp>
        <p:sp>
          <p:nvSpPr>
            <p:cNvPr id="36" name="Rectangle 35"/>
            <p:cNvSpPr/>
            <p:nvPr/>
          </p:nvSpPr>
          <p:spPr>
            <a:xfrm>
              <a:off x="9677" y="4262"/>
              <a:ext cx="3240"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763" y="4363"/>
              <a:ext cx="3067" cy="605"/>
            </a:xfrm>
            <a:prstGeom prst="rect">
              <a:avLst/>
            </a:prstGeom>
            <a:noFill/>
          </p:spPr>
          <p:txBody>
            <a:bodyPr wrap="square" lIns="27432" tIns="9144" rIns="27432" bIns="9144" anchor="t">
              <a:spAutoFit/>
            </a:bodyPr>
            <a:lstStyle/>
            <a:p>
              <a:pPr algn="l">
                <a:defRPr sz="1200" b="1">
                  <a:solidFill>
                    <a:srgbClr val="0F172A"/>
                  </a:solidFill>
                  <a:latin typeface="微软雅黑" panose="020B0503020204020204" charset="-122"/>
                </a:defRPr>
              </a:pPr>
              <a:r>
                <a:rPr sz="1200" b="1">
                  <a:solidFill>
                    <a:srgbClr val="0F172A"/>
                  </a:solidFill>
                  <a:latin typeface="微软雅黑" panose="020B0503020204020204" charset="-122"/>
                </a:rPr>
                <a:t>Global purpose prior</a:t>
              </a:r>
            </a:p>
          </p:txBody>
        </p:sp>
        <p:sp>
          <p:nvSpPr>
            <p:cNvPr id="38" name="Rectangle 37"/>
            <p:cNvSpPr/>
            <p:nvPr/>
          </p:nvSpPr>
          <p:spPr>
            <a:xfrm>
              <a:off x="12917" y="4262"/>
              <a:ext cx="1224"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003" y="4363"/>
              <a:ext cx="105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0.580</a:t>
              </a:r>
            </a:p>
          </p:txBody>
        </p:sp>
        <p:sp>
          <p:nvSpPr>
            <p:cNvPr id="40" name="Rectangle 39"/>
            <p:cNvSpPr/>
            <p:nvPr/>
          </p:nvSpPr>
          <p:spPr>
            <a:xfrm>
              <a:off x="14141" y="4262"/>
              <a:ext cx="1944"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4227" y="4363"/>
              <a:ext cx="1771"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0.249</a:t>
              </a:r>
            </a:p>
          </p:txBody>
        </p:sp>
        <p:sp>
          <p:nvSpPr>
            <p:cNvPr id="42" name="Rectangle 41"/>
            <p:cNvSpPr/>
            <p:nvPr/>
          </p:nvSpPr>
          <p:spPr>
            <a:xfrm>
              <a:off x="16085" y="4262"/>
              <a:ext cx="2088" cy="806"/>
            </a:xfrm>
            <a:prstGeom prst="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6171" y="4363"/>
              <a:ext cx="1915" cy="605"/>
            </a:xfrm>
            <a:prstGeom prst="rect">
              <a:avLst/>
            </a:prstGeom>
            <a:noFill/>
          </p:spPr>
          <p:txBody>
            <a:bodyPr wrap="square" lIns="27432" tIns="9144" rIns="27432" bIns="9144" anchor="t">
              <a:spAutoFit/>
            </a:bodyPr>
            <a:lstStyle/>
            <a:p>
              <a:pPr algn="l">
                <a:defRPr sz="1200" b="0">
                  <a:solidFill>
                    <a:srgbClr val="0F172A"/>
                  </a:solidFill>
                  <a:latin typeface="微软雅黑" panose="020B0503020204020204" charset="-122"/>
                </a:defRPr>
              </a:pPr>
              <a:r>
                <a:rPr sz="1200" b="0">
                  <a:solidFill>
                    <a:srgbClr val="0F172A"/>
                  </a:solidFill>
                  <a:latin typeface="微软雅黑" panose="020B0503020204020204" charset="-122"/>
                </a:rPr>
                <a:t>shopping improves</a:t>
              </a:r>
            </a:p>
          </p:txBody>
        </p:sp>
      </p:grpSp>
      <p:sp>
        <p:nvSpPr>
          <p:cNvPr id="48" name="文本框 47"/>
          <p:cNvSpPr txBox="1"/>
          <p:nvPr/>
        </p:nvSpPr>
        <p:spPr>
          <a:xfrm>
            <a:off x="887095" y="5844540"/>
            <a:ext cx="10518775" cy="275590"/>
          </a:xfrm>
          <a:prstGeom prst="rect">
            <a:avLst/>
          </a:prstGeom>
          <a:noFill/>
        </p:spPr>
        <p:txBody>
          <a:bodyPr wrap="square" rtlCol="0" anchor="t">
            <a:spAutoFit/>
          </a:bodyPr>
          <a:lstStyle/>
          <a:p>
            <a:pPr algn="l">
              <a:defRPr sz="1200" b="1">
                <a:solidFill>
                  <a:srgbClr val="0F172A"/>
                </a:solidFill>
                <a:latin typeface="微软雅黑" panose="020B0503020204020204" charset="-122"/>
              </a:defRPr>
            </a:pPr>
            <a:r>
              <a:rPr sz="1200" b="1" dirty="0">
                <a:solidFill>
                  <a:srgbClr val="0F172A"/>
                </a:solidFill>
                <a:latin typeface="微软雅黑" panose="020B0503020204020204" charset="-122"/>
                <a:sym typeface="+mn-ea"/>
              </a:rPr>
              <a:t>purpose 结果说明综合目标已经扩展到“</a:t>
            </a:r>
            <a:r>
              <a:rPr sz="1200" b="1" dirty="0" err="1">
                <a:solidFill>
                  <a:srgbClr val="0F172A"/>
                </a:solidFill>
                <a:latin typeface="微软雅黑" panose="020B0503020204020204" charset="-122"/>
                <a:sym typeface="+mn-ea"/>
              </a:rPr>
              <a:t>为什么出行</a:t>
            </a:r>
            <a:r>
              <a:rPr sz="1200" b="1" dirty="0">
                <a:solidFill>
                  <a:srgbClr val="0F172A"/>
                </a:solidFill>
                <a:latin typeface="微软雅黑" panose="020B0503020204020204" charset="-122"/>
                <a:sym typeface="+mn-ea"/>
              </a:rPr>
              <a:t>”；</a:t>
            </a:r>
            <a:r>
              <a:rPr sz="1200" b="1" dirty="0" err="1">
                <a:solidFill>
                  <a:srgbClr val="0F172A"/>
                </a:solidFill>
                <a:latin typeface="微软雅黑" panose="020B0503020204020204" charset="-122"/>
                <a:sym typeface="+mn-ea"/>
              </a:rPr>
              <a:t>但</a:t>
            </a:r>
            <a:r>
              <a:rPr sz="1200" b="1" dirty="0">
                <a:solidFill>
                  <a:srgbClr val="0F172A"/>
                </a:solidFill>
                <a:latin typeface="微软雅黑" panose="020B0503020204020204" charset="-122"/>
                <a:sym typeface="+mn-ea"/>
              </a:rPr>
              <a:t> LLM prior </a:t>
            </a:r>
            <a:r>
              <a:rPr sz="1200" b="1" dirty="0" err="1">
                <a:solidFill>
                  <a:srgbClr val="0F172A"/>
                </a:solidFill>
                <a:latin typeface="微软雅黑" panose="020B0503020204020204" charset="-122"/>
                <a:sym typeface="+mn-ea"/>
              </a:rPr>
              <a:t>目前不是整体最优，适合作为边界和未来工作，而不是主贡献</a:t>
            </a:r>
            <a:r>
              <a:rPr sz="1200" b="1" dirty="0">
                <a:solidFill>
                  <a:srgbClr val="0F172A"/>
                </a:solidFill>
                <a:latin typeface="微软雅黑" panose="020B0503020204020204" charset="-122"/>
                <a:sym typeface="+mn-ea"/>
              </a:rPr>
              <a:t>。</a:t>
            </a:r>
            <a:endParaRPr lang="zh-CN" altLang="en-US" sz="1200" b="1" dirty="0">
              <a:solidFill>
                <a:srgbClr val="0F172A"/>
              </a:solidFill>
              <a:latin typeface="微软雅黑" panose="020B0503020204020204" charset="-122"/>
              <a:sym typeface="+mn-ea"/>
            </a:endParaRPr>
          </a:p>
        </p:txBody>
      </p:sp>
      <p:sp>
        <p:nvSpPr>
          <p:cNvPr id="163" name="AutoShape 2"/>
          <p:cNvSpPr/>
          <p:nvPr/>
        </p:nvSpPr>
        <p:spPr>
          <a:xfrm>
            <a:off x="762000" y="825500"/>
            <a:ext cx="10668000" cy="571500"/>
          </a:xfrm>
          <a:prstGeom prst="rect">
            <a:avLst/>
          </a:prstGeom>
          <a:noFill/>
          <a:ln w="12700" cap="flat" cmpd="sng">
            <a:noFill/>
            <a:prstDash val="solid"/>
            <a:round/>
          </a:ln>
        </p:spPr>
        <p:txBody>
          <a:bodyPr vert="horz" wrap="square" lIns="0" tIns="0" rIns="0" bIns="0" rtlCol="0" anchor="ctr" anchorCtr="0"/>
          <a:lstStyle/>
          <a:p>
            <a:pPr marL="0" algn="r">
              <a:lnSpc>
                <a:spcPct val="125000"/>
              </a:lnSpc>
              <a:buSzTx/>
              <a:defRPr/>
            </a:pPr>
            <a:r>
              <a:rPr lang="zh-CN" altLang="en-US" sz="2400" b="1" dirty="0" err="1">
                <a:solidFill>
                  <a:srgbClr val="333333"/>
                </a:solidFill>
                <a:latin typeface="Noto Sans SC" panose="020B0200000000000000" charset="-122"/>
                <a:ea typeface="Noto Sans SC" panose="020B0200000000000000" charset="-122"/>
                <a:cs typeface="Noto Sans SC" panose="020B0200000000000000" charset="-122"/>
              </a:rPr>
              <a:t>出行目的扩展</a:t>
            </a:r>
          </a:p>
        </p:txBody>
      </p:sp>
      <p:sp>
        <p:nvSpPr>
          <p:cNvPr id="74" name="AutoShape 3"/>
          <p:cNvSpPr/>
          <p:nvPr/>
        </p:nvSpPr>
        <p:spPr>
          <a:xfrm>
            <a:off x="762000" y="1397000"/>
            <a:ext cx="10668000" cy="25400"/>
          </a:xfrm>
          <a:prstGeom prst="roundRect">
            <a:avLst>
              <a:gd name="adj" fmla="val 0"/>
            </a:avLst>
          </a:prstGeom>
          <a:solidFill>
            <a:srgbClr val="40E0D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168" name="AutoShape 2"/>
          <p:cNvSpPr/>
          <p:nvPr/>
        </p:nvSpPr>
        <p:spPr>
          <a:xfrm>
            <a:off x="762000" y="874395"/>
            <a:ext cx="8258810" cy="571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lang="zh-CN" altLang="en-US" sz="2400" b="1" dirty="0">
                <a:solidFill>
                  <a:srgbClr val="0E9AA7"/>
                </a:solidFill>
                <a:latin typeface="Noto Sans SC" panose="020B0200000000000000" charset="-122"/>
                <a:ea typeface="Noto Sans SC" panose="020B0200000000000000" charset="-122"/>
                <a:cs typeface="Noto Sans SC" panose="020B0200000000000000" charset="-122"/>
                <a:sym typeface="+mn-ea"/>
              </a:rPr>
              <a:t>事件驱动</a:t>
            </a:r>
            <a:r>
              <a:rPr lang="en-US" altLang="zh-CN" sz="2400" b="1" dirty="0">
                <a:solidFill>
                  <a:schemeClr val="tx1"/>
                </a:solidFill>
                <a:latin typeface="Noto Sans SC" panose="020B0200000000000000" charset="-122"/>
                <a:ea typeface="Noto Sans SC" panose="020B0200000000000000" charset="-122"/>
                <a:cs typeface="Noto Sans SC" panose="020B0200000000000000" charset="-122"/>
                <a:sym typeface="+mn-ea"/>
              </a:rPr>
              <a:t>-</a:t>
            </a:r>
            <a:r>
              <a:rPr kumimoji="0" lang="zh-CN" altLang="en-US" sz="2400" b="1" i="0" u="none" strike="noStrike" kern="0" cap="none" spc="0" normalizeH="0" baseline="0" noProof="0" dirty="0">
                <a:ln>
                  <a:noFill/>
                </a:ln>
                <a:solidFill>
                  <a:schemeClr val="tx1"/>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基于大模型事件先验校准的模拟预测方法</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or 3"/>
          <p:cNvCxnSpPr/>
          <p:nvPr/>
        </p:nvCxnSpPr>
        <p:spPr>
          <a:xfrm rot="-4092">
            <a:off x="762004" y="1390650"/>
            <a:ext cx="10668000" cy="12700"/>
          </a:xfrm>
          <a:prstGeom prst="line">
            <a:avLst/>
          </a:prstGeom>
          <a:solidFill>
            <a:srgbClr val="DEE0E3">
              <a:alpha val="100000"/>
            </a:srgbClr>
          </a:solidFill>
          <a:ln w="25400" cap="flat" cmpd="sng">
            <a:solidFill>
              <a:srgbClr val="40E0D0">
                <a:alpha val="100000"/>
              </a:srgbClr>
            </a:solidFill>
            <a:prstDash val="solid"/>
            <a:round/>
            <a:headEnd type="none" w="lg" len="lg"/>
            <a:tailEnd type="none" w="lg" len="lg"/>
          </a:ln>
        </p:spPr>
      </p:cxnSp>
      <p:sp>
        <p:nvSpPr>
          <p:cNvPr id="4" name="AutoShape 4"/>
          <p:cNvSpPr/>
          <p:nvPr/>
        </p:nvSpPr>
        <p:spPr>
          <a:xfrm>
            <a:off x="762000" y="1905000"/>
            <a:ext cx="5207000" cy="1968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968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95500"/>
            <a:ext cx="406400" cy="406400"/>
          </a:xfrm>
          <a:prstGeom prst="rect">
            <a:avLst/>
          </a:prstGeom>
        </p:spPr>
      </p:pic>
      <p:sp>
        <p:nvSpPr>
          <p:cNvPr id="7" name="AutoShape 7"/>
          <p:cNvSpPr/>
          <p:nvPr/>
        </p:nvSpPr>
        <p:spPr>
          <a:xfrm>
            <a:off x="1587500" y="2057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a:t>
            </a:r>
            <a:r>
              <a:rPr lang="en-US" sz="1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数据为王：传统方法的基石价值</a:t>
            </a:r>
            <a:endParaRPr lang="en-US" sz="1100" dirty="0"/>
          </a:p>
        </p:txBody>
      </p:sp>
      <p:cxnSp>
        <p:nvCxnSpPr>
          <p:cNvPr id="8" name="Connector 8"/>
          <p:cNvCxnSpPr/>
          <p:nvPr/>
        </p:nvCxnSpPr>
        <p:spPr>
          <a:xfrm rot="-9291">
            <a:off x="1016009" y="2660650"/>
            <a:ext cx="4699000" cy="12700"/>
          </a:xfrm>
          <a:prstGeom prst="line">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9" name="AutoShape 9"/>
          <p:cNvSpPr/>
          <p:nvPr/>
        </p:nvSpPr>
        <p:spPr>
          <a:xfrm>
            <a:off x="1016000" y="279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在数据样本充足、特征维度完整的理想实验环境中，传统的数据拟合方法（方案A）凭借对历史数据的精准拟合能力，依然展现出最优的预测效果，是可靠的基准方案。</a:t>
            </a:r>
            <a:endParaRPr lang="en-US" sz="1100" dirty="0"/>
          </a:p>
        </p:txBody>
      </p:sp>
      <p:sp>
        <p:nvSpPr>
          <p:cNvPr id="10" name="AutoShape 10"/>
          <p:cNvSpPr/>
          <p:nvPr/>
        </p:nvSpPr>
        <p:spPr>
          <a:xfrm>
            <a:off x="6223000" y="1905000"/>
            <a:ext cx="5207000" cy="1968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23000" y="1905000"/>
            <a:ext cx="76200" cy="1968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95500"/>
            <a:ext cx="406400" cy="406400"/>
          </a:xfrm>
          <a:prstGeom prst="rect">
            <a:avLst/>
          </a:prstGeom>
        </p:spPr>
      </p:pic>
      <p:sp>
        <p:nvSpPr>
          <p:cNvPr id="13" name="AutoShape 13"/>
          <p:cNvSpPr/>
          <p:nvPr/>
        </p:nvSpPr>
        <p:spPr>
          <a:xfrm>
            <a:off x="7048500" y="2057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a:t>
            </a:r>
            <a:r>
              <a:rPr lang="en-US" sz="1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大模型：数据稀疏场景的破局关键</a:t>
            </a:r>
            <a:endParaRPr lang="en-US" sz="1100" dirty="0"/>
          </a:p>
        </p:txBody>
      </p:sp>
      <p:cxnSp>
        <p:nvCxnSpPr>
          <p:cNvPr id="14" name="Connector 14"/>
          <p:cNvCxnSpPr/>
          <p:nvPr/>
        </p:nvCxnSpPr>
        <p:spPr>
          <a:xfrm rot="-9291">
            <a:off x="6477009" y="2660650"/>
            <a:ext cx="4699000" cy="12700"/>
          </a:xfrm>
          <a:prstGeom prst="line">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15" name="AutoShape 15"/>
          <p:cNvSpPr/>
          <p:nvPr/>
        </p:nvSpPr>
        <p:spPr>
          <a:xfrm>
            <a:off x="6477000" y="279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在数据稀疏、关键字段缺失的现实业务场景中，大模型预训练的通用先验知识能够有效填补信息空白，在小样本学习和知识迁移上表现出传统方法无法比拟的不可替代优势。</a:t>
            </a:r>
            <a:endParaRPr lang="en-US" sz="1100"/>
          </a:p>
        </p:txBody>
      </p:sp>
      <p:sp>
        <p:nvSpPr>
          <p:cNvPr id="16" name="AutoShape 16"/>
          <p:cNvSpPr/>
          <p:nvPr/>
        </p:nvSpPr>
        <p:spPr>
          <a:xfrm>
            <a:off x="762000" y="4191000"/>
            <a:ext cx="5207000" cy="1968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1968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381500"/>
            <a:ext cx="406400" cy="406400"/>
          </a:xfrm>
          <a:prstGeom prst="rect">
            <a:avLst/>
          </a:prstGeom>
        </p:spPr>
      </p:pic>
      <p:sp>
        <p:nvSpPr>
          <p:cNvPr id="19" name="AutoShape 19"/>
          <p:cNvSpPr/>
          <p:nvPr/>
        </p:nvSpPr>
        <p:spPr>
          <a:xfrm>
            <a:off x="1587500" y="4343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混合模型：兼顾效率与可解释性</a:t>
            </a:r>
            <a:endParaRPr lang="en-US" sz="1100"/>
          </a:p>
        </p:txBody>
      </p:sp>
      <p:cxnSp>
        <p:nvCxnSpPr>
          <p:cNvPr id="20" name="Connector 20"/>
          <p:cNvCxnSpPr/>
          <p:nvPr/>
        </p:nvCxnSpPr>
        <p:spPr>
          <a:xfrm rot="-9291">
            <a:off x="1016009" y="4946650"/>
            <a:ext cx="4699000" cy="12700"/>
          </a:xfrm>
          <a:prstGeom prst="line">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21" name="AutoShape 21"/>
          <p:cNvSpPr/>
          <p:nvPr/>
        </p:nvSpPr>
        <p:spPr>
          <a:xfrm>
            <a:off x="10160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实验证实，混合预测模型（方案C）的推理效率显著优于直接调用大模型（方案B</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同时通过结构化的建模逻辑，保留了模型决策过程的可解释性，更适配工业落地需求</a:t>
            </a: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2" name="AutoShape 22"/>
          <p:cNvSpPr/>
          <p:nvPr/>
        </p:nvSpPr>
        <p:spPr>
          <a:xfrm>
            <a:off x="6223000" y="4191000"/>
            <a:ext cx="5207000" cy="1968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23000" y="4191000"/>
            <a:ext cx="76200" cy="1968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4381500"/>
            <a:ext cx="406400" cy="406400"/>
          </a:xfrm>
          <a:prstGeom prst="rect">
            <a:avLst/>
          </a:prstGeom>
        </p:spPr>
      </p:pic>
      <p:sp>
        <p:nvSpPr>
          <p:cNvPr id="25" name="AutoShape 25"/>
          <p:cNvSpPr/>
          <p:nvPr/>
        </p:nvSpPr>
        <p:spPr>
          <a:xfrm>
            <a:off x="7048500" y="43434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 核心挑战：先验知识与现实的偏差</a:t>
            </a:r>
            <a:endParaRPr lang="en-US" sz="1100"/>
          </a:p>
        </p:txBody>
      </p:sp>
      <p:cxnSp>
        <p:nvCxnSpPr>
          <p:cNvPr id="26" name="Connector 26"/>
          <p:cNvCxnSpPr/>
          <p:nvPr/>
        </p:nvCxnSpPr>
        <p:spPr>
          <a:xfrm rot="-9291">
            <a:off x="6477009" y="4946650"/>
            <a:ext cx="4699000" cy="12700"/>
          </a:xfrm>
          <a:prstGeom prst="line">
            <a:avLst/>
          </a:prstGeom>
          <a:solidFill>
            <a:srgbClr val="DEE0E3">
              <a:alpha val="100000"/>
            </a:srgbClr>
          </a:solidFill>
          <a:ln w="12700" cap="flat" cmpd="sng">
            <a:solidFill>
              <a:srgbClr val="40E0D0">
                <a:alpha val="30000"/>
              </a:srgbClr>
            </a:solidFill>
            <a:prstDash val="dash"/>
            <a:round/>
            <a:headEnd type="none" w="med" len="med"/>
            <a:tailEnd type="none" w="med" len="med"/>
          </a:ln>
        </p:spPr>
      </p:cxnSp>
      <p:sp>
        <p:nvSpPr>
          <p:cNvPr id="27" name="AutoShape 27"/>
          <p:cNvSpPr/>
          <p:nvPr/>
        </p:nvSpPr>
        <p:spPr>
          <a:xfrm>
            <a:off x="64770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大模型的通用先验知识与具体业务场景的实际数据分布存在系统性偏差，会导致预测准确率波动，这是模型在垂直领域落地时必须重点攻克的核心问题。</a:t>
            </a:r>
            <a:endParaRPr lang="en-US" sz="1100" dirty="0"/>
          </a:p>
        </p:txBody>
      </p:sp>
      <p:sp>
        <p:nvSpPr>
          <p:cNvPr id="2" name="AutoShape 2"/>
          <p:cNvSpPr/>
          <p:nvPr/>
        </p:nvSpPr>
        <p:spPr>
          <a:xfrm>
            <a:off x="762000" y="635000"/>
            <a:ext cx="8537575"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总结展望</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a:t>
            </a: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总结展望</a:t>
            </a:r>
            <a:endParaRPr lang="en-US" sz="1100" dirty="0"/>
          </a:p>
        </p:txBody>
      </p:sp>
      <p:cxnSp>
        <p:nvCxnSpPr>
          <p:cNvPr id="3" name="Connector 3"/>
          <p:cNvCxnSpPr/>
          <p:nvPr/>
        </p:nvCxnSpPr>
        <p:spPr>
          <a:xfrm rot="-4092">
            <a:off x="762004" y="1517650"/>
            <a:ext cx="10668000" cy="12700"/>
          </a:xfrm>
          <a:prstGeom prst="straightConnector1">
            <a:avLst/>
          </a:prstGeom>
          <a:solidFill>
            <a:srgbClr val="DEE0E3">
              <a:alpha val="100000"/>
            </a:srgbClr>
          </a:solidFill>
          <a:ln w="25400" cap="flat" cmpd="sng">
            <a:solidFill>
              <a:srgbClr val="40E0D0">
                <a:alpha val="50000"/>
              </a:srgbClr>
            </a:solidFill>
            <a:prstDash val="solid"/>
            <a:round/>
            <a:headEnd type="none" w="lg" len="lg"/>
            <a:tailEnd type="none" w="lg" len="lg"/>
          </a:ln>
        </p:spPr>
      </p:cxnSp>
      <p:sp>
        <p:nvSpPr>
          <p:cNvPr id="4" name="AutoShape 4"/>
          <p:cNvSpPr/>
          <p:nvPr/>
        </p:nvSpPr>
        <p:spPr>
          <a:xfrm>
            <a:off x="762000" y="2032000"/>
            <a:ext cx="5270500" cy="1841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2222500"/>
            <a:ext cx="355600" cy="355600"/>
          </a:xfrm>
          <a:prstGeom prst="rect">
            <a:avLst/>
          </a:prstGeom>
        </p:spPr>
      </p:pic>
      <p:sp>
        <p:nvSpPr>
          <p:cNvPr id="7" name="AutoShape 7"/>
          <p:cNvSpPr/>
          <p:nvPr/>
        </p:nvSpPr>
        <p:spPr>
          <a:xfrm>
            <a:off x="1587500" y="2184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更高效的知识蒸馏算法</a:t>
            </a:r>
            <a:endParaRPr lang="en-US" sz="1100"/>
          </a:p>
        </p:txBody>
      </p:sp>
      <p:cxnSp>
        <p:nvCxnSpPr>
          <p:cNvPr id="8" name="Connector 8"/>
          <p:cNvCxnSpPr/>
          <p:nvPr/>
        </p:nvCxnSpPr>
        <p:spPr>
          <a:xfrm rot="-9291">
            <a:off x="1079509" y="2787650"/>
            <a:ext cx="4699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9" name="AutoShape 9"/>
          <p:cNvSpPr/>
          <p:nvPr/>
        </p:nvSpPr>
        <p:spPr>
          <a:xfrm>
            <a:off x="1079500" y="2984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面向冷启动分支，探索更先进的蒸馏技术，优化从大模型中凝练 IF-THEN 规则的过程，提取更精准、更全面且强可解释的规则体系，进一步压低低置信度回退的调用率。</a:t>
            </a:r>
            <a:endParaRPr lang="en-US" sz="1100"/>
          </a:p>
        </p:txBody>
      </p:sp>
      <p:sp>
        <p:nvSpPr>
          <p:cNvPr id="10" name="AutoShape 10"/>
          <p:cNvSpPr/>
          <p:nvPr/>
        </p:nvSpPr>
        <p:spPr>
          <a:xfrm>
            <a:off x="6286500" y="2032000"/>
            <a:ext cx="5270500" cy="1841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86500" y="2032000"/>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222500"/>
            <a:ext cx="355600" cy="355600"/>
          </a:xfrm>
          <a:prstGeom prst="rect">
            <a:avLst/>
          </a:prstGeom>
        </p:spPr>
      </p:pic>
      <p:sp>
        <p:nvSpPr>
          <p:cNvPr id="13" name="AutoShape 13"/>
          <p:cNvSpPr/>
          <p:nvPr/>
        </p:nvSpPr>
        <p:spPr>
          <a:xfrm>
            <a:off x="7112000" y="2184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事件先验的跨场景泛化</a:t>
            </a:r>
            <a:endParaRPr lang="en-US" sz="1100"/>
          </a:p>
        </p:txBody>
      </p:sp>
      <p:cxnSp>
        <p:nvCxnSpPr>
          <p:cNvPr id="14" name="Connector 14"/>
          <p:cNvCxnSpPr/>
          <p:nvPr/>
        </p:nvCxnSpPr>
        <p:spPr>
          <a:xfrm rot="-9291">
            <a:off x="6604009" y="2787650"/>
            <a:ext cx="4699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5" name="AutoShape 15"/>
          <p:cNvSpPr/>
          <p:nvPr/>
        </p:nvSpPr>
        <p:spPr>
          <a:xfrm>
            <a:off x="6604000" y="2984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面向事件驱动分支，将疫情冲击之外的事件先验（如自然灾害、政策变动、能源价格冲击）纳入同一套无标签修正机制，验证 LLM 事件先验在更广冲击场景下的可迁移性。</a:t>
            </a:r>
            <a:endParaRPr lang="en-US" sz="1100"/>
          </a:p>
        </p:txBody>
      </p:sp>
      <p:sp>
        <p:nvSpPr>
          <p:cNvPr id="16" name="AutoShape 16"/>
          <p:cNvSpPr/>
          <p:nvPr/>
        </p:nvSpPr>
        <p:spPr>
          <a:xfrm>
            <a:off x="762000" y="4191000"/>
            <a:ext cx="5270500" cy="1841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4381500"/>
            <a:ext cx="355600" cy="355600"/>
          </a:xfrm>
          <a:prstGeom prst="rect">
            <a:avLst/>
          </a:prstGeom>
        </p:spPr>
      </p:pic>
      <p:sp>
        <p:nvSpPr>
          <p:cNvPr id="19" name="AutoShape 19"/>
          <p:cNvSpPr/>
          <p:nvPr/>
        </p:nvSpPr>
        <p:spPr>
          <a:xfrm>
            <a:off x="1587500" y="4343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框架的泛化应用拓展</a:t>
            </a:r>
            <a:endParaRPr lang="en-US" sz="1100" dirty="0"/>
          </a:p>
        </p:txBody>
      </p:sp>
      <p:cxnSp>
        <p:nvCxnSpPr>
          <p:cNvPr id="20" name="Connector 20"/>
          <p:cNvCxnSpPr/>
          <p:nvPr/>
        </p:nvCxnSpPr>
        <p:spPr>
          <a:xfrm rot="-9291">
            <a:off x="1079509" y="4946650"/>
            <a:ext cx="4699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1" name="AutoShape 21"/>
          <p:cNvSpPr/>
          <p:nvPr/>
        </p:nvSpPr>
        <p:spPr>
          <a:xfrm>
            <a:off x="1079500" y="5143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将统一框架及其两条分支迁移至消费行为预测、公共卫生事件推演、疾病传播模拟等多元社会任务，验证"先验 + 数值锚点"范式的普适性。</a:t>
            </a:r>
            <a:endParaRPr lang="en-US" sz="1100"/>
          </a:p>
        </p:txBody>
      </p:sp>
      <p:sp>
        <p:nvSpPr>
          <p:cNvPr id="22" name="AutoShape 22"/>
          <p:cNvSpPr/>
          <p:nvPr/>
        </p:nvSpPr>
        <p:spPr>
          <a:xfrm>
            <a:off x="6286500" y="4191000"/>
            <a:ext cx="5270500" cy="1841500"/>
          </a:xfrm>
          <a:prstGeom prst="roundRect">
            <a:avLst>
              <a:gd name="adj" fmla="val 0"/>
            </a:avLst>
          </a:prstGeom>
          <a:solidFill>
            <a:srgbClr val="40E0D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86500" y="4191000"/>
            <a:ext cx="76200" cy="1841500"/>
          </a:xfrm>
          <a:prstGeom prst="roundRect">
            <a:avLst>
              <a:gd name="adj" fmla="val 0"/>
            </a:avLst>
          </a:prstGeom>
          <a:solidFill>
            <a:srgbClr val="40E0D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4381500"/>
            <a:ext cx="355600" cy="355600"/>
          </a:xfrm>
          <a:prstGeom prst="rect">
            <a:avLst/>
          </a:prstGeom>
        </p:spPr>
      </p:pic>
      <p:sp>
        <p:nvSpPr>
          <p:cNvPr id="25" name="AutoShape 25"/>
          <p:cNvSpPr/>
          <p:nvPr/>
        </p:nvSpPr>
        <p:spPr>
          <a:xfrm>
            <a:off x="7112000" y="4343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缓解大模型先验知识偏差</a:t>
            </a:r>
            <a:endParaRPr lang="en-US" sz="1100"/>
          </a:p>
        </p:txBody>
      </p:sp>
      <p:cxnSp>
        <p:nvCxnSpPr>
          <p:cNvPr id="26" name="Connector 26"/>
          <p:cNvCxnSpPr/>
          <p:nvPr/>
        </p:nvCxnSpPr>
        <p:spPr>
          <a:xfrm rot="-9291">
            <a:off x="6604009" y="4946650"/>
            <a:ext cx="4699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7" name="AutoShape 27"/>
          <p:cNvSpPr/>
          <p:nvPr/>
        </p:nvSpPr>
        <p:spPr>
          <a:xfrm>
            <a:off x="6604000" y="5143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结合多源数据融合与少量历史样本校准，缓解 LLM 先验与现实场景的偏差，并研究在线更新机制，让规则集与事件折减系数随社会环境动态迭代，提升输出的客观性与可信度。</a:t>
            </a:r>
            <a:endParaRPr lang="en-US" sz="11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0" y="0"/>
            <a:ext cx="12192000" cy="68783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5,&quot;left&quot;:465,&quot;top&quot;:150,&quot;width&quot;:460}"/>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30,&quot;left&quot;:60,&quot;top&quot;:150,&quot;width&quot;:84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49.75,&quot;left&quot;:670,&quot;top&quot;:160,&quot;width&quot;:262.9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9.75,&quot;left&quot;:670,&quot;top&quot;:160,&quot;width&quot;:262.9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49.75,&quot;left&quot;:670,&quot;top&quot;:160,&quot;width&quot;:262.9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49.75,&quot;left&quot;:670,&quot;top&quot;:160,&quot;width&quot;:262.9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07.8755905511811,&quot;left&quot;:60,&quot;top&quot;:187.4,&quot;width&quot;:846.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80.39559055118116,&quot;left&quot;:61,&quot;top&quot;:137.36259842519684,&quot;width&quot;:839}"/>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quot;left&quot;:60,&quot;top&quot;:145.4727559055118,&quot;width&quot;:840}"/>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84.85,&quot;left&quot;:56.15,&quot;top&quot;:90,&quot;width&quot;:817.9}"/>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80.358031496063,&quot;left&quot;:23.639999999999965,&quot;top&quot;:140.591968503937,&quot;width&quot;:906.8100000000001}"/>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80.358031496063,&quot;left&quot;:23.639999999999965,&quot;top&quot;:140.591968503937,&quot;width&quot;:906.8100000000001}"/>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80.358031496063,&quot;left&quot;:23.639999999999965,&quot;top&quot;:140.591968503937,&quot;width&quot;:906.8100000000001}"/>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80.358031496063,&quot;left&quot;:23.639999999999965,&quot;top&quot;:140.591968503937,&quot;width&quot;:906.8100000000001}"/>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53.90999999999997,&quot;left&quot;:12.959999999999999,&quot;top&quot;:106.12259842519684,&quot;width&quot;:851.0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3793</Words>
  <Application>Microsoft Macintosh PowerPoint</Application>
  <PresentationFormat>宽屏</PresentationFormat>
  <Paragraphs>862</Paragraphs>
  <Slides>38</Slides>
  <Notes>23</Notes>
  <HiddenSlides>0</HiddenSlides>
  <MMClips>0</MMClips>
  <ScaleCrop>false</ScaleCrop>
  <HeadingPairs>
    <vt:vector size="6" baseType="variant">
      <vt:variant>
        <vt:lpstr>已用的字体</vt:lpstr>
      </vt:variant>
      <vt:variant>
        <vt:i4>4</vt:i4>
      </vt:variant>
      <vt:variant>
        <vt:lpstr>主题</vt:lpstr>
      </vt:variant>
      <vt:variant>
        <vt:i4>7</vt:i4>
      </vt:variant>
      <vt:variant>
        <vt:lpstr>幻灯片标题</vt:lpstr>
      </vt:variant>
      <vt:variant>
        <vt:i4>38</vt:i4>
      </vt:variant>
    </vt:vector>
  </HeadingPairs>
  <TitlesOfParts>
    <vt:vector size="49" baseType="lpstr">
      <vt:lpstr>Microsoft YaHei</vt:lpstr>
      <vt:lpstr>Microsoft YaHei</vt:lpstr>
      <vt:lpstr>Noto Sans SC</vt:lpstr>
      <vt:lpstr>Arial</vt:lpstr>
      <vt:lpstr>Office 主题​​</vt:lpstr>
      <vt:lpstr>默认主题</vt:lpstr>
      <vt:lpstr>3_默认主题</vt:lpstr>
      <vt:lpstr>4_默认主题</vt:lpstr>
      <vt:lpstr>5_默认主题</vt:lpstr>
      <vt:lpstr>1_默认主题</vt:lpstr>
      <vt:lpstr>6_默认主题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lrving</cp:lastModifiedBy>
  <cp:revision>135</cp:revision>
  <dcterms:created xsi:type="dcterms:W3CDTF">2026-06-10T08:01:00Z</dcterms:created>
  <dcterms:modified xsi:type="dcterms:W3CDTF">2026-06-10T15:27:09Z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{"Label":"1","ContentProducer":"001191110102MACQD9K64010000","ProduceID":"7649604903199804363","ReservedCode1":"","ContentPropagator":"","PropagateID":"","ReservedCode2":""}</vt:lpwstr>
  </property>
  <property fmtid="{D5CDD505-2E9C-101B-9397-08002B2CF9AE}" pid="3" name="ICV">
    <vt:lpwstr>7BD303D92BC141EC877CAD38288F0FB7_13</vt:lpwstr>
  </property>
  <property fmtid="{D5CDD505-2E9C-101B-9397-08002B2CF9AE}" pid="4" name="KSOProductBuildVer">
    <vt:lpwstr>2052-12.1.0.21541</vt:lpwstr>
  </property>
</Properties>
</file>