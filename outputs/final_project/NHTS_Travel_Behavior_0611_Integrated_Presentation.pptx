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  <p:sldMasterId id="2147483666" r:id="rId5"/>
    <p:sldMasterId id="2147483669" r:id="rId6"/>
    <p:sldMasterId id="2147483672" r:id="rId7"/>
    <p:sldMasterId id="2147483675" r:id="rId8"/>
  </p:sldMasterIdLst>
  <p:notesMasterIdLst>
    <p:notesMasterId r:id="rId10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12"/>
    <p:sldId id="288" r:id="rId11"/>
    <p:sldId id="289" r:id="rId9"/>
    <p:sldId id="290" r:id="rId47"/>
  </p:sldIdLst>
  <p:sldSz cx="1219169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默认节" id="{b3e08645-611d-4df1-bbcc-3d12e874f917}">
          <p14:sldIdLst>
            <p14:sldId id="277"/>
            <p14:sldId id="257"/>
          </p14:sldIdLst>
        </p14:section>
        <p14:section name="1-2 研究背景-相关工作" id="{9aa0ca39-3c36-4c94-a4d4-15d6e82330f3}">
          <p14:sldIdLst>
            <p14:sldId id="258"/>
            <p14:sldId id="259"/>
            <p14:sldId id="260"/>
          </p14:sldIdLst>
        </p14:section>
        <p14:section name="3 问题定义" id="{d469b0bb-2571-4508-b7b6-724ac8114ecf}">
          <p14:sldIdLst>
            <p14:sldId id="329"/>
            <p14:sldId id="264"/>
            <p14:sldId id="263"/>
          </p14:sldIdLst>
        </p14:section>
        <p14:section name="方案一" id="{e11ef8eb-7523-4069-8ce4-3ae3c1e5ff27}">
          <p14:sldIdLst>
            <p14:sldId id="323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方案二" id="{3ab64a78-c5f8-430f-b0d7-e805f64724f2}">
          <p14:sldIdLst>
            <p14:sldId id="320"/>
            <p14:sldId id="321"/>
            <p14:sldId id="303"/>
            <p14:sldId id="322"/>
            <p14:sldId id="290"/>
            <p14:sldId id="304"/>
            <p14:sldId id="306"/>
            <p14:sldId id="307"/>
            <p14:sldId id="308"/>
            <p14:sldId id="309"/>
            <p14:sldId id="311"/>
            <p14:sldId id="312"/>
            <p14:sldId id="313"/>
            <p14:sldId id="314"/>
          </p14:sldIdLst>
        </p14:section>
        <p14:section name="6 总结展望" id="{32294796-8bb6-4aa6-94f5-27a3b1844ec7}">
          <p14:sldIdLst>
            <p14:sldId id="330"/>
            <p14:sldId id="328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94" userDrawn="1">
          <p15:clr>
            <a:srgbClr val="747775"/>
          </p15:clr>
        </p15:guide>
        <p15:guide id="2" pos="287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E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0" d="100"/>
          <a:sy n="150" d="100"/>
        </p:scale>
        <p:origin x="7866" y="126"/>
      </p:cViewPr>
      <p:guideLst>
        <p:guide orient="horz" pos="1694"/>
        <p:guide pos="28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34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33.xml"/><Relationship Id="rId12" Type="http://schemas.openxmlformats.org/officeDocument/2006/relationships/slide" Target="slides/slide32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ableStyles" Target="tableStyles.xml"/><Relationship Id="rId47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A38DAC0-CE62-D141-B832-686CBE4253B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245BADA-1024-0545-A29F-910C83BB960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A38DAC0-CE62-D141-B832-686CBE4253B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245BADA-1024-0545-A29F-910C83BB960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A38DAC0-CE62-D141-B832-686CBE4253B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245BADA-1024-0545-A29F-910C83BB960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A38DAC0-CE62-D141-B832-686CBE4253B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245BADA-1024-0545-A29F-910C83BB960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A38DAC0-CE62-D141-B832-686CBE4253B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245BADA-1024-0545-A29F-910C83BB960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A38DAC0-CE62-D141-B832-686CBE4253B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245BADA-1024-0545-A29F-910C83BB960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jpeg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image" Target="../media/image1.jpeg"/><Relationship Id="rId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image" Target="../media/image1.jpeg"/><Relationship Id="rId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image" Target="../media/image1.jpeg"/><Relationship Id="rId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image" Target="../media/image1.jpeg"/><Relationship Id="rId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>
            <a:alphaModFix amt="1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alphaModFix amt="1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alphaModFix amt="1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alphaModFix amt="1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alphaModFix amt="1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alphaModFix amt="1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alphaModFix amt="1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99064" y="283464"/>
            <a:ext cx="9144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10896"/>
            <a:ext cx="841248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" y="731520"/>
            <a:ext cx="93268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面向时序迁移的家庭出行行为预测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25880"/>
            <a:ext cx="9235440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2100" b="1">
                <a:solidFill>
                  <a:srgbClr val="E2E8F0"/>
                </a:solidFill>
                <a:latin typeface="Microsoft YaHei"/>
              </a:defRPr>
            </a:pPr>
            <a:r>
              <a:rPr sz="2100" b="1">
                <a:solidFill>
                  <a:srgbClr val="E2E8F0"/>
                </a:solidFill>
                <a:latin typeface="Microsoft YaHei"/>
              </a:rPr>
              <a:t>大模型事件先验与历史模型校准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905256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150" b="1">
                <a:solidFill>
                  <a:srgbClr val="CBD5E1"/>
                </a:solidFill>
                <a:latin typeface="Microsoft YaHei"/>
              </a:defRPr>
            </a:pPr>
            <a:r>
              <a:rPr sz="1150" b="1">
                <a:solidFill>
                  <a:srgbClr val="CBD5E1"/>
                </a:solidFill>
                <a:latin typeface="Microsoft YaHei"/>
              </a:rPr>
              <a:t>LLM event priors + historically calibrated prediction under target-year shift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971800"/>
            <a:ext cx="2084831" cy="658368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035808"/>
            <a:ext cx="1938527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冷启动选择器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55264"/>
            <a:ext cx="1901951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LLM-rule selector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34640" y="3200400"/>
            <a:ext cx="43891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2971800"/>
            <a:ext cx="2084831" cy="658368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3035808"/>
            <a:ext cx="1938527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时序迁移修正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3255264"/>
            <a:ext cx="1901951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LLM-corrected XGBoost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577840" y="3200400"/>
            <a:ext cx="43891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2971800"/>
            <a:ext cx="2084831" cy="658368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3035808"/>
            <a:ext cx="1938527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因果/泄露护栏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255264"/>
            <a:ext cx="1901951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causal guardrails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21040" y="3200400"/>
            <a:ext cx="43891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42832" y="2971800"/>
            <a:ext cx="2084831" cy="658368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3035808"/>
            <a:ext cx="1938527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多目标评估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3255264"/>
            <a:ext cx="1901951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accuracy / bias / equity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" y="4617720"/>
            <a:ext cx="233172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" y="4617720"/>
            <a:ext cx="50292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Trip-count wMAE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2.502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-42.3% vs XGBoost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4617720"/>
            <a:ext cx="233172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4617720"/>
            <a:ext cx="50292" cy="8046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57016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Weighted bias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7016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-0.023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6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nearly unbiased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53328" y="4617720"/>
            <a:ext cx="233172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53328" y="4617720"/>
            <a:ext cx="50292" cy="8046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81344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LLM calls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89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batch prior prompts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77656" y="4617720"/>
            <a:ext cx="233172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77656" y="4617720"/>
            <a:ext cx="50292" cy="80467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05672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Outputs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5672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3+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05672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trips / mode /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目录 /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按一条主线串起 selector branch 与 correction branch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02 / 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1234440"/>
            <a:ext cx="914400" cy="65836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307592"/>
            <a:ext cx="841248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章节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64207" y="1234440"/>
            <a:ext cx="2743200" cy="65836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00784" y="1307592"/>
            <a:ext cx="2670048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1234440"/>
            <a:ext cx="6400800" cy="65836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1307592"/>
            <a:ext cx="6327648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本页以后怎么讲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892808"/>
            <a:ext cx="91440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1956816"/>
            <a:ext cx="8046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64207" y="1892808"/>
            <a:ext cx="274320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9072" y="1956816"/>
            <a:ext cx="26334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研究背景与相关工作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8" y="1892808"/>
            <a:ext cx="640080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1956816"/>
            <a:ext cx="62910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为什么目标年迁移需要 LLM event-generalization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2551176"/>
            <a:ext cx="91440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2615184"/>
            <a:ext cx="8046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64207" y="2551176"/>
            <a:ext cx="274320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19072" y="2615184"/>
            <a:ext cx="26334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问题定义与数据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7408" y="2551176"/>
            <a:ext cx="640080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2615184"/>
            <a:ext cx="62910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NHTS household behavior system：出行多少、方式、目的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209544"/>
            <a:ext cx="91440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" y="3273552"/>
            <a:ext cx="8046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64207" y="3209544"/>
            <a:ext cx="274320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19072" y="3273552"/>
            <a:ext cx="26334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方案设计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07408" y="3209544"/>
            <a:ext cx="640080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2272" y="3273552"/>
            <a:ext cx="62910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冷启动选择器 + LLM 修正 XGBoost 的统一框架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" y="3867912"/>
            <a:ext cx="91440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" y="3931920"/>
            <a:ext cx="8046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64207" y="3867912"/>
            <a:ext cx="274320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19072" y="3931920"/>
            <a:ext cx="26334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性能评估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07408" y="3867912"/>
            <a:ext cx="640080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2272" y="3931920"/>
            <a:ext cx="62910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传统基线、纯 LLM、rule tree、hybrid adapter 多指标比较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526279"/>
            <a:ext cx="91440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1" y="4590288"/>
            <a:ext cx="8046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05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64207" y="4526279"/>
            <a:ext cx="274320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19072" y="4590288"/>
            <a:ext cx="26334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结论与展望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07408" y="4526279"/>
            <a:ext cx="640080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2272" y="4590288"/>
            <a:ext cx="62910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因果护栏、外部验证、本地开源 LLM 控制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5285232"/>
            <a:ext cx="9784080" cy="71323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5285232"/>
            <a:ext cx="50292" cy="71323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8992" y="5376672"/>
            <a:ext cx="949147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主线不是“两个方案拼接”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" y="5733288"/>
            <a:ext cx="949147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selector branch handles cold-start simulation; the correction branch handles target-year temporal adaptation.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研究问题 /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目标年不是普通跨年预测 | Target-year shift is not ordinary transfer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03 / 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170432"/>
            <a:ext cx="5074920" cy="384048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243584"/>
            <a:ext cx="500176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Traditional framing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96712" y="1170432"/>
            <a:ext cx="5349240" cy="384048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3288" y="1243584"/>
            <a:ext cx="527608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Event-driven framing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1554480"/>
            <a:ext cx="50749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1618488"/>
            <a:ext cx="496519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2017 -&gt; 2022 as smooth temporal transfer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96712" y="1554480"/>
            <a:ext cx="53492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51575" y="1618488"/>
            <a:ext cx="52395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2022 as target-year behavioral regime shift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1938528"/>
            <a:ext cx="50749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002536"/>
            <a:ext cx="496519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Covariates explain most household differences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96712" y="1938528"/>
            <a:ext cx="53492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1575" y="2002536"/>
            <a:ext cx="52395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Household covariates miss remote work / transit avoidance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2322576"/>
            <a:ext cx="50749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386584"/>
            <a:ext cx="496519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Model failure means weak tabular learner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96712" y="2322576"/>
            <a:ext cx="53492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51575" y="2386584"/>
            <a:ext cx="52395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Model failure reveals unobserved event mechanisms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2706624"/>
            <a:ext cx="50749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2770632"/>
            <a:ext cx="496519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Tune on target labels if available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706624"/>
            <a:ext cx="53492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51575" y="2770632"/>
            <a:ext cx="52395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Use no 2022 labels for training/calibration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43400"/>
            <a:ext cx="237744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343400"/>
            <a:ext cx="50292" cy="78638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4416552"/>
            <a:ext cx="2157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Ordinary XGBoost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4590288"/>
            <a:ext cx="2157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BE123C"/>
                </a:solidFill>
                <a:latin typeface="Microsoft YaHei"/>
              </a:defRPr>
            </a:pPr>
            <a:r>
              <a:rPr sz="1600" b="1">
                <a:solidFill>
                  <a:srgbClr val="BE123C"/>
                </a:solidFill>
                <a:latin typeface="Microsoft YaHei"/>
              </a:rPr>
              <a:t>4.34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4901184"/>
            <a:ext cx="2157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weighted MAE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73552" y="4343400"/>
            <a:ext cx="237744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73552" y="4343400"/>
            <a:ext cx="50292" cy="78638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1568" y="4416552"/>
            <a:ext cx="2157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Systematic bias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1568" y="4590288"/>
            <a:ext cx="2157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BE123C"/>
                </a:solidFill>
                <a:latin typeface="Microsoft YaHei"/>
              </a:defRPr>
            </a:pPr>
            <a:r>
              <a:rPr sz="1600" b="1">
                <a:solidFill>
                  <a:srgbClr val="BE123C"/>
                </a:solidFill>
                <a:latin typeface="Microsoft YaHei"/>
              </a:rPr>
              <a:t>+3.61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8" y="4901184"/>
            <a:ext cx="2157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over-predicts trips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88736" y="4343400"/>
            <a:ext cx="237744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88736" y="4343400"/>
            <a:ext cx="50292" cy="78638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16752" y="4416552"/>
            <a:ext cx="2157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Pre-COVID bias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16752" y="4590288"/>
            <a:ext cx="2157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Microsoft YaHei"/>
              </a:defRPr>
            </a:pPr>
            <a:r>
              <a:rPr sz="1600" b="1">
                <a:solidFill>
                  <a:srgbClr val="00796B"/>
                </a:solidFill>
                <a:latin typeface="Microsoft YaHei"/>
              </a:rPr>
              <a:t>0.90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16752" y="4901184"/>
            <a:ext cx="2157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mean abs. wBias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03920" y="4343400"/>
            <a:ext cx="2377440" cy="786384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03920" y="4343400"/>
            <a:ext cx="50292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31936" y="4416552"/>
            <a:ext cx="2157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Research target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31936" y="4590288"/>
            <a:ext cx="2157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adapt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31936" y="4901184"/>
            <a:ext cx="2157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not just fit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808" y="5230368"/>
            <a:ext cx="10012680" cy="107899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9808" y="5230368"/>
            <a:ext cx="50292" cy="10789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5321807"/>
            <a:ext cx="9720072" cy="3884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核心问题：2022 的 weighted bias 远高于常规跨年验证；不使用 2022 标签调参时，能否用情境先验修正这种系统性高估。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774253"/>
            <a:ext cx="9720072" cy="46195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Core question: can context priors correct target-year overprediction without using 2022 target labels for calibration?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相关研究与缺口 / Related Work and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2025-2026: LLM mobility, causal events, and foundation models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04 / 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115568"/>
            <a:ext cx="2331720" cy="457200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188720"/>
            <a:ext cx="2258568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最新方向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79" y="1115568"/>
            <a:ext cx="3840480" cy="457200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1188720"/>
            <a:ext cx="3767328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2025-2026 代表线索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115568"/>
            <a:ext cx="4297680" cy="457200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1188720"/>
            <a:ext cx="4224528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本项目的位置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1572768"/>
            <a:ext cx="23317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1636776"/>
            <a:ext cx="2221991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Event-driven mobility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79" y="1572768"/>
            <a:ext cx="38404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80944" y="1636776"/>
            <a:ext cx="37307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ELLMob ICLR'26; CausalMob KDD'25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1572768"/>
            <a:ext cx="4297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1636776"/>
            <a:ext cx="41879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把外部情境变化转成 label-free event priors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029967"/>
            <a:ext cx="233172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2093975"/>
            <a:ext cx="2221991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Zero-shot LLM mobility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79" y="2029967"/>
            <a:ext cx="38404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80944" y="2093975"/>
            <a:ext cx="37307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AgentMove NAACL'25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029967"/>
            <a:ext cx="42976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1424" y="2093975"/>
            <a:ext cx="41879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直接 LLM 可做 baseline，但数值校准弱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487168"/>
            <a:ext cx="23317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2551175"/>
            <a:ext cx="2221991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Evidence-grounded agents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79" y="2487168"/>
            <a:ext cx="38404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80944" y="2551175"/>
            <a:ext cx="37307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AgentMob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2487168"/>
            <a:ext cx="4297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1424" y="2551175"/>
            <a:ext cx="41879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routine fast path + low-confidence LLM reasoning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2944368"/>
            <a:ext cx="233172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3008375"/>
            <a:ext cx="2221991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Efficient LLM pipeline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79" y="2944368"/>
            <a:ext cx="38404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80944" y="3008375"/>
            <a:ext cx="37307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ELP-Mob GIS'25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2944368"/>
            <a:ext cx="42976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21424" y="3008375"/>
            <a:ext cx="41879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batch prompting 和调用压缩是必要工程约束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3401568"/>
            <a:ext cx="23317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" y="3465575"/>
            <a:ext cx="2221991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Mobility foundation models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79" y="3401568"/>
            <a:ext cx="38404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80944" y="3465575"/>
            <a:ext cx="37307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UniMob KDD'25; STFM survey'25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0" y="3401568"/>
            <a:ext cx="4297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21424" y="3465575"/>
            <a:ext cx="41879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不训练大 FM；用轻量 adapter 处理 survey shift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3858768"/>
            <a:ext cx="233172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" y="3922776"/>
            <a:ext cx="2221991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Planning evaluation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79" y="3858768"/>
            <a:ext cx="38404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80944" y="3922776"/>
            <a:ext cx="37307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causal guardrails + multi-objective metrics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0" y="3858768"/>
            <a:ext cx="42976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21424" y="3922776"/>
            <a:ext cx="41879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同时报告 accuracy、bias、equity、mode/purpose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4800600"/>
            <a:ext cx="9875520" cy="7772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4128" y="5047488"/>
            <a:ext cx="100584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研究缺口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4910328"/>
            <a:ext cx="8183879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缺口：已有工作多关注 trajectory / flow / sensor forecasting；NHTS household survey 的 target-year label-free temporal adaptation 仍需要一个可解释、可审计框架。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数据与目标 / Data and Target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一个 household behavior system，多种 linked outputs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05 /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914400" cy="5029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81328"/>
            <a:ext cx="768096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47672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history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737360" y="1572768"/>
            <a:ext cx="658368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08960" y="1389888"/>
            <a:ext cx="914400" cy="5029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2112" y="1481328"/>
            <a:ext cx="768096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947672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history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60520" y="1572768"/>
            <a:ext cx="658368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32120" y="1389888"/>
            <a:ext cx="914400" cy="5029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5272" y="1481328"/>
            <a:ext cx="768096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947672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history + mode base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583679" y="1572768"/>
            <a:ext cx="658368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55279" y="1389888"/>
            <a:ext cx="91440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1" y="1481328"/>
            <a:ext cx="768096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1947672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target-year eval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761488"/>
            <a:ext cx="214884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2834640"/>
            <a:ext cx="207568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07208" y="2761488"/>
            <a:ext cx="320040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43784" y="2834640"/>
            <a:ext cx="312724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Construction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07607" y="2761488"/>
            <a:ext cx="278892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44183" y="2834640"/>
            <a:ext cx="271576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Planning meaning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96528" y="2761488"/>
            <a:ext cx="214884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33104" y="2834640"/>
            <a:ext cx="207568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Main metric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145536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3209544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Trip generation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7208" y="3145536"/>
            <a:ext cx="32004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62072" y="3209544"/>
            <a:ext cx="30906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CNTTDHH at household level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07607" y="3145536"/>
            <a:ext cx="27889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62471" y="3209544"/>
            <a:ext cx="26791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How much travel demand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96528" y="3145536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51392" y="3209544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weighted MAE / bias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3529584"/>
            <a:ext cx="2148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3593591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Mode composition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07208" y="3529584"/>
            <a:ext cx="32004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62072" y="3593591"/>
            <a:ext cx="30906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TRPTRANS -&gt; household share vector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07607" y="3529584"/>
            <a:ext cx="27889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62471" y="3593591"/>
            <a:ext cx="26791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How demand is distributed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96528" y="3529584"/>
            <a:ext cx="2148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51392" y="3593591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TV / share MAE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3913632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3977640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Purpose composition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07208" y="3913632"/>
            <a:ext cx="32004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62072" y="3977640"/>
            <a:ext cx="30906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TRIPPURP -&gt; household purpose vector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07607" y="3913632"/>
            <a:ext cx="27889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62471" y="3977640"/>
            <a:ext cx="26791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Why households travel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96528" y="3913632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51392" y="3977640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TV / purpose MAE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4297680"/>
            <a:ext cx="2148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4361688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Mode-specific trips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07208" y="4297680"/>
            <a:ext cx="32004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62072" y="4361688"/>
            <a:ext cx="30906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predicted trips × mode share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07607" y="4297680"/>
            <a:ext cx="27889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62471" y="4361688"/>
            <a:ext cx="26791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Trips by mode for planning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96528" y="4297680"/>
            <a:ext cx="2148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51392" y="4361688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derived output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9808" y="5074920"/>
            <a:ext cx="10012680" cy="102412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49808" y="5074920"/>
            <a:ext cx="50292" cy="10241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" y="5166359"/>
            <a:ext cx="9720072" cy="36868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目标不是只预测 CNTTDHH，而是构造 household travel behavior：出行多少次、用什么方式、为什么出行、每种方式多少次。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5599054"/>
            <a:ext cx="9720072" cy="42684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target is a household behavior system: trip generation, mode composition, purpose composition, and derived mode-specific trip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问题定义 / 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两个场景对应同一个 event-generalization 框架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06 /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143000"/>
            <a:ext cx="5166360" cy="12344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143000"/>
            <a:ext cx="50292" cy="1234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34440"/>
            <a:ext cx="4873752" cy="42062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场景 A：数据稀疏 / 字段缺失 / 冷启动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1719072"/>
            <a:ext cx="4873752" cy="5852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Historical labels are weak or missing. LLM knowledge is distilled into fast executable rules; low-confidence cases can fall back to LLM.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143000"/>
            <a:ext cx="5166360" cy="12344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143000"/>
            <a:ext cx="50292" cy="12344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234440"/>
            <a:ext cx="4873752" cy="42062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场景 B：有历史数据但目标年情境变化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719072"/>
            <a:ext cx="4873752" cy="5852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Historical NHTS labels exist, but 2022 context changes the meaning of routine covariates. LLM event priors correct the historical predictor.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971800"/>
            <a:ext cx="1920240" cy="594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035808"/>
            <a:ext cx="177393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2563EB"/>
                </a:solidFill>
                <a:latin typeface="Microsoft YaHei"/>
              </a:defRPr>
            </a:pPr>
            <a:r>
              <a:rPr sz="919" b="1">
                <a:solidFill>
                  <a:srgbClr val="2563EB"/>
                </a:solidFill>
                <a:latin typeface="Microsoft YaHei"/>
              </a:rPr>
              <a:t>Pure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55264"/>
            <a:ext cx="173736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calibrated but brittle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26080" y="3182112"/>
            <a:ext cx="502920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20440" y="2971800"/>
            <a:ext cx="1920240" cy="594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3035808"/>
            <a:ext cx="177393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5B21B6"/>
                </a:solidFill>
                <a:latin typeface="Microsoft YaHei"/>
              </a:defRPr>
            </a:pPr>
            <a:r>
              <a:rPr sz="919" b="1">
                <a:solidFill>
                  <a:srgbClr val="5B21B6"/>
                </a:solidFill>
                <a:latin typeface="Microsoft YaHei"/>
              </a:rPr>
              <a:t>Pure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255264"/>
            <a:ext cx="173736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general but unstable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532120" y="3182112"/>
            <a:ext cx="502920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44768" y="2971800"/>
            <a:ext cx="1965960" cy="594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035808"/>
            <a:ext cx="1819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Selector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3255264"/>
            <a:ext cx="178308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cold-start branch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193024" y="3182112"/>
            <a:ext cx="502920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05672" y="2971800"/>
            <a:ext cx="1965960" cy="594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78824" y="3035808"/>
            <a:ext cx="1819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Correction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3255264"/>
            <a:ext cx="178308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temporal-adaptation branch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" y="4133087"/>
            <a:ext cx="1828800" cy="51206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4206240"/>
            <a:ext cx="1755648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模块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70048" y="4133087"/>
            <a:ext cx="2743200" cy="51206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6624" y="4206240"/>
            <a:ext cx="2670048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输入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13248" y="4133087"/>
            <a:ext cx="3703320" cy="51206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9824" y="4206240"/>
            <a:ext cx="3630168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LLM 做什么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16568" y="4133087"/>
            <a:ext cx="2560320" cy="51206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53144" y="4206240"/>
            <a:ext cx="2487168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输出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4645152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4709160"/>
            <a:ext cx="171907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Selector branch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70048" y="4645152"/>
            <a:ext cx="27432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24912" y="4709160"/>
            <a:ext cx="263347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少量/缺失历史样本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13248" y="4645152"/>
            <a:ext cx="370332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68112" y="4709160"/>
            <a:ext cx="3593591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t>提取 IF-THEN 规则与置信度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16568" y="4645152"/>
            <a:ext cx="256032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71432" y="4709160"/>
            <a:ext cx="2450591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快速模拟预测 + 低置信回退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" y="5157216"/>
            <a:ext cx="182880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2" y="5221224"/>
            <a:ext cx="171907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Correction branch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70048" y="5157216"/>
            <a:ext cx="274320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24912" y="5221224"/>
            <a:ext cx="263347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2001/2009/2017 历史 + 2022 无标签 profiles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13248" y="5157216"/>
            <a:ext cx="370332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68112" y="5221224"/>
            <a:ext cx="3593591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生成 trip suppression / remote work / transit avoidance priors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16568" y="5157216"/>
            <a:ext cx="256032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71432" y="5221224"/>
            <a:ext cx="2450591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修正 XGBoost 的 2022 household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方法谱系 / Method Spectrum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先把 selector branch 和 LLM-corrected XGBoost 串成一条线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07 /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133856"/>
            <a:ext cx="1965960" cy="107899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133856"/>
            <a:ext cx="1965960" cy="5486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298448"/>
            <a:ext cx="1755648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50" b="1">
                <a:solidFill>
                  <a:srgbClr val="BE123C"/>
                </a:solidFill>
                <a:latin typeface="Microsoft YaHei"/>
              </a:defRPr>
            </a:pPr>
            <a:r>
              <a:rPr sz="1150" b="1">
                <a:solidFill>
                  <a:srgbClr val="BE123C"/>
                </a:solidFill>
                <a:latin typeface="Microsoft YaHei"/>
              </a:rPr>
              <a:t>Data-only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581912"/>
            <a:ext cx="1755648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Microsoft YaHei"/>
              </a:defRPr>
            </a:pPr>
            <a:r>
              <a:rPr sz="919" b="0">
                <a:solidFill>
                  <a:srgbClr val="64748B"/>
                </a:solidFill>
                <a:latin typeface="Microsoft YaHei"/>
              </a:rPr>
              <a:t>历史数据拟合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792224"/>
            <a:ext cx="175564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wMAE 4.338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1984248"/>
            <a:ext cx="1755648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bias +3.605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569464" y="1600200"/>
            <a:ext cx="219456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16352" y="1133856"/>
            <a:ext cx="1965960" cy="107899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133856"/>
            <a:ext cx="1965960" cy="5486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298448"/>
            <a:ext cx="1755648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50" b="1">
                <a:solidFill>
                  <a:srgbClr val="5B21B6"/>
                </a:solidFill>
                <a:latin typeface="Microsoft YaHei"/>
              </a:defRPr>
            </a:pPr>
            <a:r>
              <a:rPr sz="1150" b="1">
                <a:solidFill>
                  <a:srgbClr val="5B21B6"/>
                </a:solidFill>
                <a:latin typeface="Microsoft YaHei"/>
              </a:rPr>
              <a:t>Pure LLM prior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1581912"/>
            <a:ext cx="1755648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Microsoft YaHei"/>
              </a:defRPr>
            </a:pPr>
            <a:r>
              <a:rPr sz="919" b="0">
                <a:solidFill>
                  <a:srgbClr val="64748B"/>
                </a:solidFill>
                <a:latin typeface="Microsoft YaHei"/>
              </a:rPr>
              <a:t>事件方向可用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1792224"/>
            <a:ext cx="175564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wMAE 2.718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1984248"/>
            <a:ext cx="1755648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bias -0.373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18888" y="1600200"/>
            <a:ext cx="219456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65776" y="1133856"/>
            <a:ext cx="1965960" cy="107899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5776" y="1133856"/>
            <a:ext cx="196596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5504" y="1298448"/>
            <a:ext cx="1755648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50" b="1">
                <a:solidFill>
                  <a:srgbClr val="EA580C"/>
                </a:solidFill>
                <a:latin typeface="Microsoft YaHei"/>
              </a:defRPr>
            </a:pPr>
            <a:r>
              <a:rPr sz="1150" b="1">
                <a:solidFill>
                  <a:srgbClr val="EA580C"/>
                </a:solidFill>
                <a:latin typeface="Microsoft YaHei"/>
              </a:rPr>
              <a:t>LLM rule tree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1581912"/>
            <a:ext cx="1755648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Microsoft YaHei"/>
              </a:defRPr>
            </a:pPr>
            <a:r>
              <a:rPr sz="919" b="0">
                <a:solidFill>
                  <a:srgbClr val="64748B"/>
                </a:solidFill>
                <a:latin typeface="Microsoft YaHei"/>
              </a:rPr>
              <a:t>零样本规则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1792224"/>
            <a:ext cx="175564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wMAE 2.602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75504" y="1984248"/>
            <a:ext cx="1755648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bias -0.407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068312" y="1600200"/>
            <a:ext cx="219456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0" y="1133856"/>
            <a:ext cx="1965960" cy="107899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0" y="1133856"/>
            <a:ext cx="1965960" cy="5486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24927" y="1298448"/>
            <a:ext cx="1755648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50" b="1">
                <a:solidFill>
                  <a:srgbClr val="00796B"/>
                </a:solidFill>
                <a:latin typeface="Microsoft YaHei"/>
              </a:defRPr>
            </a:pPr>
            <a:r>
              <a:rPr sz="1150" b="1">
                <a:solidFill>
                  <a:srgbClr val="00796B"/>
                </a:solidFill>
                <a:latin typeface="Microsoft YaHei"/>
              </a:rPr>
              <a:t>Rule +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4927" y="1581912"/>
            <a:ext cx="1755648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Microsoft YaHei"/>
              </a:defRPr>
            </a:pPr>
            <a:r>
              <a:rPr sz="919" b="0">
                <a:solidFill>
                  <a:srgbClr val="64748B"/>
                </a:solidFill>
                <a:latin typeface="Microsoft YaHei"/>
              </a:rPr>
              <a:t>少量历史校准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4927" y="1792224"/>
            <a:ext cx="175564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wMAE 2.772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4927" y="1984248"/>
            <a:ext cx="1755648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bias +0.463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317736" y="1600200"/>
            <a:ext cx="219456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564624" y="1133856"/>
            <a:ext cx="1965960" cy="107899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4624" y="1133856"/>
            <a:ext cx="1965960" cy="54864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74351" y="1298448"/>
            <a:ext cx="1755648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50" b="1">
                <a:solidFill>
                  <a:srgbClr val="198754"/>
                </a:solidFill>
                <a:latin typeface="Microsoft YaHei"/>
              </a:defRPr>
            </a:pPr>
            <a:r>
              <a:rPr sz="1150" b="1">
                <a:solidFill>
                  <a:srgbClr val="198754"/>
                </a:solidFill>
                <a:latin typeface="Microsoft YaHei"/>
              </a:rPr>
              <a:t>Hybrid adapter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4351" y="1581912"/>
            <a:ext cx="1755648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Microsoft YaHei"/>
              </a:defRPr>
            </a:pPr>
            <a:r>
              <a:rPr sz="919" b="0">
                <a:solidFill>
                  <a:srgbClr val="64748B"/>
                </a:solidFill>
                <a:latin typeface="Microsoft YaHei"/>
              </a:rPr>
              <a:t>LLM 修正 XGBoost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4351" y="1792224"/>
            <a:ext cx="175564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wMAE 2.502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74351" y="1984248"/>
            <a:ext cx="1755648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bias -0.023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" y="2779776"/>
            <a:ext cx="1417320" cy="42062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2852928"/>
            <a:ext cx="134416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阶段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39112" y="2779776"/>
            <a:ext cx="2880360" cy="42062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75688" y="2852928"/>
            <a:ext cx="28072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核心假设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19472" y="2779776"/>
            <a:ext cx="2880360" cy="42062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56048" y="2852928"/>
            <a:ext cx="28072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最适合回答的问题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99831" y="2779776"/>
            <a:ext cx="2971800" cy="42062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36407" y="2852928"/>
            <a:ext cx="289864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本项目结论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" y="3200400"/>
            <a:ext cx="141732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" y="3264408"/>
            <a:ext cx="130759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Data-only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39112" y="3200400"/>
            <a:ext cx="2880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93976" y="3264408"/>
            <a:ext cx="2770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历史样本足够表达未来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19472" y="3200400"/>
            <a:ext cx="2880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74336" y="3264408"/>
            <a:ext cx="2770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常态年份迁移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99831" y="3200400"/>
            <a:ext cx="297180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54696" y="3264408"/>
            <a:ext cx="286207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2022 出现系统性高估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" y="3621024"/>
            <a:ext cx="141732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6656" y="3685032"/>
            <a:ext cx="130759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Pure LLM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39112" y="3621024"/>
            <a:ext cx="2880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93976" y="3685032"/>
            <a:ext cx="2770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预训练知识可直接预测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19472" y="3621024"/>
            <a:ext cx="2880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74336" y="3685032"/>
            <a:ext cx="2770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零样本方向判断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99831" y="3621024"/>
            <a:ext cx="297180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54696" y="3685032"/>
            <a:ext cx="286207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方向有用，数值校准不足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" y="4041648"/>
            <a:ext cx="141732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6656" y="4105656"/>
            <a:ext cx="130759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LLM rule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39112" y="4041648"/>
            <a:ext cx="2880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93976" y="4105656"/>
            <a:ext cx="2770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把常识蒸馏为规则树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19472" y="4041648"/>
            <a:ext cx="2880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74336" y="4105656"/>
            <a:ext cx="2770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老师追问的零样本 baseline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99831" y="4041648"/>
            <a:ext cx="297180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54696" y="4105656"/>
            <a:ext cx="286207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wMAE 2.602，弱于 hybrid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1792" y="4462272"/>
            <a:ext cx="141732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6656" y="4526280"/>
            <a:ext cx="130759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Rule + history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39112" y="4462272"/>
            <a:ext cx="2880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93976" y="4526280"/>
            <a:ext cx="2770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用少量历史标签校准规则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19472" y="4462272"/>
            <a:ext cx="2880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74336" y="4526280"/>
            <a:ext cx="2770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data-sparse / cold-start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99831" y="4462272"/>
            <a:ext cx="297180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54696" y="4526280"/>
            <a:ext cx="286207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合理桥梁，但不是本任务最优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" y="4882896"/>
            <a:ext cx="141732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76656" y="4946904"/>
            <a:ext cx="130759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Hybrid adapter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39112" y="4882896"/>
            <a:ext cx="2880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93976" y="4946904"/>
            <a:ext cx="2770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历史模型学 routine，LLM 学 target-year shift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19472" y="4882896"/>
            <a:ext cx="2880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974336" y="4946904"/>
            <a:ext cx="2770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目标年无标签模型修正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99831" y="4882896"/>
            <a:ext cx="297180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854696" y="4946904"/>
            <a:ext cx="286207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wMAE 2.502，bias 接近 0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49808" y="5650992"/>
            <a:ext cx="10012680" cy="6583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49808" y="5650992"/>
            <a:ext cx="50292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14400" y="5742431"/>
            <a:ext cx="972007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整合口径：模拟预测选择器负责 cold-start / sparse-data 条件下的快速候选预测；LLM-corrected XGBoost 负责有历史标签但目标年情境变化的主任务。二者是同一 temporal-adaptation framework 的两个分支。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4400" y="6099048"/>
            <a:ext cx="972007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selector branch handles sparse-data simulation, while the correction branch anchors routine mobility in historical survey labels and adapts it with LLM context priors.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冷启动选择器 / Selector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把同学方案纳入统一框架：LLM 不是逐条替代模型，而是提取预测路径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08 /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371600"/>
            <a:ext cx="2103120" cy="71323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43560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5B21B6"/>
                </a:solidFill>
                <a:latin typeface="Microsoft YaHei"/>
              </a:defRPr>
            </a:pPr>
            <a:r>
              <a:rPr sz="919" b="1">
                <a:solidFill>
                  <a:srgbClr val="5B21B6"/>
                </a:solidFill>
                <a:latin typeface="Microsoft YaHei"/>
              </a:rPr>
              <a:t>LLM rule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55064"/>
            <a:ext cx="1920239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从大模型提取可执行规则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71215" y="1627632"/>
            <a:ext cx="438912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371600"/>
            <a:ext cx="2103120" cy="71323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43560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2563EB"/>
                </a:solidFill>
                <a:latin typeface="Microsoft YaHei"/>
              </a:defRPr>
            </a:pPr>
            <a:r>
              <a:rPr sz="919" b="1">
                <a:solidFill>
                  <a:srgbClr val="2563EB"/>
                </a:solidFill>
                <a:latin typeface="Microsoft YaHei"/>
              </a:rPr>
              <a:t>Rule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655064"/>
            <a:ext cx="1920239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常规样本快速预测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32704" y="1627632"/>
            <a:ext cx="438912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1371600"/>
            <a:ext cx="2103120" cy="71323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3560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Confidence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655064"/>
            <a:ext cx="1920239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识别低置信或冲突样本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94192" y="1627632"/>
            <a:ext cx="438912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97696" y="1371600"/>
            <a:ext cx="2103120" cy="71323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143560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LLM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1655064"/>
            <a:ext cx="1920239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必要时再调用大模型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2834640"/>
            <a:ext cx="2011680" cy="530352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2907792"/>
            <a:ext cx="1938528" cy="40233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实验场景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2834640"/>
            <a:ext cx="3794760" cy="530352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25496" y="2907792"/>
            <a:ext cx="3721608" cy="40233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为什么需要 selector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834640"/>
            <a:ext cx="4069080" cy="530352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0256" y="2907792"/>
            <a:ext cx="3995928" cy="40233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证明什么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364992"/>
            <a:ext cx="201168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3" y="3429000"/>
            <a:ext cx="190195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数据稀疏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88920" y="3364992"/>
            <a:ext cx="379476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43784" y="3429000"/>
            <a:ext cx="368503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历史样本只有 100/500/1000 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364992"/>
            <a:ext cx="406908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38544" y="3429000"/>
            <a:ext cx="395935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LLM priors 可缓解 cold-start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895344"/>
            <a:ext cx="201168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3" y="3959352"/>
            <a:ext cx="190195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字段缺失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88920" y="3895344"/>
            <a:ext cx="379476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43784" y="3959352"/>
            <a:ext cx="368503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随机缺失 30%-70% 字段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895344"/>
            <a:ext cx="406908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38544" y="3959352"/>
            <a:ext cx="395935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规则/低置信机制比纯数据拟合更稳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4425696"/>
            <a:ext cx="201168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3" y="4489704"/>
            <a:ext cx="190195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新增因素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88920" y="4425696"/>
            <a:ext cx="379476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43784" y="4489704"/>
            <a:ext cx="368503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出现历史数据没有的新情境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425696"/>
            <a:ext cx="406908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38544" y="4489704"/>
            <a:ext cx="395935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需要 event-generalization 而不是只靠历史拟合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" y="5257800"/>
            <a:ext cx="9875520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" y="5257800"/>
            <a:ext cx="50292" cy="74980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8992" y="5349240"/>
            <a:ext cx="95829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它和我们的主方法如何统一？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" y="5705856"/>
            <a:ext cx="958291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Selector branch solves when to trust distilled rules or call an LLM; correction branch solves how to numerically calibrate household travel under a known target-year shift.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技术路线 / Technical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selector branch 处理冷启动，correction branch 处理目标年迁移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09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78992"/>
            <a:ext cx="214884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Microsoft YaHei"/>
              </a:defRPr>
            </a:pPr>
            <a:r>
              <a:rPr sz="950" b="1">
                <a:solidFill>
                  <a:srgbClr val="2563EB"/>
                </a:solidFill>
                <a:latin typeface="Microsoft YaHei"/>
              </a:rPr>
              <a:t>Historical routine branch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353312"/>
            <a:ext cx="1874519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1417320"/>
            <a:ext cx="172821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2563EB"/>
                </a:solidFill>
                <a:latin typeface="Microsoft YaHei"/>
              </a:defRPr>
            </a:pPr>
            <a:r>
              <a:rPr sz="919" b="1">
                <a:solidFill>
                  <a:srgbClr val="2563EB"/>
                </a:solidFill>
                <a:latin typeface="Microsoft YaHei"/>
              </a:rPr>
              <a:t>NHTS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636776"/>
            <a:ext cx="16916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2001 / 2009 / 2017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62072" y="1591056"/>
            <a:ext cx="347472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1353312"/>
            <a:ext cx="1874519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1417320"/>
            <a:ext cx="172821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2563EB"/>
                </a:solidFill>
                <a:latin typeface="Microsoft YaHei"/>
              </a:defRPr>
            </a:pPr>
            <a:r>
              <a:rPr sz="919" b="1">
                <a:solidFill>
                  <a:srgbClr val="2563EB"/>
                </a:solidFill>
                <a:latin typeface="Microsoft YaHei"/>
              </a:rPr>
              <a:t>Feature harmonization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1636776"/>
            <a:ext cx="16916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same household schema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85231" y="1591056"/>
            <a:ext cx="347472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0" y="1353312"/>
            <a:ext cx="1874519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1417320"/>
            <a:ext cx="172821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2563EB"/>
                </a:solidFill>
                <a:latin typeface="Microsoft YaHei"/>
              </a:defRPr>
            </a:pPr>
            <a:r>
              <a:rPr sz="919" b="1">
                <a:solidFill>
                  <a:srgbClr val="2563EB"/>
                </a:solidFill>
                <a:latin typeface="Microsoft YaHei"/>
              </a:rPr>
              <a:t>XGBoost CUDA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59" y="1636776"/>
            <a:ext cx="16916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learn f_hist(X)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359152"/>
            <a:ext cx="29718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50" b="1">
                <a:solidFill>
                  <a:srgbClr val="EA580C"/>
                </a:solidFill>
                <a:latin typeface="Microsoft YaHei"/>
              </a:defRPr>
            </a:pPr>
            <a:r>
              <a:rPr sz="950" b="1">
                <a:solidFill>
                  <a:srgbClr val="EA580C"/>
                </a:solidFill>
                <a:latin typeface="Microsoft YaHei"/>
              </a:rPr>
              <a:t>LLM context-prior / selector branch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2633472"/>
            <a:ext cx="1874519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2697479"/>
            <a:ext cx="172821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Target-year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916936"/>
            <a:ext cx="16916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aggregated households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862072" y="2871216"/>
            <a:ext cx="347472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37560" y="2633472"/>
            <a:ext cx="1874519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0712" y="2697479"/>
            <a:ext cx="172821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GPT-5.5 prompt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916936"/>
            <a:ext cx="16916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context + rule signals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285231" y="2871216"/>
            <a:ext cx="347472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60720" y="2633472"/>
            <a:ext cx="1874519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3872" y="2697479"/>
            <a:ext cx="172821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Validated priors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59" y="2916936"/>
            <a:ext cx="1691639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s_event + selector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730752"/>
            <a:ext cx="6995160" cy="107899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867912"/>
            <a:ext cx="20574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1">
                <a:solidFill>
                  <a:srgbClr val="198754"/>
                </a:solidFill>
                <a:latin typeface="Microsoft YaHei"/>
              </a:defRPr>
            </a:pPr>
            <a:r>
              <a:rPr sz="1000" b="1">
                <a:solidFill>
                  <a:srgbClr val="198754"/>
                </a:solidFill>
                <a:latin typeface="Microsoft YaHei"/>
              </a:rPr>
              <a:t>Two adaptation branches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3803904"/>
            <a:ext cx="4800600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ŷ_2022 = f_hist(X) × clip(1 − α × s_event, min_factor, 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215384"/>
            <a:ext cx="480060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19" b="0">
                <a:solidFill>
                  <a:srgbClr val="64748B"/>
                </a:solidFill>
                <a:latin typeface="Microsoft YaHei"/>
              </a:defRPr>
            </a:pPr>
            <a:r>
              <a:rPr sz="919" b="0">
                <a:solidFill>
                  <a:srgbClr val="64748B"/>
                </a:solidFill>
                <a:latin typeface="Microsoft YaHei"/>
              </a:rPr>
              <a:t>selector branch: LLM rules -&gt; confidence gate -&gt; optional 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4507992"/>
            <a:ext cx="480060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19" b="1">
                <a:solidFill>
                  <a:srgbClr val="BE123C"/>
                </a:solidFill>
                <a:latin typeface="Microsoft YaHei"/>
              </a:defRPr>
            </a:pPr>
            <a:r>
              <a:rPr sz="919" b="1">
                <a:solidFill>
                  <a:srgbClr val="BE123C"/>
                </a:solidFill>
                <a:latin typeface="Microsoft YaHei"/>
              </a:rPr>
              <a:t>target-year labels enter only here: final evaluation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126480" y="1965960"/>
            <a:ext cx="146304" cy="56692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6126480" y="3255264"/>
            <a:ext cx="146304" cy="40233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3749039"/>
            <a:ext cx="22860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1">
                <a:solidFill>
                  <a:srgbClr val="198754"/>
                </a:solidFill>
                <a:latin typeface="Microsoft YaHei"/>
              </a:defRPr>
            </a:pPr>
            <a:r>
              <a:rPr sz="1000" b="1">
                <a:solidFill>
                  <a:srgbClr val="198754"/>
                </a:solidFill>
                <a:latin typeface="Microsoft YaHei"/>
              </a:rPr>
              <a:t>Output behavior system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4069080"/>
            <a:ext cx="1874519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4133088"/>
            <a:ext cx="172821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Trip generation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352544"/>
            <a:ext cx="1691639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household CNTTDHH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0" y="4069080"/>
            <a:ext cx="14630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31552" y="4133088"/>
            <a:ext cx="131673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Mode shares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4352544"/>
            <a:ext cx="128016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transit signal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7699248" y="4187952"/>
            <a:ext cx="384048" cy="146304"/>
          </a:xfrm>
          <a:prstGeom prst="rightArrow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29600" y="1234440"/>
            <a:ext cx="2788920" cy="23774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200" y="1417320"/>
            <a:ext cx="23317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50" b="1">
                <a:solidFill>
                  <a:srgbClr val="BE123C"/>
                </a:solidFill>
                <a:latin typeface="Microsoft YaHei"/>
              </a:defRPr>
            </a:pPr>
            <a:r>
              <a:rPr sz="1050" b="1">
                <a:solidFill>
                  <a:srgbClr val="BE123C"/>
                </a:solidFill>
                <a:latin typeface="Microsoft YaHei"/>
              </a:rPr>
              <a:t>Leakage guardrails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1755648"/>
            <a:ext cx="1234440" cy="38404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49055" y="1828800"/>
            <a:ext cx="116128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禁止进入 LLM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46919" y="1755648"/>
            <a:ext cx="1234440" cy="38404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83495" y="1828800"/>
            <a:ext cx="116128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原因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2139696"/>
            <a:ext cx="1234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67344" y="2203703"/>
            <a:ext cx="11247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CNTTDHH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19" y="2139696"/>
            <a:ext cx="1234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01784" y="2203703"/>
            <a:ext cx="11247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目标标签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2523744"/>
            <a:ext cx="12344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67344" y="2587751"/>
            <a:ext cx="11247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WTHHFIN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46919" y="2523744"/>
            <a:ext cx="12344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01784" y="2587751"/>
            <a:ext cx="11247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样本权重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2480" y="2907791"/>
            <a:ext cx="1234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67344" y="2971799"/>
            <a:ext cx="11247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HOUSEID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46919" y="2907791"/>
            <a:ext cx="1234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01784" y="2971799"/>
            <a:ext cx="11247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个体标识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LLM 情境先验 / LLM Context Prior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从 cohort 描述生成结构化目标年响应变量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10 / 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078992"/>
            <a:ext cx="214884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152144"/>
            <a:ext cx="207568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LLM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0632" y="1078992"/>
            <a:ext cx="406908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1152144"/>
            <a:ext cx="399592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变量含义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9712" y="1078992"/>
            <a:ext cx="393192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1152144"/>
            <a:ext cx="385876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进入模型的位置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1463039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1527048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trip_suppression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0632" y="1463039"/>
            <a:ext cx="40690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496" y="1527048"/>
            <a:ext cx="39593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总体出行折减压力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9712" y="1463039"/>
            <a:ext cx="39319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94576" y="1527048"/>
            <a:ext cx="38221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修正 total trips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1847088"/>
            <a:ext cx="2148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1911095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remote_work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70632" y="1847088"/>
            <a:ext cx="406908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25496" y="1911095"/>
            <a:ext cx="39593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通勤被远程办公替代的可能性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39712" y="1847088"/>
            <a:ext cx="39319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4576" y="1911095"/>
            <a:ext cx="38221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解释出行下降来源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2231136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2295144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transit_avoidance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70632" y="2231136"/>
            <a:ext cx="40690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25496" y="2295144"/>
            <a:ext cx="39593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公共交通规避倾向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39712" y="2231136"/>
            <a:ext cx="39319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94576" y="2295144"/>
            <a:ext cx="38221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修正 transit share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" y="2615184"/>
            <a:ext cx="2148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2679191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delivery_substitution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70632" y="2615184"/>
            <a:ext cx="406908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25496" y="2679191"/>
            <a:ext cx="39593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购物/服务被线上替代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9712" y="2615184"/>
            <a:ext cx="39319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94576" y="2679191"/>
            <a:ext cx="38221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解释非通勤出行下降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" y="2999232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" y="3063240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recovery_sensitivity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70632" y="2999232"/>
            <a:ext cx="40690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25496" y="3063240"/>
            <a:ext cx="39593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恢复到常态出行的能力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39712" y="2999232"/>
            <a:ext cx="39319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94576" y="3063240"/>
            <a:ext cx="38221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刻画 rebound 差异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" y="3383280"/>
            <a:ext cx="2148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" y="3447288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confidence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70632" y="3383280"/>
            <a:ext cx="406908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25496" y="3447288"/>
            <a:ext cx="39593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LLM 对判断的自评置信度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39712" y="3383280"/>
            <a:ext cx="39319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94576" y="3447288"/>
            <a:ext cx="38221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质量检查信号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" y="4434840"/>
            <a:ext cx="470916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4" y="4507992"/>
            <a:ext cx="46360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LLM 输入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58968" y="4434840"/>
            <a:ext cx="470916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95544" y="4507992"/>
            <a:ext cx="46360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明确排除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8" y="4818888"/>
            <a:ext cx="47091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4882896"/>
            <a:ext cx="45994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cohort-level household profile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58968" y="4818888"/>
            <a:ext cx="47091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13832" y="4882896"/>
            <a:ext cx="45994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CNTTDHH / trip count label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8" y="5202936"/>
            <a:ext cx="47091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4671" y="5266944"/>
            <a:ext cx="45994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urban context, vehicles, workers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58968" y="5202936"/>
            <a:ext cx="47091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13832" y="5266944"/>
            <a:ext cx="45994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sample weights / household IDs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" y="5586983"/>
            <a:ext cx="47091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4671" y="5650992"/>
            <a:ext cx="45994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generic 2022 pandemic context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58968" y="5586983"/>
            <a:ext cx="47091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13832" y="5650992"/>
            <a:ext cx="45994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aggregate 2022 outcomes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对比体系 / Evaluation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传统模型、selector、纯 LLM 与 hybrid correction 逐层比较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11 / 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24128"/>
            <a:ext cx="1965960" cy="35661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088136"/>
            <a:ext cx="1892807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1448" y="1024128"/>
            <a:ext cx="914400" cy="35661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78024" y="1088136"/>
            <a:ext cx="8412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传统基线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1024128"/>
            <a:ext cx="822960" cy="35661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2424" y="1088136"/>
            <a:ext cx="74980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LLM先验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8808" y="1024128"/>
            <a:ext cx="868680" cy="35661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5384" y="1088136"/>
            <a:ext cx="79552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目标年标签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7488" y="1024128"/>
            <a:ext cx="4389120" cy="35661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1088136"/>
            <a:ext cx="431596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对比作用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6607" y="1024128"/>
            <a:ext cx="685800" cy="356616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3183" y="1088136"/>
            <a:ext cx="612648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wMAE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1380744"/>
            <a:ext cx="196596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1435608"/>
            <a:ext cx="1856231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Historical mean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1448" y="1380744"/>
            <a:ext cx="91440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87168" y="1435608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198754"/>
                </a:solidFill>
                <a:latin typeface="Microsoft YaHei"/>
              </a:defRPr>
            </a:pPr>
            <a:r>
              <a:rPr sz="1200" b="1">
                <a:solidFill>
                  <a:srgbClr val="198754"/>
                </a:solidFill>
                <a:latin typeface="Microsoft YaHei"/>
              </a:rPr>
              <a:t>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5848" y="1380744"/>
            <a:ext cx="82296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1568" y="1435608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78808" y="1380744"/>
            <a:ext cx="86868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24528" y="1435608"/>
            <a:ext cx="7772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47488" y="1380744"/>
            <a:ext cx="438912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2351" y="1435608"/>
            <a:ext cx="427939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只保留历史平均水平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36607" y="1380744"/>
            <a:ext cx="68580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91472" y="1435608"/>
            <a:ext cx="57607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5.51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" y="1737360"/>
            <a:ext cx="196596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1792224"/>
            <a:ext cx="1856231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41448" y="1737360"/>
            <a:ext cx="91440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87168" y="1792224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198754"/>
                </a:solidFill>
                <a:latin typeface="Microsoft YaHei"/>
              </a:defRPr>
            </a:pPr>
            <a:r>
              <a:rPr sz="1200" b="1">
                <a:solidFill>
                  <a:srgbClr val="198754"/>
                </a:solidFill>
                <a:latin typeface="Microsoft YaHei"/>
              </a:rPr>
              <a:t>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55848" y="1737360"/>
            <a:ext cx="82296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01568" y="1792224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78808" y="1737360"/>
            <a:ext cx="86868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24528" y="1792224"/>
            <a:ext cx="7772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47488" y="1737360"/>
            <a:ext cx="438912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02351" y="1792224"/>
            <a:ext cx="427939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传统方法：家庭属性 -&gt; 出行次数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36607" y="1737360"/>
            <a:ext cx="68580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91472" y="1792224"/>
            <a:ext cx="57607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4.34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" y="2093976"/>
            <a:ext cx="196596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2148840"/>
            <a:ext cx="1856231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Trend / indicator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41448" y="2093976"/>
            <a:ext cx="91440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87168" y="2148840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198754"/>
                </a:solidFill>
                <a:latin typeface="Microsoft YaHei"/>
              </a:defRPr>
            </a:pPr>
            <a:r>
              <a:rPr sz="1200" b="1">
                <a:solidFill>
                  <a:srgbClr val="198754"/>
                </a:solidFill>
                <a:latin typeface="Microsoft YaHei"/>
              </a:rPr>
              <a:t>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55848" y="2093976"/>
            <a:ext cx="82296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01568" y="2148840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78808" y="2093976"/>
            <a:ext cx="86868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24528" y="2148840"/>
            <a:ext cx="7772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47488" y="2093976"/>
            <a:ext cx="438912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02351" y="2148840"/>
            <a:ext cx="427939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统一趋势修正，不区分情境机制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36607" y="2093976"/>
            <a:ext cx="68580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2148840"/>
            <a:ext cx="57607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4.15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8" y="2450592"/>
            <a:ext cx="196596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" y="2505456"/>
            <a:ext cx="1856231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41448" y="2450592"/>
            <a:ext cx="91440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87168" y="2505456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55848" y="2450592"/>
            <a:ext cx="82296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01568" y="2505456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198754"/>
                </a:solidFill>
                <a:latin typeface="Microsoft YaHei"/>
              </a:defRPr>
            </a:pPr>
            <a:r>
              <a:rPr sz="1200" b="1">
                <a:solidFill>
                  <a:srgbClr val="198754"/>
                </a:solidFill>
                <a:latin typeface="Microsoft YaHei"/>
              </a:rPr>
              <a:t>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78808" y="2450592"/>
            <a:ext cx="86868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24528" y="2505456"/>
            <a:ext cx="7772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47488" y="2450592"/>
            <a:ext cx="438912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02351" y="2505456"/>
            <a:ext cx="427939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只有事件方向，缺少 household baseline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36607" y="2450592"/>
            <a:ext cx="68580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91472" y="2505456"/>
            <a:ext cx="57607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2.72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5488" y="2807208"/>
            <a:ext cx="196596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0352" y="2862072"/>
            <a:ext cx="1856231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Zero-shot rule tree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41448" y="2807208"/>
            <a:ext cx="91440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87168" y="2862072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55848" y="2807208"/>
            <a:ext cx="82296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01568" y="2862072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198754"/>
                </a:solidFill>
                <a:latin typeface="Microsoft YaHei"/>
              </a:defRPr>
            </a:pPr>
            <a:r>
              <a:rPr sz="1200" b="1">
                <a:solidFill>
                  <a:srgbClr val="198754"/>
                </a:solidFill>
                <a:latin typeface="Microsoft YaHei"/>
              </a:rPr>
              <a:t>●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78808" y="2807208"/>
            <a:ext cx="86868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24528" y="2862072"/>
            <a:ext cx="7772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47488" y="2807208"/>
            <a:ext cx="438912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02351" y="2862072"/>
            <a:ext cx="427939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LLM 直接构建规则树，无数值校准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436607" y="2807208"/>
            <a:ext cx="68580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491472" y="2862072"/>
            <a:ext cx="57607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2.60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5488" y="3163824"/>
            <a:ext cx="196596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0352" y="3218688"/>
            <a:ext cx="1856231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Rule + 500 history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41448" y="3163824"/>
            <a:ext cx="91440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487168" y="3218688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198754"/>
                </a:solidFill>
                <a:latin typeface="Microsoft YaHei"/>
              </a:defRPr>
            </a:pPr>
            <a:r>
              <a:rPr sz="1200" b="1">
                <a:solidFill>
                  <a:srgbClr val="198754"/>
                </a:solidFill>
                <a:latin typeface="Microsoft YaHei"/>
              </a:rPr>
              <a:t>●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355848" y="3163824"/>
            <a:ext cx="82296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401568" y="3218688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198754"/>
                </a:solidFill>
                <a:latin typeface="Microsoft YaHei"/>
              </a:defRPr>
            </a:pPr>
            <a:r>
              <a:rPr sz="1200" b="1">
                <a:solidFill>
                  <a:srgbClr val="198754"/>
                </a:solidFill>
                <a:latin typeface="Microsoft YaHei"/>
              </a:rPr>
              <a:t>●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78808" y="3163824"/>
            <a:ext cx="86868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24528" y="3218688"/>
            <a:ext cx="7772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47488" y="3163824"/>
            <a:ext cx="438912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102351" y="3218688"/>
            <a:ext cx="427939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LLM 规则 + 少量历史标签校准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436607" y="3163824"/>
            <a:ext cx="68580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491472" y="3218688"/>
            <a:ext cx="57607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2.77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5488" y="3520440"/>
            <a:ext cx="196596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30352" y="3575304"/>
            <a:ext cx="1856231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Global event rule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441448" y="3520440"/>
            <a:ext cx="91440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87168" y="3575304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198754"/>
                </a:solidFill>
                <a:latin typeface="Microsoft YaHei"/>
              </a:defRPr>
            </a:pPr>
            <a:r>
              <a:rPr sz="1200" b="1">
                <a:solidFill>
                  <a:srgbClr val="198754"/>
                </a:solidFill>
                <a:latin typeface="Microsoft YaHei"/>
              </a:rPr>
              <a:t>●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355848" y="3520440"/>
            <a:ext cx="82296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401568" y="3575304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178808" y="3520440"/>
            <a:ext cx="86868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224528" y="3575304"/>
            <a:ext cx="7772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47488" y="3520440"/>
            <a:ext cx="438912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102351" y="3575304"/>
            <a:ext cx="427939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所有家庭使用同一目标年折减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436607" y="3520440"/>
            <a:ext cx="68580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91472" y="3575304"/>
            <a:ext cx="57607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2.52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75488" y="3877056"/>
            <a:ext cx="196596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30352" y="3931920"/>
            <a:ext cx="1856231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Random pressure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441448" y="3877056"/>
            <a:ext cx="91440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487168" y="3931920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198754"/>
                </a:solidFill>
                <a:latin typeface="Microsoft YaHei"/>
              </a:defRPr>
            </a:pPr>
            <a:r>
              <a:rPr sz="1200" b="1">
                <a:solidFill>
                  <a:srgbClr val="198754"/>
                </a:solidFill>
                <a:latin typeface="Microsoft YaHei"/>
              </a:rPr>
              <a:t>●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355848" y="3877056"/>
            <a:ext cx="82296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401568" y="3931920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178808" y="3877056"/>
            <a:ext cx="86868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224528" y="3931920"/>
            <a:ext cx="7772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47488" y="3877056"/>
            <a:ext cx="438912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102351" y="3931920"/>
            <a:ext cx="427939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随机 pressure 对照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436607" y="3877056"/>
            <a:ext cx="685800" cy="35661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491472" y="3931920"/>
            <a:ext cx="57607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1050" b="0">
                <a:solidFill>
                  <a:srgbClr val="0F172A"/>
                </a:solidFill>
                <a:latin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</a:rPr>
              <a:t>2.65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75488" y="4233672"/>
            <a:ext cx="196596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0352" y="4288536"/>
            <a:ext cx="1856231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441448" y="4233672"/>
            <a:ext cx="91440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487168" y="4288536"/>
            <a:ext cx="82296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198754"/>
                </a:solidFill>
                <a:latin typeface="Microsoft YaHei"/>
              </a:defRPr>
            </a:pPr>
            <a:r>
              <a:rPr sz="1200" b="1">
                <a:solidFill>
                  <a:srgbClr val="198754"/>
                </a:solidFill>
                <a:latin typeface="Microsoft YaHei"/>
              </a:rPr>
              <a:t>●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355848" y="4233672"/>
            <a:ext cx="82296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401568" y="4288536"/>
            <a:ext cx="73152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198754"/>
                </a:solidFill>
                <a:latin typeface="Microsoft YaHei"/>
              </a:defRPr>
            </a:pPr>
            <a:r>
              <a:rPr sz="1200" b="1">
                <a:solidFill>
                  <a:srgbClr val="198754"/>
                </a:solidFill>
                <a:latin typeface="Microsoft YaHei"/>
              </a:rPr>
              <a:t>●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178808" y="4233672"/>
            <a:ext cx="86868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224528" y="4288536"/>
            <a:ext cx="77724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×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47488" y="4233672"/>
            <a:ext cx="438912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102351" y="4288536"/>
            <a:ext cx="427939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历史基线 × LLM 事件折减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436607" y="4233672"/>
            <a:ext cx="685800" cy="35661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491472" y="4288536"/>
            <a:ext cx="576072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2.50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94360" y="4736592"/>
            <a:ext cx="338328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</a:rPr>
              <a:t>● 使用 / used    × 不使用 / not used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49808" y="4983480"/>
            <a:ext cx="10012680" cy="1042415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49808" y="4983480"/>
            <a:ext cx="50292" cy="1042415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14400" y="5074920"/>
            <a:ext cx="9720072" cy="37526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对比逻辑：LLM 直接构树能给出事件方向，但缺少历史行为的数值锚点；小样本规则校准仍偏高估。主方法保留 household baseline，再用 LLM 事件先验做无标签修正。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4400" y="5514197"/>
            <a:ext cx="9720072" cy="43854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comparison isolates household grounding, zero-shot rule priors, small historical calibration, and the final gated event adapter.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主结果 / Main Trip-Count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Hybrid adapters reduce error while controlling bias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12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101852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Historical mean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52144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152144"/>
            <a:ext cx="2729917" cy="1554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109728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5.51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496187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546479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1546479"/>
            <a:ext cx="2148456" cy="15544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491615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BE123C"/>
                </a:solidFill>
                <a:latin typeface="Microsoft YaHei"/>
              </a:defRPr>
            </a:pPr>
            <a:r>
              <a:rPr sz="800" b="1">
                <a:solidFill>
                  <a:srgbClr val="BE123C"/>
                </a:solidFill>
                <a:latin typeface="Microsoft YaHei"/>
              </a:rPr>
              <a:t>4.34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1890522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Trend / indicator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1940814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1940814"/>
            <a:ext cx="2055717" cy="1554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88595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EA580C"/>
                </a:solidFill>
                <a:latin typeface="Microsoft YaHei"/>
              </a:defRPr>
            </a:pPr>
            <a:r>
              <a:rPr sz="800" b="1">
                <a:solidFill>
                  <a:srgbClr val="EA580C"/>
                </a:solidFill>
                <a:latin typeface="Microsoft YaHei"/>
              </a:rPr>
              <a:t>4.15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284857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335149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0" y="2335149"/>
            <a:ext cx="1345984" cy="15544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280285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5B21B6"/>
                </a:solidFill>
                <a:latin typeface="Microsoft YaHei"/>
              </a:defRPr>
            </a:pPr>
            <a:r>
              <a:rPr sz="800" b="1">
                <a:solidFill>
                  <a:srgbClr val="5B21B6"/>
                </a:solidFill>
                <a:latin typeface="Microsoft YaHei"/>
              </a:rPr>
              <a:t>2.72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679192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Zero-shot rule tree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729484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0" y="2729484"/>
            <a:ext cx="1288744" cy="155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26746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2563EB"/>
                </a:solidFill>
                <a:latin typeface="Microsoft YaHei"/>
              </a:defRPr>
            </a:pPr>
            <a:r>
              <a:rPr sz="800" b="1">
                <a:solidFill>
                  <a:srgbClr val="2563EB"/>
                </a:solidFill>
                <a:latin typeface="Microsoft YaHei"/>
              </a:rPr>
              <a:t>2.60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073526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Rule + 500 history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123819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0" y="3123819"/>
            <a:ext cx="1373131" cy="1554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3068954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EA580C"/>
                </a:solidFill>
                <a:latin typeface="Microsoft YaHei"/>
              </a:defRPr>
            </a:pPr>
            <a:r>
              <a:rPr sz="800" b="1">
                <a:solidFill>
                  <a:srgbClr val="EA580C"/>
                </a:solidFill>
                <a:latin typeface="Microsoft YaHei"/>
              </a:rPr>
              <a:t>2.77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467862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Global event rule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3518154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0" y="3518154"/>
            <a:ext cx="1249310" cy="1554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346329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00796B"/>
                </a:solidFill>
                <a:latin typeface="Microsoft YaHei"/>
              </a:defRPr>
            </a:pPr>
            <a:r>
              <a:rPr sz="800" b="1">
                <a:solidFill>
                  <a:srgbClr val="00796B"/>
                </a:solidFill>
                <a:latin typeface="Microsoft YaHei"/>
              </a:rPr>
              <a:t>2.52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3862197"/>
            <a:ext cx="2057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  <a:latin typeface="Microsoft YaHei"/>
              </a:defRPr>
            </a:pPr>
            <a:r>
              <a:rPr sz="780" b="0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912489"/>
            <a:ext cx="2971800" cy="155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0" y="3912489"/>
            <a:ext cx="1239379" cy="1554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3857625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198754"/>
                </a:solidFill>
                <a:latin typeface="Microsoft YaHei"/>
              </a:defRPr>
            </a:pPr>
            <a:r>
              <a:rPr sz="800" b="1">
                <a:solidFill>
                  <a:srgbClr val="198754"/>
                </a:solidFill>
                <a:latin typeface="Microsoft YaHei"/>
              </a:rPr>
              <a:t>2.50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1078992"/>
            <a:ext cx="1874519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74536" y="1152144"/>
            <a:ext cx="1801367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Method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1078992"/>
            <a:ext cx="82296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49055" y="1152144"/>
            <a:ext cx="7498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wMAE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35440" y="1078992"/>
            <a:ext cx="82296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72015" y="1152144"/>
            <a:ext cx="7498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wBias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58400" y="1078992"/>
            <a:ext cx="73152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94976" y="1152144"/>
            <a:ext cx="65836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wR2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60" y="1463039"/>
            <a:ext cx="18745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92824" y="1527048"/>
            <a:ext cx="17647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1463039"/>
            <a:ext cx="8229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67344" y="1527048"/>
            <a:ext cx="7132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4.338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1463039"/>
            <a:ext cx="8229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90304" y="1527048"/>
            <a:ext cx="7132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+3.605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0" y="1463039"/>
            <a:ext cx="7315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13264" y="1527048"/>
            <a:ext cx="62179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-0.637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60" y="1847088"/>
            <a:ext cx="1874519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92824" y="1911095"/>
            <a:ext cx="17647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CatBoost GPU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12480" y="1847088"/>
            <a:ext cx="8229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67344" y="1911095"/>
            <a:ext cx="7132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4.220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35440" y="1847088"/>
            <a:ext cx="8229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90304" y="1911095"/>
            <a:ext cx="7132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+3.487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0" y="1847088"/>
            <a:ext cx="7315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13264" y="1911095"/>
            <a:ext cx="62179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-0.571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60" y="2231136"/>
            <a:ext cx="18745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92824" y="2295144"/>
            <a:ext cx="17647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12480" y="2231136"/>
            <a:ext cx="8229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67344" y="2295144"/>
            <a:ext cx="7132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2.718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35440" y="2231136"/>
            <a:ext cx="8229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90304" y="2295144"/>
            <a:ext cx="7132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-0.373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0" y="2231136"/>
            <a:ext cx="7315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13264" y="2295144"/>
            <a:ext cx="62179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0.079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60" y="2615184"/>
            <a:ext cx="1874519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92824" y="2679191"/>
            <a:ext cx="17647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Zero-shot tree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12480" y="2615184"/>
            <a:ext cx="8229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67344" y="2679191"/>
            <a:ext cx="7132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2.602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235440" y="2615184"/>
            <a:ext cx="8229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90304" y="2679191"/>
            <a:ext cx="7132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-0.407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58400" y="2615184"/>
            <a:ext cx="7315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13264" y="2679191"/>
            <a:ext cx="62179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0.151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37960" y="2999232"/>
            <a:ext cx="18745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92824" y="3063240"/>
            <a:ext cx="17647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Rule + 500 hist.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12480" y="2999232"/>
            <a:ext cx="8229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67344" y="3063240"/>
            <a:ext cx="7132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2.772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35440" y="2999232"/>
            <a:ext cx="8229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90304" y="3063240"/>
            <a:ext cx="7132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+0.463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58400" y="2999232"/>
            <a:ext cx="7315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113264" y="3063240"/>
            <a:ext cx="62179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0.154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37960" y="3383280"/>
            <a:ext cx="1874519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92824" y="3447288"/>
            <a:ext cx="176479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412480" y="3383280"/>
            <a:ext cx="8229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67344" y="3447288"/>
            <a:ext cx="7132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2.502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235440" y="3383280"/>
            <a:ext cx="8229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90304" y="3447288"/>
            <a:ext cx="7132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-0.023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058400" y="3383280"/>
            <a:ext cx="7315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113264" y="3447288"/>
            <a:ext cx="62179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0.248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547104" y="3950208"/>
            <a:ext cx="1874519" cy="65836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547104" y="3950208"/>
            <a:ext cx="50292" cy="65836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675120" y="4023360"/>
            <a:ext cx="16550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MAE reduction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75120" y="4197096"/>
            <a:ext cx="16550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-42.3%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75120" y="4507992"/>
            <a:ext cx="16550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primary vs XGBoost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641080" y="3950208"/>
            <a:ext cx="1874519" cy="65836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641080" y="3950208"/>
            <a:ext cx="50292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769096" y="4023360"/>
            <a:ext cx="16550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Bias reduction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69096" y="4197096"/>
            <a:ext cx="16550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-99.4%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69096" y="4507992"/>
            <a:ext cx="16550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absolute weighted bias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49808" y="4892040"/>
            <a:ext cx="1001268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49808" y="4892040"/>
            <a:ext cx="50292" cy="11155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14400" y="4983479"/>
            <a:ext cx="9720072" cy="4016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CatBoost GPU、zero-shot LLM rule tree 和少量历史校准规则都没有超过主方法；加入 gated event adapter 后，wMAE 降到 2.50，bias 接近 0。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5449092"/>
            <a:ext cx="9720072" cy="485363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main adapter outperforms stronger tabular, zero-shot rule-tree, and small-data calibration baselines while removing most systematic bias.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统计验证 / Statistical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用 household bootstrap 给主结果加不确定性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13 / 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143000"/>
            <a:ext cx="2468880" cy="5303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216152"/>
            <a:ext cx="2395728" cy="40233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1143000"/>
            <a:ext cx="1600200" cy="5303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1216152"/>
            <a:ext cx="1527048" cy="40233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1143000"/>
            <a:ext cx="2834640" cy="5303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216152"/>
            <a:ext cx="2761488" cy="40233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95% 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1673352"/>
            <a:ext cx="246888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1737360"/>
            <a:ext cx="235915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Baseline wMAE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82112" y="1673352"/>
            <a:ext cx="160020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36976" y="1737360"/>
            <a:ext cx="14904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4.338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82312" y="1673352"/>
            <a:ext cx="283464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7176" y="1737360"/>
            <a:ext cx="272491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[4.242, 4.431]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2203704"/>
            <a:ext cx="246888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2267712"/>
            <a:ext cx="235915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Hybrid wMAE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2112" y="2203704"/>
            <a:ext cx="16002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36976" y="2267712"/>
            <a:ext cx="14904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2.502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82312" y="2203704"/>
            <a:ext cx="283464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2267712"/>
            <a:ext cx="272491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[2.429, 2.581]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2734056"/>
            <a:ext cx="246888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2798063"/>
            <a:ext cx="235915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Hybrid bias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82112" y="2734056"/>
            <a:ext cx="160020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36976" y="2798063"/>
            <a:ext cx="14904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-0.023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82312" y="2734056"/>
            <a:ext cx="283464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37176" y="2798063"/>
            <a:ext cx="272491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[-0.130, +0.088]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3264408"/>
            <a:ext cx="246888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3328415"/>
            <a:ext cx="235915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Within 2 trips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82112" y="3264408"/>
            <a:ext cx="16002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36976" y="3328415"/>
            <a:ext cx="14904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54.0%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82312" y="3264408"/>
            <a:ext cx="283464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37176" y="3328415"/>
            <a:ext cx="272491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[52.6%, 55.3%]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35240" y="1234440"/>
            <a:ext cx="2514600" cy="8412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35240" y="1234440"/>
            <a:ext cx="50292" cy="8412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63256" y="1307592"/>
            <a:ext cx="229514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MAE gain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63256" y="1481328"/>
            <a:ext cx="229514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1.84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63256" y="1792224"/>
            <a:ext cx="229514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CI [1.74, 1.93]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2331720"/>
            <a:ext cx="2514600" cy="8412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35240" y="2331720"/>
            <a:ext cx="5029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63256" y="2404872"/>
            <a:ext cx="229514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Bias gain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63256" y="2578608"/>
            <a:ext cx="229514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3.56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63256" y="2889503"/>
            <a:ext cx="229514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CI [3.36, 3.67]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808" y="4754880"/>
            <a:ext cx="10012680" cy="10515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9808" y="4754880"/>
            <a:ext cx="50292" cy="10515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4846320"/>
            <a:ext cx="9720072" cy="37856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Bootstrap 结果说明：主方法的 MAE 改善和 bias 改善不是单个点估计的偶然波动，paired CI 保持为正。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288889"/>
            <a:ext cx="9720072" cy="44439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paired confidence intervals remain positive, supporting the robustness of the event-adaptation gain.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误差与偏差权衡 / Error-Bias Tradeoff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横轴是 |bias|，纵轴是 wMAE，越靠左下越好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14 / 25</a:t>
            </a:r>
          </a:p>
        </p:txBody>
      </p:sp>
      <p:pic>
        <p:nvPicPr>
          <p:cNvPr id="11" name="Picture 10" descr="mae_bias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70432"/>
            <a:ext cx="6172200" cy="362812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086600" y="1298448"/>
            <a:ext cx="3749039" cy="144475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1298448"/>
            <a:ext cx="50292" cy="144475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1389888"/>
            <a:ext cx="3456432" cy="42062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Hybrid 位于低误差、低偏差区域；普通 XGBoost 的偏差较大，说明 2022 的整体高估不能只靠家庭表格变量解决。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1874519"/>
            <a:ext cx="3456432" cy="7955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hybrid method moves toward lower error and near-zero bias; the ordinary supervised baseline keeps a clear positive shift.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2852928"/>
            <a:ext cx="132588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176" y="2926080"/>
            <a:ext cx="125272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读图方式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852928"/>
            <a:ext cx="283464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5" y="2926080"/>
            <a:ext cx="276148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含义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3236976"/>
            <a:ext cx="13258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1464" y="3300984"/>
            <a:ext cx="12161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横轴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3236976"/>
            <a:ext cx="28346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3300984"/>
            <a:ext cx="27249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越接近 0，系统性偏差越小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3621024"/>
            <a:ext cx="132588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41464" y="3685032"/>
            <a:ext cx="12161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纵轴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621024"/>
            <a:ext cx="28346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7344" y="3685032"/>
            <a:ext cx="27249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越低，家庭出行次数误差越小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4005072"/>
            <a:ext cx="13258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41464" y="4069080"/>
            <a:ext cx="12161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点大小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4005072"/>
            <a:ext cx="28346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4" y="4069080"/>
            <a:ext cx="27249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代表 weighted RMSE，反映大误差风险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4389120"/>
            <a:ext cx="132588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41464" y="4453128"/>
            <a:ext cx="12161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Hybrid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4389120"/>
            <a:ext cx="28346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4453128"/>
            <a:ext cx="27249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位于低误差、低偏差区域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多目标选择 / Multi-Objective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从单一排行榜转向规划目标下的 operating point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15 / 25</a:t>
            </a:r>
          </a:p>
        </p:txBody>
      </p:sp>
      <p:pic>
        <p:nvPicPr>
          <p:cNvPr id="11" name="Picture 10" descr="trip_pareto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78992"/>
            <a:ext cx="5394960" cy="3300446"/>
          </a:xfrm>
          <a:prstGeom prst="rect">
            <a:avLst/>
          </a:prstGeom>
        </p:spPr>
      </p:pic>
      <p:pic>
        <p:nvPicPr>
          <p:cNvPr id="12" name="Picture 11" descr="behavior_system_improv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097280"/>
            <a:ext cx="5074920" cy="286583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49808" y="4572000"/>
            <a:ext cx="1508760" cy="3931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645152"/>
            <a:ext cx="1435607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Preference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58568" y="4572000"/>
            <a:ext cx="1965960" cy="3931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95144" y="4645152"/>
            <a:ext cx="1892807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Selected method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4572000"/>
            <a:ext cx="731520" cy="3931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1104" y="4645152"/>
            <a:ext cx="658368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wMAE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4572000"/>
            <a:ext cx="731520" cy="3931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2624" y="4645152"/>
            <a:ext cx="658368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|bias|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87568" y="4572000"/>
            <a:ext cx="822960" cy="3931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4645152"/>
            <a:ext cx="749808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LLM req.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4965192"/>
            <a:ext cx="150876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5029200"/>
            <a:ext cx="139903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Calibration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58568" y="4965192"/>
            <a:ext cx="196596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13432" y="5029200"/>
            <a:ext cx="185623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Gated LLM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4528" y="4965192"/>
            <a:ext cx="7315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5029200"/>
            <a:ext cx="62179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2.502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56048" y="4965192"/>
            <a:ext cx="7315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0912" y="5029200"/>
            <a:ext cx="62179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0.023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87568" y="4965192"/>
            <a:ext cx="82296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42432" y="5029200"/>
            <a:ext cx="71323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89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5358384"/>
            <a:ext cx="150876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" y="5422392"/>
            <a:ext cx="139903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Balanced / main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58568" y="5358384"/>
            <a:ext cx="196596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13432" y="5422392"/>
            <a:ext cx="185623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Gated LLM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24528" y="5358384"/>
            <a:ext cx="73152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9392" y="5422392"/>
            <a:ext cx="62179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2.502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56048" y="5358384"/>
            <a:ext cx="73152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10912" y="5422392"/>
            <a:ext cx="62179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0.023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87568" y="5358384"/>
            <a:ext cx="82296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42432" y="5422392"/>
            <a:ext cx="71323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89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5751576"/>
            <a:ext cx="150876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1" y="5815584"/>
            <a:ext cx="139903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Low-cost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58568" y="5751576"/>
            <a:ext cx="196596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13432" y="5815584"/>
            <a:ext cx="185623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Global prior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24528" y="5751576"/>
            <a:ext cx="7315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79392" y="5815584"/>
            <a:ext cx="62179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2.553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56048" y="5751576"/>
            <a:ext cx="7315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10912" y="5815584"/>
            <a:ext cx="62179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0.123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87568" y="5751576"/>
            <a:ext cx="82296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42432" y="5815584"/>
            <a:ext cx="71323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60920" y="4736592"/>
            <a:ext cx="3749039" cy="9144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60920" y="4736592"/>
            <a:ext cx="50292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25512" y="4828031"/>
            <a:ext cx="345643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关键讲法：LLM 不是直接报一个答案，而是把事件机制转成候选修正；最终由规划目标选择 Pareto operating point。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25512" y="5221224"/>
            <a:ext cx="3456432" cy="3566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Key message: LLM supplies event mechanisms; the solver selects a planning operating point.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误差分布与容忍度 / Error Distribution and Tolerance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误差分布看系统性高估，容忍曲线看 household-level 可用性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16 / 25</a:t>
            </a:r>
          </a:p>
        </p:txBody>
      </p:sp>
      <p:pic>
        <p:nvPicPr>
          <p:cNvPr id="11" name="Picture 10" descr="erro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5349240" cy="3420345"/>
          </a:xfrm>
          <a:prstGeom prst="rect">
            <a:avLst/>
          </a:prstGeom>
        </p:spPr>
      </p:pic>
      <p:pic>
        <p:nvPicPr>
          <p:cNvPr id="12" name="Picture 11" descr="tolerance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97280"/>
            <a:ext cx="5166360" cy="336627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7240" y="5074920"/>
            <a:ext cx="10012680" cy="109728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074920"/>
            <a:ext cx="50292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166359"/>
            <a:ext cx="9720072" cy="3950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传统监督模型误差分布整体偏正，说明它系统性高估 2022 出行；事件修正后误差更集中，容忍阈值内覆盖率更高。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5625388"/>
            <a:ext cx="9720072" cy="47365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traditional supervised baseline overpredicts many households; event correction shifts errors closer to zero and improves tolerance-level coverage.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情境影响异质性 / Event Heterogeneity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pressure 分层和先验相关性检验时序机制是否合理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17 / 25</a:t>
            </a:r>
          </a:p>
        </p:txBody>
      </p:sp>
      <p:pic>
        <p:nvPicPr>
          <p:cNvPr id="11" name="Picture 10" descr="pressure_quintile_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5349240" cy="3550665"/>
          </a:xfrm>
          <a:prstGeom prst="rect">
            <a:avLst/>
          </a:prstGeom>
        </p:spPr>
      </p:pic>
      <p:pic>
        <p:nvPicPr>
          <p:cNvPr id="12" name="Picture 11" descr="event_prior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33271"/>
            <a:ext cx="4526280" cy="401290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7240" y="5138928"/>
            <a:ext cx="10012680" cy="10058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138928"/>
            <a:ext cx="50292" cy="10058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230368"/>
            <a:ext cx="9720072" cy="36210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LLM pressure 与目标年机制相符：高 pressure 组需要更强出行折减，remote work、transit avoidance 等先验之间也呈现可解释相关。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5656478"/>
            <a:ext cx="9720072" cy="4151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LLM priors behave like event variables, with pressure strata and prior correlations matching target-year mobility mechanisms.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稳健性检验 / Robustness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随机置换检验 LLM pressure 是否包含真实排序信息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18 / 25</a:t>
            </a:r>
          </a:p>
        </p:txBody>
      </p:sp>
      <p:pic>
        <p:nvPicPr>
          <p:cNvPr id="11" name="Picture 10" descr="permutation_null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15568"/>
            <a:ext cx="5669280" cy="363668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234440"/>
            <a:ext cx="4069080" cy="14630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1234440"/>
            <a:ext cx="50292" cy="14630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1325880"/>
            <a:ext cx="3776472" cy="42062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真实 LLM pressure 的误差低于 500 次随机分配；同时 global pressure 也很强，说明主贡献是目标年事件层面的修正，cohort 排序是增量信息。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810512"/>
            <a:ext cx="3776472" cy="8138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Real LLM pressure beats random assignment, while the strong global baseline shows that the main signal is event-level correction.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2971800"/>
            <a:ext cx="182880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8856" y="3044952"/>
            <a:ext cx="175564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可能被问到的问题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2971800"/>
            <a:ext cx="251460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77655" y="3044952"/>
            <a:ext cx="244144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我们的回答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3355848"/>
            <a:ext cx="18288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7144" y="3419856"/>
            <a:ext cx="17190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global rule 是否已经足够？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3355848"/>
            <a:ext cx="25146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95944" y="3419856"/>
            <a:ext cx="24048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它很强；LLM 排序提供增量价值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3739896"/>
            <a:ext cx="18288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67144" y="3803904"/>
            <a:ext cx="17190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是否用了 2022 标签？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3739896"/>
            <a:ext cx="25146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95944" y="3803904"/>
            <a:ext cx="24048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LLM 输入排除目标值、权重和 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4123944"/>
            <a:ext cx="18288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67144" y="4187952"/>
            <a:ext cx="17190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LLM 能否替代传统模型？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4123944"/>
            <a:ext cx="25146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4187952"/>
            <a:ext cx="24048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不能；hybrid 明显更稳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4507992"/>
            <a:ext cx="18288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67144" y="4572000"/>
            <a:ext cx="17190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是否只是通用下调？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4507992"/>
            <a:ext cx="25146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5944" y="4572000"/>
            <a:ext cx="24048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pre-COVID placebo 中 full suppression 会过度修正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分组稳健性 / Equity-Aware Subgroup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比较不同家庭群体中的 MAE 改善与 worst-subgroup error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19 / 25</a:t>
            </a:r>
          </a:p>
        </p:txBody>
      </p:sp>
      <p:pic>
        <p:nvPicPr>
          <p:cNvPr id="11" name="Picture 10" descr="subgroup_gain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43000"/>
            <a:ext cx="6035040" cy="363640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95160" y="1261872"/>
            <a:ext cx="3886200" cy="144475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5160" y="1261872"/>
            <a:ext cx="50292" cy="14447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1353312"/>
            <a:ext cx="3593592" cy="42062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分组结果显示，改进不只来自总体均值；worst-subgroup wMAE 从 8.38 降到 4.71，所有纳入分组均优于历史 XGBoost。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837943"/>
            <a:ext cx="3593592" cy="7955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Worst-subgroup wMAE drops from 8.38 to 4.71, and all evaluated subgroups improve over historical XGBoost.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2880360"/>
            <a:ext cx="160020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31736" y="2953512"/>
            <a:ext cx="152704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汇报时怎么讲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2880360"/>
            <a:ext cx="242316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31936" y="2953512"/>
            <a:ext cx="23500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注意边界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3264408"/>
            <a:ext cx="16002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0024" y="3328415"/>
            <a:ext cx="14904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预测层面 equity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3264408"/>
            <a:ext cx="24231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0224" y="3328415"/>
            <a:ext cx="23134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worst-subgroup error 下降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3648456"/>
            <a:ext cx="16002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0024" y="3712463"/>
            <a:ext cx="14904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注意表述边界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3648456"/>
            <a:ext cx="24231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0224" y="3712463"/>
            <a:ext cx="23134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不是因果公平性结论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5160" y="4032504"/>
            <a:ext cx="16002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0024" y="4096512"/>
            <a:ext cx="14904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联系规划含义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4032504"/>
            <a:ext cx="24231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50224" y="4096512"/>
            <a:ext cx="23134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识别更难预测的家庭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误差洞察 / Error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主收益来自消除 target-year over-prediction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20 /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170432"/>
            <a:ext cx="224028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170432"/>
            <a:ext cx="502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243584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Exact rounded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1417320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17.7%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1728216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household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82112" y="1170432"/>
            <a:ext cx="224028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82112" y="1170432"/>
            <a:ext cx="50292" cy="822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243584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Within 2 trips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417320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54.5%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practical tolerance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78424" y="1170432"/>
            <a:ext cx="224028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78424" y="1170432"/>
            <a:ext cx="5029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1243584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Within 3 trips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1417320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71.2%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1728216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broad tolerance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4736" y="1170432"/>
            <a:ext cx="224028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1170432"/>
            <a:ext cx="50292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1243584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Weighted R2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1417320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0.248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1728216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primary gated rule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2514600"/>
            <a:ext cx="21031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0796B"/>
                </a:solidFill>
                <a:latin typeface="Microsoft YaHei"/>
              </a:defRPr>
            </a:pPr>
            <a:r>
              <a:rPr sz="1050" b="1">
                <a:solidFill>
                  <a:srgbClr val="00796B"/>
                </a:solidFill>
                <a:latin typeface="Microsoft YaHei"/>
              </a:rPr>
              <a:t>Weighted bias comparison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74796" y="2852928"/>
            <a:ext cx="13716" cy="21488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5068" y="5020056"/>
            <a:ext cx="219456" cy="137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  <a:latin typeface="Microsoft YaHei"/>
              </a:defRPr>
            </a:pPr>
            <a:r>
              <a:rPr sz="700" b="1">
                <a:solidFill>
                  <a:srgbClr val="64748B"/>
                </a:solidFill>
                <a:latin typeface="Microsoft YaHei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2990088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Historical mean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74796" y="3017520"/>
            <a:ext cx="1967165" cy="1371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41962" y="2980944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+4.50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3429000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74796" y="3456432"/>
            <a:ext cx="1576177" cy="1371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0974" y="3419856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BE123C"/>
                </a:solidFill>
                <a:latin typeface="Microsoft YaHei"/>
              </a:defRPr>
            </a:pPr>
            <a:r>
              <a:rPr sz="750" b="1">
                <a:solidFill>
                  <a:srgbClr val="BE123C"/>
                </a:solidFill>
                <a:latin typeface="Microsoft YaHei"/>
              </a:rPr>
              <a:t>+3.61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867911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Trend / indicator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74796" y="3895344"/>
            <a:ext cx="1463936" cy="137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8733" y="3858768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EA580C"/>
                </a:solidFill>
                <a:latin typeface="Microsoft YaHei"/>
              </a:defRPr>
            </a:pPr>
            <a:r>
              <a:rPr sz="750" b="1">
                <a:solidFill>
                  <a:srgbClr val="EA580C"/>
                </a:solidFill>
                <a:latin typeface="Microsoft YaHei"/>
              </a:rPr>
              <a:t>+3.35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4306824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11613" y="4334256"/>
            <a:ext cx="163183" cy="1371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54413" y="4297680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5B21B6"/>
                </a:solidFill>
                <a:latin typeface="Microsoft YaHei"/>
              </a:defRPr>
            </a:pPr>
            <a:r>
              <a:rPr sz="750" b="1">
                <a:solidFill>
                  <a:srgbClr val="5B21B6"/>
                </a:solidFill>
                <a:latin typeface="Microsoft YaHei"/>
              </a:rPr>
              <a:t>-0.37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4745736"/>
            <a:ext cx="141732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0F172A"/>
                </a:solidFill>
                <a:latin typeface="Microsoft YaHei"/>
              </a:defRPr>
            </a:pPr>
            <a:r>
              <a:rPr sz="750" b="0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4724" y="4773168"/>
            <a:ext cx="10072" cy="137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7524" y="4736592"/>
            <a:ext cx="457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198754"/>
                </a:solidFill>
                <a:latin typeface="Microsoft YaHei"/>
              </a:defRPr>
            </a:pPr>
            <a:r>
              <a:rPr sz="750" b="1">
                <a:solidFill>
                  <a:srgbClr val="198754"/>
                </a:solidFill>
                <a:latin typeface="Microsoft YaHei"/>
              </a:rPr>
              <a:t>-0.02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2761488"/>
            <a:ext cx="2514600" cy="56692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43016" y="2834640"/>
            <a:ext cx="2441448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Observation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2761488"/>
            <a:ext cx="2743200" cy="56692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7615" y="2834640"/>
            <a:ext cx="2670048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Interpretation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06440" y="3328416"/>
            <a:ext cx="25146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61303" y="3392424"/>
            <a:ext cx="2404872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XGBoost: household signal + positive bias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3328416"/>
            <a:ext cx="27432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75904" y="3392424"/>
            <a:ext cx="2633472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history routine is too high for 2022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06440" y="3895344"/>
            <a:ext cx="251460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61303" y="3959352"/>
            <a:ext cx="2404872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LLM-only: direction useful, calibration weak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3895344"/>
            <a:ext cx="274320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75904" y="3959352"/>
            <a:ext cx="2633472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event semantics cannot replace household baseline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06440" y="4462272"/>
            <a:ext cx="25146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61303" y="4526280"/>
            <a:ext cx="2404872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Hybrid: bias close to zero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40" y="4462272"/>
            <a:ext cx="27432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75904" y="4526280"/>
            <a:ext cx="2633472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routine demand and event response are separated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LLM 的角色 / What the LLM Adds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LLM 提供 selector signal 和 correction prior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21 / 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1170432"/>
            <a:ext cx="9464040" cy="40965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1170432"/>
            <a:ext cx="10972" cy="409651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3218688"/>
            <a:ext cx="946404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932688"/>
            <a:ext cx="21945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事件信息弱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932688"/>
            <a:ext cx="219456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事件信息强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1828800"/>
            <a:ext cx="685800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家庭基线弱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3977639"/>
            <a:ext cx="685800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  <a:latin typeface="Microsoft YaHei"/>
              </a:defRPr>
            </a:pPr>
            <a:r>
              <a:rPr sz="800" b="1">
                <a:solidFill>
                  <a:srgbClr val="64748B"/>
                </a:solidFill>
                <a:latin typeface="Microsoft YaHei"/>
              </a:rPr>
              <a:t>家庭基线强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00200" y="1664208"/>
            <a:ext cx="31089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73352" y="1728216"/>
            <a:ext cx="2962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64748B"/>
                </a:solidFill>
                <a:latin typeface="Microsoft YaHei"/>
              </a:defRPr>
            </a:pPr>
            <a:r>
              <a:rPr sz="919" b="1">
                <a:solidFill>
                  <a:srgbClr val="64748B"/>
                </a:solidFill>
                <a:latin typeface="Microsoft YaHei"/>
              </a:rPr>
              <a:t>Historical mean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1947672"/>
            <a:ext cx="2926079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neither household heterogeneity nor event semantics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5.51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1664208"/>
            <a:ext cx="31089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1728216"/>
            <a:ext cx="2962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5B21B6"/>
                </a:solidFill>
                <a:latin typeface="Microsoft YaHei"/>
              </a:defRPr>
            </a:pPr>
            <a:r>
              <a:rPr sz="919" b="1">
                <a:solidFill>
                  <a:srgbClr val="5B21B6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947672"/>
            <a:ext cx="2926079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event direction without household baseline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2.72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00200" y="3749039"/>
            <a:ext cx="31089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73352" y="3813048"/>
            <a:ext cx="2962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BE123C"/>
                </a:solidFill>
                <a:latin typeface="Microsoft YaHei"/>
              </a:defRPr>
            </a:pPr>
            <a:r>
              <a:rPr sz="919" b="1">
                <a:solidFill>
                  <a:srgbClr val="BE123C"/>
                </a:solidFill>
                <a:latin typeface="Microsoft YaHei"/>
              </a:rPr>
              <a:t>Ordinary XGBoost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032503"/>
            <a:ext cx="2926079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household grounding without pandemic semantics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4.34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749039"/>
            <a:ext cx="310896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3813048"/>
            <a:ext cx="296265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Hybrid gated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032503"/>
            <a:ext cx="2926079" cy="3931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household baseline + event prior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2.50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5577840"/>
            <a:ext cx="9555480" cy="43891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669280"/>
            <a:ext cx="91440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900" b="1">
                <a:solidFill>
                  <a:srgbClr val="EA580C"/>
                </a:solidFill>
                <a:latin typeface="Microsoft YaHei"/>
              </a:defRPr>
            </a:pPr>
            <a:r>
              <a:rPr sz="900" b="1">
                <a:solidFill>
                  <a:srgbClr val="EA580C"/>
                </a:solidFill>
                <a:latin typeface="Microsoft YaHei"/>
              </a:rPr>
              <a:t>汇报讲法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5605272"/>
            <a:ext cx="80467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LLM-only has direction but weaker calibration: wMAE 2.72 -&gt; 2.50; wBias -0.37 -&gt; -0.02.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综合行为输出 / Behavior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从出行次数扩展到方式结构和方式出行量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22 /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private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10512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708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walk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7791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bike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05072" y="1298448"/>
            <a:ext cx="749808" cy="38404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transit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2352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taxi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298448"/>
            <a:ext cx="74980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1399032"/>
            <a:ext cx="676656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rPr sz="720" b="1">
                <a:solidFill>
                  <a:srgbClr val="FFFFFF"/>
                </a:solidFill>
                <a:latin typeface="Microsoft YaHei"/>
              </a:rPr>
              <a:t>other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1856231"/>
            <a:ext cx="2971800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  <a:r>
              <a:rPr sz="900" b="1">
                <a:solidFill>
                  <a:srgbClr val="64748B"/>
                </a:solidFill>
                <a:latin typeface="Microsoft YaHei"/>
              </a:rPr>
              <a:t>household mode-share vector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2487168"/>
            <a:ext cx="205740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560320"/>
            <a:ext cx="198424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Method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0632" y="2487168"/>
            <a:ext cx="100584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07208" y="2560320"/>
            <a:ext cx="93268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weighted TV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76472" y="2487168"/>
            <a:ext cx="100584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13048" y="2560320"/>
            <a:ext cx="93268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transit MAE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82312" y="2487168"/>
            <a:ext cx="196596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8888" y="2560320"/>
            <a:ext cx="1892807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Interpretation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2871216"/>
            <a:ext cx="20574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2935224"/>
            <a:ext cx="19476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Historical XGBoost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70632" y="2871216"/>
            <a:ext cx="1005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25496" y="2935224"/>
            <a:ext cx="896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0.2008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76472" y="2871216"/>
            <a:ext cx="1005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31335" y="2935224"/>
            <a:ext cx="896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0.0325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82312" y="2871216"/>
            <a:ext cx="19659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37176" y="2935224"/>
            <a:ext cx="185623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routine mode pattern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3255264"/>
            <a:ext cx="20574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3319272"/>
            <a:ext cx="19476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XGB + LLM prior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70632" y="3255264"/>
            <a:ext cx="1005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25496" y="3319272"/>
            <a:ext cx="896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0.1985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76472" y="3255264"/>
            <a:ext cx="1005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31335" y="3319272"/>
            <a:ext cx="896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0.0269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82312" y="3255264"/>
            <a:ext cx="19659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37176" y="3319272"/>
            <a:ext cx="185623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transit correction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" y="3639312"/>
            <a:ext cx="20574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3703320"/>
            <a:ext cx="19476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Improvement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70632" y="3639312"/>
            <a:ext cx="1005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25496" y="3703320"/>
            <a:ext cx="896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1.1%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76472" y="3639312"/>
            <a:ext cx="1005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31335" y="3703320"/>
            <a:ext cx="896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17.4%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82312" y="3639312"/>
            <a:ext cx="19659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37176" y="3703320"/>
            <a:ext cx="1856231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clearer on transit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20840" y="1261872"/>
            <a:ext cx="2011680" cy="74980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720840" y="1261872"/>
            <a:ext cx="50292" cy="74980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5" y="1335024"/>
            <a:ext cx="17922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Mode-trip MAE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48855" y="1508760"/>
            <a:ext cx="17922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3.28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48855" y="1819655"/>
            <a:ext cx="17922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gated count × LLM mode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06840" y="1261872"/>
            <a:ext cx="2011680" cy="74980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06840" y="1261872"/>
            <a:ext cx="5029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34856" y="1335024"/>
            <a:ext cx="17922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Reduction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4856" y="1508760"/>
            <a:ext cx="17922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32.3%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34856" y="1819655"/>
            <a:ext cx="17922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vs traditional combo</a:t>
            </a:r>
          </a:p>
        </p:txBody>
      </p:sp>
      <p:pic>
        <p:nvPicPr>
          <p:cNvPr id="66" name="Picture 65" descr="mode_component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31720"/>
            <a:ext cx="4389120" cy="2792054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749808" y="5029200"/>
            <a:ext cx="10012680" cy="107899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9808" y="5029200"/>
            <a:ext cx="50292" cy="10789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" y="5120640"/>
            <a:ext cx="9720072" cy="3884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方式结构不是主要增益来源，但 transit share 明显改善；这与目标年公共交通规避机制一致。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5573085"/>
            <a:ext cx="9720072" cy="46195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Mode composition gains are modest overall, but transit-share error improves in the direction suggested by pandemic transit avoidance.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出行目的扩展 / Purpose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第三个行为维度：为什么出行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23 / 25</a:t>
            </a:r>
          </a:p>
        </p:txBody>
      </p:sp>
      <p:pic>
        <p:nvPicPr>
          <p:cNvPr id="11" name="Picture 10" descr="purpose_distribution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78992"/>
            <a:ext cx="5257800" cy="263271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44768" y="1170432"/>
            <a:ext cx="2057400" cy="51206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243584"/>
            <a:ext cx="1984248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2167" y="1170432"/>
            <a:ext cx="777240" cy="51206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3" y="1243584"/>
            <a:ext cx="704088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TV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79408" y="1170432"/>
            <a:ext cx="1234440" cy="51206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1243584"/>
            <a:ext cx="1161288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Component MAE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13848" y="1170432"/>
            <a:ext cx="1325880" cy="51206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50424" y="1243584"/>
            <a:ext cx="1252728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Role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682496"/>
            <a:ext cx="20574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1746504"/>
            <a:ext cx="194767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Traditional XGBoost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02167" y="1682496"/>
            <a:ext cx="77724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746504"/>
            <a:ext cx="66751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0.566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9408" y="1682496"/>
            <a:ext cx="123444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2" y="1746504"/>
            <a:ext cx="112471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0.202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13848" y="1682496"/>
            <a:ext cx="132588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2" y="1746504"/>
            <a:ext cx="121615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strongest overall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2194560"/>
            <a:ext cx="205740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1" y="2258568"/>
            <a:ext cx="194767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LLM purpose prior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02167" y="2194560"/>
            <a:ext cx="77724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258568"/>
            <a:ext cx="66751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0.586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9408" y="2194560"/>
            <a:ext cx="123444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34272" y="2258568"/>
            <a:ext cx="112471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0.201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13848" y="2194560"/>
            <a:ext cx="132588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68712" y="2258568"/>
            <a:ext cx="121615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directional components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2706624"/>
            <a:ext cx="20574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1" y="2770632"/>
            <a:ext cx="194767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Global purpose prior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02167" y="2706624"/>
            <a:ext cx="77724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770632"/>
            <a:ext cx="66751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0.580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9408" y="2706624"/>
            <a:ext cx="123444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4272" y="2770632"/>
            <a:ext cx="112471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0.249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13848" y="2706624"/>
            <a:ext cx="132588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68712" y="2770632"/>
            <a:ext cx="1216152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shopping improves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074920"/>
            <a:ext cx="10012680" cy="10515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074920"/>
            <a:ext cx="50292" cy="10515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" y="5166359"/>
            <a:ext cx="9720072" cy="37856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purpose 结果说明综合目标已经扩展到“为什么出行”；但 LLM prior 目前不是整体最优，适合作为边界和未来工作，而不是主贡献。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" y="5608929"/>
            <a:ext cx="9720072" cy="44439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Purpose composition broadens the behavior system, while also showing a clear limitation: event priors need stronger task-specific calibration.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LLM 先验生成与部署 / Prior Generation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从逐户调用转成 batch prior、规则提取和置信度回退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24 /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115568"/>
            <a:ext cx="1993392" cy="98755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115568"/>
            <a:ext cx="1993392" cy="5029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298448"/>
            <a:ext cx="1773936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50" b="1">
                <a:solidFill>
                  <a:srgbClr val="BE123C"/>
                </a:solidFill>
                <a:latin typeface="Microsoft YaHei"/>
              </a:defRPr>
            </a:pPr>
            <a:r>
              <a:rPr sz="1150" b="1">
                <a:solidFill>
                  <a:srgbClr val="BE123C"/>
                </a:solidFill>
                <a:latin typeface="Microsoft YaHei"/>
              </a:rPr>
              <a:t>Direct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581912"/>
            <a:ext cx="173736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逐户预测成本高；校准弱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60320" y="1554480"/>
            <a:ext cx="219456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16352" y="1115568"/>
            <a:ext cx="1993392" cy="98755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6352" y="1115568"/>
            <a:ext cx="1993392" cy="502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1298448"/>
            <a:ext cx="1773936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50" b="1">
                <a:solidFill>
                  <a:srgbClr val="00796B"/>
                </a:solidFill>
                <a:latin typeface="Microsoft YaHei"/>
              </a:defRPr>
            </a:pPr>
            <a:r>
              <a:rPr sz="1150" b="1">
                <a:solidFill>
                  <a:srgbClr val="00796B"/>
                </a:solidFill>
                <a:latin typeface="Microsoft YaHei"/>
              </a:rPr>
              <a:t>Cohort 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1581912"/>
            <a:ext cx="173736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1,327 cohorts -&gt; 89 prompts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46320" y="1554480"/>
            <a:ext cx="219456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02352" y="1115568"/>
            <a:ext cx="1993392" cy="98755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02352" y="1115568"/>
            <a:ext cx="1993392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1298448"/>
            <a:ext cx="1773936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50" b="1">
                <a:solidFill>
                  <a:srgbClr val="EA580C"/>
                </a:solidFill>
                <a:latin typeface="Microsoft YaHei"/>
              </a:defRPr>
            </a:pPr>
            <a:r>
              <a:rPr sz="1150" b="1">
                <a:solidFill>
                  <a:srgbClr val="EA580C"/>
                </a:solidFill>
                <a:latin typeface="Microsoft YaHei"/>
              </a:rPr>
              <a:t>Structured priors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1581912"/>
            <a:ext cx="173736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JSON schema -&gt; event variables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32320" y="1554480"/>
            <a:ext cx="219456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88352" y="1115568"/>
            <a:ext cx="1993392" cy="98755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88352" y="1115568"/>
            <a:ext cx="1993392" cy="5029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1298448"/>
            <a:ext cx="1773936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50" b="1">
                <a:solidFill>
                  <a:srgbClr val="198754"/>
                </a:solidFill>
                <a:latin typeface="Microsoft YaHei"/>
              </a:defRPr>
            </a:pPr>
            <a:r>
              <a:rPr sz="1150" b="1">
                <a:solidFill>
                  <a:srgbClr val="198754"/>
                </a:solidFill>
                <a:latin typeface="Microsoft YaHei"/>
              </a:rPr>
              <a:t>Rule adapter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1581912"/>
            <a:ext cx="173736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fixed no-label correction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18320" y="1554480"/>
            <a:ext cx="219456" cy="12801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74352" y="1115568"/>
            <a:ext cx="1993392" cy="98755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74352" y="1115568"/>
            <a:ext cx="1993392" cy="5029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1298448"/>
            <a:ext cx="1773936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50" b="1">
                <a:solidFill>
                  <a:srgbClr val="5B21B6"/>
                </a:solidFill>
                <a:latin typeface="Microsoft YaHei"/>
              </a:defRPr>
            </a:pPr>
            <a:r>
              <a:rPr sz="1150" b="1">
                <a:solidFill>
                  <a:srgbClr val="5B21B6"/>
                </a:solidFill>
                <a:latin typeface="Microsoft YaHei"/>
              </a:rPr>
              <a:t>Confidence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1581912"/>
            <a:ext cx="173736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global fallback; online LLM optional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2697480"/>
            <a:ext cx="2148840" cy="768096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8680" y="2697480"/>
            <a:ext cx="50292" cy="7680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5" y="2770632"/>
            <a:ext cx="19293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Household requests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5" y="2944368"/>
            <a:ext cx="19293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-98.9%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5" y="3255264"/>
            <a:ext cx="19293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7893 -&gt; 89 prompts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7560" y="2697480"/>
            <a:ext cx="2148840" cy="768096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37560" y="2697480"/>
            <a:ext cx="50292" cy="768096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65576" y="2770632"/>
            <a:ext cx="19293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Batch size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65576" y="2944368"/>
            <a:ext cx="19293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Microsoft YaHei"/>
              </a:defRPr>
            </a:pPr>
            <a:r>
              <a:rPr sz="1600" b="1">
                <a:solidFill>
                  <a:srgbClr val="00796B"/>
                </a:solidFill>
                <a:latin typeface="Microsoft YaHei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65576" y="3255264"/>
            <a:ext cx="19293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stable JSON parsing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06440" y="2697480"/>
            <a:ext cx="2148840" cy="768096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06440" y="2697480"/>
            <a:ext cx="50292" cy="768096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34455" y="2770632"/>
            <a:ext cx="19293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Main inference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34455" y="2944368"/>
            <a:ext cx="19293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0 LLM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34455" y="3255264"/>
            <a:ext cx="19293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adapter is deterministic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75320" y="2697480"/>
            <a:ext cx="2148840" cy="768096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75320" y="2697480"/>
            <a:ext cx="50292" cy="76809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03336" y="2770632"/>
            <a:ext cx="19293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Optional fallback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03336" y="2944368"/>
            <a:ext cx="19293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low-conf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03336" y="3255264"/>
            <a:ext cx="19293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deployment extension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" y="3813048"/>
            <a:ext cx="214884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6384" y="3886200"/>
            <a:ext cx="207568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部署层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98648" y="3813048"/>
            <a:ext cx="379476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35224" y="3886200"/>
            <a:ext cx="37216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在本研究中的角色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93408" y="3813048"/>
            <a:ext cx="411480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29984" y="3886200"/>
            <a:ext cx="404164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为什么这样设计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8" y="4197096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4671" y="4261104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Batch prior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98648" y="4197096"/>
            <a:ext cx="37947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53512" y="4261104"/>
            <a:ext cx="36850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离线生成 cohort 级情境先验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3408" y="4197096"/>
            <a:ext cx="41148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48272" y="4261104"/>
            <a:ext cx="40050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保留 LLM 泛化能力，避免逐户调用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8" y="4581144"/>
            <a:ext cx="2148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4671" y="4645152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t>Rule extraction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98648" y="4581144"/>
            <a:ext cx="37947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53512" y="4645152"/>
            <a:ext cx="36850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把自然语言判断压缩成 s_event 和 fixed adapter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93408" y="4581144"/>
            <a:ext cx="41148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48272" y="4645152"/>
            <a:ext cx="40050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比直接 LLM 输出 CNTTDHH 更可审计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9808" y="4965192"/>
            <a:ext cx="21488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4671" y="5029200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Confidence gate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98648" y="4965192"/>
            <a:ext cx="379476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953512" y="5029200"/>
            <a:ext cx="36850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低置信 cohort 退回 global pressure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93408" y="4965192"/>
            <a:ext cx="41148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48272" y="5029200"/>
            <a:ext cx="40050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主实验保持 no-label、可复现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9808" y="5349240"/>
            <a:ext cx="21488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4671" y="5413248"/>
            <a:ext cx="20391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LLM fallback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98648" y="5349240"/>
            <a:ext cx="379476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53512" y="5413248"/>
            <a:ext cx="368503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作为线上部署扩展，不进入主结果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93408" y="5349240"/>
            <a:ext cx="41148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748272" y="5413248"/>
            <a:ext cx="400507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有预算时处理边界样本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8680" y="5925312"/>
            <a:ext cx="1005840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汇报口径：LLM 不是每户都报答案，而是把目标年 context 蒸馏成结构化 priors 或 selector signals；主实验预测阶段是 deterministic adapter，低置信 LLM 回退属于可部署扩展。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CBD5E1"/>
                </a:solidFill>
                <a:latin typeface="Microsoft YaHei"/>
              </a:defRPr>
            </a:pPr>
            <a:r>
              <a:rPr sz="750" b="1">
                <a:solidFill>
                  <a:srgbClr val="CBD5E1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</a:rPr>
              <a:t>总结 /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CBD5E1"/>
                </a:solidFill>
                <a:latin typeface="Microsoft YaHei"/>
              </a:defRPr>
            </a:pPr>
            <a:r>
              <a:rPr sz="850" b="0">
                <a:solidFill>
                  <a:srgbClr val="CBD5E1"/>
                </a:solidFill>
                <a:latin typeface="Microsoft YaHei"/>
              </a:rPr>
              <a:t>模拟预测选择 + LLM 修正 XGBoost 的时序适应框架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81944" y="173736"/>
            <a:ext cx="786384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Microsoft YaHei"/>
              </a:defRPr>
            </a:pPr>
            <a:r>
              <a:rPr sz="750" b="0">
                <a:solidFill>
                  <a:srgbClr val="CBD5E1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25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325880"/>
            <a:ext cx="10195560" cy="20116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1581912"/>
            <a:ext cx="9601200" cy="8229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我们研究的不是“LLM 直接预测出行次数”，而是：</a:t>
            </a:r>
            <a:br/>
            <a:r>
              <a:rPr sz="1500" b="1">
                <a:solidFill>
                  <a:srgbClr val="FFFFFF"/>
                </a:solidFill>
                <a:latin typeface="Microsoft YaHei"/>
              </a:rPr>
              <a:t>当目标年情境变化打破历史连续性时，能否用 LLM 的时序泛化能力，为传统 household travel model 提供无标签修正先验。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86200"/>
            <a:ext cx="2240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886200"/>
            <a:ext cx="502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959352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4133087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-42.3%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4443984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weighted MAE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886200"/>
            <a:ext cx="2240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0440" y="3886200"/>
            <a:ext cx="50292" cy="822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3959352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Bias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456" y="4133087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-0.023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4443984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weighted bias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886200"/>
            <a:ext cx="2240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886200"/>
            <a:ext cx="5029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3959352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4133087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4 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4443984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trips / modes / purposes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3886200"/>
            <a:ext cx="2240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32520" y="3886200"/>
            <a:ext cx="50292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0536" y="3959352"/>
            <a:ext cx="202082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LLM 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0536" y="4133087"/>
            <a:ext cx="202082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adapter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0536" y="4443984"/>
            <a:ext cx="202082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not standalone predictor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559552"/>
            <a:ext cx="123444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Microsoft YaHei"/>
              </a:defRPr>
            </a:pPr>
            <a:r>
              <a:rPr sz="1200" b="1">
                <a:solidFill>
                  <a:srgbClr val="CBD5E1"/>
                </a:solidFill>
                <a:latin typeface="Microsoft YaHei"/>
              </a:rPr>
              <a:t>一句话总结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5486400"/>
            <a:ext cx="813816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用 NHTS 历史数据学习正常出行规律，用 LLM 情境先验泛化目标年变化，并输出家庭层面的出行强度、方式结构和目的结构。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7772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icrosoft YaHei"/>
              </a:defRPr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sz="1700" b="1">
                <a:solidFill>
                  <a:srgbClr val="0F172A"/>
                </a:solidFill>
                <a:latin typeface="Microsoft YaHei"/>
              </a:rPr>
              <a:t>为什么不直接让 LLM 构建 2022 决策树？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Why not ask the LLM to build the 2022 decision tree directly?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Appendix: reviewer and instructor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6473952"/>
            <a:ext cx="141732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B1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115568"/>
            <a:ext cx="10287000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298448"/>
            <a:ext cx="14630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Short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216152"/>
            <a:ext cx="83667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rPr sz="1300" b="1">
                <a:solidFill>
                  <a:srgbClr val="0F172A"/>
                </a:solidFill>
                <a:latin typeface="Microsoft YaHei"/>
              </a:rPr>
              <a:t>已经实现为 baseline；方向有用，但数值校准弱于 hybrid adapter。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176272"/>
            <a:ext cx="402336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49424"/>
            <a:ext cx="39502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6592" y="2176272"/>
            <a:ext cx="603504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249424"/>
            <a:ext cx="596188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Value / implication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596896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660903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Zero-shot LLM rule tree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2596896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2660903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wMAE 2.6019; wBias -0.4072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017520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81527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Pseudo-label tree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3017520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3081527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wMAE 2.6040; still follows LLM belief labels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438144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502151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Primary hybrid gated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3438144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3502151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wMAE 2.5023; wBias -0.0230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858768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922776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Key issue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58768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3922776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No target labels for split thresholds and leaf values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5074920"/>
            <a:ext cx="10012680" cy="10058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5074920"/>
            <a:ext cx="502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66359"/>
            <a:ext cx="9720072" cy="36210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答法：LLM 可以生成 qualitative belief tree，但没有 2022 标签时无法学习真实 NHTS 的 split threshold 和 leaf value。我们的设计把数值预测锚定在历史 NHTS household baseline 上，只让 LLM 提供事件机制先验。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592470"/>
            <a:ext cx="9720072" cy="4151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7772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icrosoft YaHei"/>
              </a:defRPr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sz="1700" b="1">
                <a:solidFill>
                  <a:srgbClr val="0F172A"/>
                </a:solidFill>
                <a:latin typeface="Microsoft YaHei"/>
              </a:rPr>
              <a:t>有没有使用 2022 标签或 retrospective leakage？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Did the pipeline use 2022 labels or retrospective leakage?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Appendix: reviewer and instructor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6473952"/>
            <a:ext cx="141732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B2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115568"/>
            <a:ext cx="10287000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298448"/>
            <a:ext cx="14630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Short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216152"/>
            <a:ext cx="83667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rPr sz="1300" b="1">
                <a:solidFill>
                  <a:srgbClr val="0F172A"/>
                </a:solidFill>
                <a:latin typeface="Microsoft YaHei"/>
              </a:rPr>
              <a:t>主方法不使用 2022 CNTTDHH 训练或校准；2022 只做最终 evaluation。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176272"/>
            <a:ext cx="402336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49424"/>
            <a:ext cx="39502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6592" y="2176272"/>
            <a:ext cx="603504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249424"/>
            <a:ext cx="596188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Value / implication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596896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660903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Main method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2596896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2660903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gated_trip_suppression_a1_d0p15 fixed before 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017520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81527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LLM inputs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3017520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3081527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Exclude HOUSEID, CNTTDHH, WTHHFIN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438144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502151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Leakage audit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3438144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3502151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LLM-facing files pass forbidden-column scan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858768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922776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Prospective 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58768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3922776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prospective_event_context_2022 documents event assumptions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5074920"/>
            <a:ext cx="10012680" cy="10058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5074920"/>
            <a:ext cx="502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66359"/>
            <a:ext cx="9720072" cy="36210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答法：LLM 输入是 cohort-level household profile 和泛化目标年事件语境，不含目标值、权重和 household ID。我们用 leakage audit、zero-shot baseline、placebo 和 fixed adapter 共同约束 no-label claim。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592470"/>
            <a:ext cx="9720072" cy="4151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7772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icrosoft YaHei"/>
              </a:defRPr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sz="1700" b="1">
                <a:solidFill>
                  <a:srgbClr val="0F172A"/>
                </a:solidFill>
                <a:latin typeface="Microsoft YaHei"/>
              </a:rPr>
              <a:t>Global event prior 已经很强，LLM 还贡献什么？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If the global prior is strong, what does the LLM add?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Appendix: reviewer and instructor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6473952"/>
            <a:ext cx="141732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B3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115568"/>
            <a:ext cx="10287000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298448"/>
            <a:ext cx="14630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Short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216152"/>
            <a:ext cx="83667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rPr sz="1300" b="1">
                <a:solidFill>
                  <a:srgbClr val="0F172A"/>
                </a:solidFill>
                <a:latin typeface="Microsoft YaHei"/>
              </a:rPr>
              <a:t>主贡献应表述为 event-level correction；cohort ranking 是增量 refinement。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176272"/>
            <a:ext cx="402336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49424"/>
            <a:ext cx="39502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6592" y="2176272"/>
            <a:ext cx="603504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249424"/>
            <a:ext cx="596188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Value / implication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596896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660903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Global event prior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2596896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2660903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wMAE 2.5223; wBias -0.7477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017520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81527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Primary gated adapter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3017520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3081527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wMAE 2.5023; wBias -0.0230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438144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502151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Same-alpha decomposition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3438144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3502151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0.0508 lower wMAE; 77.8% subgroup-cell wins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858768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922776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Gate usage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58768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3922776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cohort-specific pressure used for 17.5% weighted households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4279392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343400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Pseudo-event ranked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36592" y="4279392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91456" y="4343400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best placebo wMAE 2.6274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074920"/>
            <a:ext cx="10012680" cy="10058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8" y="5074920"/>
            <a:ext cx="502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166359"/>
            <a:ext cx="9720072" cy="36210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答法：不能夸大成 LLM cohort ranking 独自贡献全部提升。更准确的说法是：global event correction 是主体，LLM cohort prior 在差异足够大的家庭上提供 selective refinement，改善 calibration 和 subgroup robustness。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592470"/>
            <a:ext cx="9720072" cy="4151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7772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icrosoft YaHei"/>
              </a:defRPr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sz="1700" b="1">
                <a:solidFill>
                  <a:srgbClr val="0F172A"/>
                </a:solidFill>
                <a:latin typeface="Microsoft YaHei"/>
              </a:rPr>
              <a:t>和 2025-2026 mobility foundation model 有什么区别？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How is this different from recent mobility foundation-model work?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Appendix: reviewer and instructor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6473952"/>
            <a:ext cx="141732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B4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115568"/>
            <a:ext cx="10287000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298448"/>
            <a:ext cx="14630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Short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216152"/>
            <a:ext cx="83667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rPr sz="1300" b="1">
                <a:solidFill>
                  <a:srgbClr val="0F172A"/>
                </a:solidFill>
                <a:latin typeface="Microsoft YaHei"/>
              </a:rPr>
              <a:t>最新工作多是 trajectory / flow / sensor forecasting；我们是 NHTS household survey 的 event adaptation。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176272"/>
            <a:ext cx="402336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49424"/>
            <a:ext cx="39502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6592" y="2176272"/>
            <a:ext cx="603504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249424"/>
            <a:ext cx="596188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Value / implication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596896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660903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Event-driven LLM mobility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2596896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2660903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ELLMob ICLR'26; CausalMob KDD'25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017520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81527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Zero-shot / agentic LLM mobility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3017520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3081527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AgentMove NAACL'25; AgentMob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438144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502151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Efficient LLM mobility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3438144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3502151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ELP-Mob GIS'25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858768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922776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Foundation model direction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58768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3922776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UniMob KDD'25; STFM survey'25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4279392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343400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Our unit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36592" y="4279392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91456" y="4343400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Household survey record, not trajectory or road node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074920"/>
            <a:ext cx="10012680" cy="10058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8" y="5074920"/>
            <a:ext cx="502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166359"/>
            <a:ext cx="9720072" cy="36210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答法：我们借用了 event-generalization 思路，但不声称训练 universal mobility foundation model。LLM 是 structured event-prior generator，数值需求预测仍由 NHTS 历史标签锚定。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592470"/>
            <a:ext cx="9720072" cy="4151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7772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icrosoft YaHei"/>
              </a:defRPr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sz="1700" b="1">
                <a:solidFill>
                  <a:srgbClr val="0F172A"/>
                </a:solidFill>
                <a:latin typeface="Microsoft YaHei"/>
              </a:rPr>
              <a:t>Mode / purpose 是否已经解决？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Are mode and purpose choice solved?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Appendix: reviewer and instructor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6473952"/>
            <a:ext cx="141732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B5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115568"/>
            <a:ext cx="10287000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298448"/>
            <a:ext cx="14630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Short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216152"/>
            <a:ext cx="83667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rPr sz="1300" b="1">
                <a:solidFill>
                  <a:srgbClr val="0F172A"/>
                </a:solidFill>
                <a:latin typeface="Microsoft YaHei"/>
              </a:rPr>
              <a:t>没有。trip generation 是主贡献；mode/purpose 是 behavior-system extension。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176272"/>
            <a:ext cx="402336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49424"/>
            <a:ext cx="39502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6592" y="2176272"/>
            <a:ext cx="603504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249424"/>
            <a:ext cx="596188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Value / implication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596896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660903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Transit-share MAE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2596896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2660903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0.0325 -&gt; 0.0269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017520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81527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Mode-trip volume MAE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3017520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3081527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4.8467 -&gt; 3.2802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438144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502151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Purpose composition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3438144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3502151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Exploratory; LLM prior not overall best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858768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922776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Safe claim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58768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3922776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Planning relevance, not solved full mode-choice model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5074920"/>
            <a:ext cx="10012680" cy="10058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5074920"/>
            <a:ext cx="502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66359"/>
            <a:ext cx="9720072" cy="36210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答法：综合目标是预测 household behavior system，但最强结果仍是 target-year trip generation。方式和目的模块说明可扩展到规划相关输出，也明确了未来工作边界。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592470"/>
            <a:ext cx="9720072" cy="4151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7772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icrosoft YaHei"/>
              </a:defRPr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sz="1700" b="1">
                <a:solidFill>
                  <a:srgbClr val="0F172A"/>
                </a:solidFill>
                <a:latin typeface="Microsoft YaHei"/>
              </a:rPr>
              <a:t>这些指标怎么用一句话解释？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How should the metrics be interpreted?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Appendix: reviewer and instructor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6473952"/>
            <a:ext cx="141732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B6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115568"/>
            <a:ext cx="10287000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298448"/>
            <a:ext cx="14630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Short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216152"/>
            <a:ext cx="83667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rPr sz="1300" b="1">
                <a:solidFill>
                  <a:srgbClr val="0F172A"/>
                </a:solidFill>
                <a:latin typeface="Microsoft YaHei"/>
              </a:rPr>
              <a:t>wMAE 是加权平均误差，wBias 是系统性高估/低估，越接近 0 越好。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176272"/>
            <a:ext cx="402336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49424"/>
            <a:ext cx="39502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6592" y="2176272"/>
            <a:ext cx="603504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249424"/>
            <a:ext cx="596188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Value / implication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596896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660903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Historical XGBoost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2596896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2660903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wMAE 4.3377; wBias +3.6052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017520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81527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Primary gated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3017520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3081527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wMAE 2.5023; wBias -0.0230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438144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502151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Within 2 trips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3438144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3502151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54.5% households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858768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922776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Within 3 trips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58768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3922776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71.2% households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5074920"/>
            <a:ext cx="10012680" cy="10058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5074920"/>
            <a:ext cx="502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66359"/>
            <a:ext cx="9720072" cy="36210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答法：MAE 看单个家庭预测误差，bias 看总需求是否系统性偏高或偏低。我们的核心收益不是只降低误差，而是几乎消除了 2022 的系统性高估。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592470"/>
            <a:ext cx="9720072" cy="4151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7772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icrosoft YaHei"/>
              </a:defRPr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sz="1700" b="1">
                <a:solidFill>
                  <a:srgbClr val="0F172A"/>
                </a:solidFill>
                <a:latin typeface="Microsoft YaHei"/>
              </a:rPr>
              <a:t>有没有 NHTS 之外的外部验证？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Do we have validation beyond NHTS?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Appendix: reviewer and instructor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6473952"/>
            <a:ext cx="141732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B7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115568"/>
            <a:ext cx="10287000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298448"/>
            <a:ext cx="14630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Short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216152"/>
            <a:ext cx="83667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rPr sz="1300" b="1">
                <a:solidFill>
                  <a:srgbClr val="0F172A"/>
                </a:solidFill>
                <a:latin typeface="Microsoft YaHei"/>
              </a:rPr>
              <a:t>有机制级验证和 PSRC household microdata；但不是 NHTS 2022 的直接复刻。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176272"/>
            <a:ext cx="402336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49424"/>
            <a:ext cx="39502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6592" y="2176272"/>
            <a:ext cx="603504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249424"/>
            <a:ext cx="596188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Value / implication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596896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660903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ACS work from home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2596896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2660903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2019 5.7% -&gt; 2022 15.2%; supports remote-work prior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017520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81527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ACS public transit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3017520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3081527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2019 5.0% -&gt; 2022 3.1%; supports transit-avoidance prior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438144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502151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PSRC microdata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3438144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3502151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2017+2019-&gt;2023 wMAE 3.4271-&gt;3.2498; wBias +1.0532-&gt;+0.2605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858768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922776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Safe claim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58768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3922776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External mechanism + recovery-transfer support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5074920"/>
            <a:ext cx="10012680" cy="10058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5074920"/>
            <a:ext cx="502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66359"/>
            <a:ext cx="9720072" cy="36210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答法：我们用 ACS 证明目标年通勤机制确实发生了远程办公和公共交通下降；用 PSRC 独立 household microdata 做 recovery-transfer 验证；同时用 BTS 做 guardrail，说明 device mobility trips 不能直接当作 NHTS household trip-count 的外部标签。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592470"/>
            <a:ext cx="9720072" cy="4151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7772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icrosoft YaHei"/>
              </a:defRPr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规则提取和低置信 LLM 回退怎么并入本方法？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r>
              <a:t>How do rule extraction and low-confidence LLM fallback fit into the method?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Appendix: reviewer and instructor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6473952"/>
            <a:ext cx="141732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B8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115568"/>
            <a:ext cx="10287000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298448"/>
            <a:ext cx="14630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Short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216152"/>
            <a:ext cx="83667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rPr sz="1300" b="1">
                <a:solidFill>
                  <a:srgbClr val="0F172A"/>
                </a:solidFill>
                <a:latin typeface="Microsoft YaHei"/>
              </a:rPr>
              <a:t>它们是同一条技术路线的部署层：LLM 先验被蒸馏成规则，低置信样本可选回退。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176272"/>
            <a:ext cx="402336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49424"/>
            <a:ext cx="39502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6592" y="2176272"/>
            <a:ext cx="603504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249424"/>
            <a:ext cx="596188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Value / implication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596896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660903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Distilled rule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2596896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2660903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LLM priors -&gt; fixed event adapter, not per-household answers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017520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81527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Batch prompting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3017520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3081527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1,327 cohorts -&gt; 89 prompts with batch size 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438144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502151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Reported experiment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3438144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3502151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No target-year labels; low-confidence uses global pressure fallback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858768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922776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Deployable extension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58768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3922776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Online LLM fallback only for uncertain cohorts if cost allows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5074920"/>
            <a:ext cx="10012680" cy="10058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5074920"/>
            <a:ext cx="502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66359"/>
            <a:ext cx="9720072" cy="36210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答法：可以把“LLM 规则蒸馏 + 置信度回退”理解为我们方法的工程化外壳。论文主结果为了避免 target-year leakage，使用离线 batch 先验和固定 adapter；如果未来做线上系统，可以在低置信 cohort 上再调用 LLM，而不是改变本文主实验口径。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592470"/>
            <a:ext cx="9720072" cy="4151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7772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icrosoft YaHei"/>
              </a:defRPr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sz="1700" b="1">
                <a:solidFill>
                  <a:srgbClr val="0F172A"/>
                </a:solidFill>
                <a:latin typeface="Microsoft YaHei"/>
              </a:rPr>
              <a:t>Global prior 很强时，cohort LLM 还贡献什么？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Same-alpha decomposition of global event correction and selective cohort refinement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Appendix: reviewer and instructor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6473952"/>
            <a:ext cx="141732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B9</a:t>
            </a:r>
          </a:p>
        </p:txBody>
      </p:sp>
      <p:pic>
        <p:nvPicPr>
          <p:cNvPr id="11" name="Picture 10" descr="cohort_prior_value_top_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97280"/>
            <a:ext cx="5897880" cy="365106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03720" y="1143000"/>
            <a:ext cx="1234440" cy="74980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03720" y="1143000"/>
            <a:ext cx="50292" cy="74980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31736" y="1216152"/>
            <a:ext cx="1014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Same-alpha 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1389888"/>
            <a:ext cx="1014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0.0508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1700784"/>
            <a:ext cx="1014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wMAE lower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143000"/>
            <a:ext cx="1234440" cy="74980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1143000"/>
            <a:ext cx="5029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4776" y="1216152"/>
            <a:ext cx="1014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Subgroup win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1389888"/>
            <a:ext cx="1014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77.8%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1700784"/>
            <a:ext cx="1014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cells vs global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1143000"/>
            <a:ext cx="1234440" cy="74980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29800" y="1143000"/>
            <a:ext cx="50292" cy="7498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57816" y="1216152"/>
            <a:ext cx="101498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Gate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7816" y="1389888"/>
            <a:ext cx="101498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17.5%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7816" y="1700784"/>
            <a:ext cx="10149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weighted HHs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148840"/>
            <a:ext cx="4160520" cy="12344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03720" y="2148840"/>
            <a:ext cx="50292" cy="12344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8312" y="2240280"/>
            <a:ext cx="3867911" cy="42062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正确解释：global event correction 是主体，cohort-specific LLM pressure 只在差异足够大时启用，提供选择性校准增益。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2724912"/>
            <a:ext cx="3867911" cy="5852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The safe claim is global event adaptation plus selective cohort refinement, not that cohort ranking explains the full gain.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3703320"/>
            <a:ext cx="192024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0296" y="3776472"/>
            <a:ext cx="184708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Evidence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23960" y="3703320"/>
            <a:ext cx="2240280" cy="38404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0536" y="3776472"/>
            <a:ext cx="216712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Implication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4087368"/>
            <a:ext cx="19202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58583" y="4151376"/>
            <a:ext cx="18105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primary vs global-a1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960" y="4087368"/>
            <a:ext cx="22402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78824" y="4151376"/>
            <a:ext cx="21305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0.0508 lower wMAE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4471416"/>
            <a:ext cx="19202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58583" y="4535424"/>
            <a:ext cx="18105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primary vs global-a1.25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23960" y="4471416"/>
            <a:ext cx="224028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78824" y="4535424"/>
            <a:ext cx="21305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0.0201 lower wMAE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03720" y="4855464"/>
            <a:ext cx="19202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8583" y="4919472"/>
            <a:ext cx="18105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where it helps most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23960" y="4855464"/>
            <a:ext cx="22402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78824" y="4919472"/>
            <a:ext cx="21305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lower-income / zero-vehicle / no-worker cells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03720" y="5239512"/>
            <a:ext cx="192024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58583" y="5303520"/>
            <a:ext cx="181051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boundary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23960" y="5239512"/>
            <a:ext cx="224028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78824" y="5303520"/>
            <a:ext cx="2130552" cy="2560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some high-vehicle/high-income cells prefer global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7772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icrosoft YaHei"/>
              </a:defRPr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sz="1700" b="1">
                <a:solidFill>
                  <a:srgbClr val="0F172A"/>
                </a:solidFill>
                <a:latin typeface="Microsoft YaHei"/>
              </a:rPr>
              <a:t>开源/本地 LLM 复刻做到哪一步？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What is the status of local open-source LLM replication?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21208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Appendix: reviewer and instructor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6473952"/>
            <a:ext cx="141732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B10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115568"/>
            <a:ext cx="10287000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298448"/>
            <a:ext cx="14630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Short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216152"/>
            <a:ext cx="836676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rPr sz="1300" b="1">
                <a:solidFill>
                  <a:srgbClr val="0F172A"/>
                </a:solidFill>
                <a:latin typeface="Microsoft YaHei"/>
              </a:rPr>
              <a:t>脚本和环境审计已经实现；当前 Python 环境是 CPU-only PyTorch，不能声称已完成 GPU local run。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176272"/>
            <a:ext cx="402336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249424"/>
            <a:ext cx="395020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6592" y="2176272"/>
            <a:ext cx="6035040" cy="42062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249424"/>
            <a:ext cx="5961888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Value / implication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596896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660903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GPU hardware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2596896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2660903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RTX 4090 visible through nvidia-smi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017520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81527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Current blocker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3017520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3081527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PyTorch CUDA available = False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438144"/>
            <a:ext cx="402336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502151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Implemented artifact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3438144"/>
            <a:ext cx="603504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3502151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src/run_local_llm_prior_replication.py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858768"/>
            <a:ext cx="40233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922776"/>
            <a:ext cx="391363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Paper-safe wording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58768"/>
            <a:ext cx="6035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3922776"/>
            <a:ext cx="5925312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protocol + audit implemented; generation pending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5074920"/>
            <a:ext cx="10012680" cy="10058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5074920"/>
            <a:ext cx="502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66359"/>
            <a:ext cx="9720072" cy="36210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答法：这是我们下一步最值得补的实验。只要换成 CUDA-enabled PyTorch，并准备本地 Qwen/Llama 类 instruct model，就能在 32/64 个 cohort 上生成 local priors，再和 GPT-5.5 prior 做 Spearman/Pearson 排序一致性比较。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592470"/>
            <a:ext cx="9720072" cy="41513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11180</Words>
  <Application>WPS 演示</Application>
  <PresentationFormat>宽屏</PresentationFormat>
  <Paragraphs>1230</Paragraphs>
  <Slides>34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Arial</vt:lpstr>
      <vt:lpstr>宋体</vt:lpstr>
      <vt:lpstr>Wingdings</vt:lpstr>
      <vt:lpstr>Arial</vt:lpstr>
      <vt:lpstr>Noto Sans SC</vt:lpstr>
      <vt:lpstr>黑体</vt:lpstr>
      <vt:lpstr>微软雅黑</vt:lpstr>
      <vt:lpstr>Arial Unicode MS</vt:lpstr>
      <vt:lpstr>Office 主题​​</vt:lpstr>
      <vt:lpstr>默认主题</vt:lpstr>
      <vt:lpstr>3_默认主题</vt:lpstr>
      <vt:lpstr>4_默认主题</vt:lpstr>
      <vt:lpstr>5_默认主题</vt:lpstr>
      <vt:lpstr>1_默认主题</vt:lpstr>
      <vt:lpstr>6_默认主题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叶用莴苣</cp:lastModifiedBy>
  <cp:revision>130</cp:revision>
  <dcterms:created xsi:type="dcterms:W3CDTF">2026-06-10T08:01:00Z</dcterms:created>
  <dcterms:modified xsi:type="dcterms:W3CDTF">2026-06-10T13:43:32Z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{"Label":"1","ContentProducer":"001191110102MACQD9K64010000","ProduceID":"7649604903199804363","ReservedCode1":"","ContentPropagator":"","PropagateID":"","ReservedCode2":""}</vt:lpwstr>
  </property>
  <property fmtid="{D5CDD505-2E9C-101B-9397-08002B2CF9AE}" pid="3" name="ICV">
    <vt:lpwstr>7BD303D92BC141EC877CAD38288F0FB7_13</vt:lpwstr>
  </property>
  <property fmtid="{D5CDD505-2E9C-101B-9397-08002B2CF9AE}" pid="4" name="KSOProductBuildVer">
    <vt:lpwstr>2052-12.1.0.21541</vt:lpwstr>
  </property>
</Properties>
</file>